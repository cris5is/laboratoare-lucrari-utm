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handoutMasterIdLst>
    <p:handoutMasterId r:id="rId27"/>
  </p:handoutMasterIdLst>
  <p:sldIdLst>
    <p:sldId id="256" r:id="rId2"/>
    <p:sldId id="297" r:id="rId3"/>
    <p:sldId id="298" r:id="rId4"/>
    <p:sldId id="299" r:id="rId5"/>
    <p:sldId id="300" r:id="rId6"/>
    <p:sldId id="301" r:id="rId7"/>
    <p:sldId id="302" r:id="rId8"/>
    <p:sldId id="275" r:id="rId9"/>
    <p:sldId id="272" r:id="rId10"/>
    <p:sldId id="276" r:id="rId11"/>
    <p:sldId id="277" r:id="rId12"/>
    <p:sldId id="278" r:id="rId13"/>
    <p:sldId id="279" r:id="rId14"/>
    <p:sldId id="282" r:id="rId15"/>
    <p:sldId id="283" r:id="rId16"/>
    <p:sldId id="284" r:id="rId17"/>
    <p:sldId id="285" r:id="rId18"/>
    <p:sldId id="286" r:id="rId19"/>
    <p:sldId id="303" r:id="rId20"/>
    <p:sldId id="304" r:id="rId21"/>
    <p:sldId id="305" r:id="rId22"/>
    <p:sldId id="306" r:id="rId23"/>
    <p:sldId id="307" r:id="rId24"/>
    <p:sldId id="30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95253" autoAdjust="0"/>
  </p:normalViewPr>
  <p:slideViewPr>
    <p:cSldViewPr snapToGrid="0">
      <p:cViewPr varScale="1">
        <p:scale>
          <a:sx n="111" d="100"/>
          <a:sy n="111" d="100"/>
        </p:scale>
        <p:origin x="65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36314A2-56B9-42B7-9120-49F66225A8CA}" type="datetimeFigureOut">
              <a:rPr lang="en-US" smtClean="0"/>
              <a:t>11/26/2024</a:t>
            </a:fld>
            <a:endParaRPr lang="en-US"/>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1AAD4-D295-42BD-9964-9085EBBDE011}" type="slidenum">
              <a:rPr lang="en-US" smtClean="0"/>
              <a:t>‹#›</a:t>
            </a:fld>
            <a:endParaRPr lang="en-US"/>
          </a:p>
        </p:txBody>
      </p:sp>
    </p:spTree>
    <p:extLst>
      <p:ext uri="{BB962C8B-B14F-4D97-AF65-F5344CB8AC3E}">
        <p14:creationId xmlns:p14="http://schemas.microsoft.com/office/powerpoint/2010/main" val="3872554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27F67-3A50-4297-B8B6-693DA88AA5E4}" type="datetimeFigureOut">
              <a:rPr lang="en-US" smtClean="0"/>
              <a:t>11/26/2024</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8DB0D-707A-4B4F-9F6C-74B60B20FB92}" type="slidenum">
              <a:rPr lang="en-US" smtClean="0"/>
              <a:t>‹#›</a:t>
            </a:fld>
            <a:endParaRPr lang="en-US"/>
          </a:p>
        </p:txBody>
      </p:sp>
    </p:spTree>
    <p:extLst>
      <p:ext uri="{BB962C8B-B14F-4D97-AF65-F5344CB8AC3E}">
        <p14:creationId xmlns:p14="http://schemas.microsoft.com/office/powerpoint/2010/main" val="157065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10"/>
          </p:nvPr>
        </p:nvSpPr>
        <p:spPr/>
        <p:txBody>
          <a:bodyPr/>
          <a:lstStyle/>
          <a:p>
            <a:fld id="{6858DB0D-707A-4B4F-9F6C-74B60B20FB92}" type="slidenum">
              <a:rPr lang="en-US" smtClean="0"/>
              <a:t>8</a:t>
            </a:fld>
            <a:endParaRPr lang="en-US"/>
          </a:p>
        </p:txBody>
      </p:sp>
    </p:spTree>
    <p:extLst>
      <p:ext uri="{BB962C8B-B14F-4D97-AF65-F5344CB8AC3E}">
        <p14:creationId xmlns:p14="http://schemas.microsoft.com/office/powerpoint/2010/main" val="3919547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5380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64619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D7CAE28-B5DB-416C-BBE2-FF443ED9C5B5}"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90635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D7CAE28-B5DB-416C-BBE2-FF443ED9C5B5}"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301116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D7CAE28-B5DB-416C-BBE2-FF443ED9C5B5}" type="datetimeFigureOut">
              <a:rPr lang="en-US" smtClean="0"/>
              <a:t>11/26/2024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05297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D7CAE28-B5DB-416C-BBE2-FF443ED9C5B5}" type="datetimeFigureOut">
              <a:rPr lang="en-US" smtClean="0"/>
              <a:t>11/26/2024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82048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7CAE28-B5DB-416C-BBE2-FF443ED9C5B5}" type="datetimeFigureOut">
              <a:rPr lang="en-US" smtClean="0"/>
              <a:t>11/26/2024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48447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D7CAE28-B5DB-416C-BBE2-FF443ED9C5B5}"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4178827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D7CAE28-B5DB-416C-BBE2-FF443ED9C5B5}"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3696069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34420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18976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7CAE28-B5DB-416C-BBE2-FF443ED9C5B5}" type="datetimeFigureOut">
              <a:rPr lang="en-US" smtClean="0"/>
              <a:t>11/26/2024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C0902-DFCD-4542-83AB-0F1E2C26E220}" type="slidenum">
              <a:rPr lang="en-US" smtClean="0"/>
              <a:t>‹#›</a:t>
            </a:fld>
            <a:endParaRPr lang="en-US"/>
          </a:p>
        </p:txBody>
      </p:sp>
    </p:spTree>
    <p:extLst>
      <p:ext uri="{BB962C8B-B14F-4D97-AF65-F5344CB8AC3E}">
        <p14:creationId xmlns:p14="http://schemas.microsoft.com/office/powerpoint/2010/main" val="14515823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a:xfrm>
            <a:off x="434565" y="280656"/>
            <a:ext cx="11633703" cy="1522265"/>
          </a:xfrm>
        </p:spPr>
        <p:txBody>
          <a:bodyPr anchor="t">
            <a:normAutofit/>
          </a:bodyPr>
          <a:lstStyle/>
          <a:p>
            <a:r>
              <a:rPr lang="x-none" sz="5400" b="1" dirty="0" smtClean="0">
                <a:latin typeface="Times New Roman" panose="02020603050405020304" pitchFamily="18" charset="0"/>
                <a:cs typeface="Times New Roman" panose="02020603050405020304" pitchFamily="18" charset="0"/>
              </a:rPr>
              <a:t>Circuite și Dispozitive Electronice </a:t>
            </a:r>
            <a:br>
              <a:rPr lang="x-none" sz="5400" b="1" dirty="0" smtClean="0">
                <a:latin typeface="Times New Roman" panose="02020603050405020304" pitchFamily="18" charset="0"/>
                <a:cs typeface="Times New Roman" panose="02020603050405020304" pitchFamily="18" charset="0"/>
              </a:rPr>
            </a:br>
            <a:r>
              <a:rPr lang="en-US" sz="3200" dirty="0" err="1" smtClean="0">
                <a:latin typeface="Times New Roman" panose="02020603050405020304" pitchFamily="18" charset="0"/>
                <a:cs typeface="Times New Roman" panose="02020603050405020304" pitchFamily="18" charset="0"/>
              </a:rPr>
              <a:t>Amplificatorul</a:t>
            </a:r>
            <a:r>
              <a:rPr lang="en-US" sz="3200" dirty="0" smtClean="0">
                <a:latin typeface="Times New Roman" panose="02020603050405020304" pitchFamily="18" charset="0"/>
                <a:cs typeface="Times New Roman" panose="02020603050405020304" pitchFamily="18" charset="0"/>
              </a:rPr>
              <a:t> de </a:t>
            </a:r>
            <a:r>
              <a:rPr lang="en-US" sz="3200" dirty="0" err="1" smtClean="0">
                <a:latin typeface="Times New Roman" panose="02020603050405020304" pitchFamily="18" charset="0"/>
                <a:cs typeface="Times New Roman" panose="02020603050405020304" pitchFamily="18" charset="0"/>
              </a:rPr>
              <a:t>semnal</a:t>
            </a:r>
            <a:r>
              <a:rPr lang="en-US" sz="3200" dirty="0" smtClean="0">
                <a:latin typeface="Times New Roman" panose="02020603050405020304" pitchFamily="18" charset="0"/>
                <a:cs typeface="Times New Roman" panose="02020603050405020304" pitchFamily="18" charset="0"/>
              </a:rPr>
              <a:t> mic </a:t>
            </a:r>
            <a:r>
              <a:rPr lang="ro-MD" sz="3200" dirty="0" smtClean="0">
                <a:latin typeface="Times New Roman" panose="02020603050405020304" pitchFamily="18" charset="0"/>
                <a:cs typeface="Times New Roman" panose="02020603050405020304" pitchFamily="18" charset="0"/>
              </a:rPr>
              <a:t>î</a:t>
            </a:r>
            <a:r>
              <a:rPr lang="en-US" sz="3200" dirty="0" smtClean="0">
                <a:latin typeface="Times New Roman" panose="02020603050405020304" pitchFamily="18" charset="0"/>
                <a:cs typeface="Times New Roman" panose="02020603050405020304" pitchFamily="18" charset="0"/>
              </a:rPr>
              <a:t>n </a:t>
            </a:r>
            <a:r>
              <a:rPr lang="en-US" sz="3200" dirty="0" err="1" smtClean="0">
                <a:latin typeface="Times New Roman" panose="02020603050405020304" pitchFamily="18" charset="0"/>
                <a:cs typeface="Times New Roman" panose="02020603050405020304" pitchFamily="18" charset="0"/>
              </a:rPr>
              <a:t>conexiune</a:t>
            </a:r>
            <a:r>
              <a:rPr lang="en-US" sz="3200" dirty="0" smtClean="0">
                <a:latin typeface="Times New Roman" panose="02020603050405020304" pitchFamily="18" charset="0"/>
                <a:cs typeface="Times New Roman" panose="02020603050405020304" pitchFamily="18" charset="0"/>
              </a:rPr>
              <a:t> cu </a:t>
            </a:r>
            <a:r>
              <a:rPr lang="ro-MD" sz="3200" dirty="0" smtClean="0">
                <a:latin typeface="Times New Roman" panose="02020603050405020304" pitchFamily="18" charset="0"/>
                <a:cs typeface="Times New Roman" panose="02020603050405020304" pitchFamily="18" charset="0"/>
              </a:rPr>
              <a:t>Emitor comun</a:t>
            </a:r>
            <a:r>
              <a:rPr lang="it-IT" sz="3200" dirty="0" smtClean="0">
                <a:latin typeface="Times New Roman" panose="02020603050405020304" pitchFamily="18" charset="0"/>
                <a:cs typeface="Times New Roman" panose="02020603050405020304" pitchFamily="18" charset="0"/>
              </a:rPr>
              <a:t>.</a:t>
            </a:r>
            <a:endParaRPr lang="en-US" sz="5400" dirty="0">
              <a:latin typeface="Times New Roman" panose="02020603050405020304" pitchFamily="18" charset="0"/>
              <a:cs typeface="Times New Roman" panose="02020603050405020304" pitchFamily="18" charset="0"/>
            </a:endParaRPr>
          </a:p>
        </p:txBody>
      </p:sp>
      <p:sp>
        <p:nvSpPr>
          <p:cNvPr id="5" name="Подзаголовок 4"/>
          <p:cNvSpPr>
            <a:spLocks noGrp="1"/>
          </p:cNvSpPr>
          <p:nvPr>
            <p:ph type="subTitle" idx="1"/>
          </p:nvPr>
        </p:nvSpPr>
        <p:spPr>
          <a:xfrm>
            <a:off x="1406305" y="6047715"/>
            <a:ext cx="9144000" cy="495678"/>
          </a:xfrm>
        </p:spPr>
        <p:txBody>
          <a:bodyPr/>
          <a:lstStyle/>
          <a:p>
            <a:r>
              <a:rPr lang="en-US" dirty="0" smtClean="0"/>
              <a:t>Conf. </a:t>
            </a:r>
            <a:r>
              <a:rPr lang="en-US" dirty="0" err="1" smtClean="0"/>
              <a:t>univ.</a:t>
            </a:r>
            <a:r>
              <a:rPr lang="en-US" dirty="0" smtClean="0"/>
              <a:t> dr. </a:t>
            </a:r>
            <a:r>
              <a:rPr lang="en-US" dirty="0" err="1" smtClean="0"/>
              <a:t>Cretu</a:t>
            </a:r>
            <a:r>
              <a:rPr lang="en-US" dirty="0" smtClean="0"/>
              <a:t> </a:t>
            </a:r>
            <a:r>
              <a:rPr lang="en-US" dirty="0" err="1" smtClean="0"/>
              <a:t>Vasilii</a:t>
            </a:r>
            <a:endParaRPr lang="en-US" dirty="0"/>
          </a:p>
        </p:txBody>
      </p:sp>
      <p:sp>
        <p:nvSpPr>
          <p:cNvPr id="3" name="TextBox 2"/>
          <p:cNvSpPr txBox="1"/>
          <p:nvPr/>
        </p:nvSpPr>
        <p:spPr>
          <a:xfrm>
            <a:off x="560717" y="2061713"/>
            <a:ext cx="10998679" cy="2031325"/>
          </a:xfrm>
          <a:prstGeom prst="rect">
            <a:avLst/>
          </a:prstGeom>
          <a:noFill/>
        </p:spPr>
        <p:txBody>
          <a:bodyPr wrap="square" rtlCol="0">
            <a:spAutoFit/>
          </a:bodyPr>
          <a:lstStyle/>
          <a:p>
            <a:r>
              <a:rPr lang="ro-MD" dirty="0" smtClean="0"/>
              <a:t>Amplificatorul electronic</a:t>
            </a:r>
          </a:p>
          <a:p>
            <a:r>
              <a:rPr lang="ro-MD" dirty="0" smtClean="0"/>
              <a:t>Clasificarea amplificatoarelor</a:t>
            </a:r>
          </a:p>
          <a:p>
            <a:r>
              <a:rPr lang="ro-MD" dirty="0" smtClean="0"/>
              <a:t>Parametrii Amplificatoarelor</a:t>
            </a:r>
          </a:p>
          <a:p>
            <a:r>
              <a:rPr lang="ro-MD" dirty="0" smtClean="0"/>
              <a:t>Amplificatoare de curent continuu</a:t>
            </a:r>
          </a:p>
          <a:p>
            <a:r>
              <a:rPr lang="ro-MD" dirty="0" smtClean="0"/>
              <a:t>Clas</a:t>
            </a:r>
            <a:r>
              <a:rPr lang="en-US" dirty="0" err="1" smtClean="0"/>
              <a:t>ele</a:t>
            </a:r>
            <a:r>
              <a:rPr lang="ro-MD" dirty="0" smtClean="0"/>
              <a:t> de funcționare</a:t>
            </a:r>
          </a:p>
          <a:p>
            <a:r>
              <a:rPr lang="ro-MD" b="1" dirty="0" smtClean="0"/>
              <a:t>Amplificatorul de semnal mic în conexiune cu Emitor comun</a:t>
            </a:r>
          </a:p>
          <a:p>
            <a:r>
              <a:rPr lang="ro-MD" b="1" dirty="0" smtClean="0"/>
              <a:t>Conexiunea repetor pe Emitor</a:t>
            </a:r>
            <a:endParaRPr lang="ru-RU" b="1" dirty="0"/>
          </a:p>
        </p:txBody>
      </p:sp>
    </p:spTree>
    <p:extLst>
      <p:ext uri="{BB962C8B-B14F-4D97-AF65-F5344CB8AC3E}">
        <p14:creationId xmlns:p14="http://schemas.microsoft.com/office/powerpoint/2010/main" val="2699953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66718"/>
            <a:ext cx="4829355" cy="609660"/>
          </a:xfrm>
        </p:spPr>
        <p:txBody>
          <a:bodyPr>
            <a:normAutofit fontScale="90000"/>
          </a:bodyPr>
          <a:lstStyle/>
          <a:p>
            <a:r>
              <a:rPr lang="ro-MD" sz="3600" b="1" dirty="0" smtClean="0">
                <a:latin typeface="Times New Roman" panose="02020603050405020304" pitchFamily="18" charset="0"/>
                <a:cs typeface="Times New Roman" panose="02020603050405020304" pitchFamily="18" charset="0"/>
              </a:rPr>
              <a:t>Literatura recomandata </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38023" y="776378"/>
            <a:ext cx="11878573" cy="5917720"/>
          </a:xfrm>
        </p:spPr>
        <p:txBody>
          <a:bodyPr>
            <a:normAutofit lnSpcReduction="10000"/>
          </a:bodyPr>
          <a:lstStyle/>
          <a:p>
            <a:r>
              <a:rPr lang="ro-RO" dirty="0"/>
              <a:t>Tony R</a:t>
            </a:r>
            <a:r>
              <a:rPr lang="ro-RO" i="1" dirty="0"/>
              <a:t>. </a:t>
            </a:r>
            <a:r>
              <a:rPr lang="ro-RO" dirty="0" smtClean="0"/>
              <a:t>Kuphaldt, </a:t>
            </a:r>
            <a:r>
              <a:rPr lang="en-US" b="1" i="1" dirty="0" err="1"/>
              <a:t>Introducere</a:t>
            </a:r>
            <a:r>
              <a:rPr lang="en-US" b="1" i="1" dirty="0"/>
              <a:t> </a:t>
            </a:r>
            <a:r>
              <a:rPr lang="en-US" b="1" i="1" dirty="0" err="1"/>
              <a:t>în</a:t>
            </a:r>
            <a:r>
              <a:rPr lang="en-US" b="1" i="1" dirty="0"/>
              <a:t> </a:t>
            </a:r>
            <a:r>
              <a:rPr lang="en-US" b="1" i="1" dirty="0" err="1"/>
              <a:t>circuite</a:t>
            </a:r>
            <a:r>
              <a:rPr lang="en-US" b="1" i="1" dirty="0"/>
              <a:t> </a:t>
            </a:r>
            <a:r>
              <a:rPr lang="en-US" b="1" i="1" dirty="0" err="1"/>
              <a:t>electrice</a:t>
            </a:r>
            <a:r>
              <a:rPr lang="en-US" b="1" i="1" dirty="0"/>
              <a:t> </a:t>
            </a:r>
            <a:r>
              <a:rPr lang="en-US" b="1" i="1" dirty="0" err="1" smtClean="0"/>
              <a:t>şi</a:t>
            </a:r>
            <a:r>
              <a:rPr lang="ro-MD" b="1" i="1" dirty="0" smtClean="0"/>
              <a:t> </a:t>
            </a:r>
            <a:r>
              <a:rPr lang="en-US" b="1" i="1" dirty="0" err="1" smtClean="0"/>
              <a:t>electronice</a:t>
            </a:r>
            <a:r>
              <a:rPr lang="ro-MD" dirty="0" smtClean="0"/>
              <a:t>, </a:t>
            </a:r>
            <a:r>
              <a:rPr lang="ro-RO" dirty="0"/>
              <a:t>Vol. 3 – Electronică </a:t>
            </a:r>
            <a:r>
              <a:rPr lang="ro-RO" dirty="0" smtClean="0"/>
              <a:t>analogică, </a:t>
            </a:r>
            <a:r>
              <a:rPr lang="ro-RO" dirty="0"/>
              <a:t>www.circuiteelectrice.ro </a:t>
            </a:r>
            <a:r>
              <a:rPr lang="ro-RO" dirty="0" smtClean="0"/>
              <a:t>(Accesibilă pe ELSE)</a:t>
            </a:r>
          </a:p>
          <a:p>
            <a:r>
              <a:rPr lang="ro-RO" dirty="0" smtClean="0"/>
              <a:t>D. Dascalu, A. Rusu, M. Profirescu, I. Costea, </a:t>
            </a:r>
            <a:r>
              <a:rPr lang="ro-RO" b="1" i="1" dirty="0" smtClean="0"/>
              <a:t>Dispozitive și Circuite Electronice</a:t>
            </a:r>
            <a:r>
              <a:rPr lang="ro-RO" dirty="0" smtClean="0"/>
              <a:t>, Editura didactică și pedagogică, București – 1982, (Accesibilă pe ELSE)</a:t>
            </a:r>
          </a:p>
          <a:p>
            <a:r>
              <a:rPr lang="ro-RO" dirty="0" smtClean="0"/>
              <a:t>Ecaterina-Liliana Miron, Mihai Miron, Gheorghe Pana, </a:t>
            </a:r>
            <a:r>
              <a:rPr lang="ro-RO" b="1" i="1" dirty="0" smtClean="0"/>
              <a:t>Electronica Partea I</a:t>
            </a:r>
            <a:r>
              <a:rPr lang="ro-RO" dirty="0" smtClean="0"/>
              <a:t>, Editura Academiei forțelor aeriene „Henri Coandă” 2008, </a:t>
            </a:r>
            <a:r>
              <a:rPr lang="ro-RO" dirty="0"/>
              <a:t>(Accesibilă pe ELSE)</a:t>
            </a:r>
          </a:p>
          <a:p>
            <a:r>
              <a:rPr lang="ro-RO" dirty="0"/>
              <a:t>Laurenţiu Frangu, </a:t>
            </a:r>
            <a:r>
              <a:rPr lang="ro-RO" b="1" i="1" dirty="0"/>
              <a:t>Circuite Electronice Fundamentale </a:t>
            </a:r>
            <a:r>
              <a:rPr lang="ro-RO" dirty="0"/>
              <a:t>– 2008 </a:t>
            </a:r>
            <a:endParaRPr lang="ro-RO" dirty="0" smtClean="0"/>
          </a:p>
          <a:p>
            <a:r>
              <a:rPr lang="ro-RO" dirty="0" smtClean="0"/>
              <a:t>S.D. Anghel, </a:t>
            </a:r>
            <a:r>
              <a:rPr lang="ro-RO" b="1" i="1" dirty="0" smtClean="0"/>
              <a:t>Bazele electronicii analogice și digitale</a:t>
            </a:r>
            <a:r>
              <a:rPr lang="ro-RO" b="1" i="1" dirty="0"/>
              <a:t>, </a:t>
            </a:r>
            <a:r>
              <a:rPr lang="ro-RO" dirty="0" smtClean="0"/>
              <a:t>Presa </a:t>
            </a:r>
            <a:r>
              <a:rPr lang="ro-RO" dirty="0"/>
              <a:t>Universitară </a:t>
            </a:r>
            <a:r>
              <a:rPr lang="ro-RO" dirty="0" smtClean="0"/>
              <a:t>Clujeană, </a:t>
            </a:r>
            <a:r>
              <a:rPr lang="ro-RO" dirty="0"/>
              <a:t>2007</a:t>
            </a:r>
          </a:p>
          <a:p>
            <a:r>
              <a:rPr lang="ro-RO" dirty="0" smtClean="0"/>
              <a:t>Dennis L.Eggleston, </a:t>
            </a:r>
            <a:r>
              <a:rPr lang="ro-RO" b="1" i="1" dirty="0" smtClean="0"/>
              <a:t>Basic Electronics for Scientists and Engineers</a:t>
            </a:r>
            <a:r>
              <a:rPr lang="ro-RO" dirty="0" smtClean="0"/>
              <a:t>, </a:t>
            </a:r>
            <a:r>
              <a:rPr lang="en-US" dirty="0"/>
              <a:t>Printed in the United Kingdom at the University Press, </a:t>
            </a:r>
            <a:r>
              <a:rPr lang="en-US" dirty="0" smtClean="0"/>
              <a:t>Cambridge</a:t>
            </a:r>
            <a:r>
              <a:rPr lang="ro-MD" dirty="0" smtClean="0"/>
              <a:t>, 2011 </a:t>
            </a:r>
            <a:r>
              <a:rPr lang="ro-RO" dirty="0"/>
              <a:t>(Accesibilă pe ELSE)</a:t>
            </a:r>
          </a:p>
          <a:p>
            <a:r>
              <a:rPr lang="ru-RU" dirty="0" smtClean="0"/>
              <a:t>Юрий </a:t>
            </a:r>
            <a:r>
              <a:rPr lang="ru-RU" dirty="0" err="1" smtClean="0"/>
              <a:t>Ревич</a:t>
            </a:r>
            <a:r>
              <a:rPr lang="ru-RU" dirty="0" smtClean="0"/>
              <a:t>, </a:t>
            </a:r>
            <a:r>
              <a:rPr lang="ru-RU" b="1" i="1" dirty="0" smtClean="0"/>
              <a:t>Занимательная Электроника</a:t>
            </a:r>
            <a:r>
              <a:rPr lang="ru-RU" dirty="0" smtClean="0"/>
              <a:t>, 5-е издание, БХВ-Петербург, 2018 </a:t>
            </a:r>
            <a:r>
              <a:rPr lang="ro-RO" dirty="0"/>
              <a:t>(Accesibilă pe ELSE</a:t>
            </a:r>
            <a:r>
              <a:rPr lang="ro-RO" dirty="0" smtClean="0"/>
              <a:t>)</a:t>
            </a:r>
            <a:endParaRPr lang="ru-RU" dirty="0"/>
          </a:p>
        </p:txBody>
      </p:sp>
    </p:spTree>
    <p:extLst>
      <p:ext uri="{BB962C8B-B14F-4D97-AF65-F5344CB8AC3E}">
        <p14:creationId xmlns:p14="http://schemas.microsoft.com/office/powerpoint/2010/main" val="39797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0770" y="258792"/>
            <a:ext cx="11964838" cy="6504317"/>
          </a:xfrm>
        </p:spPr>
        <p:txBody>
          <a:bodyPr>
            <a:normAutofit fontScale="85000" lnSpcReduction="10000"/>
          </a:bodyPr>
          <a:lstStyle/>
          <a:p>
            <a:pPr marL="0" indent="0">
              <a:buNone/>
            </a:pPr>
            <a:r>
              <a:rPr lang="en-US" b="1" dirty="0" err="1">
                <a:latin typeface="Times New Roman" panose="02020603050405020304" pitchFamily="18" charset="0"/>
                <a:cs typeface="Times New Roman" panose="02020603050405020304" pitchFamily="18" charset="0"/>
              </a:rPr>
              <a:t>Scopul</a:t>
            </a:r>
            <a:r>
              <a:rPr lang="en-US" b="1" dirty="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prelegerii</a:t>
            </a:r>
            <a:r>
              <a:rPr lang="en-US" b="1" dirty="0" smtClean="0">
                <a:latin typeface="Times New Roman" panose="02020603050405020304" pitchFamily="18" charset="0"/>
                <a:cs typeface="Times New Roman" panose="02020603050405020304" pitchFamily="18" charset="0"/>
              </a:rPr>
              <a:t>:</a:t>
            </a:r>
            <a:endParaRPr lang="ro-MD" b="1" dirty="0" smtClean="0">
              <a:latin typeface="Times New Roman" panose="02020603050405020304" pitchFamily="18" charset="0"/>
              <a:cs typeface="Times New Roman" panose="02020603050405020304" pitchFamily="18" charset="0"/>
            </a:endParaRPr>
          </a:p>
          <a:p>
            <a:pPr marL="0" indent="0">
              <a:buNone/>
            </a:pPr>
            <a:r>
              <a:rPr lang="ro-RO" dirty="0" smtClean="0"/>
              <a:t>Însuțirea teoriei </a:t>
            </a:r>
            <a:r>
              <a:rPr lang="ro-RO" dirty="0"/>
              <a:t>de bază a amplificatoarelor de semnal mic, cu accent pe configurația emitor comun, și </a:t>
            </a:r>
            <a:r>
              <a:rPr lang="ro-RO" dirty="0" smtClean="0"/>
              <a:t>prezentarea detaliată </a:t>
            </a:r>
            <a:r>
              <a:rPr lang="ro-RO" dirty="0"/>
              <a:t>a analizei circuitelor folosind modelele echivalente ale tranzistorului.</a:t>
            </a:r>
            <a:endParaRPr lang="en-US" b="1" dirty="0" smtClean="0">
              <a:latin typeface="Times New Roman" panose="02020603050405020304" pitchFamily="18" charset="0"/>
              <a:cs typeface="Times New Roman" panose="02020603050405020304" pitchFamily="18" charset="0"/>
            </a:endParaRPr>
          </a:p>
          <a:p>
            <a:pPr marL="0" indent="0">
              <a:buNone/>
            </a:pPr>
            <a:r>
              <a:rPr lang="ro-MD" b="1" dirty="0" smtClean="0"/>
              <a:t>Rezultatele așteptate:</a:t>
            </a:r>
          </a:p>
          <a:p>
            <a:r>
              <a:rPr lang="ro-RO" b="1" dirty="0"/>
              <a:t>Înțeleagă principiile de funcționare de bază </a:t>
            </a:r>
            <a:r>
              <a:rPr lang="ro-RO" dirty="0"/>
              <a:t>ale amplificatoarelor de semnal mic cu tranzistor bipolar, în special în configurația emitor comun</a:t>
            </a:r>
            <a:r>
              <a:rPr lang="ro-RO" dirty="0" smtClean="0"/>
              <a:t>.</a:t>
            </a:r>
          </a:p>
          <a:p>
            <a:r>
              <a:rPr lang="ro-RO" b="1" dirty="0" smtClean="0"/>
              <a:t>Explice </a:t>
            </a:r>
            <a:r>
              <a:rPr lang="ro-RO" b="1" dirty="0"/>
              <a:t>rolul fiecărui component </a:t>
            </a:r>
            <a:r>
              <a:rPr lang="ro-RO" dirty="0"/>
              <a:t>din circuitul unui amplificator în configurație emitor comun și să identifice traseele semnalului</a:t>
            </a:r>
            <a:r>
              <a:rPr lang="ro-RO" dirty="0" smtClean="0"/>
              <a:t>.</a:t>
            </a:r>
          </a:p>
          <a:p>
            <a:r>
              <a:rPr lang="ro-RO" b="1" dirty="0" smtClean="0"/>
              <a:t>Utilizeze </a:t>
            </a:r>
            <a:r>
              <a:rPr lang="ro-RO" b="1" dirty="0"/>
              <a:t>modelul de mic semnal al tranzistorului bipolar </a:t>
            </a:r>
            <a:r>
              <a:rPr lang="ro-RO" dirty="0"/>
              <a:t>(modelul lui T) pentru a analiza comportamentul circuitului în regim alternativ</a:t>
            </a:r>
            <a:r>
              <a:rPr lang="ro-RO" dirty="0" smtClean="0"/>
              <a:t>.</a:t>
            </a:r>
          </a:p>
          <a:p>
            <a:r>
              <a:rPr lang="ro-RO" b="1" dirty="0" smtClean="0"/>
              <a:t>Calculeze </a:t>
            </a:r>
            <a:r>
              <a:rPr lang="ro-RO" b="1" dirty="0"/>
              <a:t>parametrii importanți ai amplificatorului </a:t>
            </a:r>
            <a:r>
              <a:rPr lang="ro-RO" dirty="0"/>
              <a:t>precum câștigul de tensiune, rezistența de intrare și rezistența de ieșire, folosind modelul de mic semnal</a:t>
            </a:r>
            <a:r>
              <a:rPr lang="ro-RO" dirty="0" smtClean="0"/>
              <a:t>.</a:t>
            </a:r>
          </a:p>
          <a:p>
            <a:r>
              <a:rPr lang="ro-RO" b="1" dirty="0" smtClean="0"/>
              <a:t>Interpreteze </a:t>
            </a:r>
            <a:r>
              <a:rPr lang="ro-RO" b="1" dirty="0"/>
              <a:t>caracteristicile de frecvență ale amplificatorului </a:t>
            </a:r>
            <a:r>
              <a:rPr lang="ro-RO" dirty="0"/>
              <a:t>și să identifice factorii care influențează banda pasantă</a:t>
            </a:r>
            <a:r>
              <a:rPr lang="ro-RO" dirty="0" smtClean="0"/>
              <a:t>.</a:t>
            </a:r>
          </a:p>
          <a:p>
            <a:r>
              <a:rPr lang="ro-RO" b="1" dirty="0" smtClean="0"/>
              <a:t>Compare </a:t>
            </a:r>
            <a:r>
              <a:rPr lang="ro-RO" b="1" dirty="0"/>
              <a:t>avantajele și dezavantajele</a:t>
            </a:r>
            <a:r>
              <a:rPr lang="ro-RO" dirty="0"/>
              <a:t> configurației emitor comun față de alte configurații</a:t>
            </a:r>
            <a:r>
              <a:rPr lang="ro-RO" dirty="0" smtClean="0"/>
              <a:t>.</a:t>
            </a:r>
          </a:p>
          <a:p>
            <a:r>
              <a:rPr lang="ro-RO" b="1" dirty="0" smtClean="0"/>
              <a:t>Recunoască </a:t>
            </a:r>
            <a:r>
              <a:rPr lang="ro-RO" b="1" dirty="0"/>
              <a:t>limitele modelului de mic semnal </a:t>
            </a:r>
            <a:r>
              <a:rPr lang="ro-RO" dirty="0"/>
              <a:t>și să înțeleagă când acesta nu mai este valid.</a:t>
            </a:r>
            <a:endParaRPr lang="ru-RU" dirty="0"/>
          </a:p>
        </p:txBody>
      </p:sp>
    </p:spTree>
    <p:extLst>
      <p:ext uri="{BB962C8B-B14F-4D97-AF65-F5344CB8AC3E}">
        <p14:creationId xmlns:p14="http://schemas.microsoft.com/office/powerpoint/2010/main" val="297652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2758" y="80455"/>
            <a:ext cx="8495582" cy="575154"/>
          </a:xfrm>
        </p:spPr>
        <p:txBody>
          <a:bodyPr>
            <a:normAutofit/>
          </a:bodyPr>
          <a:lstStyle/>
          <a:p>
            <a:r>
              <a:rPr lang="ro-MD" sz="3200" b="1" dirty="0" smtClean="0">
                <a:latin typeface="Times New Roman" panose="02020603050405020304" pitchFamily="18" charset="0"/>
                <a:cs typeface="Times New Roman" panose="02020603050405020304" pitchFamily="18" charset="0"/>
              </a:rPr>
              <a:t>Recapitularea cunoștințelor tranzistori bipolari</a:t>
            </a:r>
            <a:endParaRPr lang="ru-RU" sz="3200" b="1" dirty="0">
              <a:latin typeface="Times New Roman" panose="02020603050405020304" pitchFamily="18" charset="0"/>
              <a:cs typeface="Times New Roman" panose="02020603050405020304" pitchFamily="18" charset="0"/>
            </a:endParaRPr>
          </a:p>
        </p:txBody>
      </p:sp>
      <p:pic>
        <p:nvPicPr>
          <p:cNvPr id="4" name="Объект 3"/>
          <p:cNvPicPr>
            <a:picLocks noGrp="1" noChangeAspect="1"/>
          </p:cNvPicPr>
          <p:nvPr>
            <p:ph idx="1"/>
          </p:nvPr>
        </p:nvPicPr>
        <p:blipFill>
          <a:blip r:embed="rId2"/>
          <a:stretch>
            <a:fillRect/>
          </a:stretch>
        </p:blipFill>
        <p:spPr>
          <a:xfrm>
            <a:off x="286528" y="758601"/>
            <a:ext cx="5758602" cy="5702584"/>
          </a:xfrm>
          <a:prstGeom prst="rect">
            <a:avLst/>
          </a:prstGeom>
        </p:spPr>
      </p:pic>
      <p:pic>
        <p:nvPicPr>
          <p:cNvPr id="5" name="Рисунок 4"/>
          <p:cNvPicPr>
            <a:picLocks noChangeAspect="1"/>
          </p:cNvPicPr>
          <p:nvPr/>
        </p:nvPicPr>
        <p:blipFill>
          <a:blip r:embed="rId3"/>
          <a:stretch>
            <a:fillRect/>
          </a:stretch>
        </p:blipFill>
        <p:spPr>
          <a:xfrm>
            <a:off x="7095355" y="1812687"/>
            <a:ext cx="4505608" cy="3612188"/>
          </a:xfrm>
          <a:prstGeom prst="rect">
            <a:avLst/>
          </a:prstGeom>
        </p:spPr>
      </p:pic>
      <p:cxnSp>
        <p:nvCxnSpPr>
          <p:cNvPr id="6" name="Прямая соединительная линия 5"/>
          <p:cNvCxnSpPr/>
          <p:nvPr/>
        </p:nvCxnSpPr>
        <p:spPr>
          <a:xfrm>
            <a:off x="7458949" y="3032739"/>
            <a:ext cx="2326821" cy="1967593"/>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96707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432757" y="80455"/>
            <a:ext cx="11290539" cy="575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o-MD" sz="3200" b="1" dirty="0" smtClean="0">
                <a:latin typeface="Times New Roman" panose="02020603050405020304" pitchFamily="18" charset="0"/>
                <a:cs typeface="Times New Roman" panose="02020603050405020304" pitchFamily="18" charset="0"/>
              </a:rPr>
              <a:t>Recapitularea cunoștințelor polarizarea tranzistorilor bipolari</a:t>
            </a:r>
            <a:endParaRPr lang="ru-RU" sz="3200" b="1" dirty="0">
              <a:latin typeface="Times New Roman" panose="02020603050405020304" pitchFamily="18" charset="0"/>
              <a:cs typeface="Times New Roman" panose="02020603050405020304" pitchFamily="18" charset="0"/>
            </a:endParaRPr>
          </a:p>
        </p:txBody>
      </p:sp>
      <p:pic>
        <p:nvPicPr>
          <p:cNvPr id="5" name="Объект 3"/>
          <p:cNvPicPr>
            <a:picLocks noGrp="1" noChangeAspect="1"/>
          </p:cNvPicPr>
          <p:nvPr>
            <p:ph idx="1"/>
          </p:nvPr>
        </p:nvPicPr>
        <p:blipFill>
          <a:blip r:embed="rId2"/>
          <a:stretch>
            <a:fillRect/>
          </a:stretch>
        </p:blipFill>
        <p:spPr>
          <a:xfrm>
            <a:off x="432758" y="890303"/>
            <a:ext cx="3543300" cy="5267325"/>
          </a:xfrm>
          <a:prstGeom prst="rect">
            <a:avLst/>
          </a:prstGeom>
          <a:ln w="38100" cap="sq">
            <a:solidFill>
              <a:srgbClr val="FF0000"/>
            </a:solidFill>
            <a:prstDash val="solid"/>
            <a:miter lim="800000"/>
          </a:ln>
          <a:effectLst>
            <a:outerShdw blurRad="50800" dist="38100" dir="2700000" algn="tl" rotWithShape="0">
              <a:srgbClr val="000000">
                <a:alpha val="43000"/>
              </a:srgbClr>
            </a:outerShdw>
          </a:effectLst>
        </p:spPr>
      </p:pic>
      <p:sp>
        <p:nvSpPr>
          <p:cNvPr id="6" name="Прямоугольник 5"/>
          <p:cNvSpPr/>
          <p:nvPr/>
        </p:nvSpPr>
        <p:spPr>
          <a:xfrm>
            <a:off x="4238444" y="890302"/>
            <a:ext cx="7484853" cy="2246769"/>
          </a:xfrm>
          <a:prstGeom prst="rect">
            <a:avLst/>
          </a:prstGeom>
        </p:spPr>
        <p:txBody>
          <a:bodyPr wrap="square">
            <a:spAutoFit/>
          </a:bodyPr>
          <a:lstStyle/>
          <a:p>
            <a:r>
              <a:rPr lang="ro-RO" sz="2000" b="1" dirty="0" smtClean="0"/>
              <a:t>R1-R2- Divizor de tensiune stabilește tensiunea Bază Emitor</a:t>
            </a:r>
          </a:p>
          <a:p>
            <a:endParaRPr lang="ro-RO" sz="2000" b="1" dirty="0"/>
          </a:p>
          <a:p>
            <a:r>
              <a:rPr lang="ro-RO" sz="2000" b="1" dirty="0" smtClean="0"/>
              <a:t>R</a:t>
            </a:r>
            <a:r>
              <a:rPr lang="ro-RO" sz="2000" b="1" baseline="-25000" dirty="0" smtClean="0"/>
              <a:t>E </a:t>
            </a:r>
            <a:r>
              <a:rPr lang="ro-RO" sz="2000" b="1" dirty="0" smtClean="0"/>
              <a:t>– stabilizează termic punctul static de funcționare</a:t>
            </a:r>
          </a:p>
          <a:p>
            <a:endParaRPr lang="ro-RO" sz="2000" b="1" dirty="0" smtClean="0"/>
          </a:p>
          <a:p>
            <a:r>
              <a:rPr lang="ro-RO" sz="2000" b="1" dirty="0" smtClean="0"/>
              <a:t>R</a:t>
            </a:r>
            <a:r>
              <a:rPr lang="ro-RO" sz="2000" b="1" baseline="-25000" dirty="0" smtClean="0"/>
              <a:t>c</a:t>
            </a:r>
            <a:r>
              <a:rPr lang="ro-RO" sz="2000" b="1" dirty="0" smtClean="0"/>
              <a:t> – sarcina tranzistorului, </a:t>
            </a:r>
            <a:r>
              <a:rPr lang="ro-RO" sz="2000" dirty="0"/>
              <a:t>acționează ca un convertor curent-tensiune, transformând variațiile de curent în variații de tensiune la ieșirea </a:t>
            </a:r>
            <a:r>
              <a:rPr lang="ro-RO" sz="2000" dirty="0" smtClean="0"/>
              <a:t>amplificatorului</a:t>
            </a:r>
          </a:p>
        </p:txBody>
      </p:sp>
    </p:spTree>
    <p:extLst>
      <p:ext uri="{BB962C8B-B14F-4D97-AF65-F5344CB8AC3E}">
        <p14:creationId xmlns:p14="http://schemas.microsoft.com/office/powerpoint/2010/main" val="236671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691550" y="140840"/>
            <a:ext cx="6908322" cy="575154"/>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o-MD" sz="3200" b="1" dirty="0" smtClean="0">
                <a:latin typeface="Times New Roman" panose="02020603050405020304" pitchFamily="18" charset="0"/>
                <a:cs typeface="Times New Roman" panose="02020603050405020304" pitchFamily="18" charset="0"/>
              </a:rPr>
              <a:t>Recapitularea cunoștințelor lecția anterioara</a:t>
            </a:r>
            <a:endParaRPr lang="ru-RU" sz="3200" b="1" dirty="0">
              <a:latin typeface="Times New Roman" panose="02020603050405020304" pitchFamily="18" charset="0"/>
              <a:cs typeface="Times New Roman" panose="02020603050405020304" pitchFamily="18" charset="0"/>
            </a:endParaRPr>
          </a:p>
        </p:txBody>
      </p:sp>
      <p:pic>
        <p:nvPicPr>
          <p:cNvPr id="5" name="Объект 4"/>
          <p:cNvPicPr>
            <a:picLocks noGrp="1" noChangeAspect="1"/>
          </p:cNvPicPr>
          <p:nvPr>
            <p:ph idx="1"/>
          </p:nvPr>
        </p:nvPicPr>
        <p:blipFill>
          <a:blip r:embed="rId2"/>
          <a:stretch>
            <a:fillRect/>
          </a:stretch>
        </p:blipFill>
        <p:spPr>
          <a:xfrm>
            <a:off x="340968" y="863810"/>
            <a:ext cx="3693583" cy="2949065"/>
          </a:xfrm>
          <a:prstGeom prst="rect">
            <a:avLst/>
          </a:prstGeom>
        </p:spPr>
      </p:pic>
      <p:sp>
        <p:nvSpPr>
          <p:cNvPr id="6" name="Прямоугольник 5"/>
          <p:cNvSpPr/>
          <p:nvPr/>
        </p:nvSpPr>
        <p:spPr>
          <a:xfrm>
            <a:off x="340968" y="3960691"/>
            <a:ext cx="4170647" cy="2585323"/>
          </a:xfrm>
          <a:prstGeom prst="rect">
            <a:avLst/>
          </a:prstGeom>
        </p:spPr>
        <p:txBody>
          <a:bodyPr wrap="square">
            <a:spAutoFit/>
          </a:bodyPr>
          <a:lstStyle/>
          <a:p>
            <a:r>
              <a:rPr lang="en-US" dirty="0">
                <a:solidFill>
                  <a:srgbClr val="000000"/>
                </a:solidFill>
                <a:latin typeface="Symbol" panose="05050102010706020507" pitchFamily="18" charset="2"/>
              </a:rPr>
              <a:t> </a:t>
            </a:r>
            <a:r>
              <a:rPr lang="en-US" b="1" dirty="0">
                <a:solidFill>
                  <a:srgbClr val="000000"/>
                </a:solidFill>
                <a:latin typeface="Arial" panose="020B0604020202020204" pitchFamily="34" charset="0"/>
              </a:rPr>
              <a:t>AMPLITUDINEA (U</a:t>
            </a:r>
            <a:r>
              <a:rPr lang="en-US" sz="1050" b="1" dirty="0">
                <a:solidFill>
                  <a:srgbClr val="000000"/>
                </a:solidFill>
                <a:latin typeface="Arial" panose="020B0604020202020204" pitchFamily="34" charset="0"/>
              </a:rPr>
              <a:t>V</a:t>
            </a:r>
            <a:r>
              <a:rPr lang="en-US" b="1" dirty="0">
                <a:solidFill>
                  <a:srgbClr val="000000"/>
                </a:solidFill>
                <a:latin typeface="Arial" panose="020B0604020202020204" pitchFamily="34" charset="0"/>
              </a:rPr>
              <a:t>) </a:t>
            </a:r>
            <a:r>
              <a:rPr lang="en-US" dirty="0">
                <a:solidFill>
                  <a:srgbClr val="000000"/>
                </a:solidFill>
                <a:latin typeface="Arial" panose="020B0604020202020204" pitchFamily="34" charset="0"/>
              </a:rPr>
              <a:t>– care </a:t>
            </a:r>
            <a:r>
              <a:rPr lang="en-US" dirty="0" err="1">
                <a:solidFill>
                  <a:srgbClr val="000000"/>
                </a:solidFill>
                <a:latin typeface="Arial" panose="020B0604020202020204" pitchFamily="34" charset="0"/>
              </a:rPr>
              <a:t>reprezintă</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valoarea</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tensiunii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maxime</a:t>
            </a:r>
            <a:r>
              <a:rPr lang="en-US" dirty="0">
                <a:solidFill>
                  <a:srgbClr val="000000"/>
                </a:solidFill>
                <a:latin typeface="Arial" panose="020B0604020202020204" pitchFamily="34" charset="0"/>
              </a:rPr>
              <a:t> a</a:t>
            </a:r>
            <a:br>
              <a:rPr lang="en-US" dirty="0">
                <a:solidFill>
                  <a:srgbClr val="000000"/>
                </a:solidFill>
                <a:latin typeface="Arial" panose="020B0604020202020204" pitchFamily="34" charset="0"/>
              </a:rPr>
            </a:br>
            <a:r>
              <a:rPr lang="en-US" dirty="0" err="1">
                <a:solidFill>
                  <a:srgbClr val="000000"/>
                </a:solidFill>
                <a:latin typeface="Arial" panose="020B0604020202020204" pitchFamily="34" charset="0"/>
              </a:rPr>
              <a:t>semnalului</a:t>
            </a:r>
            <a:r>
              <a:rPr lang="en-US" dirty="0">
                <a:solidFill>
                  <a:srgbClr val="000000"/>
                </a:solidFill>
                <a:latin typeface="Arial" panose="020B0604020202020204" pitchFamily="34" charset="0"/>
              </a:rPr>
              <a:t>;</a:t>
            </a:r>
            <a:br>
              <a:rPr lang="en-US" dirty="0">
                <a:solidFill>
                  <a:srgbClr val="000000"/>
                </a:solidFill>
                <a:latin typeface="Arial" panose="020B0604020202020204" pitchFamily="34" charset="0"/>
              </a:rPr>
            </a:br>
            <a:r>
              <a:rPr lang="en-US" dirty="0">
                <a:solidFill>
                  <a:srgbClr val="000000"/>
                </a:solidFill>
                <a:latin typeface="Symbol" panose="05050102010706020507" pitchFamily="18" charset="2"/>
              </a:rPr>
              <a:t> </a:t>
            </a:r>
            <a:r>
              <a:rPr lang="en-US" b="1" dirty="0">
                <a:solidFill>
                  <a:srgbClr val="000000"/>
                </a:solidFill>
                <a:latin typeface="Arial" panose="020B0604020202020204" pitchFamily="34" charset="0"/>
              </a:rPr>
              <a:t>PERIOADA (T) </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intervalul</a:t>
            </a:r>
            <a:r>
              <a:rPr lang="en-US" dirty="0">
                <a:solidFill>
                  <a:srgbClr val="000000"/>
                </a:solidFill>
                <a:latin typeface="Arial" panose="020B0604020202020204" pitchFamily="34" charset="0"/>
              </a:rPr>
              <a:t> de </a:t>
            </a:r>
            <a:r>
              <a:rPr lang="en-US" dirty="0" err="1">
                <a:solidFill>
                  <a:srgbClr val="000000"/>
                </a:solidFill>
                <a:latin typeface="Arial" panose="020B0604020202020204" pitchFamily="34" charset="0"/>
              </a:rPr>
              <a:t>timp</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dintre</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începuturile</a:t>
            </a:r>
            <a:r>
              <a:rPr lang="en-US" dirty="0">
                <a:solidFill>
                  <a:srgbClr val="000000"/>
                </a:solidFill>
                <a:latin typeface="Arial" panose="020B0604020202020204" pitchFamily="34" charset="0"/>
              </a:rPr>
              <a:t> a </a:t>
            </a:r>
            <a:r>
              <a:rPr lang="en-US" dirty="0" err="1">
                <a:solidFill>
                  <a:srgbClr val="000000"/>
                </a:solidFill>
                <a:latin typeface="Arial" panose="020B0604020202020204" pitchFamily="34" charset="0"/>
              </a:rPr>
              <a:t>două</a:t>
            </a:r>
            <a:r>
              <a:rPr lang="en-US" dirty="0">
                <a:solidFill>
                  <a:srgbClr val="000000"/>
                </a:solidFill>
                <a:latin typeface="Arial" panose="020B0604020202020204" pitchFamily="34" charset="0"/>
              </a:rPr>
              <a:t> </a:t>
            </a:r>
            <a:r>
              <a:rPr lang="en-US" dirty="0" err="1" smtClean="0">
                <a:solidFill>
                  <a:srgbClr val="000000"/>
                </a:solidFill>
                <a:latin typeface="Arial" panose="020B0604020202020204" pitchFamily="34" charset="0"/>
              </a:rPr>
              <a:t>semialternanţe</a:t>
            </a:r>
            <a:r>
              <a:rPr lang="x-none" dirty="0" smtClean="0">
                <a:solidFill>
                  <a:srgbClr val="000000"/>
                </a:solidFill>
                <a:latin typeface="Arial" panose="020B0604020202020204" pitchFamily="34" charset="0"/>
              </a:rPr>
              <a:t> </a:t>
            </a:r>
            <a:r>
              <a:rPr lang="en-US" dirty="0" smtClean="0">
                <a:solidFill>
                  <a:srgbClr val="000000"/>
                </a:solidFill>
                <a:latin typeface="Arial" panose="020B0604020202020204" pitchFamily="34" charset="0"/>
              </a:rPr>
              <a:t>de </a:t>
            </a:r>
            <a:r>
              <a:rPr lang="en-US" dirty="0" err="1">
                <a:solidFill>
                  <a:srgbClr val="000000"/>
                </a:solidFill>
                <a:latin typeface="Arial" panose="020B0604020202020204" pitchFamily="34" charset="0"/>
              </a:rPr>
              <a:t>acelaşi</a:t>
            </a:r>
            <a:r>
              <a:rPr lang="en-US" dirty="0">
                <a:solidFill>
                  <a:srgbClr val="000000"/>
                </a:solidFill>
                <a:latin typeface="Arial" panose="020B0604020202020204" pitchFamily="34" charset="0"/>
              </a:rPr>
              <a:t> tip (o </a:t>
            </a:r>
            <a:r>
              <a:rPr lang="en-US" dirty="0" err="1">
                <a:solidFill>
                  <a:srgbClr val="000000"/>
                </a:solidFill>
                <a:latin typeface="Arial" panose="020B0604020202020204" pitchFamily="34" charset="0"/>
              </a:rPr>
              <a:t>alternanţă</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completă</a:t>
            </a:r>
            <a:r>
              <a:rPr lang="en-US" dirty="0">
                <a:solidFill>
                  <a:srgbClr val="000000"/>
                </a:solidFill>
                <a:latin typeface="Arial" panose="020B0604020202020204" pitchFamily="34" charset="0"/>
              </a:rPr>
              <a:t>);</a:t>
            </a:r>
            <a:br>
              <a:rPr lang="en-US" dirty="0">
                <a:solidFill>
                  <a:srgbClr val="000000"/>
                </a:solidFill>
                <a:latin typeface="Arial" panose="020B0604020202020204" pitchFamily="34" charset="0"/>
              </a:rPr>
            </a:br>
            <a:r>
              <a:rPr lang="en-US" dirty="0">
                <a:solidFill>
                  <a:srgbClr val="000000"/>
                </a:solidFill>
                <a:latin typeface="Symbol" panose="05050102010706020507" pitchFamily="18" charset="2"/>
              </a:rPr>
              <a:t> </a:t>
            </a:r>
            <a:r>
              <a:rPr lang="en-US" b="1" dirty="0">
                <a:solidFill>
                  <a:srgbClr val="000000"/>
                </a:solidFill>
                <a:latin typeface="Arial" panose="020B0604020202020204" pitchFamily="34" charset="0"/>
              </a:rPr>
              <a:t>FRECVENŢA </a:t>
            </a:r>
            <a:r>
              <a:rPr lang="en-US" dirty="0" smtClean="0">
                <a:solidFill>
                  <a:srgbClr val="000000"/>
                </a:solidFill>
                <a:latin typeface="Arial" panose="020B0604020202020204" pitchFamily="34" charset="0"/>
              </a:rPr>
              <a:t>– </a:t>
            </a:r>
            <a:r>
              <a:rPr lang="en-US" dirty="0" err="1" smtClean="0">
                <a:solidFill>
                  <a:srgbClr val="000000"/>
                </a:solidFill>
                <a:latin typeface="Arial" panose="020B0604020202020204" pitchFamily="34" charset="0"/>
              </a:rPr>
              <a:t>reprezintă</a:t>
            </a:r>
            <a:r>
              <a:rPr lang="x-none" dirty="0" smtClean="0">
                <a:solidFill>
                  <a:srgbClr val="000000"/>
                </a:solidFill>
                <a:latin typeface="Arial" panose="020B0604020202020204" pitchFamily="34" charset="0"/>
              </a:rPr>
              <a:t> </a:t>
            </a:r>
            <a:r>
              <a:rPr lang="en-US" dirty="0" err="1" smtClean="0">
                <a:solidFill>
                  <a:srgbClr val="000000"/>
                </a:solidFill>
                <a:latin typeface="Arial" panose="020B0604020202020204" pitchFamily="34" charset="0"/>
              </a:rPr>
              <a:t>numărul</a:t>
            </a:r>
            <a:r>
              <a:rPr lang="en-US" dirty="0" smtClean="0">
                <a:solidFill>
                  <a:srgbClr val="000000"/>
                </a:solidFill>
                <a:latin typeface="Arial" panose="020B0604020202020204" pitchFamily="34" charset="0"/>
              </a:rPr>
              <a:t> </a:t>
            </a:r>
            <a:r>
              <a:rPr lang="en-US" dirty="0">
                <a:solidFill>
                  <a:srgbClr val="000000"/>
                </a:solidFill>
                <a:latin typeface="Arial" panose="020B0604020202020204" pitchFamily="34" charset="0"/>
              </a:rPr>
              <a:t>de </a:t>
            </a:r>
            <a:r>
              <a:rPr lang="en-US" dirty="0" err="1">
                <a:solidFill>
                  <a:srgbClr val="000000"/>
                </a:solidFill>
                <a:latin typeface="Arial" panose="020B0604020202020204" pitchFamily="34" charset="0"/>
              </a:rPr>
              <a:t>alternanţe</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în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unitate</a:t>
            </a:r>
            <a:r>
              <a:rPr lang="en-US" dirty="0">
                <a:solidFill>
                  <a:srgbClr val="000000"/>
                </a:solidFill>
                <a:latin typeface="Arial" panose="020B0604020202020204" pitchFamily="34" charset="0"/>
              </a:rPr>
              <a:t> de </a:t>
            </a:r>
            <a:r>
              <a:rPr lang="en-US" dirty="0" err="1">
                <a:solidFill>
                  <a:srgbClr val="000000"/>
                </a:solidFill>
                <a:latin typeface="Arial" panose="020B0604020202020204" pitchFamily="34" charset="0"/>
              </a:rPr>
              <a:t>timp.</a:t>
            </a:r>
            <a:r>
              <a:rPr lang="en-US" dirty="0"/>
              <a:t> </a:t>
            </a:r>
          </a:p>
        </p:txBody>
      </p:sp>
      <p:sp>
        <p:nvSpPr>
          <p:cNvPr id="7" name="Прямоугольник 6"/>
          <p:cNvSpPr/>
          <p:nvPr/>
        </p:nvSpPr>
        <p:spPr>
          <a:xfrm>
            <a:off x="5774078" y="863810"/>
            <a:ext cx="4862292" cy="1754326"/>
          </a:xfrm>
          <a:prstGeom prst="rect">
            <a:avLst/>
          </a:prstGeom>
        </p:spPr>
        <p:txBody>
          <a:bodyPr wrap="square">
            <a:spAutoFit/>
          </a:bodyPr>
          <a:lstStyle/>
          <a:p>
            <a:r>
              <a:rPr lang="en-US" b="1" dirty="0" err="1">
                <a:solidFill>
                  <a:srgbClr val="000000"/>
                </a:solidFill>
                <a:latin typeface="Arial" panose="020B0604020202020204" pitchFamily="34" charset="0"/>
              </a:rPr>
              <a:t>Coeficientul</a:t>
            </a:r>
            <a:r>
              <a:rPr lang="en-US" b="1" dirty="0">
                <a:solidFill>
                  <a:srgbClr val="000000"/>
                </a:solidFill>
                <a:latin typeface="Arial" panose="020B0604020202020204" pitchFamily="34" charset="0"/>
              </a:rPr>
              <a:t> de </a:t>
            </a:r>
            <a:r>
              <a:rPr lang="en-US" b="1" dirty="0" err="1">
                <a:solidFill>
                  <a:srgbClr val="000000"/>
                </a:solidFill>
                <a:latin typeface="Arial" panose="020B0604020202020204" pitchFamily="34" charset="0"/>
              </a:rPr>
              <a:t>amplificare</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amplificarea</a:t>
            </a:r>
            <a:r>
              <a:rPr lang="en-US" b="1" dirty="0" smtClean="0">
                <a:solidFill>
                  <a:srgbClr val="000000"/>
                </a:solidFill>
                <a:latin typeface="Arial" panose="020B0604020202020204" pitchFamily="34" charset="0"/>
              </a:rPr>
              <a:t>)</a:t>
            </a:r>
            <a:endParaRPr lang="ro-MD" b="1" dirty="0" smtClean="0">
              <a:solidFill>
                <a:srgbClr val="000000"/>
              </a:solidFill>
              <a:latin typeface="Arial" panose="020B0604020202020204" pitchFamily="34" charset="0"/>
            </a:endParaRPr>
          </a:p>
          <a:p>
            <a:r>
              <a:rPr lang="en-US" b="1" dirty="0" smtClean="0">
                <a:solidFill>
                  <a:srgbClr val="000000"/>
                </a:solidFill>
                <a:latin typeface="Arial" panose="020B0604020202020204" pitchFamily="34" charset="0"/>
              </a:rPr>
              <a:t> </a:t>
            </a:r>
            <a:endParaRPr lang="ro-MD" b="1" dirty="0" smtClean="0">
              <a:solidFill>
                <a:srgbClr val="000000"/>
              </a:solidFill>
              <a:latin typeface="Arial" panose="020B0604020202020204" pitchFamily="34" charset="0"/>
            </a:endParaRPr>
          </a:p>
          <a:p>
            <a:r>
              <a:rPr lang="en-US" b="1" i="1" dirty="0">
                <a:solidFill>
                  <a:srgbClr val="000000"/>
                </a:solidFill>
                <a:latin typeface="Arial" panose="020B0604020202020204" pitchFamily="34" charset="0"/>
              </a:rPr>
              <a:t>Banda de </a:t>
            </a:r>
            <a:r>
              <a:rPr lang="en-US" b="1" i="1" dirty="0" err="1">
                <a:solidFill>
                  <a:srgbClr val="000000"/>
                </a:solidFill>
                <a:latin typeface="Arial" panose="020B0604020202020204" pitchFamily="34" charset="0"/>
              </a:rPr>
              <a:t>frecvență</a:t>
            </a:r>
            <a:r>
              <a:rPr lang="en-US" b="1" i="1" dirty="0">
                <a:solidFill>
                  <a:srgbClr val="000000"/>
                </a:solidFill>
                <a:latin typeface="Arial" panose="020B0604020202020204" pitchFamily="34" charset="0"/>
              </a:rPr>
              <a:t> – </a:t>
            </a:r>
            <a:r>
              <a:rPr lang="en-US" dirty="0" err="1">
                <a:solidFill>
                  <a:srgbClr val="000000"/>
                </a:solidFill>
                <a:latin typeface="Arial" panose="020B0604020202020204" pitchFamily="34" charset="0"/>
              </a:rPr>
              <a:t>reprezintă</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intervalul</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în</a:t>
            </a:r>
            <a:r>
              <a:rPr lang="en-US" dirty="0">
                <a:solidFill>
                  <a:srgbClr val="000000"/>
                </a:solidFill>
                <a:latin typeface="Arial" panose="020B0604020202020204" pitchFamily="34" charset="0"/>
              </a:rPr>
              <a:t> care </a:t>
            </a:r>
            <a:r>
              <a:rPr lang="en-US" dirty="0" err="1">
                <a:solidFill>
                  <a:srgbClr val="000000"/>
                </a:solidFill>
                <a:latin typeface="Arial" panose="020B0604020202020204" pitchFamily="34" charset="0"/>
              </a:rPr>
              <a:t>amplificarea</a:t>
            </a:r>
            <a:r>
              <a:rPr lang="en-US" dirty="0">
                <a:solidFill>
                  <a:srgbClr val="000000"/>
                </a:solidFill>
                <a:latin typeface="Arial" panose="020B0604020202020204" pitchFamily="34" charset="0"/>
              </a:rPr>
              <a:t> se </a:t>
            </a:r>
            <a:r>
              <a:rPr lang="en-US" dirty="0" err="1">
                <a:solidFill>
                  <a:srgbClr val="000000"/>
                </a:solidFill>
                <a:latin typeface="Arial" panose="020B0604020202020204" pitchFamily="34" charset="0"/>
              </a:rPr>
              <a:t>menține</a:t>
            </a:r>
            <a:r>
              <a:rPr lang="en-US" dirty="0">
                <a:solidFill>
                  <a:srgbClr val="000000"/>
                </a:solidFill>
                <a:latin typeface="Arial" panose="020B0604020202020204" pitchFamily="34" charset="0"/>
              </a:rPr>
              <a:t/>
            </a:r>
            <a:br>
              <a:rPr lang="en-US" dirty="0">
                <a:solidFill>
                  <a:srgbClr val="000000"/>
                </a:solidFill>
                <a:latin typeface="Arial" panose="020B0604020202020204" pitchFamily="34" charset="0"/>
              </a:rPr>
            </a:br>
            <a:r>
              <a:rPr lang="en-US" dirty="0" err="1">
                <a:solidFill>
                  <a:srgbClr val="000000"/>
                </a:solidFill>
                <a:latin typeface="Arial" panose="020B0604020202020204" pitchFamily="34" charset="0"/>
              </a:rPr>
              <a:t>constantă</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B = </a:t>
            </a:r>
            <a:r>
              <a:rPr lang="en-US" b="1" dirty="0" err="1">
                <a:solidFill>
                  <a:srgbClr val="000000"/>
                </a:solidFill>
                <a:latin typeface="Arial" panose="020B0604020202020204" pitchFamily="34" charset="0"/>
              </a:rPr>
              <a:t>f</a:t>
            </a:r>
            <a:r>
              <a:rPr lang="en-US" sz="1050" b="1" dirty="0" err="1">
                <a:solidFill>
                  <a:srgbClr val="000000"/>
                </a:solidFill>
                <a:latin typeface="Arial" panose="020B0604020202020204" pitchFamily="34" charset="0"/>
              </a:rPr>
              <a:t>S</a:t>
            </a:r>
            <a:r>
              <a:rPr lang="en-US" sz="1050" b="1"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f</a:t>
            </a:r>
            <a:r>
              <a:rPr lang="en-US" sz="1050" b="1" dirty="0" err="1">
                <a:solidFill>
                  <a:srgbClr val="000000"/>
                </a:solidFill>
                <a:latin typeface="Arial" panose="020B0604020202020204" pitchFamily="34" charset="0"/>
              </a:rPr>
              <a:t>J</a:t>
            </a:r>
            <a:r>
              <a:rPr lang="en-US" dirty="0">
                <a:solidFill>
                  <a:srgbClr val="000000"/>
                </a:solidFill>
                <a:latin typeface="Arial" panose="020B0604020202020204" pitchFamily="34" charset="0"/>
              </a:rPr>
              <a:t>.</a:t>
            </a:r>
            <a:br>
              <a:rPr lang="en-US" dirty="0">
                <a:solidFill>
                  <a:srgbClr val="000000"/>
                </a:solidFill>
                <a:latin typeface="Arial" panose="020B0604020202020204" pitchFamily="34" charset="0"/>
              </a:rPr>
            </a:br>
            <a:endParaRPr lang="ru-RU" dirty="0"/>
          </a:p>
        </p:txBody>
      </p:sp>
      <p:pic>
        <p:nvPicPr>
          <p:cNvPr id="8" name="Рисунок 7"/>
          <p:cNvPicPr>
            <a:picLocks noChangeAspect="1"/>
          </p:cNvPicPr>
          <p:nvPr/>
        </p:nvPicPr>
        <p:blipFill>
          <a:blip r:embed="rId3"/>
          <a:stretch>
            <a:fillRect/>
          </a:stretch>
        </p:blipFill>
        <p:spPr>
          <a:xfrm>
            <a:off x="5774078" y="2338342"/>
            <a:ext cx="3724275" cy="2171700"/>
          </a:xfrm>
          <a:prstGeom prst="rect">
            <a:avLst/>
          </a:prstGeom>
        </p:spPr>
      </p:pic>
      <p:sp>
        <p:nvSpPr>
          <p:cNvPr id="9" name="Прямоугольник 8"/>
          <p:cNvSpPr/>
          <p:nvPr/>
        </p:nvSpPr>
        <p:spPr>
          <a:xfrm>
            <a:off x="6282450" y="4641813"/>
            <a:ext cx="1749197" cy="369332"/>
          </a:xfrm>
          <a:prstGeom prst="rect">
            <a:avLst/>
          </a:prstGeom>
        </p:spPr>
        <p:txBody>
          <a:bodyPr wrap="none">
            <a:spAutoFit/>
          </a:bodyPr>
          <a:lstStyle/>
          <a:p>
            <a:r>
              <a:rPr lang="en-US" b="1" dirty="0" err="1">
                <a:solidFill>
                  <a:srgbClr val="000000"/>
                </a:solidFill>
                <a:latin typeface="Times New Roman" pitchFamily="18" charset="0"/>
                <a:cs typeface="Times New Roman" pitchFamily="18" charset="0"/>
              </a:rPr>
              <a:t>gama</a:t>
            </a:r>
            <a:r>
              <a:rPr lang="en-US" b="1" dirty="0">
                <a:solidFill>
                  <a:srgbClr val="000000"/>
                </a:solidFill>
                <a:latin typeface="Times New Roman" pitchFamily="18" charset="0"/>
                <a:cs typeface="Times New Roman" pitchFamily="18" charset="0"/>
              </a:rPr>
              <a:t> </a:t>
            </a:r>
            <a:r>
              <a:rPr lang="en-US" b="1" dirty="0" err="1">
                <a:solidFill>
                  <a:srgbClr val="000000"/>
                </a:solidFill>
                <a:latin typeface="Times New Roman" pitchFamily="18" charset="0"/>
                <a:cs typeface="Times New Roman" pitchFamily="18" charset="0"/>
              </a:rPr>
              <a:t>dinamică</a:t>
            </a:r>
            <a:r>
              <a:rPr lang="en-US" b="1" dirty="0">
                <a:solidFill>
                  <a:srgbClr val="000000"/>
                </a:solidFill>
                <a:latin typeface="Times New Roman" pitchFamily="18" charset="0"/>
                <a:cs typeface="Times New Roman" pitchFamily="18" charset="0"/>
              </a:rPr>
              <a:t> </a:t>
            </a:r>
            <a:endParaRPr lang="ru-RU" dirty="0"/>
          </a:p>
        </p:txBody>
      </p:sp>
      <p:pic>
        <p:nvPicPr>
          <p:cNvPr id="10" name="Рисунок 9"/>
          <p:cNvPicPr>
            <a:picLocks noChangeAspect="1"/>
          </p:cNvPicPr>
          <p:nvPr/>
        </p:nvPicPr>
        <p:blipFill rotWithShape="1">
          <a:blip r:embed="rId4"/>
          <a:srcRect t="1071"/>
          <a:stretch/>
        </p:blipFill>
        <p:spPr>
          <a:xfrm>
            <a:off x="8205224" y="4699159"/>
            <a:ext cx="2834675" cy="1846855"/>
          </a:xfrm>
          <a:prstGeom prst="rect">
            <a:avLst/>
          </a:prstGeom>
        </p:spPr>
      </p:pic>
    </p:spTree>
    <p:extLst>
      <p:ext uri="{BB962C8B-B14F-4D97-AF65-F5344CB8AC3E}">
        <p14:creationId xmlns:p14="http://schemas.microsoft.com/office/powerpoint/2010/main" val="3299300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691550" y="140840"/>
            <a:ext cx="6908322" cy="575154"/>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o-MD" sz="3200" b="1" dirty="0" smtClean="0">
                <a:latin typeface="Times New Roman" panose="02020603050405020304" pitchFamily="18" charset="0"/>
                <a:cs typeface="Times New Roman" panose="02020603050405020304" pitchFamily="18" charset="0"/>
              </a:rPr>
              <a:t>Recapitularea cunoștințelor lecția anterioara</a:t>
            </a:r>
            <a:endParaRPr lang="ru-RU" sz="3200" b="1" dirty="0">
              <a:latin typeface="Times New Roman" panose="02020603050405020304" pitchFamily="18" charset="0"/>
              <a:cs typeface="Times New Roman" panose="02020603050405020304" pitchFamily="18" charset="0"/>
            </a:endParaRPr>
          </a:p>
        </p:txBody>
      </p:sp>
      <p:pic>
        <p:nvPicPr>
          <p:cNvPr id="5" name="Объект 4"/>
          <p:cNvPicPr>
            <a:picLocks noGrp="1"/>
          </p:cNvPicPr>
          <p:nvPr>
            <p:ph idx="1"/>
          </p:nvPr>
        </p:nvPicPr>
        <p:blipFill rotWithShape="1">
          <a:blip r:embed="rId2"/>
          <a:srcRect l="1244" t="1155" r="2623" b="8197"/>
          <a:stretch/>
        </p:blipFill>
        <p:spPr bwMode="auto">
          <a:xfrm>
            <a:off x="4145711" y="955209"/>
            <a:ext cx="7114731" cy="5698587"/>
          </a:xfrm>
          <a:prstGeom prst="rect">
            <a:avLst/>
          </a:prstGeom>
          <a:noFill/>
          <a:ln w="9525">
            <a:noFill/>
            <a:miter lim="800000"/>
            <a:headEnd/>
            <a:tailEnd/>
          </a:ln>
        </p:spPr>
      </p:pic>
      <p:sp>
        <p:nvSpPr>
          <p:cNvPr id="6" name="Прямоугольник 5"/>
          <p:cNvSpPr/>
          <p:nvPr/>
        </p:nvSpPr>
        <p:spPr>
          <a:xfrm>
            <a:off x="71859" y="1122235"/>
            <a:ext cx="4418389" cy="1477328"/>
          </a:xfrm>
          <a:prstGeom prst="rect">
            <a:avLst/>
          </a:prstGeom>
        </p:spPr>
        <p:txBody>
          <a:bodyPr wrap="none">
            <a:spAutoFit/>
          </a:bodyPr>
          <a:lstStyle/>
          <a:p>
            <a:r>
              <a:rPr lang="en-US" b="1" dirty="0" err="1">
                <a:solidFill>
                  <a:srgbClr val="000000"/>
                </a:solidFill>
                <a:latin typeface="Times New Roman" pitchFamily="18" charset="0"/>
                <a:cs typeface="Times New Roman" pitchFamily="18" charset="0"/>
              </a:rPr>
              <a:t>Amplificarea</a:t>
            </a:r>
            <a:r>
              <a:rPr lang="en-US" b="1" dirty="0">
                <a:solidFill>
                  <a:srgbClr val="000000"/>
                </a:solidFill>
                <a:latin typeface="Times New Roman" pitchFamily="18" charset="0"/>
                <a:cs typeface="Times New Roman" pitchFamily="18" charset="0"/>
              </a:rPr>
              <a:t> </a:t>
            </a:r>
            <a:r>
              <a:rPr lang="en-US" b="1" dirty="0" err="1">
                <a:solidFill>
                  <a:srgbClr val="000000"/>
                </a:solidFill>
                <a:latin typeface="Times New Roman" pitchFamily="18" charset="0"/>
                <a:cs typeface="Times New Roman" pitchFamily="18" charset="0"/>
              </a:rPr>
              <a:t>curentului</a:t>
            </a:r>
            <a:r>
              <a:rPr lang="en-US" b="1" dirty="0">
                <a:solidFill>
                  <a:srgbClr val="000000"/>
                </a:solidFill>
                <a:latin typeface="Times New Roman" pitchFamily="18" charset="0"/>
                <a:cs typeface="Times New Roman" pitchFamily="18" charset="0"/>
              </a:rPr>
              <a:t> </a:t>
            </a:r>
            <a:r>
              <a:rPr lang="en-US" b="1" dirty="0" err="1" smtClean="0">
                <a:solidFill>
                  <a:srgbClr val="000000"/>
                </a:solidFill>
                <a:latin typeface="Times New Roman" pitchFamily="18" charset="0"/>
                <a:cs typeface="Times New Roman" pitchFamily="18" charset="0"/>
              </a:rPr>
              <a:t>continuu</a:t>
            </a:r>
            <a:endParaRPr lang="ro-MD" b="1" dirty="0" smtClean="0">
              <a:solidFill>
                <a:srgbClr val="000000"/>
              </a:solidFill>
              <a:latin typeface="Times New Roman" pitchFamily="18" charset="0"/>
              <a:cs typeface="Times New Roman" pitchFamily="18" charset="0"/>
            </a:endParaRPr>
          </a:p>
          <a:p>
            <a:r>
              <a:rPr lang="en-US" b="1" dirty="0" err="1">
                <a:solidFill>
                  <a:srgbClr val="000000"/>
                </a:solidFill>
                <a:latin typeface="Times New Roman" pitchFamily="18" charset="0"/>
                <a:cs typeface="Times New Roman" pitchFamily="18" charset="0"/>
              </a:rPr>
              <a:t>tranzistorii</a:t>
            </a:r>
            <a:r>
              <a:rPr lang="en-US" b="1" dirty="0">
                <a:solidFill>
                  <a:srgbClr val="000000"/>
                </a:solidFill>
                <a:latin typeface="Times New Roman" pitchFamily="18" charset="0"/>
                <a:cs typeface="Times New Roman" pitchFamily="18" charset="0"/>
              </a:rPr>
              <a:t> </a:t>
            </a:r>
            <a:r>
              <a:rPr lang="en-US" b="1" dirty="0" err="1" smtClean="0">
                <a:solidFill>
                  <a:srgbClr val="000000"/>
                </a:solidFill>
                <a:latin typeface="Times New Roman" pitchFamily="18" charset="0"/>
                <a:cs typeface="Times New Roman" pitchFamily="18" charset="0"/>
              </a:rPr>
              <a:t>compuşi</a:t>
            </a:r>
            <a:endParaRPr lang="ro-MD" b="1" dirty="0" smtClean="0">
              <a:solidFill>
                <a:srgbClr val="000000"/>
              </a:solidFill>
              <a:latin typeface="Times New Roman" pitchFamily="18" charset="0"/>
              <a:cs typeface="Times New Roman" pitchFamily="18" charset="0"/>
            </a:endParaRPr>
          </a:p>
          <a:p>
            <a:r>
              <a:rPr lang="en-US" dirty="0" err="1">
                <a:solidFill>
                  <a:srgbClr val="000000"/>
                </a:solidFill>
                <a:latin typeface="Times New Roman" pitchFamily="18" charset="0"/>
                <a:cs typeface="Times New Roman" pitchFamily="18" charset="0"/>
              </a:rPr>
              <a:t>combinaţia</a:t>
            </a:r>
            <a:r>
              <a:rPr lang="en-US" dirty="0">
                <a:solidFill>
                  <a:srgbClr val="000000"/>
                </a:solidFill>
                <a:latin typeface="Times New Roman" pitchFamily="18" charset="0"/>
                <a:cs typeface="Times New Roman" pitchFamily="18" charset="0"/>
              </a:rPr>
              <a:t> Darlington </a:t>
            </a:r>
            <a:r>
              <a:rPr lang="en-US" dirty="0" err="1">
                <a:solidFill>
                  <a:srgbClr val="000000"/>
                </a:solidFill>
                <a:latin typeface="Times New Roman" pitchFamily="18" charset="0"/>
                <a:cs typeface="Times New Roman" pitchFamily="18" charset="0"/>
              </a:rPr>
              <a:t>şi</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combinaţia</a:t>
            </a:r>
            <a:r>
              <a:rPr lang="en-US" dirty="0">
                <a:solidFill>
                  <a:srgbClr val="000000"/>
                </a:solidFill>
                <a:latin typeface="Times New Roman" pitchFamily="18" charset="0"/>
                <a:cs typeface="Times New Roman" pitchFamily="18" charset="0"/>
              </a:rPr>
              <a:t> super-G.</a:t>
            </a:r>
            <a:endParaRPr lang="ro-MD" b="1" dirty="0" smtClean="0">
              <a:solidFill>
                <a:srgbClr val="000000"/>
              </a:solidFill>
              <a:latin typeface="Times New Roman" pitchFamily="18" charset="0"/>
              <a:cs typeface="Times New Roman" pitchFamily="18" charset="0"/>
            </a:endParaRPr>
          </a:p>
          <a:p>
            <a:endParaRPr lang="ro-MD" b="1" dirty="0">
              <a:solidFill>
                <a:srgbClr val="00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9752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3"/>
          <p:cNvPicPr>
            <a:picLocks noGrp="1"/>
          </p:cNvPicPr>
          <p:nvPr>
            <p:ph idx="1"/>
          </p:nvPr>
        </p:nvPicPr>
        <p:blipFill rotWithShape="1">
          <a:blip r:embed="rId3"/>
          <a:srcRect l="1762" t="2515" r="2993" b="6787"/>
          <a:stretch/>
        </p:blipFill>
        <p:spPr bwMode="auto">
          <a:xfrm>
            <a:off x="0" y="569460"/>
            <a:ext cx="7591245" cy="5923856"/>
          </a:xfrm>
          <a:prstGeom prst="rect">
            <a:avLst/>
          </a:prstGeom>
          <a:noFill/>
          <a:ln w="9525">
            <a:noFill/>
            <a:miter lim="800000"/>
            <a:headEnd/>
            <a:tailEnd/>
          </a:ln>
        </p:spPr>
      </p:pic>
      <p:sp>
        <p:nvSpPr>
          <p:cNvPr id="2" name="Прямоугольник 1"/>
          <p:cNvSpPr/>
          <p:nvPr/>
        </p:nvSpPr>
        <p:spPr>
          <a:xfrm>
            <a:off x="7591245" y="146975"/>
            <a:ext cx="4600755" cy="6247864"/>
          </a:xfrm>
          <a:prstGeom prst="rect">
            <a:avLst/>
          </a:prstGeom>
        </p:spPr>
        <p:txBody>
          <a:bodyPr wrap="square">
            <a:spAutoFit/>
          </a:bodyPr>
          <a:lstStyle/>
          <a:p>
            <a:pPr marL="285750" indent="-285750">
              <a:buFont typeface="Arial" panose="020B0604020202020204" pitchFamily="34" charset="0"/>
              <a:buChar char="•"/>
            </a:pPr>
            <a:r>
              <a:rPr lang="en-US" sz="1600" dirty="0" err="1">
                <a:solidFill>
                  <a:srgbClr val="000000"/>
                </a:solidFill>
                <a:latin typeface="Times New Roman" panose="02020603050405020304" pitchFamily="18" charset="0"/>
                <a:cs typeface="Times New Roman" panose="02020603050405020304" pitchFamily="18" charset="0"/>
              </a:rPr>
              <a:t>punctul</a:t>
            </a:r>
            <a:r>
              <a:rPr lang="en-US" sz="1600" dirty="0">
                <a:solidFill>
                  <a:srgbClr val="000000"/>
                </a:solidFill>
                <a:latin typeface="Times New Roman" panose="02020603050405020304" pitchFamily="18" charset="0"/>
                <a:cs typeface="Times New Roman" panose="02020603050405020304" pitchFamily="18" charset="0"/>
              </a:rPr>
              <a:t> static de </a:t>
            </a:r>
            <a:r>
              <a:rPr lang="en-US" sz="1600" dirty="0" err="1">
                <a:solidFill>
                  <a:srgbClr val="000000"/>
                </a:solidFill>
                <a:latin typeface="Times New Roman" panose="02020603050405020304" pitchFamily="18" charset="0"/>
                <a:cs typeface="Times New Roman" panose="02020603050405020304" pitchFamily="18" charset="0"/>
              </a:rPr>
              <a:t>funcţionare</a:t>
            </a:r>
            <a:r>
              <a:rPr lang="en-US" sz="1600" dirty="0">
                <a:solidFill>
                  <a:srgbClr val="000000"/>
                </a:solidFill>
                <a:latin typeface="Times New Roman" panose="02020603050405020304" pitchFamily="18" charset="0"/>
                <a:cs typeface="Times New Roman" panose="02020603050405020304" pitchFamily="18" charset="0"/>
              </a:rPr>
              <a:t> se </a:t>
            </a:r>
            <a:r>
              <a:rPr lang="en-US" sz="1600" dirty="0" err="1">
                <a:solidFill>
                  <a:srgbClr val="000000"/>
                </a:solidFill>
                <a:latin typeface="Times New Roman" panose="02020603050405020304" pitchFamily="18" charset="0"/>
                <a:cs typeface="Times New Roman" panose="02020603050405020304" pitchFamily="18" charset="0"/>
              </a:rPr>
              <a:t>va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alege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astfel</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încât</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amplificatorul</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să</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lucreze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în</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clasă</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smtClean="0">
                <a:solidFill>
                  <a:srgbClr val="000000"/>
                </a:solidFill>
                <a:latin typeface="Times New Roman" panose="02020603050405020304" pitchFamily="18" charset="0"/>
                <a:cs typeface="Times New Roman" panose="02020603050405020304" pitchFamily="18" charset="0"/>
              </a:rPr>
              <a:t>A</a:t>
            </a:r>
          </a:p>
          <a:p>
            <a:pPr marL="285750" indent="-285750">
              <a:buFont typeface="Arial" panose="020B0604020202020204" pitchFamily="34" charset="0"/>
              <a:buChar char="•"/>
            </a:pPr>
            <a:r>
              <a:rPr lang="en-US" sz="1600" dirty="0" err="1">
                <a:solidFill>
                  <a:srgbClr val="000000"/>
                </a:solidFill>
                <a:latin typeface="Times New Roman" panose="02020603050405020304" pitchFamily="18" charset="0"/>
                <a:cs typeface="Times New Roman" panose="02020603050405020304" pitchFamily="18" charset="0"/>
              </a:rPr>
              <a:t>condensatori</a:t>
            </a:r>
            <a:r>
              <a:rPr lang="en-US" sz="1600" dirty="0">
                <a:solidFill>
                  <a:srgbClr val="000000"/>
                </a:solidFill>
                <a:latin typeface="Times New Roman" panose="02020603050405020304" pitchFamily="18" charset="0"/>
                <a:cs typeface="Times New Roman" panose="02020603050405020304" pitchFamily="18" charset="0"/>
              </a:rPr>
              <a:t> de </a:t>
            </a:r>
            <a:r>
              <a:rPr lang="en-US" sz="1600" dirty="0" err="1" smtClean="0">
                <a:solidFill>
                  <a:srgbClr val="000000"/>
                </a:solidFill>
                <a:latin typeface="Times New Roman" panose="02020603050405020304" pitchFamily="18" charset="0"/>
                <a:cs typeface="Times New Roman" panose="02020603050405020304" pitchFamily="18" charset="0"/>
              </a:rPr>
              <a:t>cuplaj</a:t>
            </a:r>
            <a:endParaRPr lang="en-US" sz="1600" dirty="0" smtClean="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i="1" dirty="0" err="1" smtClean="0">
                <a:solidFill>
                  <a:srgbClr val="000000"/>
                </a:solidFill>
                <a:latin typeface="Times New Roman" panose="02020603050405020304" pitchFamily="18" charset="0"/>
                <a:cs typeface="Times New Roman" panose="02020603050405020304" pitchFamily="18" charset="0"/>
              </a:rPr>
              <a:t>C</a:t>
            </a:r>
            <a:r>
              <a:rPr lang="en-US" sz="1600" i="1" baseline="-25000" dirty="0" err="1" smtClean="0">
                <a:solidFill>
                  <a:srgbClr val="000000"/>
                </a:solidFill>
                <a:latin typeface="Times New Roman" panose="02020603050405020304" pitchFamily="18" charset="0"/>
                <a:cs typeface="Times New Roman" panose="02020603050405020304" pitchFamily="18" charset="0"/>
              </a:rPr>
              <a:t>b</a:t>
            </a:r>
            <a:r>
              <a:rPr lang="en-US" sz="1600" i="1" baseline="-25000" dirty="0" smtClean="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Capacitatea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sa</a:t>
            </a:r>
            <a:r>
              <a:rPr lang="en-US" sz="1600" dirty="0">
                <a:solidFill>
                  <a:srgbClr val="000000"/>
                </a:solidFill>
                <a:latin typeface="Times New Roman" panose="02020603050405020304" pitchFamily="18" charset="0"/>
                <a:cs typeface="Times New Roman" panose="02020603050405020304" pitchFamily="18" charset="0"/>
              </a:rPr>
              <a:t> se allege </a:t>
            </a:r>
            <a:r>
              <a:rPr lang="en-US" sz="1600" dirty="0" err="1">
                <a:solidFill>
                  <a:srgbClr val="000000"/>
                </a:solidFill>
                <a:latin typeface="Times New Roman" panose="02020603050405020304" pitchFamily="18" charset="0"/>
                <a:cs typeface="Times New Roman" panose="02020603050405020304" pitchFamily="18" charset="0"/>
              </a:rPr>
              <a:t>astfel</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încât</a:t>
            </a:r>
            <a:r>
              <a:rPr lang="en-US" sz="1600" dirty="0">
                <a:solidFill>
                  <a:srgbClr val="000000"/>
                </a:solidFill>
                <a:latin typeface="Times New Roman" panose="02020603050405020304" pitchFamily="18" charset="0"/>
                <a:cs typeface="Times New Roman" panose="02020603050405020304" pitchFamily="18" charset="0"/>
              </a:rPr>
              <a:t>, la </a:t>
            </a:r>
            <a:r>
              <a:rPr lang="en-US" sz="1600" dirty="0" err="1">
                <a:solidFill>
                  <a:srgbClr val="000000"/>
                </a:solidFill>
                <a:latin typeface="Times New Roman" panose="02020603050405020304" pitchFamily="18" charset="0"/>
                <a:cs typeface="Times New Roman" panose="02020603050405020304" pitchFamily="18" charset="0"/>
              </a:rPr>
              <a:t>frecvenţa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semnalului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amplificat</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smtClean="0">
                <a:solidFill>
                  <a:srgbClr val="000000"/>
                </a:solidFill>
                <a:latin typeface="Times New Roman" panose="02020603050405020304" pitchFamily="18" charset="0"/>
                <a:cs typeface="Times New Roman" panose="02020603050405020304" pitchFamily="18" charset="0"/>
              </a:rPr>
              <a:t>să</a:t>
            </a:r>
            <a:r>
              <a:rPr lang="en-US" sz="1600" dirty="0" smtClean="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poată</a:t>
            </a:r>
            <a:r>
              <a:rPr lang="en-US" sz="1600" dirty="0">
                <a:solidFill>
                  <a:srgbClr val="000000"/>
                </a:solidFill>
                <a:latin typeface="Times New Roman" panose="02020603050405020304" pitchFamily="18" charset="0"/>
                <a:cs typeface="Times New Roman" panose="02020603050405020304" pitchFamily="18" charset="0"/>
              </a:rPr>
              <a:t> fi </a:t>
            </a:r>
            <a:r>
              <a:rPr lang="en-US" sz="1600" dirty="0" err="1">
                <a:solidFill>
                  <a:srgbClr val="000000"/>
                </a:solidFill>
                <a:latin typeface="Times New Roman" panose="02020603050405020304" pitchFamily="18" charset="0"/>
                <a:cs typeface="Times New Roman" panose="02020603050405020304" pitchFamily="18" charset="0"/>
              </a:rPr>
              <a:t>considerat</a:t>
            </a:r>
            <a:r>
              <a:rPr lang="en-US" sz="1600" dirty="0">
                <a:solidFill>
                  <a:srgbClr val="000000"/>
                </a:solidFill>
                <a:latin typeface="Times New Roman" panose="02020603050405020304" pitchFamily="18" charset="0"/>
                <a:cs typeface="Times New Roman" panose="02020603050405020304" pitchFamily="18" charset="0"/>
              </a:rPr>
              <a:t> un </a:t>
            </a:r>
            <a:r>
              <a:rPr lang="en-US" sz="1600" dirty="0" err="1" smtClean="0">
                <a:solidFill>
                  <a:srgbClr val="000000"/>
                </a:solidFill>
                <a:latin typeface="Times New Roman" panose="02020603050405020304" pitchFamily="18" charset="0"/>
                <a:cs typeface="Times New Roman" panose="02020603050405020304" pitchFamily="18" charset="0"/>
              </a:rPr>
              <a:t>scurtcircuit</a:t>
            </a:r>
            <a:endParaRPr lang="en-US" sz="1600" dirty="0" smtClean="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Semnalul</a:t>
            </a:r>
            <a:r>
              <a:rPr lang="en-US" sz="1600" dirty="0">
                <a:latin typeface="Times New Roman" panose="02020603050405020304" pitchFamily="18" charset="0"/>
                <a:cs typeface="Times New Roman" panose="02020603050405020304" pitchFamily="18" charset="0"/>
              </a:rPr>
              <a:t> de </a:t>
            </a:r>
            <a:r>
              <a:rPr lang="en-US" sz="1600" dirty="0" err="1">
                <a:latin typeface="Times New Roman" panose="02020603050405020304" pitchFamily="18" charset="0"/>
                <a:cs typeface="Times New Roman" panose="02020603050405020304" pitchFamily="18" charset="0"/>
              </a:rPr>
              <a:t>ieşire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este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luat</a:t>
            </a:r>
            <a:r>
              <a:rPr lang="en-US" sz="1600" dirty="0">
                <a:latin typeface="Times New Roman" panose="02020603050405020304" pitchFamily="18" charset="0"/>
                <a:cs typeface="Times New Roman" panose="02020603050405020304" pitchFamily="18" charset="0"/>
              </a:rPr>
              <a:t> de </a:t>
            </a:r>
            <a:r>
              <a:rPr lang="en-US" sz="1600" dirty="0" err="1">
                <a:latin typeface="Times New Roman" panose="02020603050405020304" pitchFamily="18" charset="0"/>
                <a:cs typeface="Times New Roman" panose="02020603050405020304" pitchFamily="18" charset="0"/>
              </a:rPr>
              <a:t>pe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colectorul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tranzistorului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borna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caldă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intermediul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condensatorului</a:t>
            </a:r>
            <a:r>
              <a:rPr lang="en-US" sz="1600" dirty="0">
                <a:latin typeface="Times New Roman" panose="02020603050405020304" pitchFamily="18" charset="0"/>
                <a:cs typeface="Times New Roman" panose="02020603050405020304" pitchFamily="18" charset="0"/>
              </a:rPr>
              <a:t> </a:t>
            </a:r>
            <a:r>
              <a:rPr lang="en-US" sz="1600" i="1" dirty="0" smtClean="0">
                <a:latin typeface="Times New Roman" panose="02020603050405020304" pitchFamily="18" charset="0"/>
                <a:cs typeface="Times New Roman" panose="02020603050405020304" pitchFamily="18" charset="0"/>
              </a:rPr>
              <a:t>C</a:t>
            </a:r>
            <a:r>
              <a:rPr lang="en-US" sz="1600" i="1" baseline="-25000" dirty="0" smtClean="0">
                <a:latin typeface="Times New Roman" panose="02020603050405020304" pitchFamily="18" charset="0"/>
                <a:cs typeface="Times New Roman" panose="02020603050405020304" pitchFamily="18" charset="0"/>
              </a:rPr>
              <a:t>c</a:t>
            </a:r>
          </a:p>
          <a:p>
            <a:pPr marL="285750" indent="-285750">
              <a:buFont typeface="Arial" panose="020B0604020202020204" pitchFamily="34" charset="0"/>
              <a:buChar char="•"/>
            </a:pPr>
            <a:endParaRPr lang="en-US" sz="16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err="1" smtClean="0">
                <a:solidFill>
                  <a:srgbClr val="000000"/>
                </a:solidFill>
                <a:latin typeface="Times New Roman" panose="02020603050405020304" pitchFamily="18" charset="0"/>
                <a:cs typeface="Times New Roman" panose="02020603050405020304" pitchFamily="18" charset="0"/>
              </a:rPr>
              <a:t>dacă</a:t>
            </a:r>
            <a:r>
              <a:rPr lang="en-US" sz="1600" dirty="0" smtClean="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componenta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variabilă</a:t>
            </a:r>
            <a:r>
              <a:rPr lang="en-US" sz="1600" dirty="0">
                <a:solidFill>
                  <a:srgbClr val="000000"/>
                </a:solidFill>
                <a:latin typeface="Times New Roman" panose="02020603050405020304" pitchFamily="18" charset="0"/>
                <a:cs typeface="Times New Roman" panose="02020603050405020304" pitchFamily="18" charset="0"/>
              </a:rPr>
              <a:t> a </a:t>
            </a:r>
            <a:r>
              <a:rPr lang="en-US" sz="1600" dirty="0" err="1">
                <a:solidFill>
                  <a:srgbClr val="000000"/>
                </a:solidFill>
                <a:latin typeface="Times New Roman" panose="02020603050405020304" pitchFamily="18" charset="0"/>
                <a:cs typeface="Times New Roman" panose="02020603050405020304" pitchFamily="18" charset="0"/>
              </a:rPr>
              <a:t>curentului</a:t>
            </a:r>
            <a:r>
              <a:rPr lang="en-US" sz="1600" dirty="0">
                <a:solidFill>
                  <a:srgbClr val="000000"/>
                </a:solidFill>
                <a:latin typeface="Times New Roman" panose="02020603050405020304" pitchFamily="18" charset="0"/>
                <a:cs typeface="Times New Roman" panose="02020603050405020304" pitchFamily="18" charset="0"/>
              </a:rPr>
              <a:t> care </a:t>
            </a:r>
            <a:r>
              <a:rPr lang="en-US" sz="1600" dirty="0" err="1">
                <a:solidFill>
                  <a:srgbClr val="000000"/>
                </a:solidFill>
                <a:latin typeface="Times New Roman" panose="02020603050405020304" pitchFamily="18" charset="0"/>
                <a:cs typeface="Times New Roman" panose="02020603050405020304" pitchFamily="18" charset="0"/>
              </a:rPr>
              <a:t>trece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prin</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tranzistor</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trece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şi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prin</a:t>
            </a:r>
            <a:r>
              <a:rPr lang="en-US" sz="1600" dirty="0">
                <a:solidFill>
                  <a:srgbClr val="000000"/>
                </a:solidFill>
                <a:latin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cs typeface="Times New Roman" panose="02020603050405020304" pitchFamily="18" charset="0"/>
              </a:rPr>
              <a:t>RE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atunci</a:t>
            </a:r>
            <a:r>
              <a:rPr lang="en-US" sz="1600" dirty="0">
                <a:solidFill>
                  <a:srgbClr val="000000"/>
                </a:solidFill>
                <a:latin typeface="Times New Roman" panose="02020603050405020304" pitchFamily="18" charset="0"/>
                <a:cs typeface="Times New Roman" panose="02020603050405020304" pitchFamily="18" charset="0"/>
              </a:rPr>
              <a:t> o parte din </a:t>
            </a:r>
            <a:r>
              <a:rPr lang="en-US" sz="1600" dirty="0" err="1">
                <a:solidFill>
                  <a:srgbClr val="000000"/>
                </a:solidFill>
                <a:latin typeface="Times New Roman" panose="02020603050405020304" pitchFamily="18" charset="0"/>
                <a:cs typeface="Times New Roman" panose="02020603050405020304" pitchFamily="18" charset="0"/>
              </a:rPr>
              <a:t>energia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acesteia</a:t>
            </a:r>
            <a:r>
              <a:rPr lang="en-US" sz="1600" dirty="0">
                <a:solidFill>
                  <a:srgbClr val="000000"/>
                </a:solidFill>
                <a:latin typeface="Times New Roman" panose="02020603050405020304" pitchFamily="18" charset="0"/>
                <a:cs typeface="Times New Roman" panose="02020603050405020304" pitchFamily="18" charset="0"/>
              </a:rPr>
              <a:t> se </a:t>
            </a:r>
            <a:r>
              <a:rPr lang="en-US" sz="1600" dirty="0" err="1">
                <a:solidFill>
                  <a:srgbClr val="000000"/>
                </a:solidFill>
                <a:latin typeface="Times New Roman" panose="02020603050405020304" pitchFamily="18" charset="0"/>
                <a:cs typeface="Times New Roman" panose="02020603050405020304" pitchFamily="18" charset="0"/>
              </a:rPr>
              <a:t>consumă</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pe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această</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rezistenţă</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şi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nivelul</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semnalului</a:t>
            </a:r>
            <a:r>
              <a:rPr lang="en-US" sz="1600" dirty="0">
                <a:solidFill>
                  <a:srgbClr val="000000"/>
                </a:solidFill>
                <a:latin typeface="Times New Roman" panose="02020603050405020304" pitchFamily="18" charset="0"/>
                <a:cs typeface="Times New Roman" panose="02020603050405020304" pitchFamily="18" charset="0"/>
              </a:rPr>
              <a:t> de </a:t>
            </a:r>
            <a:r>
              <a:rPr lang="en-US" sz="1600" dirty="0" err="1">
                <a:solidFill>
                  <a:srgbClr val="000000"/>
                </a:solidFill>
                <a:latin typeface="Times New Roman" panose="02020603050405020304" pitchFamily="18" charset="0"/>
                <a:cs typeface="Times New Roman" panose="02020603050405020304" pitchFamily="18" charset="0"/>
              </a:rPr>
              <a:t>ieşire</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va</a:t>
            </a:r>
            <a:r>
              <a:rPr lang="en-US" sz="1600" dirty="0">
                <a:solidFill>
                  <a:srgbClr val="000000"/>
                </a:solidFill>
                <a:latin typeface="Times New Roman" panose="02020603050405020304" pitchFamily="18" charset="0"/>
                <a:cs typeface="Times New Roman" panose="02020603050405020304" pitchFamily="18" charset="0"/>
              </a:rPr>
              <a:t> fi </a:t>
            </a:r>
            <a:r>
              <a:rPr lang="en-US" sz="1600" dirty="0" err="1">
                <a:solidFill>
                  <a:srgbClr val="000000"/>
                </a:solidFill>
                <a:latin typeface="Times New Roman" panose="02020603050405020304" pitchFamily="18" charset="0"/>
                <a:cs typeface="Times New Roman" panose="02020603050405020304" pitchFamily="18" charset="0"/>
              </a:rPr>
              <a:t>mai</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smtClean="0">
                <a:solidFill>
                  <a:srgbClr val="000000"/>
                </a:solidFill>
                <a:latin typeface="Times New Roman" panose="02020603050405020304" pitchFamily="18" charset="0"/>
                <a:cs typeface="Times New Roman" panose="02020603050405020304" pitchFamily="18" charset="0"/>
              </a:rPr>
              <a:t>mic</a:t>
            </a:r>
          </a:p>
          <a:p>
            <a:pPr marL="285750" indent="-285750">
              <a:buFont typeface="Arial" panose="020B0604020202020204" pitchFamily="34" charset="0"/>
              <a:buChar char="•"/>
            </a:pPr>
            <a:r>
              <a:rPr lang="en-US" sz="1600" dirty="0" err="1">
                <a:solidFill>
                  <a:srgbClr val="000000"/>
                </a:solidFill>
                <a:latin typeface="Times New Roman" panose="02020603050405020304" pitchFamily="18" charset="0"/>
                <a:cs typeface="Times New Roman" panose="02020603050405020304" pitchFamily="18" charset="0"/>
              </a:rPr>
              <a:t>în</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paralel</a:t>
            </a:r>
            <a:r>
              <a:rPr lang="en-US" sz="1600" dirty="0">
                <a:solidFill>
                  <a:srgbClr val="000000"/>
                </a:solidFill>
                <a:latin typeface="Times New Roman" panose="02020603050405020304" pitchFamily="18" charset="0"/>
                <a:cs typeface="Times New Roman" panose="02020603050405020304" pitchFamily="18" charset="0"/>
              </a:rPr>
              <a:t> cu </a:t>
            </a:r>
            <a:r>
              <a:rPr lang="en-US" sz="1600" i="1" dirty="0">
                <a:solidFill>
                  <a:srgbClr val="000000"/>
                </a:solidFill>
                <a:latin typeface="Times New Roman" panose="02020603050405020304" pitchFamily="18" charset="0"/>
                <a:cs typeface="Times New Roman" panose="02020603050405020304" pitchFamily="18" charset="0"/>
              </a:rPr>
              <a:t>RE </a:t>
            </a:r>
            <a:r>
              <a:rPr lang="en-US" sz="1600" dirty="0">
                <a:solidFill>
                  <a:srgbClr val="000000"/>
                </a:solidFill>
                <a:latin typeface="Times New Roman" panose="02020603050405020304" pitchFamily="18" charset="0"/>
                <a:cs typeface="Times New Roman" panose="02020603050405020304" pitchFamily="18" charset="0"/>
              </a:rPr>
              <a:t>se </a:t>
            </a:r>
            <a:r>
              <a:rPr lang="en-US" sz="1600" dirty="0" err="1">
                <a:solidFill>
                  <a:srgbClr val="000000"/>
                </a:solidFill>
                <a:latin typeface="Times New Roman" panose="02020603050405020304" pitchFamily="18" charset="0"/>
                <a:cs typeface="Times New Roman" panose="02020603050405020304" pitchFamily="18" charset="0"/>
              </a:rPr>
              <a:t>conectează</a:t>
            </a:r>
            <a:r>
              <a:rPr lang="en-US" sz="1600" dirty="0">
                <a:solidFill>
                  <a:srgbClr val="000000"/>
                </a:solidFill>
                <a:latin typeface="Times New Roman" panose="02020603050405020304" pitchFamily="18" charset="0"/>
                <a:cs typeface="Times New Roman" panose="02020603050405020304" pitchFamily="18" charset="0"/>
              </a:rPr>
              <a:t> un </a:t>
            </a:r>
            <a:r>
              <a:rPr lang="en-US" sz="1600" dirty="0" err="1">
                <a:solidFill>
                  <a:srgbClr val="000000"/>
                </a:solidFill>
                <a:latin typeface="Times New Roman" panose="02020603050405020304" pitchFamily="18" charset="0"/>
                <a:cs typeface="Times New Roman" panose="02020603050405020304" pitchFamily="18" charset="0"/>
              </a:rPr>
              <a:t>condensator</a:t>
            </a:r>
            <a:r>
              <a:rPr lang="en-US" sz="1600" dirty="0">
                <a:solidFill>
                  <a:srgbClr val="000000"/>
                </a:solidFill>
                <a:latin typeface="Times New Roman" panose="02020603050405020304" pitchFamily="18" charset="0"/>
                <a:cs typeface="Times New Roman" panose="02020603050405020304" pitchFamily="18" charset="0"/>
              </a:rPr>
              <a:t> de </a:t>
            </a:r>
            <a:r>
              <a:rPr lang="en-US" sz="1600" dirty="0" err="1">
                <a:solidFill>
                  <a:srgbClr val="000000"/>
                </a:solidFill>
                <a:latin typeface="Times New Roman" panose="02020603050405020304" pitchFamily="18" charset="0"/>
                <a:cs typeface="Times New Roman" panose="02020603050405020304" pitchFamily="18" charset="0"/>
              </a:rPr>
              <a:t>decuplare</a:t>
            </a:r>
            <a:r>
              <a:rPr lang="en-US" sz="1600" dirty="0">
                <a:solidFill>
                  <a:srgbClr val="000000"/>
                </a:solidFill>
                <a:latin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cs typeface="Times New Roman" panose="02020603050405020304" pitchFamily="18" charset="0"/>
              </a:rPr>
              <a:t>CE</a:t>
            </a:r>
            <a:r>
              <a:rPr lang="en-US" sz="1600" dirty="0">
                <a:solidFill>
                  <a:srgbClr val="000000"/>
                </a:solidFill>
                <a:latin typeface="Times New Roman" panose="02020603050405020304" pitchFamily="18" charset="0"/>
                <a:cs typeface="Times New Roman" panose="02020603050405020304" pitchFamily="18" charset="0"/>
              </a:rPr>
              <a:t>, cu o </a:t>
            </a:r>
            <a:r>
              <a:rPr lang="en-US" sz="1600" dirty="0" err="1">
                <a:solidFill>
                  <a:srgbClr val="000000"/>
                </a:solidFill>
                <a:latin typeface="Times New Roman" panose="02020603050405020304" pitchFamily="18" charset="0"/>
                <a:cs typeface="Times New Roman" panose="02020603050405020304" pitchFamily="18" charset="0"/>
              </a:rPr>
              <a:t>astfel</a:t>
            </a:r>
            <a:r>
              <a:rPr lang="en-US" sz="1600" dirty="0">
                <a:solidFill>
                  <a:srgbClr val="000000"/>
                </a:solidFill>
                <a:latin typeface="Times New Roman" panose="02020603050405020304" pitchFamily="18" charset="0"/>
                <a:cs typeface="Times New Roman" panose="02020603050405020304" pitchFamily="18" charset="0"/>
              </a:rPr>
              <a:t> de capacitate </a:t>
            </a:r>
            <a:r>
              <a:rPr lang="en-US" sz="1600" dirty="0" err="1" smtClean="0">
                <a:solidFill>
                  <a:srgbClr val="000000"/>
                </a:solidFill>
                <a:latin typeface="Times New Roman" panose="02020603050405020304" pitchFamily="18" charset="0"/>
                <a:cs typeface="Times New Roman" panose="02020603050405020304" pitchFamily="18" charset="0"/>
              </a:rPr>
              <a:t>încât</a:t>
            </a:r>
            <a:endParaRPr lang="en-US" sz="1600" dirty="0" smtClean="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smtClean="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i="1" dirty="0">
                <a:solidFill>
                  <a:srgbClr val="000000"/>
                </a:solidFill>
                <a:latin typeface="Times New Roman" pitchFamily="18" charset="0"/>
                <a:cs typeface="Times New Roman" pitchFamily="18" charset="0"/>
              </a:rPr>
              <a:t>C</a:t>
            </a:r>
            <a:r>
              <a:rPr lang="en-US" sz="1600" i="1" baseline="-25000" dirty="0">
                <a:solidFill>
                  <a:srgbClr val="000000"/>
                </a:solidFill>
                <a:latin typeface="Times New Roman" pitchFamily="18" charset="0"/>
                <a:cs typeface="Times New Roman" pitchFamily="18" charset="0"/>
              </a:rPr>
              <a:t>E</a:t>
            </a:r>
            <a:r>
              <a:rPr lang="en-US" sz="1600" dirty="0">
                <a:solidFill>
                  <a:srgbClr val="000000"/>
                </a:solidFill>
                <a:latin typeface="Times New Roman" pitchFamily="18" charset="0"/>
                <a:cs typeface="Times New Roman" pitchFamily="18" charset="0"/>
              </a:rPr>
              <a:t> </a:t>
            </a:r>
            <a:r>
              <a:rPr lang="en-US" sz="1600" dirty="0" err="1">
                <a:solidFill>
                  <a:srgbClr val="000000"/>
                </a:solidFill>
                <a:latin typeface="Times New Roman" pitchFamily="18" charset="0"/>
                <a:cs typeface="Times New Roman" pitchFamily="18" charset="0"/>
              </a:rPr>
              <a:t>va</a:t>
            </a:r>
            <a:r>
              <a:rPr lang="en-US" sz="1600" dirty="0">
                <a:solidFill>
                  <a:srgbClr val="000000"/>
                </a:solidFill>
                <a:latin typeface="Times New Roman" pitchFamily="18" charset="0"/>
                <a:cs typeface="Times New Roman" pitchFamily="18" charset="0"/>
              </a:rPr>
              <a:t> </a:t>
            </a:r>
            <a:r>
              <a:rPr lang="en-US" sz="1600" dirty="0" err="1">
                <a:solidFill>
                  <a:srgbClr val="000000"/>
                </a:solidFill>
                <a:latin typeface="Times New Roman" pitchFamily="18" charset="0"/>
                <a:cs typeface="Times New Roman" pitchFamily="18" charset="0"/>
              </a:rPr>
              <a:t>reprezenta</a:t>
            </a:r>
            <a:r>
              <a:rPr lang="en-US" sz="1600" dirty="0">
                <a:solidFill>
                  <a:srgbClr val="000000"/>
                </a:solidFill>
                <a:latin typeface="Times New Roman" pitchFamily="18" charset="0"/>
                <a:cs typeface="Times New Roman" pitchFamily="18" charset="0"/>
              </a:rPr>
              <a:t> un </a:t>
            </a:r>
            <a:r>
              <a:rPr lang="en-US" sz="1600" dirty="0" err="1">
                <a:solidFill>
                  <a:srgbClr val="000000"/>
                </a:solidFill>
                <a:latin typeface="Times New Roman" pitchFamily="18" charset="0"/>
                <a:cs typeface="Times New Roman" pitchFamily="18" charset="0"/>
              </a:rPr>
              <a:t>scurtcircuit</a:t>
            </a:r>
            <a:r>
              <a:rPr lang="en-US" sz="1600" dirty="0">
                <a:solidFill>
                  <a:srgbClr val="000000"/>
                </a:solidFill>
                <a:latin typeface="Times New Roman" pitchFamily="18" charset="0"/>
                <a:cs typeface="Times New Roman" pitchFamily="18" charset="0"/>
              </a:rPr>
              <a:t> </a:t>
            </a:r>
            <a:r>
              <a:rPr lang="en-US" sz="1600" dirty="0" err="1">
                <a:solidFill>
                  <a:srgbClr val="000000"/>
                </a:solidFill>
                <a:latin typeface="Times New Roman" pitchFamily="18" charset="0"/>
                <a:cs typeface="Times New Roman" pitchFamily="18" charset="0"/>
              </a:rPr>
              <a:t>spre</a:t>
            </a:r>
            <a:r>
              <a:rPr lang="en-US" sz="1600" dirty="0">
                <a:solidFill>
                  <a:srgbClr val="000000"/>
                </a:solidFill>
                <a:latin typeface="Times New Roman" pitchFamily="18" charset="0"/>
                <a:cs typeface="Times New Roman" pitchFamily="18" charset="0"/>
              </a:rPr>
              <a:t> </a:t>
            </a:r>
            <a:r>
              <a:rPr lang="en-US" sz="1600" dirty="0" err="1">
                <a:solidFill>
                  <a:srgbClr val="000000"/>
                </a:solidFill>
                <a:latin typeface="Times New Roman" pitchFamily="18" charset="0"/>
                <a:cs typeface="Times New Roman" pitchFamily="18" charset="0"/>
              </a:rPr>
              <a:t>borna</a:t>
            </a:r>
            <a:r>
              <a:rPr lang="en-US" sz="1600" dirty="0">
                <a:solidFill>
                  <a:srgbClr val="000000"/>
                </a:solidFill>
                <a:latin typeface="Times New Roman" pitchFamily="18" charset="0"/>
                <a:cs typeface="Times New Roman" pitchFamily="18" charset="0"/>
              </a:rPr>
              <a:t> de </a:t>
            </a:r>
            <a:r>
              <a:rPr lang="en-US" sz="1600" dirty="0" err="1">
                <a:solidFill>
                  <a:srgbClr val="000000"/>
                </a:solidFill>
                <a:latin typeface="Times New Roman" pitchFamily="18" charset="0"/>
                <a:cs typeface="Times New Roman" pitchFamily="18" charset="0"/>
              </a:rPr>
              <a:t>masă</a:t>
            </a:r>
            <a:r>
              <a:rPr lang="en-US" sz="1600" dirty="0">
                <a:solidFill>
                  <a:srgbClr val="000000"/>
                </a:solidFill>
                <a:latin typeface="Times New Roman" pitchFamily="18" charset="0"/>
                <a:cs typeface="Times New Roman" pitchFamily="18" charset="0"/>
              </a:rPr>
              <a:t> </a:t>
            </a:r>
            <a:r>
              <a:rPr lang="en-US" sz="1600" dirty="0" err="1" smtClean="0">
                <a:solidFill>
                  <a:srgbClr val="000000"/>
                </a:solidFill>
                <a:latin typeface="Times New Roman" pitchFamily="18" charset="0"/>
                <a:cs typeface="Times New Roman" pitchFamily="18" charset="0"/>
              </a:rPr>
              <a:t>pentru</a:t>
            </a:r>
            <a:r>
              <a:rPr lang="en-US" sz="1600" dirty="0" smtClean="0">
                <a:solidFill>
                  <a:srgbClr val="000000"/>
                </a:solidFill>
                <a:latin typeface="Times New Roman" pitchFamily="18" charset="0"/>
                <a:cs typeface="Times New Roman" pitchFamily="18" charset="0"/>
              </a:rPr>
              <a:t> </a:t>
            </a:r>
            <a:r>
              <a:rPr lang="en-US" sz="1600" dirty="0" err="1" smtClean="0">
                <a:solidFill>
                  <a:srgbClr val="000000"/>
                </a:solidFill>
                <a:latin typeface="Times New Roman" pitchFamily="18" charset="0"/>
                <a:cs typeface="Times New Roman" pitchFamily="18" charset="0"/>
              </a:rPr>
              <a:t>componenta</a:t>
            </a:r>
            <a:r>
              <a:rPr lang="en-US" sz="1600" dirty="0" smtClean="0">
                <a:solidFill>
                  <a:srgbClr val="000000"/>
                </a:solidFill>
                <a:latin typeface="Times New Roman" pitchFamily="18" charset="0"/>
                <a:cs typeface="Times New Roman" pitchFamily="18" charset="0"/>
              </a:rPr>
              <a:t> </a:t>
            </a:r>
            <a:r>
              <a:rPr lang="en-US" sz="1600" dirty="0" err="1">
                <a:solidFill>
                  <a:srgbClr val="000000"/>
                </a:solidFill>
                <a:latin typeface="Times New Roman" pitchFamily="18" charset="0"/>
                <a:cs typeface="Times New Roman" pitchFamily="18" charset="0"/>
              </a:rPr>
              <a:t>variabilă</a:t>
            </a:r>
            <a:r>
              <a:rPr lang="en-US" sz="1600" dirty="0">
                <a:solidFill>
                  <a:srgbClr val="000000"/>
                </a:solidFill>
                <a:latin typeface="Times New Roman" pitchFamily="18" charset="0"/>
                <a:cs typeface="Times New Roman" pitchFamily="18" charset="0"/>
              </a:rPr>
              <a:t> a </a:t>
            </a:r>
            <a:r>
              <a:rPr lang="en-US" sz="1600" dirty="0" err="1">
                <a:solidFill>
                  <a:srgbClr val="000000"/>
                </a:solidFill>
                <a:latin typeface="Times New Roman" pitchFamily="18" charset="0"/>
                <a:cs typeface="Times New Roman" pitchFamily="18" charset="0"/>
              </a:rPr>
              <a:t>curentului</a:t>
            </a:r>
            <a:r>
              <a:rPr lang="en-US" sz="1600" dirty="0">
                <a:solidFill>
                  <a:srgbClr val="000000"/>
                </a:solidFill>
                <a:latin typeface="Times New Roman" pitchFamily="18" charset="0"/>
                <a:cs typeface="Times New Roman" pitchFamily="18" charset="0"/>
              </a:rPr>
              <a:t> de </a:t>
            </a:r>
            <a:r>
              <a:rPr lang="en-US" sz="1600" dirty="0" err="1" smtClean="0">
                <a:solidFill>
                  <a:srgbClr val="000000"/>
                </a:solidFill>
                <a:latin typeface="Times New Roman" pitchFamily="18" charset="0"/>
                <a:cs typeface="Times New Roman" pitchFamily="18" charset="0"/>
              </a:rPr>
              <a:t>emitor</a:t>
            </a:r>
            <a:endParaRPr lang="en-US" sz="1600" dirty="0" smtClean="0">
              <a:solidFill>
                <a:srgbClr val="000000"/>
              </a:solidFill>
              <a:latin typeface="Times New Roman" pitchFamily="18" charset="0"/>
              <a:cs typeface="Times New Roman" pitchFamily="18" charset="0"/>
            </a:endParaRPr>
          </a:p>
          <a:p>
            <a:pPr marL="285750" indent="-285750">
              <a:buFont typeface="Arial" panose="020B0604020202020204" pitchFamily="34" charset="0"/>
              <a:buChar char="•"/>
            </a:pPr>
            <a:r>
              <a:rPr lang="en-US" sz="1600" dirty="0" err="1">
                <a:solidFill>
                  <a:srgbClr val="000000"/>
                </a:solidFill>
                <a:latin typeface="Times New Roman" pitchFamily="18" charset="0"/>
                <a:cs typeface="Times New Roman" pitchFamily="18" charset="0"/>
              </a:rPr>
              <a:t>punctului</a:t>
            </a:r>
            <a:r>
              <a:rPr lang="en-US" sz="1600" dirty="0">
                <a:solidFill>
                  <a:srgbClr val="000000"/>
                </a:solidFill>
                <a:latin typeface="Times New Roman" pitchFamily="18" charset="0"/>
                <a:cs typeface="Times New Roman" pitchFamily="18" charset="0"/>
              </a:rPr>
              <a:t> static de </a:t>
            </a:r>
            <a:r>
              <a:rPr lang="en-US" sz="1600" dirty="0" err="1">
                <a:solidFill>
                  <a:srgbClr val="000000"/>
                </a:solidFill>
                <a:latin typeface="Times New Roman" pitchFamily="18" charset="0"/>
                <a:cs typeface="Times New Roman" pitchFamily="18" charset="0"/>
              </a:rPr>
              <a:t>funcţionare</a:t>
            </a:r>
            <a:r>
              <a:rPr lang="en-US" sz="1600" dirty="0">
                <a:solidFill>
                  <a:srgbClr val="000000"/>
                </a:solidFill>
                <a:latin typeface="Times New Roman" pitchFamily="18" charset="0"/>
                <a:cs typeface="Times New Roman" pitchFamily="18" charset="0"/>
              </a:rPr>
              <a:t>, </a:t>
            </a:r>
            <a:r>
              <a:rPr lang="en-US" sz="1600" dirty="0" smtClean="0">
                <a:solidFill>
                  <a:srgbClr val="000000"/>
                </a:solidFill>
                <a:latin typeface="Times New Roman" pitchFamily="18" charset="0"/>
                <a:cs typeface="Times New Roman" pitchFamily="18" charset="0"/>
              </a:rPr>
              <a:t>M </a:t>
            </a:r>
            <a:r>
              <a:rPr lang="en-US" sz="1600" dirty="0" smtClean="0">
                <a:solidFill>
                  <a:srgbClr val="FF0000"/>
                </a:solidFill>
                <a:latin typeface="Times New Roman" pitchFamily="18" charset="0"/>
                <a:cs typeface="Times New Roman" pitchFamily="18" charset="0"/>
              </a:rPr>
              <a:t>se </a:t>
            </a:r>
            <a:r>
              <a:rPr lang="en-US" sz="1600" dirty="0" err="1">
                <a:solidFill>
                  <a:srgbClr val="FF0000"/>
                </a:solidFill>
                <a:latin typeface="Times New Roman" pitchFamily="18" charset="0"/>
                <a:cs typeface="Times New Roman" pitchFamily="18" charset="0"/>
              </a:rPr>
              <a:t>află</a:t>
            </a:r>
            <a:r>
              <a:rPr lang="en-US" sz="1600" dirty="0">
                <a:solidFill>
                  <a:srgbClr val="FF0000"/>
                </a:solidFill>
                <a:latin typeface="Times New Roman" pitchFamily="18" charset="0"/>
                <a:cs typeface="Times New Roman" pitchFamily="18" charset="0"/>
              </a:rPr>
              <a:t> la </a:t>
            </a:r>
            <a:r>
              <a:rPr lang="en-US" sz="1600" dirty="0" err="1">
                <a:solidFill>
                  <a:srgbClr val="FF0000"/>
                </a:solidFill>
                <a:latin typeface="Times New Roman" pitchFamily="18" charset="0"/>
                <a:cs typeface="Times New Roman" pitchFamily="18" charset="0"/>
              </a:rPr>
              <a:t>intersecţia</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dintre</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dreapta</a:t>
            </a:r>
            <a:r>
              <a:rPr lang="en-US" sz="1600" dirty="0">
                <a:solidFill>
                  <a:srgbClr val="FF0000"/>
                </a:solidFill>
                <a:latin typeface="Times New Roman" pitchFamily="18" charset="0"/>
                <a:cs typeface="Times New Roman" pitchFamily="18" charset="0"/>
              </a:rPr>
              <a:t> de </a:t>
            </a:r>
            <a:r>
              <a:rPr lang="en-US" sz="1600" dirty="0" err="1">
                <a:solidFill>
                  <a:srgbClr val="FF0000"/>
                </a:solidFill>
                <a:latin typeface="Times New Roman" pitchFamily="18" charset="0"/>
                <a:cs typeface="Times New Roman" pitchFamily="18" charset="0"/>
              </a:rPr>
              <a:t>sarcină</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în</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regim</a:t>
            </a:r>
            <a:r>
              <a:rPr lang="en-US" sz="1600" dirty="0">
                <a:solidFill>
                  <a:srgbClr val="FF0000"/>
                </a:solidFill>
                <a:latin typeface="Times New Roman" pitchFamily="18" charset="0"/>
                <a:cs typeface="Times New Roman" pitchFamily="18" charset="0"/>
              </a:rPr>
              <a:t> static </a:t>
            </a:r>
            <a:r>
              <a:rPr lang="en-US" sz="1600" dirty="0" err="1">
                <a:solidFill>
                  <a:srgbClr val="FF0000"/>
                </a:solidFill>
                <a:latin typeface="Times New Roman" pitchFamily="18" charset="0"/>
                <a:cs typeface="Times New Roman" pitchFamily="18" charset="0"/>
              </a:rPr>
              <a:t>şi</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caracteristica</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voltamperică</a:t>
            </a:r>
            <a:r>
              <a:rPr lang="en-US" sz="1600" dirty="0">
                <a:solidFill>
                  <a:srgbClr val="FF0000"/>
                </a:solidFill>
                <a:latin typeface="Times New Roman" pitchFamily="18" charset="0"/>
                <a:cs typeface="Times New Roman" pitchFamily="18" charset="0"/>
              </a:rPr>
              <a:t> de </a:t>
            </a:r>
            <a:r>
              <a:rPr lang="en-US" sz="1600" dirty="0" err="1">
                <a:solidFill>
                  <a:srgbClr val="FF0000"/>
                </a:solidFill>
                <a:latin typeface="Times New Roman" pitchFamily="18" charset="0"/>
                <a:cs typeface="Times New Roman" pitchFamily="18" charset="0"/>
              </a:rPr>
              <a:t>ieşire</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corespunzătoare</a:t>
            </a:r>
            <a:r>
              <a:rPr lang="en-US" sz="1600" dirty="0">
                <a:solidFill>
                  <a:srgbClr val="FF0000"/>
                </a:solidFill>
                <a:latin typeface="Times New Roman" pitchFamily="18" charset="0"/>
                <a:cs typeface="Times New Roman" pitchFamily="18" charset="0"/>
              </a:rPr>
              <a:t> </a:t>
            </a:r>
            <a:r>
              <a:rPr lang="en-US" sz="1600" dirty="0" err="1">
                <a:solidFill>
                  <a:srgbClr val="FF0000"/>
                </a:solidFill>
                <a:latin typeface="Times New Roman" pitchFamily="18" charset="0"/>
                <a:cs typeface="Times New Roman" pitchFamily="18" charset="0"/>
              </a:rPr>
              <a:t>curentului</a:t>
            </a:r>
            <a:r>
              <a:rPr lang="en-US" sz="1600" dirty="0">
                <a:solidFill>
                  <a:srgbClr val="FF0000"/>
                </a:solidFill>
                <a:latin typeface="Times New Roman" pitchFamily="18" charset="0"/>
                <a:cs typeface="Times New Roman" pitchFamily="18" charset="0"/>
              </a:rPr>
              <a:t> de </a:t>
            </a:r>
            <a:r>
              <a:rPr lang="en-US" sz="1600" dirty="0" err="1">
                <a:solidFill>
                  <a:srgbClr val="FF0000"/>
                </a:solidFill>
                <a:latin typeface="Times New Roman" pitchFamily="18" charset="0"/>
                <a:cs typeface="Times New Roman" pitchFamily="18" charset="0"/>
              </a:rPr>
              <a:t>bază</a:t>
            </a:r>
            <a:r>
              <a:rPr lang="en-US" sz="1600" dirty="0">
                <a:solidFill>
                  <a:srgbClr val="FF0000"/>
                </a:solidFill>
                <a:latin typeface="Times New Roman" pitchFamily="18" charset="0"/>
                <a:cs typeface="Times New Roman" pitchFamily="18" charset="0"/>
              </a:rPr>
              <a:t> </a:t>
            </a:r>
            <a:r>
              <a:rPr lang="en-US" sz="1600" i="1" dirty="0" err="1">
                <a:solidFill>
                  <a:srgbClr val="FF0000"/>
                </a:solidFill>
                <a:latin typeface="Times New Roman" pitchFamily="18" charset="0"/>
                <a:cs typeface="Times New Roman" pitchFamily="18" charset="0"/>
              </a:rPr>
              <a:t>I</a:t>
            </a:r>
            <a:r>
              <a:rPr lang="en-US" sz="1600" i="1" baseline="-25000" dirty="0" err="1">
                <a:solidFill>
                  <a:srgbClr val="FF0000"/>
                </a:solidFill>
                <a:latin typeface="Times New Roman" pitchFamily="18" charset="0"/>
                <a:cs typeface="Times New Roman" pitchFamily="18" charset="0"/>
              </a:rPr>
              <a:t>Bo</a:t>
            </a:r>
            <a:r>
              <a:rPr lang="en-US" sz="1600" dirty="0">
                <a:solidFill>
                  <a:srgbClr val="FF0000"/>
                </a:solidFill>
                <a:latin typeface="Times New Roman" pitchFamily="18" charset="0"/>
                <a:cs typeface="Times New Roman" pitchFamily="18" charset="0"/>
              </a:rPr>
              <a:t>.</a:t>
            </a:r>
            <a:endParaRPr lang="ru-RU" sz="16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4"/>
          <a:stretch>
            <a:fillRect/>
          </a:stretch>
        </p:blipFill>
        <p:spPr>
          <a:xfrm>
            <a:off x="9871594" y="2163400"/>
            <a:ext cx="989516" cy="477178"/>
          </a:xfrm>
          <a:prstGeom prst="rect">
            <a:avLst/>
          </a:prstGeom>
        </p:spPr>
      </p:pic>
      <p:pic>
        <p:nvPicPr>
          <p:cNvPr id="5" name="Рисунок 4"/>
          <p:cNvPicPr>
            <a:picLocks noChangeAspect="1"/>
          </p:cNvPicPr>
          <p:nvPr/>
        </p:nvPicPr>
        <p:blipFill>
          <a:blip r:embed="rId5"/>
          <a:stretch>
            <a:fillRect/>
          </a:stretch>
        </p:blipFill>
        <p:spPr>
          <a:xfrm>
            <a:off x="10564759" y="4135986"/>
            <a:ext cx="1100515" cy="521017"/>
          </a:xfrm>
          <a:prstGeom prst="rect">
            <a:avLst/>
          </a:prstGeom>
        </p:spPr>
      </p:pic>
      <p:sp>
        <p:nvSpPr>
          <p:cNvPr id="7" name="Прямоугольник 6"/>
          <p:cNvSpPr/>
          <p:nvPr/>
        </p:nvSpPr>
        <p:spPr>
          <a:xfrm>
            <a:off x="0" y="0"/>
            <a:ext cx="4208781" cy="410882"/>
          </a:xfrm>
          <a:prstGeom prst="rect">
            <a:avLst/>
          </a:prstGeom>
        </p:spPr>
        <p:txBody>
          <a:bodyPr wrap="none">
            <a:spAutoFit/>
          </a:bodyPr>
          <a:lstStyle/>
          <a:p>
            <a:pPr marL="228600">
              <a:lnSpc>
                <a:spcPct val="115000"/>
              </a:lnSpc>
              <a:spcAft>
                <a:spcPts val="1000"/>
              </a:spcAft>
            </a:pPr>
            <a:r>
              <a:rPr lang="en-US" b="1" dirty="0" err="1">
                <a:latin typeface="Calibri" panose="020F0502020204030204" pitchFamily="34" charset="0"/>
                <a:ea typeface="Times New Roman" panose="02020603050405020304" pitchFamily="18" charset="0"/>
                <a:cs typeface="Times New Roman" panose="02020603050405020304" pitchFamily="18" charset="0"/>
              </a:rPr>
              <a:t>Amplificatorul</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conexiune</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emitor</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comun</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8874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4208781" cy="410882"/>
          </a:xfrm>
          <a:prstGeom prst="rect">
            <a:avLst/>
          </a:prstGeom>
        </p:spPr>
        <p:txBody>
          <a:bodyPr wrap="none">
            <a:spAutoFit/>
          </a:bodyPr>
          <a:lstStyle/>
          <a:p>
            <a:pPr marL="228600">
              <a:lnSpc>
                <a:spcPct val="115000"/>
              </a:lnSpc>
              <a:spcAft>
                <a:spcPts val="1000"/>
              </a:spcAft>
            </a:pPr>
            <a:r>
              <a:rPr lang="en-US" b="1" dirty="0" err="1">
                <a:latin typeface="Calibri" panose="020F0502020204030204" pitchFamily="34" charset="0"/>
                <a:ea typeface="Times New Roman" panose="02020603050405020304" pitchFamily="18" charset="0"/>
                <a:cs typeface="Times New Roman" panose="02020603050405020304" pitchFamily="18" charset="0"/>
              </a:rPr>
              <a:t>Amplificatorul</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conexiune</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emitor</a:t>
            </a:r>
            <a:r>
              <a:rPr lang="en-US" b="1" dirty="0">
                <a:latin typeface="Calibri" panose="020F0502020204030204" pitchFamily="34" charset="0"/>
                <a:ea typeface="Times New Roman" panose="02020603050405020304" pitchFamily="18" charset="0"/>
                <a:cs typeface="Times New Roman" panose="02020603050405020304" pitchFamily="18" charset="0"/>
              </a:rPr>
              <a:t> </a:t>
            </a:r>
            <a:r>
              <a:rPr lang="en-US" b="1" dirty="0" err="1">
                <a:latin typeface="Calibri" panose="020F0502020204030204" pitchFamily="34" charset="0"/>
                <a:ea typeface="Times New Roman" panose="02020603050405020304" pitchFamily="18" charset="0"/>
                <a:cs typeface="Times New Roman" panose="02020603050405020304" pitchFamily="18" charset="0"/>
              </a:rPr>
              <a:t>comun</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Picture 3"/>
          <p:cNvPicPr>
            <a:picLocks noGrp="1" noChangeAspect="1" noChangeArrowheads="1"/>
          </p:cNvPicPr>
          <p:nvPr>
            <p:ph idx="1"/>
          </p:nvPr>
        </p:nvPicPr>
        <p:blipFill rotWithShape="1">
          <a:blip r:embed="rId2"/>
          <a:srcRect b="9187"/>
          <a:stretch/>
        </p:blipFill>
        <p:spPr bwMode="auto">
          <a:xfrm>
            <a:off x="261992" y="500332"/>
            <a:ext cx="4183845" cy="6357668"/>
          </a:xfrm>
          <a:prstGeom prst="rect">
            <a:avLst/>
          </a:prstGeom>
          <a:noFill/>
          <a:ln w="9525">
            <a:noFill/>
            <a:miter lim="800000"/>
            <a:headEnd/>
            <a:tailEnd/>
          </a:ln>
          <a:effectLst/>
        </p:spPr>
      </p:pic>
      <p:pic>
        <p:nvPicPr>
          <p:cNvPr id="7" name="Picture 2"/>
          <p:cNvPicPr>
            <a:picLocks noChangeAspect="1" noChangeArrowheads="1"/>
          </p:cNvPicPr>
          <p:nvPr/>
        </p:nvPicPr>
        <p:blipFill rotWithShape="1">
          <a:blip r:embed="rId3"/>
          <a:srcRect b="19936"/>
          <a:stretch/>
        </p:blipFill>
        <p:spPr bwMode="auto">
          <a:xfrm>
            <a:off x="4892813" y="1077119"/>
            <a:ext cx="7137895" cy="5127030"/>
          </a:xfrm>
          <a:prstGeom prst="rect">
            <a:avLst/>
          </a:prstGeom>
          <a:noFill/>
          <a:ln w="9525">
            <a:noFill/>
            <a:miter lim="800000"/>
            <a:headEnd/>
            <a:tailEnd/>
          </a:ln>
          <a:effectLst/>
        </p:spPr>
      </p:pic>
    </p:spTree>
    <p:extLst>
      <p:ext uri="{BB962C8B-B14F-4D97-AF65-F5344CB8AC3E}">
        <p14:creationId xmlns:p14="http://schemas.microsoft.com/office/powerpoint/2010/main" val="198796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3374" y="0"/>
            <a:ext cx="12128625" cy="1323439"/>
          </a:xfrm>
          <a:prstGeom prst="rect">
            <a:avLst/>
          </a:prstGeom>
        </p:spPr>
        <p:txBody>
          <a:bodyPr wrap="square">
            <a:spAutoFit/>
          </a:bodyPr>
          <a:lstStyle/>
          <a:p>
            <a:r>
              <a:rPr lang="en-US" sz="2000" dirty="0" err="1">
                <a:solidFill>
                  <a:srgbClr val="FF0000"/>
                </a:solidFill>
                <a:latin typeface="Times New Roman" pitchFamily="18" charset="0"/>
                <a:cs typeface="Times New Roman" pitchFamily="18" charset="0"/>
              </a:rPr>
              <a:t>În</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regim</a:t>
            </a:r>
            <a:r>
              <a:rPr lang="en-US" sz="2000" dirty="0">
                <a:solidFill>
                  <a:srgbClr val="FF0000"/>
                </a:solidFill>
                <a:latin typeface="Times New Roman" pitchFamily="18" charset="0"/>
                <a:cs typeface="Times New Roman" pitchFamily="18" charset="0"/>
              </a:rPr>
              <a:t> </a:t>
            </a:r>
            <a:r>
              <a:rPr lang="en-US" sz="2000" dirty="0" err="1">
                <a:solidFill>
                  <a:srgbClr val="FF0000"/>
                </a:solidFill>
                <a:latin typeface="Times New Roman" pitchFamily="18" charset="0"/>
                <a:cs typeface="Times New Roman" pitchFamily="18" charset="0"/>
              </a:rPr>
              <a:t>dinamic</a:t>
            </a:r>
            <a:r>
              <a:rPr lang="en-US" sz="2000" dirty="0">
                <a:solidFill>
                  <a:srgbClr val="000000"/>
                </a:solidFill>
                <a:latin typeface="Times New Roman" pitchFamily="18" charset="0"/>
                <a:cs typeface="Times New Roman" pitchFamily="18" charset="0"/>
              </a:rPr>
              <a:t>, la </a:t>
            </a:r>
            <a:r>
              <a:rPr lang="en-US" sz="2000" dirty="0" err="1">
                <a:solidFill>
                  <a:srgbClr val="000000"/>
                </a:solidFill>
                <a:latin typeface="Times New Roman" pitchFamily="18" charset="0"/>
                <a:cs typeface="Times New Roman" pitchFamily="18" charset="0"/>
              </a:rPr>
              <a:t>frecvenţa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pentru</a:t>
            </a:r>
            <a:r>
              <a:rPr lang="en-US" sz="2000" dirty="0">
                <a:solidFill>
                  <a:srgbClr val="000000"/>
                </a:solidFill>
                <a:latin typeface="Times New Roman" pitchFamily="18" charset="0"/>
                <a:cs typeface="Times New Roman" pitchFamily="18" charset="0"/>
              </a:rPr>
              <a:t> care </a:t>
            </a:r>
            <a:r>
              <a:rPr lang="en-US" sz="2000" dirty="0" err="1">
                <a:solidFill>
                  <a:srgbClr val="000000"/>
                </a:solidFill>
                <a:latin typeface="Times New Roman" pitchFamily="18" charset="0"/>
                <a:cs typeface="Times New Roman" pitchFamily="18" charset="0"/>
              </a:rPr>
              <a:t>amplificatorul</a:t>
            </a:r>
            <a:r>
              <a:rPr lang="en-US" sz="2000" dirty="0">
                <a:solidFill>
                  <a:srgbClr val="000000"/>
                </a:solidFill>
                <a:latin typeface="Times New Roman" pitchFamily="18" charset="0"/>
                <a:cs typeface="Times New Roman" pitchFamily="18" charset="0"/>
              </a:rPr>
              <a:t> a </a:t>
            </a:r>
            <a:r>
              <a:rPr lang="en-US" sz="2000" dirty="0" err="1" smtClean="0">
                <a:solidFill>
                  <a:srgbClr val="000000"/>
                </a:solidFill>
                <a:latin typeface="Times New Roman" pitchFamily="18" charset="0"/>
                <a:cs typeface="Times New Roman" pitchFamily="18" charset="0"/>
              </a:rPr>
              <a:t>fost</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proiectat</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să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aibă</a:t>
            </a:r>
            <a:r>
              <a:rPr lang="en-US" sz="2000" dirty="0">
                <a:solidFill>
                  <a:srgbClr val="000000"/>
                </a:solidFill>
                <a:latin typeface="Times New Roman" pitchFamily="18" charset="0"/>
                <a:cs typeface="Times New Roman" pitchFamily="18" charset="0"/>
              </a:rPr>
              <a:t> o </a:t>
            </a:r>
            <a:r>
              <a:rPr lang="en-US" sz="2000" dirty="0" err="1">
                <a:solidFill>
                  <a:srgbClr val="000000"/>
                </a:solidFill>
                <a:latin typeface="Times New Roman" pitchFamily="18" charset="0"/>
                <a:cs typeface="Times New Roman" pitchFamily="18" charset="0"/>
              </a:rPr>
              <a:t>amplificare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maximă</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r>
              <a:rPr lang="en-US" sz="2000" dirty="0" err="1" smtClean="0">
                <a:solidFill>
                  <a:srgbClr val="000000"/>
                </a:solidFill>
                <a:latin typeface="Times New Roman" pitchFamily="18" charset="0"/>
                <a:cs typeface="Times New Roman" pitchFamily="18" charset="0"/>
              </a:rPr>
              <a:t>Condensatoarele</a:t>
            </a:r>
            <a:r>
              <a:rPr lang="en-US" sz="2000" dirty="0" smtClean="0">
                <a:solidFill>
                  <a:srgbClr val="000000"/>
                </a:solidFill>
                <a:latin typeface="Times New Roman" pitchFamily="18" charset="0"/>
                <a:cs typeface="Times New Roman" pitchFamily="18" charset="0"/>
              </a:rPr>
              <a:t> – </a:t>
            </a:r>
            <a:r>
              <a:rPr lang="en-US" sz="2000" dirty="0" err="1" smtClean="0">
                <a:solidFill>
                  <a:srgbClr val="000000"/>
                </a:solidFill>
                <a:latin typeface="Times New Roman" pitchFamily="18" charset="0"/>
                <a:cs typeface="Times New Roman" pitchFamily="18" charset="0"/>
              </a:rPr>
              <a:t>scurtcircuite</a:t>
            </a:r>
            <a:endParaRPr lang="en-US" sz="2000" dirty="0" smtClean="0">
              <a:solidFill>
                <a:srgbClr val="000000"/>
              </a:solidFill>
              <a:latin typeface="Times New Roman" pitchFamily="18" charset="0"/>
              <a:cs typeface="Times New Roman" pitchFamily="18" charset="0"/>
            </a:endParaRPr>
          </a:p>
          <a:p>
            <a:r>
              <a:rPr lang="en-US" sz="2000" dirty="0" smtClean="0">
                <a:solidFill>
                  <a:srgbClr val="000000"/>
                </a:solidFill>
                <a:latin typeface="Times New Roman" pitchFamily="18" charset="0"/>
                <a:cs typeface="Times New Roman" pitchFamily="18" charset="0"/>
              </a:rPr>
              <a:t>E (</a:t>
            </a:r>
            <a:r>
              <a:rPr lang="en-US" sz="2000" dirty="0" err="1" smtClean="0">
                <a:solidFill>
                  <a:srgbClr val="000000"/>
                </a:solidFill>
                <a:latin typeface="Times New Roman" pitchFamily="18" charset="0"/>
                <a:cs typeface="Times New Roman" pitchFamily="18" charset="0"/>
              </a:rPr>
              <a:t>sursa</a:t>
            </a:r>
            <a:r>
              <a:rPr lang="en-US" sz="2000" dirty="0" smtClean="0">
                <a:solidFill>
                  <a:srgbClr val="000000"/>
                </a:solidFill>
                <a:latin typeface="Times New Roman" pitchFamily="18" charset="0"/>
                <a:cs typeface="Times New Roman" pitchFamily="18" charset="0"/>
              </a:rPr>
              <a:t> de </a:t>
            </a:r>
            <a:r>
              <a:rPr lang="en-US" sz="2000" dirty="0" err="1" smtClean="0">
                <a:solidFill>
                  <a:srgbClr val="000000"/>
                </a:solidFill>
                <a:latin typeface="Times New Roman" pitchFamily="18" charset="0"/>
                <a:cs typeface="Times New Roman" pitchFamily="18" charset="0"/>
              </a:rPr>
              <a:t>alimentare</a:t>
            </a:r>
            <a:r>
              <a:rPr lang="en-US" sz="2000" dirty="0" smtClean="0">
                <a:solidFill>
                  <a:srgbClr val="000000"/>
                </a:solidFill>
                <a:latin typeface="Times New Roman" pitchFamily="18" charset="0"/>
                <a:cs typeface="Times New Roman" pitchFamily="18" charset="0"/>
              </a:rPr>
              <a:t>) – </a:t>
            </a:r>
            <a:r>
              <a:rPr lang="en-US" sz="2000" dirty="0" err="1" smtClean="0">
                <a:solidFill>
                  <a:srgbClr val="000000"/>
                </a:solidFill>
                <a:latin typeface="Times New Roman" pitchFamily="18" charset="0"/>
                <a:cs typeface="Times New Roman" pitchFamily="18" charset="0"/>
              </a:rPr>
              <a:t>scurtcircuit</a:t>
            </a:r>
            <a:endParaRPr lang="en-US" sz="2000" dirty="0" smtClean="0">
              <a:solidFill>
                <a:srgbClr val="000000"/>
              </a:solidFill>
              <a:latin typeface="Times New Roman" pitchFamily="18" charset="0"/>
              <a:cs typeface="Times New Roman" pitchFamily="18" charset="0"/>
            </a:endParaRPr>
          </a:p>
          <a:p>
            <a:r>
              <a:rPr lang="en-US" sz="2000" dirty="0" err="1" smtClean="0">
                <a:solidFill>
                  <a:srgbClr val="000000"/>
                </a:solidFill>
                <a:latin typeface="Times New Roman" pitchFamily="18" charset="0"/>
                <a:cs typeface="Times New Roman" pitchFamily="18" charset="0"/>
              </a:rPr>
              <a:t>Rsarcina</a:t>
            </a:r>
            <a:r>
              <a:rPr lang="en-US" sz="2000" dirty="0" smtClean="0">
                <a:solidFill>
                  <a:srgbClr val="000000"/>
                </a:solidFill>
                <a:latin typeface="Times New Roman" pitchFamily="18" charset="0"/>
                <a:cs typeface="Times New Roman" pitchFamily="18" charset="0"/>
              </a:rPr>
              <a:t> &gt;&gt; </a:t>
            </a:r>
            <a:r>
              <a:rPr lang="en-US" sz="2000" dirty="0" err="1" smtClean="0">
                <a:solidFill>
                  <a:srgbClr val="000000"/>
                </a:solidFill>
                <a:latin typeface="Times New Roman" pitchFamily="18" charset="0"/>
                <a:cs typeface="Times New Roman" pitchFamily="18" charset="0"/>
              </a:rPr>
              <a:t>Rc</a:t>
            </a:r>
            <a:endParaRPr lang="en-US" sz="2000" dirty="0">
              <a:latin typeface="Times New Roman" pitchFamily="18" charset="0"/>
              <a:cs typeface="Times New Roman" pitchFamily="18" charset="0"/>
            </a:endParaRPr>
          </a:p>
        </p:txBody>
      </p:sp>
      <p:pic>
        <p:nvPicPr>
          <p:cNvPr id="5" name="Picture 2"/>
          <p:cNvPicPr>
            <a:picLocks noGrp="1" noChangeAspect="1" noChangeArrowheads="1"/>
          </p:cNvPicPr>
          <p:nvPr>
            <p:ph idx="1"/>
          </p:nvPr>
        </p:nvPicPr>
        <p:blipFill rotWithShape="1">
          <a:blip r:embed="rId2"/>
          <a:srcRect l="-177" t="12313" r="177" b="17596"/>
          <a:stretch/>
        </p:blipFill>
        <p:spPr bwMode="auto">
          <a:xfrm>
            <a:off x="271604" y="2444435"/>
            <a:ext cx="6025449" cy="2544024"/>
          </a:xfrm>
          <a:prstGeom prst="rect">
            <a:avLst/>
          </a:prstGeom>
          <a:noFill/>
          <a:ln w="9525">
            <a:noFill/>
            <a:miter lim="800000"/>
            <a:headEnd/>
            <a:tailEnd/>
          </a:ln>
          <a:effectLst/>
        </p:spPr>
      </p:pic>
      <p:pic>
        <p:nvPicPr>
          <p:cNvPr id="6" name="Picture 2"/>
          <p:cNvPicPr>
            <a:picLocks noChangeAspect="1" noChangeArrowheads="1"/>
          </p:cNvPicPr>
          <p:nvPr/>
        </p:nvPicPr>
        <p:blipFill rotWithShape="1">
          <a:blip r:embed="rId3"/>
          <a:srcRect l="1457" t="2310" r="989" b="9436"/>
          <a:stretch/>
        </p:blipFill>
        <p:spPr bwMode="auto">
          <a:xfrm>
            <a:off x="6556954" y="2444435"/>
            <a:ext cx="5186683" cy="3739082"/>
          </a:xfrm>
          <a:prstGeom prst="rect">
            <a:avLst/>
          </a:prstGeom>
          <a:noFill/>
          <a:ln w="9525">
            <a:noFill/>
            <a:miter lim="800000"/>
            <a:headEnd/>
            <a:tailEnd/>
          </a:ln>
          <a:effectLst/>
        </p:spPr>
      </p:pic>
    </p:spTree>
    <p:extLst>
      <p:ext uri="{BB962C8B-B14F-4D97-AF65-F5344CB8AC3E}">
        <p14:creationId xmlns:p14="http://schemas.microsoft.com/office/powerpoint/2010/main" val="15538437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214265" y="169814"/>
            <a:ext cx="11627668" cy="830997"/>
          </a:xfrm>
          <a:prstGeom prst="rect">
            <a:avLst/>
          </a:prstGeom>
        </p:spPr>
        <p:txBody>
          <a:bodyPr wrap="square">
            <a:spAutoFit/>
          </a:bodyPr>
          <a:lstStyle/>
          <a:p>
            <a:r>
              <a:rPr lang="en-US" sz="2400" dirty="0" err="1" smtClean="0"/>
              <a:t>între</a:t>
            </a:r>
            <a:r>
              <a:rPr lang="en-US" sz="2400" dirty="0" smtClean="0"/>
              <a:t> </a:t>
            </a:r>
            <a:r>
              <a:rPr lang="en-US" sz="2400" dirty="0" err="1"/>
              <a:t>variaţia</a:t>
            </a:r>
            <a:r>
              <a:rPr lang="en-US" sz="2400" dirty="0"/>
              <a:t> </a:t>
            </a:r>
            <a:r>
              <a:rPr lang="en-US" sz="2400" dirty="0" err="1"/>
              <a:t>curentului</a:t>
            </a:r>
            <a:r>
              <a:rPr lang="en-US" sz="2400" dirty="0"/>
              <a:t> de </a:t>
            </a:r>
            <a:r>
              <a:rPr lang="en-US" sz="2400" dirty="0" err="1"/>
              <a:t>colector</a:t>
            </a:r>
            <a:r>
              <a:rPr lang="en-US" sz="2400" dirty="0"/>
              <a:t> </a:t>
            </a:r>
            <a:r>
              <a:rPr lang="en-US" sz="2400" dirty="0" err="1"/>
              <a:t>şi</a:t>
            </a:r>
            <a:r>
              <a:rPr lang="en-US" sz="2400" dirty="0"/>
              <a:t> </a:t>
            </a:r>
            <a:r>
              <a:rPr lang="en-US" sz="2400" dirty="0" err="1"/>
              <a:t>variaţia</a:t>
            </a:r>
            <a:r>
              <a:rPr lang="en-US" sz="2400" dirty="0"/>
              <a:t> </a:t>
            </a:r>
            <a:r>
              <a:rPr lang="en-US" sz="2400" dirty="0" err="1" smtClean="0"/>
              <a:t>tensiunii</a:t>
            </a:r>
            <a:r>
              <a:rPr lang="en-US" sz="2400" dirty="0" smtClean="0"/>
              <a:t> </a:t>
            </a:r>
            <a:r>
              <a:rPr lang="en-US" sz="2400" dirty="0" err="1" smtClean="0"/>
              <a:t>dintre</a:t>
            </a:r>
            <a:r>
              <a:rPr lang="en-US" sz="2400" dirty="0" smtClean="0"/>
              <a:t> </a:t>
            </a:r>
            <a:r>
              <a:rPr lang="en-US" sz="2400" dirty="0" err="1"/>
              <a:t>colector</a:t>
            </a:r>
            <a:r>
              <a:rPr lang="en-US" sz="2400" dirty="0"/>
              <a:t> </a:t>
            </a:r>
            <a:r>
              <a:rPr lang="en-US" sz="2400" dirty="0" err="1"/>
              <a:t>şi</a:t>
            </a:r>
            <a:r>
              <a:rPr lang="en-US" sz="2400" dirty="0"/>
              <a:t> </a:t>
            </a:r>
            <a:r>
              <a:rPr lang="en-US" sz="2400" dirty="0" err="1"/>
              <a:t>emitor</a:t>
            </a:r>
            <a:r>
              <a:rPr lang="en-US" sz="2400" dirty="0"/>
              <a:t> se </a:t>
            </a:r>
            <a:r>
              <a:rPr lang="en-US" sz="2400" dirty="0" err="1"/>
              <a:t>poate</a:t>
            </a:r>
            <a:r>
              <a:rPr lang="en-US" sz="2400" dirty="0"/>
              <a:t> </a:t>
            </a:r>
            <a:r>
              <a:rPr lang="en-US" sz="2400" dirty="0" err="1"/>
              <a:t>stabili</a:t>
            </a:r>
            <a:r>
              <a:rPr lang="en-US" sz="2400" dirty="0"/>
              <a:t> </a:t>
            </a:r>
            <a:r>
              <a:rPr lang="en-US" sz="2400" dirty="0" err="1"/>
              <a:t>dependenţa</a:t>
            </a:r>
            <a:endParaRPr lang="en-US" sz="2400" dirty="0"/>
          </a:p>
        </p:txBody>
      </p:sp>
      <p:pic>
        <p:nvPicPr>
          <p:cNvPr id="7" name="Рисунок 6"/>
          <p:cNvPicPr/>
          <p:nvPr/>
        </p:nvPicPr>
        <p:blipFill>
          <a:blip r:embed="rId2"/>
          <a:stretch>
            <a:fillRect/>
          </a:stretch>
        </p:blipFill>
        <p:spPr>
          <a:xfrm>
            <a:off x="2921252" y="703679"/>
            <a:ext cx="1944216" cy="864096"/>
          </a:xfrm>
          <a:prstGeom prst="rect">
            <a:avLst/>
          </a:prstGeom>
          <a:scene3d>
            <a:camera prst="orthographicFront"/>
            <a:lightRig rig="threePt" dir="t"/>
          </a:scene3d>
          <a:sp3d contourW="6350"/>
        </p:spPr>
      </p:pic>
      <p:sp>
        <p:nvSpPr>
          <p:cNvPr id="8" name="Прямоугольник 7"/>
          <p:cNvSpPr/>
          <p:nvPr/>
        </p:nvSpPr>
        <p:spPr>
          <a:xfrm>
            <a:off x="4865468" y="836242"/>
            <a:ext cx="3814527" cy="400110"/>
          </a:xfrm>
          <a:prstGeom prst="rect">
            <a:avLst/>
          </a:prstGeom>
        </p:spPr>
        <p:txBody>
          <a:bodyPr wrap="square">
            <a:spAutoFit/>
          </a:bodyPr>
          <a:lstStyle/>
          <a:p>
            <a:r>
              <a:rPr lang="en-US" sz="2000" dirty="0" smtClean="0">
                <a:solidFill>
                  <a:srgbClr val="000000"/>
                </a:solidFill>
                <a:latin typeface="Times New Roman" pitchFamily="18" charset="0"/>
                <a:cs typeface="Times New Roman" pitchFamily="18" charset="0"/>
              </a:rPr>
              <a:t>Care </a:t>
            </a:r>
            <a:r>
              <a:rPr lang="en-US" sz="2000" dirty="0" err="1" smtClean="0">
                <a:solidFill>
                  <a:srgbClr val="000000"/>
                </a:solidFill>
                <a:latin typeface="Times New Roman" pitchFamily="18" charset="0"/>
                <a:cs typeface="Times New Roman" pitchFamily="18" charset="0"/>
              </a:rPr>
              <a:t>reprezintă</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o </a:t>
            </a:r>
            <a:r>
              <a:rPr lang="en-US" sz="2000" dirty="0" err="1">
                <a:solidFill>
                  <a:srgbClr val="000000"/>
                </a:solidFill>
                <a:latin typeface="Times New Roman" pitchFamily="18" charset="0"/>
                <a:cs typeface="Times New Roman" pitchFamily="18" charset="0"/>
              </a:rPr>
              <a:t>dreaptă</a:t>
            </a:r>
            <a:r>
              <a:rPr lang="en-US" sz="2000" dirty="0">
                <a:solidFill>
                  <a:srgbClr val="000000"/>
                </a:solidFill>
                <a:latin typeface="Times New Roman" pitchFamily="18" charset="0"/>
                <a:cs typeface="Times New Roman" pitchFamily="18" charset="0"/>
              </a:rPr>
              <a:t> cu </a:t>
            </a:r>
            <a:r>
              <a:rPr lang="en-US" sz="2000" dirty="0" err="1">
                <a:solidFill>
                  <a:srgbClr val="000000"/>
                </a:solidFill>
                <a:latin typeface="Times New Roman" pitchFamily="18" charset="0"/>
                <a:cs typeface="Times New Roman" pitchFamily="18" charset="0"/>
              </a:rPr>
              <a:t>panta</a:t>
            </a:r>
            <a:r>
              <a:rPr lang="en-US" sz="2000" dirty="0">
                <a:latin typeface="Times New Roman" pitchFamily="18" charset="0"/>
                <a:cs typeface="Times New Roman" pitchFamily="18" charset="0"/>
              </a:rPr>
              <a:t> </a:t>
            </a:r>
          </a:p>
        </p:txBody>
      </p:sp>
      <p:pic>
        <p:nvPicPr>
          <p:cNvPr id="9" name="Рисунок 8"/>
          <p:cNvPicPr/>
          <p:nvPr/>
        </p:nvPicPr>
        <p:blipFill>
          <a:blip r:embed="rId3"/>
          <a:stretch>
            <a:fillRect/>
          </a:stretch>
        </p:blipFill>
        <p:spPr>
          <a:xfrm>
            <a:off x="8676788" y="675902"/>
            <a:ext cx="1584176" cy="864096"/>
          </a:xfrm>
          <a:prstGeom prst="rect">
            <a:avLst/>
          </a:prstGeom>
          <a:scene3d>
            <a:camera prst="orthographicFront"/>
            <a:lightRig rig="threePt" dir="t"/>
          </a:scene3d>
          <a:sp3d contourW="6350"/>
        </p:spPr>
      </p:pic>
      <p:sp>
        <p:nvSpPr>
          <p:cNvPr id="10" name="Прямоугольник 9"/>
          <p:cNvSpPr/>
          <p:nvPr/>
        </p:nvSpPr>
        <p:spPr>
          <a:xfrm>
            <a:off x="114678" y="1784661"/>
            <a:ext cx="12007912" cy="1938992"/>
          </a:xfrm>
          <a:prstGeom prst="rect">
            <a:avLst/>
          </a:prstGeom>
        </p:spPr>
        <p:txBody>
          <a:bodyPr wrap="square">
            <a:spAutoFit/>
          </a:bodyPr>
          <a:lstStyle/>
          <a:p>
            <a:r>
              <a:rPr lang="en-US" sz="2000" dirty="0" err="1">
                <a:solidFill>
                  <a:srgbClr val="000000"/>
                </a:solidFill>
                <a:latin typeface="Times New Roman" pitchFamily="18" charset="0"/>
                <a:cs typeface="Times New Roman" pitchFamily="18" charset="0"/>
              </a:rPr>
              <a:t>Aceasta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este</a:t>
            </a:r>
            <a:r>
              <a:rPr lang="en-US" sz="2000" dirty="0">
                <a:solidFill>
                  <a:srgbClr val="000000"/>
                </a:solidFill>
                <a:latin typeface="Times New Roman" pitchFamily="18" charset="0"/>
                <a:cs typeface="Times New Roman" pitchFamily="18" charset="0"/>
              </a:rPr>
              <a:t> </a:t>
            </a:r>
            <a:r>
              <a:rPr lang="en-US" sz="2000" b="1" i="1" dirty="0" err="1">
                <a:solidFill>
                  <a:srgbClr val="000000"/>
                </a:solidFill>
                <a:latin typeface="Times New Roman" pitchFamily="18" charset="0"/>
                <a:cs typeface="Times New Roman" pitchFamily="18" charset="0"/>
              </a:rPr>
              <a:t>dreapta</a:t>
            </a:r>
            <a:r>
              <a:rPr lang="en-US" sz="2000" b="1" i="1" dirty="0">
                <a:solidFill>
                  <a:srgbClr val="000000"/>
                </a:solidFill>
                <a:latin typeface="Times New Roman" pitchFamily="18" charset="0"/>
                <a:cs typeface="Times New Roman" pitchFamily="18" charset="0"/>
              </a:rPr>
              <a:t> de </a:t>
            </a:r>
            <a:r>
              <a:rPr lang="en-US" sz="2000" b="1" i="1" dirty="0" err="1" smtClean="0">
                <a:solidFill>
                  <a:srgbClr val="000000"/>
                </a:solidFill>
                <a:latin typeface="Times New Roman" pitchFamily="18" charset="0"/>
                <a:cs typeface="Times New Roman" pitchFamily="18" charset="0"/>
              </a:rPr>
              <a:t>sarcină</a:t>
            </a:r>
            <a:r>
              <a:rPr lang="en-US" sz="2000" b="1" i="1" dirty="0" smtClean="0">
                <a:solidFill>
                  <a:srgbClr val="000000"/>
                </a:solidFill>
                <a:latin typeface="Times New Roman" pitchFamily="18" charset="0"/>
                <a:cs typeface="Times New Roman" pitchFamily="18" charset="0"/>
              </a:rPr>
              <a:t> </a:t>
            </a:r>
            <a:r>
              <a:rPr lang="en-US" sz="2000" b="1" i="1" dirty="0" err="1" smtClean="0">
                <a:solidFill>
                  <a:srgbClr val="000000"/>
                </a:solidFill>
                <a:latin typeface="Times New Roman" pitchFamily="18" charset="0"/>
                <a:cs typeface="Times New Roman" pitchFamily="18" charset="0"/>
              </a:rPr>
              <a:t>în</a:t>
            </a:r>
            <a:r>
              <a:rPr lang="en-US" sz="2000" b="1" i="1" dirty="0" smtClean="0">
                <a:solidFill>
                  <a:srgbClr val="000000"/>
                </a:solidFill>
                <a:latin typeface="Times New Roman" pitchFamily="18" charset="0"/>
                <a:cs typeface="Times New Roman" pitchFamily="18" charset="0"/>
              </a:rPr>
              <a:t> </a:t>
            </a:r>
            <a:r>
              <a:rPr lang="en-US" sz="2000" b="1" i="1" dirty="0" err="1">
                <a:solidFill>
                  <a:srgbClr val="000000"/>
                </a:solidFill>
                <a:latin typeface="Times New Roman" pitchFamily="18" charset="0"/>
                <a:cs typeface="Times New Roman" pitchFamily="18" charset="0"/>
              </a:rPr>
              <a:t>regim</a:t>
            </a:r>
            <a:r>
              <a:rPr lang="en-US" sz="2000" b="1" i="1" dirty="0">
                <a:solidFill>
                  <a:srgbClr val="000000"/>
                </a:solidFill>
                <a:latin typeface="Times New Roman" pitchFamily="18" charset="0"/>
                <a:cs typeface="Times New Roman" pitchFamily="18" charset="0"/>
              </a:rPr>
              <a:t> </a:t>
            </a:r>
            <a:r>
              <a:rPr lang="en-US" sz="2000" b="1" i="1" dirty="0" err="1">
                <a:solidFill>
                  <a:srgbClr val="000000"/>
                </a:solidFill>
                <a:latin typeface="Times New Roman" pitchFamily="18" charset="0"/>
                <a:cs typeface="Times New Roman" pitchFamily="18" charset="0"/>
              </a:rPr>
              <a:t>dinamic</a:t>
            </a:r>
            <a:r>
              <a:rPr lang="en-US" sz="2000" b="1" i="1" dirty="0">
                <a:solidFill>
                  <a:srgbClr val="000000"/>
                </a:solidFill>
                <a:latin typeface="Times New Roman" pitchFamily="18" charset="0"/>
                <a:cs typeface="Times New Roman" pitchFamily="18" charset="0"/>
              </a:rPr>
              <a:t> </a:t>
            </a:r>
            <a:r>
              <a:rPr lang="en-US" sz="2000" i="1"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punctul</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de </a:t>
            </a:r>
            <a:r>
              <a:rPr lang="en-US" sz="2000" dirty="0" err="1">
                <a:solidFill>
                  <a:srgbClr val="000000"/>
                </a:solidFill>
                <a:latin typeface="Times New Roman" pitchFamily="18" charset="0"/>
                <a:cs typeface="Times New Roman" pitchFamily="18" charset="0"/>
              </a:rPr>
              <a:t>funcţionare</a:t>
            </a:r>
            <a:r>
              <a:rPr lang="en-US" sz="2000" dirty="0">
                <a:solidFill>
                  <a:srgbClr val="000000"/>
                </a:solidFill>
                <a:latin typeface="Times New Roman" pitchFamily="18" charset="0"/>
                <a:cs typeface="Times New Roman" pitchFamily="18" charset="0"/>
              </a:rPr>
              <a:t> al </a:t>
            </a:r>
            <a:r>
              <a:rPr lang="en-US" sz="2000" dirty="0" err="1">
                <a:solidFill>
                  <a:srgbClr val="000000"/>
                </a:solidFill>
                <a:latin typeface="Times New Roman" pitchFamily="18" charset="0"/>
                <a:cs typeface="Times New Roman" pitchFamily="18" charset="0"/>
              </a:rPr>
              <a:t>tranzistorului</a:t>
            </a:r>
            <a:r>
              <a:rPr lang="en-US" sz="2000" dirty="0">
                <a:solidFill>
                  <a:srgbClr val="000000"/>
                </a:solidFill>
                <a:latin typeface="Times New Roman" pitchFamily="18" charset="0"/>
                <a:cs typeface="Times New Roman" pitchFamily="18" charset="0"/>
              </a:rPr>
              <a:t> se </a:t>
            </a:r>
            <a:r>
              <a:rPr lang="en-US" sz="2000" dirty="0" err="1">
                <a:solidFill>
                  <a:srgbClr val="000000"/>
                </a:solidFill>
                <a:latin typeface="Times New Roman" pitchFamily="18" charset="0"/>
                <a:cs typeface="Times New Roman" pitchFamily="18" charset="0"/>
              </a:rPr>
              <a:t>va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plimba</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pe</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această</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dreaptă</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sarcină</a:t>
            </a:r>
            <a:r>
              <a:rPr lang="en-US" sz="2000" dirty="0">
                <a:solidFill>
                  <a:srgbClr val="000000"/>
                </a:solidFill>
                <a:latin typeface="Times New Roman" pitchFamily="18" charset="0"/>
                <a:cs typeface="Times New Roman" pitchFamily="18" charset="0"/>
              </a:rPr>
              <a:t>, de o parte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alta</a:t>
            </a:r>
            <a:r>
              <a:rPr lang="en-US" sz="2000" dirty="0">
                <a:solidFill>
                  <a:srgbClr val="000000"/>
                </a:solidFill>
                <a:latin typeface="Times New Roman" pitchFamily="18" charset="0"/>
                <a:cs typeface="Times New Roman" pitchFamily="18" charset="0"/>
              </a:rPr>
              <a:t> a </a:t>
            </a:r>
            <a:r>
              <a:rPr lang="en-US" sz="2000" dirty="0" err="1">
                <a:solidFill>
                  <a:srgbClr val="000000"/>
                </a:solidFill>
                <a:latin typeface="Times New Roman" pitchFamily="18" charset="0"/>
                <a:cs typeface="Times New Roman" pitchFamily="18" charset="0"/>
              </a:rPr>
              <a:t>punctului</a:t>
            </a:r>
            <a:r>
              <a:rPr lang="en-US" sz="2000" dirty="0">
                <a:solidFill>
                  <a:srgbClr val="000000"/>
                </a:solidFill>
                <a:latin typeface="Times New Roman" pitchFamily="18" charset="0"/>
                <a:cs typeface="Times New Roman" pitchFamily="18" charset="0"/>
              </a:rPr>
              <a:t> static </a:t>
            </a:r>
            <a:r>
              <a:rPr lang="en-US" sz="2000" dirty="0" smtClean="0">
                <a:solidFill>
                  <a:srgbClr val="000000"/>
                </a:solidFill>
                <a:latin typeface="Times New Roman" pitchFamily="18" charset="0"/>
                <a:cs typeface="Times New Roman" pitchFamily="18" charset="0"/>
              </a:rPr>
              <a:t>de </a:t>
            </a:r>
            <a:r>
              <a:rPr lang="en-US" sz="2000" dirty="0" err="1" smtClean="0">
                <a:solidFill>
                  <a:srgbClr val="000000"/>
                </a:solidFill>
                <a:latin typeface="Times New Roman" pitchFamily="18" charset="0"/>
                <a:cs typeface="Times New Roman" pitchFamily="18" charset="0"/>
              </a:rPr>
              <a:t>funcţionare</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endParaRPr lang="en-US" sz="2000" dirty="0" smtClean="0">
              <a:solidFill>
                <a:srgbClr val="000000"/>
              </a:solidFill>
              <a:latin typeface="Times New Roman" pitchFamily="18" charset="0"/>
              <a:cs typeface="Times New Roman" pitchFamily="18" charset="0"/>
            </a:endParaRPr>
          </a:p>
          <a:p>
            <a:r>
              <a:rPr lang="en-US" sz="2000" dirty="0" err="1" smtClean="0">
                <a:solidFill>
                  <a:srgbClr val="000000"/>
                </a:solidFill>
                <a:latin typeface="Times New Roman" pitchFamily="18" charset="0"/>
                <a:cs typeface="Times New Roman" pitchFamily="18" charset="0"/>
              </a:rPr>
              <a:t>Admitem</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punctul</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static de </a:t>
            </a:r>
            <a:r>
              <a:rPr lang="en-US" sz="2000" dirty="0" err="1">
                <a:solidFill>
                  <a:srgbClr val="000000"/>
                </a:solidFill>
                <a:latin typeface="Times New Roman" pitchFamily="18" charset="0"/>
                <a:cs typeface="Times New Roman" pitchFamily="18" charset="0"/>
              </a:rPr>
              <a:t>funcţionare</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M </a:t>
            </a:r>
          </a:p>
          <a:p>
            <a:r>
              <a:rPr lang="en-US" sz="2000" dirty="0" err="1" smtClean="0">
                <a:solidFill>
                  <a:srgbClr val="000000"/>
                </a:solidFill>
                <a:latin typeface="Times New Roman" pitchFamily="18" charset="0"/>
                <a:cs typeface="Times New Roman" pitchFamily="18" charset="0"/>
              </a:rPr>
              <a:t>pe</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baza</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tranzistorului</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aplicăm</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un </a:t>
            </a:r>
            <a:r>
              <a:rPr lang="en-US" sz="2000" dirty="0" err="1">
                <a:solidFill>
                  <a:srgbClr val="000000"/>
                </a:solidFill>
                <a:latin typeface="Times New Roman" pitchFamily="18" charset="0"/>
                <a:cs typeface="Times New Roman" pitchFamily="18" charset="0"/>
              </a:rPr>
              <a:t>semnal</a:t>
            </a:r>
            <a:r>
              <a:rPr lang="en-US" sz="2000" dirty="0">
                <a:solidFill>
                  <a:srgbClr val="000000"/>
                </a:solidFill>
                <a:latin typeface="Times New Roman" pitchFamily="18" charset="0"/>
                <a:cs typeface="Times New Roman" pitchFamily="18" charset="0"/>
              </a:rPr>
              <a:t> mic, sinusoidal, </a:t>
            </a:r>
            <a:r>
              <a:rPr lang="en-US" sz="2000" i="1" dirty="0" err="1" smtClean="0">
                <a:solidFill>
                  <a:srgbClr val="000000"/>
                </a:solidFill>
                <a:latin typeface="Times New Roman" pitchFamily="18" charset="0"/>
                <a:cs typeface="Times New Roman" pitchFamily="18" charset="0"/>
              </a:rPr>
              <a:t>u</a:t>
            </a:r>
            <a:r>
              <a:rPr lang="en-US" sz="2000" i="1" baseline="-25000" dirty="0" err="1" smtClean="0">
                <a:solidFill>
                  <a:srgbClr val="000000"/>
                </a:solidFill>
                <a:latin typeface="Times New Roman" pitchFamily="18" charset="0"/>
                <a:cs typeface="Times New Roman" pitchFamily="18" charset="0"/>
              </a:rPr>
              <a:t>be</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r>
              <a:rPr lang="en-US" sz="2000" dirty="0" err="1" smtClean="0">
                <a:solidFill>
                  <a:srgbClr val="000000"/>
                </a:solidFill>
                <a:latin typeface="Times New Roman" pitchFamily="18" charset="0"/>
                <a:cs typeface="Times New Roman" pitchFamily="18" charset="0"/>
              </a:rPr>
              <a:t>variaţia</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a:t>
            </a:r>
            <a:r>
              <a:rPr lang="en-US" sz="2000" i="1" dirty="0" err="1" smtClean="0">
                <a:solidFill>
                  <a:srgbClr val="000000"/>
                </a:solidFill>
                <a:latin typeface="Times New Roman" pitchFamily="18" charset="0"/>
                <a:cs typeface="Times New Roman" pitchFamily="18" charset="0"/>
              </a:rPr>
              <a:t>u</a:t>
            </a:r>
            <a:r>
              <a:rPr lang="en-US" sz="2000" i="1" baseline="-25000" dirty="0" err="1" smtClean="0">
                <a:solidFill>
                  <a:srgbClr val="000000"/>
                </a:solidFill>
                <a:latin typeface="Times New Roman" pitchFamily="18" charset="0"/>
                <a:cs typeface="Times New Roman" pitchFamily="18" charset="0"/>
              </a:rPr>
              <a:t>be</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va</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determina</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variaţia</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a:t>
            </a:r>
            <a:r>
              <a:rPr lang="en-US" sz="2000" i="1" dirty="0" err="1" smtClean="0">
                <a:solidFill>
                  <a:srgbClr val="000000"/>
                </a:solidFill>
                <a:latin typeface="Times New Roman" pitchFamily="18" charset="0"/>
                <a:cs typeface="Times New Roman" pitchFamily="18" charset="0"/>
              </a:rPr>
              <a:t>i</a:t>
            </a:r>
            <a:r>
              <a:rPr lang="en-US" sz="2000" i="1" baseline="-25000" dirty="0" err="1" smtClean="0">
                <a:solidFill>
                  <a:srgbClr val="000000"/>
                </a:solidFill>
                <a:latin typeface="Times New Roman" pitchFamily="18" charset="0"/>
                <a:cs typeface="Times New Roman" pitchFamily="18" charset="0"/>
              </a:rPr>
              <a:t>b</a:t>
            </a:r>
            <a:r>
              <a:rPr lang="en-US" sz="2000" dirty="0" smtClean="0">
                <a:solidFill>
                  <a:srgbClr val="000000"/>
                </a:solidFill>
                <a:latin typeface="Times New Roman" pitchFamily="18" charset="0"/>
                <a:cs typeface="Times New Roman" pitchFamily="18" charset="0"/>
              </a:rPr>
              <a:t>, </a:t>
            </a:r>
            <a:endParaRPr lang="en-US" sz="2000" dirty="0">
              <a:solidFill>
                <a:srgbClr val="000000"/>
              </a:solidFill>
              <a:latin typeface="Times New Roman" pitchFamily="18" charset="0"/>
              <a:cs typeface="Times New Roman" pitchFamily="18" charset="0"/>
            </a:endParaRPr>
          </a:p>
        </p:txBody>
      </p:sp>
      <p:pic>
        <p:nvPicPr>
          <p:cNvPr id="11" name="Рисунок 10"/>
          <p:cNvPicPr/>
          <p:nvPr/>
        </p:nvPicPr>
        <p:blipFill>
          <a:blip r:embed="rId4"/>
          <a:stretch>
            <a:fillRect/>
          </a:stretch>
        </p:blipFill>
        <p:spPr>
          <a:xfrm>
            <a:off x="7291798" y="2837179"/>
            <a:ext cx="1483676" cy="771024"/>
          </a:xfrm>
          <a:prstGeom prst="rect">
            <a:avLst/>
          </a:prstGeom>
          <a:scene3d>
            <a:camera prst="orthographicFront"/>
            <a:lightRig rig="threePt" dir="t"/>
          </a:scene3d>
          <a:sp3d contourW="6350"/>
        </p:spPr>
      </p:pic>
      <p:sp>
        <p:nvSpPr>
          <p:cNvPr id="12" name="Прямоугольник 11"/>
          <p:cNvSpPr/>
          <p:nvPr/>
        </p:nvSpPr>
        <p:spPr>
          <a:xfrm>
            <a:off x="114678" y="4061727"/>
            <a:ext cx="11881164" cy="830997"/>
          </a:xfrm>
          <a:prstGeom prst="rect">
            <a:avLst/>
          </a:prstGeom>
        </p:spPr>
        <p:txBody>
          <a:bodyPr wrap="square">
            <a:spAutoFit/>
          </a:bodyPr>
          <a:lstStyle/>
          <a:p>
            <a:r>
              <a:rPr lang="en-US" sz="2400" dirty="0" err="1">
                <a:solidFill>
                  <a:srgbClr val="000000"/>
                </a:solidFill>
                <a:latin typeface="Times New Roman" pitchFamily="18" charset="0"/>
                <a:cs typeface="Times New Roman" pitchFamily="18" charset="0"/>
              </a:rPr>
              <a:t>Variaţia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curentului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bază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va</a:t>
            </a:r>
            <a:r>
              <a:rPr lang="en-US" sz="2400" dirty="0">
                <a:solidFill>
                  <a:srgbClr val="000000"/>
                </a:solidFill>
                <a:latin typeface="Times New Roman" pitchFamily="18" charset="0"/>
                <a:cs typeface="Times New Roman" pitchFamily="18" charset="0"/>
              </a:rPr>
              <a:t> fi </a:t>
            </a:r>
            <a:r>
              <a:rPr lang="en-US" sz="2400" dirty="0" err="1">
                <a:solidFill>
                  <a:srgbClr val="000000"/>
                </a:solidFill>
                <a:latin typeface="Times New Roman" pitchFamily="18" charset="0"/>
                <a:cs typeface="Times New Roman" pitchFamily="18" charset="0"/>
              </a:rPr>
              <a:t>amplificată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determinând</a:t>
            </a:r>
            <a:r>
              <a:rPr lang="en-US" sz="2400" dirty="0">
                <a:solidFill>
                  <a:srgbClr val="000000"/>
                </a:solidFill>
                <a:latin typeface="Times New Roman" pitchFamily="18" charset="0"/>
                <a:cs typeface="Times New Roman" pitchFamily="18" charset="0"/>
              </a:rPr>
              <a:t> o </a:t>
            </a:r>
            <a:r>
              <a:rPr lang="en-US" sz="2400" dirty="0" err="1" smtClean="0">
                <a:solidFill>
                  <a:srgbClr val="000000"/>
                </a:solidFill>
                <a:latin typeface="Times New Roman" pitchFamily="18" charset="0"/>
                <a:cs typeface="Times New Roman" pitchFamily="18" charset="0"/>
              </a:rPr>
              <a:t>variaţie</a:t>
            </a:r>
            <a:r>
              <a:rPr lang="en-US" sz="2400" dirty="0" smtClean="0">
                <a:solidFill>
                  <a:srgbClr val="000000"/>
                </a:solidFill>
                <a:latin typeface="Times New Roman" pitchFamily="18" charset="0"/>
                <a:cs typeface="Times New Roman" pitchFamily="18" charset="0"/>
              </a:rPr>
              <a:t> a </a:t>
            </a:r>
            <a:r>
              <a:rPr lang="en-US" sz="2400" dirty="0" err="1">
                <a:solidFill>
                  <a:srgbClr val="000000"/>
                </a:solidFill>
                <a:latin typeface="Times New Roman" pitchFamily="18" charset="0"/>
                <a:cs typeface="Times New Roman" pitchFamily="18" charset="0"/>
              </a:rPr>
              <a:t>curentului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colector</a:t>
            </a: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care </a:t>
            </a:r>
            <a:r>
              <a:rPr lang="en-US" sz="2400" dirty="0" err="1" smtClean="0">
                <a:latin typeface="Times New Roman" pitchFamily="18" charset="0"/>
                <a:cs typeface="Times New Roman" pitchFamily="18" charset="0"/>
              </a:rPr>
              <a:t>poate</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fi </a:t>
            </a:r>
            <a:r>
              <a:rPr lang="en-US" sz="2400" dirty="0" err="1">
                <a:latin typeface="Times New Roman" pitchFamily="18" charset="0"/>
                <a:cs typeface="Times New Roman" pitchFamily="18" charset="0"/>
              </a:rPr>
              <a:t>aproximată</a:t>
            </a:r>
            <a:r>
              <a:rPr lang="en-US" sz="2400" dirty="0">
                <a:latin typeface="Times New Roman" pitchFamily="18" charset="0"/>
                <a:cs typeface="Times New Roman" pitchFamily="18" charset="0"/>
              </a:rPr>
              <a:t> cu: </a:t>
            </a:r>
          </a:p>
        </p:txBody>
      </p:sp>
      <p:pic>
        <p:nvPicPr>
          <p:cNvPr id="13" name="Рисунок 12"/>
          <p:cNvPicPr>
            <a:picLocks noChangeAspect="1"/>
          </p:cNvPicPr>
          <p:nvPr/>
        </p:nvPicPr>
        <p:blipFill>
          <a:blip r:embed="rId5"/>
          <a:stretch>
            <a:fillRect/>
          </a:stretch>
        </p:blipFill>
        <p:spPr>
          <a:xfrm>
            <a:off x="322834" y="5134506"/>
            <a:ext cx="1836948" cy="797504"/>
          </a:xfrm>
          <a:prstGeom prst="rect">
            <a:avLst/>
          </a:prstGeom>
          <a:scene3d>
            <a:camera prst="orthographicFront"/>
            <a:lightRig rig="threePt" dir="t"/>
          </a:scene3d>
          <a:sp3d contourW="6350"/>
        </p:spPr>
      </p:pic>
      <p:sp>
        <p:nvSpPr>
          <p:cNvPr id="14" name="Прямоугольник 13"/>
          <p:cNvSpPr/>
          <p:nvPr/>
        </p:nvSpPr>
        <p:spPr>
          <a:xfrm>
            <a:off x="2767343" y="5071593"/>
            <a:ext cx="9074590" cy="1569660"/>
          </a:xfrm>
          <a:prstGeom prst="rect">
            <a:avLst/>
          </a:prstGeom>
        </p:spPr>
        <p:txBody>
          <a:bodyPr wrap="square">
            <a:spAutoFit/>
          </a:bodyPr>
          <a:lstStyle/>
          <a:p>
            <a:r>
              <a:rPr lang="en-US" sz="2400" dirty="0" err="1">
                <a:solidFill>
                  <a:srgbClr val="000000"/>
                </a:solidFill>
                <a:latin typeface="Times New Roman" pitchFamily="18" charset="0"/>
                <a:cs typeface="Times New Roman" pitchFamily="18" charset="0"/>
              </a:rPr>
              <a:t>Această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variaţie</a:t>
            </a:r>
            <a:r>
              <a:rPr lang="en-US" sz="2400" dirty="0">
                <a:solidFill>
                  <a:srgbClr val="000000"/>
                </a:solidFill>
                <a:latin typeface="Times New Roman" pitchFamily="18" charset="0"/>
                <a:cs typeface="Times New Roman" pitchFamily="18" charset="0"/>
              </a:rPr>
              <a:t> a </a:t>
            </a:r>
            <a:r>
              <a:rPr lang="en-US" sz="2400" dirty="0" err="1">
                <a:solidFill>
                  <a:srgbClr val="000000"/>
                </a:solidFill>
                <a:latin typeface="Times New Roman" pitchFamily="18" charset="0"/>
                <a:cs typeface="Times New Roman" pitchFamily="18" charset="0"/>
              </a:rPr>
              <a:t>curentului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colector</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va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determina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plimbarea</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punctului</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static de </a:t>
            </a:r>
            <a:r>
              <a:rPr lang="en-US" sz="2400" dirty="0" err="1">
                <a:solidFill>
                  <a:srgbClr val="000000"/>
                </a:solidFill>
                <a:latin typeface="Times New Roman" pitchFamily="18" charset="0"/>
                <a:cs typeface="Times New Roman" pitchFamily="18" charset="0"/>
              </a:rPr>
              <a:t>funcţionare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pe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dreapta</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sarcină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în</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regim</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dinamic</a:t>
            </a:r>
            <a:r>
              <a:rPr lang="en-US" sz="2400" dirty="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între</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punctele</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P </a:t>
            </a:r>
            <a:r>
              <a:rPr lang="en-US" sz="2400" dirty="0" err="1">
                <a:solidFill>
                  <a:srgbClr val="000000"/>
                </a:solidFill>
                <a:latin typeface="Times New Roman" pitchFamily="18" charset="0"/>
                <a:cs typeface="Times New Roman" pitchFamily="18" charset="0"/>
              </a:rPr>
              <a:t>şi</a:t>
            </a:r>
            <a:r>
              <a:rPr lang="en-US" sz="2400" dirty="0">
                <a:solidFill>
                  <a:srgbClr val="000000"/>
                </a:solidFill>
                <a:latin typeface="Times New Roman" pitchFamily="18" charset="0"/>
                <a:cs typeface="Times New Roman" pitchFamily="18" charset="0"/>
              </a:rPr>
              <a:t> Q cu o </a:t>
            </a:r>
            <a:r>
              <a:rPr lang="en-US" sz="2400" dirty="0" err="1">
                <a:solidFill>
                  <a:srgbClr val="000000"/>
                </a:solidFill>
                <a:latin typeface="Times New Roman" pitchFamily="18" charset="0"/>
                <a:cs typeface="Times New Roman" pitchFamily="18" charset="0"/>
              </a:rPr>
              <a:t>frecvenţă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egală</a:t>
            </a:r>
            <a:r>
              <a:rPr lang="en-US" sz="2400" dirty="0">
                <a:solidFill>
                  <a:srgbClr val="000000"/>
                </a:solidFill>
                <a:latin typeface="Times New Roman" pitchFamily="18" charset="0"/>
                <a:cs typeface="Times New Roman" pitchFamily="18" charset="0"/>
              </a:rPr>
              <a:t> cu </a:t>
            </a:r>
            <a:r>
              <a:rPr lang="en-US" sz="2400" dirty="0" err="1">
                <a:solidFill>
                  <a:srgbClr val="000000"/>
                </a:solidFill>
                <a:latin typeface="Times New Roman" pitchFamily="18" charset="0"/>
                <a:cs typeface="Times New Roman" pitchFamily="18" charset="0"/>
              </a:rPr>
              <a:t>frecvenţa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semnalului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intrare</a:t>
            </a:r>
            <a:r>
              <a:rPr lang="en-US" sz="2400" dirty="0">
                <a:solidFill>
                  <a:srgbClr val="000000"/>
                </a:solidFill>
                <a:latin typeface="Times New Roman" pitchFamily="18" charset="0"/>
                <a:cs typeface="Times New Roman" pitchFamily="18" charset="0"/>
              </a:rPr>
              <a:t>.</a:t>
            </a:r>
            <a:r>
              <a:rPr lang="en-US" sz="2400" dirty="0">
                <a:latin typeface="Times New Roman" pitchFamily="18" charset="0"/>
                <a:cs typeface="Times New Roman" pitchFamily="18" charset="0"/>
              </a:rPr>
              <a:t> </a:t>
            </a:r>
          </a:p>
        </p:txBody>
      </p:sp>
    </p:spTree>
    <p:extLst>
      <p:ext uri="{BB962C8B-B14F-4D97-AF65-F5344CB8AC3E}">
        <p14:creationId xmlns:p14="http://schemas.microsoft.com/office/powerpoint/2010/main" val="9553567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1810807" y="72087"/>
            <a:ext cx="8033214" cy="6785913"/>
          </a:xfrm>
          <a:prstGeom prst="rect">
            <a:avLst/>
          </a:prstGeom>
          <a:noFill/>
          <a:ln w="9525">
            <a:noFill/>
            <a:miter lim="800000"/>
            <a:headEnd/>
            <a:tailEnd/>
          </a:ln>
          <a:effectLst/>
        </p:spPr>
      </p:pic>
    </p:spTree>
    <p:extLst>
      <p:ext uri="{BB962C8B-B14F-4D97-AF65-F5344CB8AC3E}">
        <p14:creationId xmlns:p14="http://schemas.microsoft.com/office/powerpoint/2010/main" val="7160577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4993" y="103725"/>
            <a:ext cx="11859986" cy="830997"/>
          </a:xfrm>
          <a:prstGeom prst="rect">
            <a:avLst/>
          </a:prstGeom>
        </p:spPr>
        <p:txBody>
          <a:bodyPr wrap="square">
            <a:spAutoFit/>
          </a:bodyPr>
          <a:lstStyle/>
          <a:p>
            <a:r>
              <a:rPr lang="en-US" sz="2400" dirty="0" err="1" smtClean="0">
                <a:solidFill>
                  <a:srgbClr val="000000"/>
                </a:solidFill>
                <a:latin typeface="Times New Roman" pitchFamily="18" charset="0"/>
                <a:cs typeface="Times New Roman" pitchFamily="18" charset="0"/>
              </a:rPr>
              <a:t>tensiunea</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dintre</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colector</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şi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emitor</a:t>
            </a:r>
            <a:r>
              <a:rPr lang="en-US" sz="2400" dirty="0">
                <a:solidFill>
                  <a:srgbClr val="000000"/>
                </a:solidFill>
                <a:latin typeface="Times New Roman" pitchFamily="18" charset="0"/>
                <a:cs typeface="Times New Roman" pitchFamily="18" charset="0"/>
              </a:rPr>
              <a:t> (care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şi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tensiune</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ieşire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în</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antifază</a:t>
            </a: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cu </a:t>
            </a:r>
            <a:r>
              <a:rPr lang="en-US" sz="2400" dirty="0" err="1" smtClean="0">
                <a:solidFill>
                  <a:srgbClr val="000000"/>
                </a:solidFill>
                <a:latin typeface="Times New Roman" pitchFamily="18" charset="0"/>
                <a:cs typeface="Times New Roman" pitchFamily="18" charset="0"/>
              </a:rPr>
              <a:t>tensiunea</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de </a:t>
            </a:r>
            <a:r>
              <a:rPr lang="en-US" sz="2400" dirty="0" err="1" smtClean="0">
                <a:solidFill>
                  <a:srgbClr val="000000"/>
                </a:solidFill>
                <a:latin typeface="Times New Roman" pitchFamily="18" charset="0"/>
                <a:cs typeface="Times New Roman" pitchFamily="18" charset="0"/>
              </a:rPr>
              <a:t>intrare</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în</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tranzistor</a:t>
            </a:r>
            <a:r>
              <a:rPr lang="en-US" sz="2400" dirty="0">
                <a:solidFill>
                  <a:srgbClr val="000000"/>
                </a:solidFill>
                <a:latin typeface="Times New Roman" pitchFamily="18" charset="0"/>
                <a:cs typeface="Times New Roman" pitchFamily="18" charset="0"/>
              </a:rPr>
              <a:t>, </a:t>
            </a:r>
            <a:r>
              <a:rPr lang="en-US" sz="2400" i="1" dirty="0" err="1">
                <a:solidFill>
                  <a:srgbClr val="000000"/>
                </a:solidFill>
                <a:latin typeface="Times New Roman" pitchFamily="18" charset="0"/>
                <a:cs typeface="Times New Roman" pitchFamily="18" charset="0"/>
              </a:rPr>
              <a:t>u</a:t>
            </a:r>
            <a:r>
              <a:rPr lang="en-US" sz="2400" i="1" baseline="-25000" dirty="0" err="1">
                <a:solidFill>
                  <a:srgbClr val="000000"/>
                </a:solidFill>
                <a:latin typeface="Times New Roman" pitchFamily="18" charset="0"/>
                <a:cs typeface="Times New Roman" pitchFamily="18" charset="0"/>
              </a:rPr>
              <a:t>be</a:t>
            </a:r>
            <a:r>
              <a:rPr lang="en-US" sz="2400" dirty="0">
                <a:solidFill>
                  <a:srgbClr val="000000"/>
                </a:solidFill>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a:srcRect/>
          <a:stretch>
            <a:fillRect/>
          </a:stretch>
        </p:blipFill>
        <p:spPr bwMode="auto">
          <a:xfrm>
            <a:off x="4222758" y="654982"/>
            <a:ext cx="2473805" cy="775372"/>
          </a:xfrm>
          <a:prstGeom prst="rect">
            <a:avLst/>
          </a:prstGeom>
          <a:noFill/>
          <a:ln w="9525">
            <a:noFill/>
            <a:miter lim="800000"/>
            <a:headEnd/>
            <a:tailEnd/>
          </a:ln>
          <a:effectLst/>
          <a:scene3d>
            <a:camera prst="orthographicFront"/>
            <a:lightRig rig="threePt" dir="t"/>
          </a:scene3d>
          <a:sp3d contourW="6350"/>
        </p:spPr>
      </p:pic>
      <p:sp>
        <p:nvSpPr>
          <p:cNvPr id="6" name="Прямоугольник 5"/>
          <p:cNvSpPr/>
          <p:nvPr/>
        </p:nvSpPr>
        <p:spPr>
          <a:xfrm>
            <a:off x="97972" y="1612279"/>
            <a:ext cx="11952514" cy="461665"/>
          </a:xfrm>
          <a:prstGeom prst="rect">
            <a:avLst/>
          </a:prstGeom>
        </p:spPr>
        <p:txBody>
          <a:bodyPr wrap="square">
            <a:spAutoFit/>
          </a:bodyPr>
          <a:lstStyle/>
          <a:p>
            <a:r>
              <a:rPr lang="it-IT" sz="2400" dirty="0">
                <a:solidFill>
                  <a:srgbClr val="000000"/>
                </a:solidFill>
                <a:latin typeface="Times New Roman" pitchFamily="18" charset="0"/>
                <a:cs typeface="Times New Roman" pitchFamily="18" charset="0"/>
              </a:rPr>
              <a:t>Din relaţia precedentă se poate exprima amplificarea </a:t>
            </a:r>
            <a:r>
              <a:rPr lang="it-IT" sz="2400" dirty="0" smtClean="0">
                <a:solidFill>
                  <a:srgbClr val="000000"/>
                </a:solidFill>
                <a:latin typeface="Times New Roman" pitchFamily="18" charset="0"/>
                <a:cs typeface="Times New Roman" pitchFamily="18" charset="0"/>
              </a:rPr>
              <a:t>datorată tranzistorului</a:t>
            </a:r>
            <a:r>
              <a:rPr lang="it-IT" sz="2400" dirty="0">
                <a:solidFill>
                  <a:srgbClr val="000000"/>
                </a:solidFill>
                <a:latin typeface="Times New Roman" pitchFamily="18" charset="0"/>
                <a:cs typeface="Times New Roman" pitchFamily="18" charset="0"/>
              </a:rPr>
              <a:t>;</a:t>
            </a:r>
            <a:r>
              <a:rPr lang="it-IT" sz="2400"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pic>
        <p:nvPicPr>
          <p:cNvPr id="7" name="Picture 4"/>
          <p:cNvPicPr>
            <a:picLocks noChangeAspect="1" noChangeArrowheads="1"/>
          </p:cNvPicPr>
          <p:nvPr/>
        </p:nvPicPr>
        <p:blipFill>
          <a:blip r:embed="rId3"/>
          <a:srcRect/>
          <a:stretch>
            <a:fillRect/>
          </a:stretch>
        </p:blipFill>
        <p:spPr bwMode="auto">
          <a:xfrm>
            <a:off x="4410536" y="2255869"/>
            <a:ext cx="2098248" cy="1074712"/>
          </a:xfrm>
          <a:prstGeom prst="rect">
            <a:avLst/>
          </a:prstGeom>
          <a:noFill/>
          <a:ln w="9525">
            <a:noFill/>
            <a:miter lim="800000"/>
            <a:headEnd/>
            <a:tailEnd/>
          </a:ln>
          <a:effectLst/>
          <a:scene3d>
            <a:camera prst="orthographicFront"/>
            <a:lightRig rig="threePt" dir="t"/>
          </a:scene3d>
          <a:sp3d contourW="6350"/>
        </p:spPr>
      </p:pic>
      <p:sp>
        <p:nvSpPr>
          <p:cNvPr id="8" name="Прямоугольник 7"/>
          <p:cNvSpPr/>
          <p:nvPr/>
        </p:nvSpPr>
        <p:spPr>
          <a:xfrm>
            <a:off x="156482" y="3330581"/>
            <a:ext cx="11977007" cy="3416320"/>
          </a:xfrm>
          <a:prstGeom prst="rect">
            <a:avLst/>
          </a:prstGeom>
        </p:spPr>
        <p:txBody>
          <a:bodyPr wrap="square">
            <a:spAutoFit/>
          </a:bodyPr>
          <a:lstStyle/>
          <a:p>
            <a:r>
              <a:rPr lang="en-US" sz="2400" dirty="0" smtClean="0">
                <a:solidFill>
                  <a:srgbClr val="000000"/>
                </a:solidFill>
                <a:latin typeface="Times New Roman" pitchFamily="18" charset="0"/>
                <a:cs typeface="Times New Roman" pitchFamily="18" charset="0"/>
              </a:rPr>
              <a:t>Schema </a:t>
            </a:r>
            <a:r>
              <a:rPr lang="en-US" sz="2400" dirty="0" err="1">
                <a:solidFill>
                  <a:srgbClr val="000000"/>
                </a:solidFill>
                <a:latin typeface="Times New Roman" pitchFamily="18" charset="0"/>
                <a:cs typeface="Times New Roman" pitchFamily="18" charset="0"/>
              </a:rPr>
              <a:t>echivalentă</a:t>
            </a:r>
            <a:r>
              <a:rPr lang="en-US" sz="2400" dirty="0">
                <a:solidFill>
                  <a:srgbClr val="000000"/>
                </a:solidFill>
                <a:latin typeface="Times New Roman" pitchFamily="18" charset="0"/>
                <a:cs typeface="Times New Roman" pitchFamily="18" charset="0"/>
              </a:rPr>
              <a:t> la </a:t>
            </a:r>
            <a:r>
              <a:rPr lang="en-US" sz="2400" dirty="0" err="1">
                <a:solidFill>
                  <a:srgbClr val="000000"/>
                </a:solidFill>
                <a:latin typeface="Times New Roman" pitchFamily="18" charset="0"/>
                <a:cs typeface="Times New Roman" pitchFamily="18" charset="0"/>
              </a:rPr>
              <a:t>variaţii</a:t>
            </a:r>
            <a:r>
              <a:rPr lang="en-US" sz="2400" dirty="0">
                <a:solidFill>
                  <a:srgbClr val="000000"/>
                </a:solidFill>
                <a:latin typeface="Times New Roman" pitchFamily="18" charset="0"/>
                <a:cs typeface="Times New Roman" pitchFamily="18" charset="0"/>
              </a:rPr>
              <a:t> a </a:t>
            </a:r>
            <a:r>
              <a:rPr lang="en-US" sz="2400" dirty="0" err="1">
                <a:solidFill>
                  <a:srgbClr val="000000"/>
                </a:solidFill>
                <a:latin typeface="Times New Roman" pitchFamily="18" charset="0"/>
                <a:cs typeface="Times New Roman" pitchFamily="18" charset="0"/>
              </a:rPr>
              <a:t>amplificatorului</a:t>
            </a:r>
            <a:r>
              <a:rPr lang="en-US" sz="2400" dirty="0">
                <a:solidFill>
                  <a:srgbClr val="000000"/>
                </a:solidFill>
                <a:latin typeface="Times New Roman" pitchFamily="18" charset="0"/>
                <a:cs typeface="Times New Roman" pitchFamily="18" charset="0"/>
              </a:rPr>
              <a:t>. </a:t>
            </a:r>
            <a:endParaRPr lang="en-US" sz="2400" dirty="0" smtClean="0">
              <a:solidFill>
                <a:srgbClr val="000000"/>
              </a:solidFill>
              <a:latin typeface="Times New Roman" pitchFamily="18" charset="0"/>
              <a:cs typeface="Times New Roman" pitchFamily="18" charset="0"/>
            </a:endParaRPr>
          </a:p>
          <a:p>
            <a:endParaRPr lang="en-US" sz="2400" dirty="0">
              <a:solidFill>
                <a:srgbClr val="000000"/>
              </a:solidFill>
              <a:latin typeface="Times New Roman" pitchFamily="18" charset="0"/>
              <a:cs typeface="Times New Roman" pitchFamily="18" charset="0"/>
            </a:endParaRPr>
          </a:p>
          <a:p>
            <a:r>
              <a:rPr lang="en-US" sz="2400" dirty="0" err="1" smtClean="0">
                <a:solidFill>
                  <a:srgbClr val="000000"/>
                </a:solidFill>
                <a:latin typeface="Times New Roman" pitchFamily="18" charset="0"/>
                <a:cs typeface="Times New Roman" pitchFamily="18" charset="0"/>
              </a:rPr>
              <a:t>Pentru</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aceasta</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facem</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următoarele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precizări</a:t>
            </a:r>
            <a:r>
              <a:rPr lang="en-US" sz="2400" dirty="0" smtClean="0">
                <a:solidFill>
                  <a:srgbClr val="000000"/>
                </a:solidFill>
                <a:latin typeface="Times New Roman" pitchFamily="18" charset="0"/>
                <a:cs typeface="Times New Roman" pitchFamily="18" charset="0"/>
              </a:rPr>
              <a:t>:</a:t>
            </a:r>
          </a:p>
          <a:p>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tranzistorul</a:t>
            </a:r>
            <a:r>
              <a:rPr lang="en-US" sz="2400" dirty="0">
                <a:solidFill>
                  <a:srgbClr val="000000"/>
                </a:solidFill>
                <a:latin typeface="Times New Roman" pitchFamily="18" charset="0"/>
                <a:cs typeface="Times New Roman" pitchFamily="18" charset="0"/>
              </a:rPr>
              <a:t> se </a:t>
            </a:r>
            <a:r>
              <a:rPr lang="en-US" sz="2400" dirty="0" err="1">
                <a:solidFill>
                  <a:srgbClr val="000000"/>
                </a:solidFill>
                <a:latin typeface="Times New Roman" pitchFamily="18" charset="0"/>
                <a:cs typeface="Times New Roman" pitchFamily="18" charset="0"/>
              </a:rPr>
              <a:t>înlocuieşte</a:t>
            </a:r>
            <a:r>
              <a:rPr lang="en-US" sz="2400" dirty="0">
                <a:solidFill>
                  <a:srgbClr val="000000"/>
                </a:solidFill>
                <a:latin typeface="Times New Roman" pitchFamily="18" charset="0"/>
                <a:cs typeface="Times New Roman" pitchFamily="18" charset="0"/>
              </a:rPr>
              <a:t> cu schema </a:t>
            </a:r>
            <a:r>
              <a:rPr lang="en-US" sz="2400" dirty="0" err="1">
                <a:solidFill>
                  <a:srgbClr val="000000"/>
                </a:solidFill>
                <a:latin typeface="Times New Roman" pitchFamily="18" charset="0"/>
                <a:cs typeface="Times New Roman" pitchFamily="18" charset="0"/>
              </a:rPr>
              <a:t>sa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echivalentă</a:t>
            </a:r>
            <a:r>
              <a:rPr lang="en-US" sz="2400" dirty="0">
                <a:solidFill>
                  <a:srgbClr val="000000"/>
                </a:solidFill>
                <a:latin typeface="Times New Roman" pitchFamily="18" charset="0"/>
                <a:cs typeface="Times New Roman" pitchFamily="18" charset="0"/>
              </a:rPr>
              <a:t> cu </a:t>
            </a:r>
            <a:r>
              <a:rPr lang="en-US" sz="2400" dirty="0" err="1" smtClean="0">
                <a:solidFill>
                  <a:srgbClr val="000000"/>
                </a:solidFill>
                <a:latin typeface="Times New Roman" pitchFamily="18" charset="0"/>
                <a:cs typeface="Times New Roman" pitchFamily="18" charset="0"/>
              </a:rPr>
              <a:t>parametrii</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hibrizi</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în</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care se </a:t>
            </a:r>
            <a:r>
              <a:rPr lang="en-US" sz="2400" dirty="0" err="1">
                <a:solidFill>
                  <a:srgbClr val="000000"/>
                </a:solidFill>
                <a:latin typeface="Times New Roman" pitchFamily="18" charset="0"/>
                <a:cs typeface="Times New Roman" pitchFamily="18" charset="0"/>
              </a:rPr>
              <a:t>poate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neglija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efectul</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sursei</a:t>
            </a:r>
            <a:r>
              <a:rPr lang="en-US" sz="2400" dirty="0">
                <a:solidFill>
                  <a:srgbClr val="000000"/>
                </a:solidFill>
                <a:latin typeface="Times New Roman" pitchFamily="18" charset="0"/>
                <a:cs typeface="Times New Roman" pitchFamily="18" charset="0"/>
              </a:rPr>
              <a:t> </a:t>
            </a:r>
            <a:r>
              <a:rPr lang="en-US" sz="2400" i="1" dirty="0">
                <a:solidFill>
                  <a:srgbClr val="000000"/>
                </a:solidFill>
                <a:latin typeface="Times New Roman" pitchFamily="18" charset="0"/>
                <a:cs typeface="Times New Roman" pitchFamily="18" charset="0"/>
              </a:rPr>
              <a:t>h12</a:t>
            </a:r>
            <a:r>
              <a:rPr lang="en-US" sz="2400" dirty="0">
                <a:solidFill>
                  <a:srgbClr val="000000"/>
                </a:solidFill>
                <a:latin typeface="Times New Roman" pitchFamily="18" charset="0"/>
                <a:cs typeface="Times New Roman" pitchFamily="18" charset="0"/>
              </a:rPr>
              <a:t>∆</a:t>
            </a:r>
            <a:r>
              <a:rPr lang="en-US" sz="2400" i="1" dirty="0" smtClean="0">
                <a:solidFill>
                  <a:srgbClr val="000000"/>
                </a:solidFill>
                <a:latin typeface="Times New Roman" pitchFamily="18" charset="0"/>
                <a:cs typeface="Times New Roman" pitchFamily="18" charset="0"/>
              </a:rPr>
              <a:t>uce </a:t>
            </a:r>
            <a:r>
              <a:rPr lang="en-US" sz="2400" dirty="0" err="1" smtClean="0">
                <a:solidFill>
                  <a:srgbClr val="000000"/>
                </a:solidFill>
                <a:latin typeface="Times New Roman" pitchFamily="18" charset="0"/>
                <a:cs typeface="Times New Roman" pitchFamily="18" charset="0"/>
              </a:rPr>
              <a:t>pentru</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că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tensiunea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furnizată</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ea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foarte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mică</a:t>
            </a:r>
            <a:r>
              <a:rPr lang="en-US" sz="2400" dirty="0">
                <a:solidFill>
                  <a:srgbClr val="000000"/>
                </a:solidFill>
                <a:latin typeface="Times New Roman" pitchFamily="18" charset="0"/>
                <a:cs typeface="Times New Roman" pitchFamily="18" charset="0"/>
              </a:rPr>
              <a:t/>
            </a:r>
            <a:br>
              <a:rPr lang="en-US" sz="2400" dirty="0">
                <a:solidFill>
                  <a:srgbClr val="000000"/>
                </a:solidFill>
                <a:latin typeface="Times New Roman" pitchFamily="18" charset="0"/>
                <a:cs typeface="Times New Roman" pitchFamily="18" charset="0"/>
              </a:rPr>
            </a:br>
            <a:r>
              <a:rPr lang="en-US" sz="2400" dirty="0">
                <a:solidFill>
                  <a:srgbClr val="000000"/>
                </a:solidFill>
                <a:latin typeface="Times New Roman" pitchFamily="18" charset="0"/>
                <a:cs typeface="Times New Roman" pitchFamily="18" charset="0"/>
              </a:rPr>
              <a:t>• din </a:t>
            </a:r>
            <a:r>
              <a:rPr lang="en-US" sz="2400" dirty="0" err="1">
                <a:solidFill>
                  <a:srgbClr val="000000"/>
                </a:solidFill>
                <a:latin typeface="Times New Roman" pitchFamily="18" charset="0"/>
                <a:cs typeface="Times New Roman" pitchFamily="18" charset="0"/>
              </a:rPr>
              <a:t>punct</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vedere</a:t>
            </a:r>
            <a:r>
              <a:rPr lang="en-US" sz="2400" dirty="0">
                <a:solidFill>
                  <a:srgbClr val="000000"/>
                </a:solidFill>
                <a:latin typeface="Times New Roman" pitchFamily="18" charset="0"/>
                <a:cs typeface="Times New Roman" pitchFamily="18" charset="0"/>
              </a:rPr>
              <a:t> al </a:t>
            </a:r>
            <a:r>
              <a:rPr lang="en-US" sz="2400" dirty="0" err="1">
                <a:solidFill>
                  <a:srgbClr val="000000"/>
                </a:solidFill>
                <a:latin typeface="Times New Roman" pitchFamily="18" charset="0"/>
                <a:cs typeface="Times New Roman" pitchFamily="18" charset="0"/>
              </a:rPr>
              <a:t>variaţiilor</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borna</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alimentare</a:t>
            </a:r>
            <a:r>
              <a:rPr lang="en-US" sz="2400" dirty="0">
                <a:solidFill>
                  <a:srgbClr val="000000"/>
                </a:solidFill>
                <a:latin typeface="Times New Roman" pitchFamily="18" charset="0"/>
                <a:cs typeface="Times New Roman" pitchFamily="18" charset="0"/>
              </a:rPr>
              <a:t> cu </a:t>
            </a:r>
            <a:r>
              <a:rPr lang="en-US" sz="2400" dirty="0" err="1" smtClean="0">
                <a:solidFill>
                  <a:srgbClr val="000000"/>
                </a:solidFill>
                <a:latin typeface="Times New Roman" pitchFamily="18" charset="0"/>
                <a:cs typeface="Times New Roman" pitchFamily="18" charset="0"/>
              </a:rPr>
              <a:t>tensiune</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continuă</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conectată</a:t>
            </a:r>
            <a:r>
              <a:rPr lang="en-US" sz="2400" dirty="0">
                <a:solidFill>
                  <a:srgbClr val="000000"/>
                </a:solidFill>
                <a:latin typeface="Times New Roman" pitchFamily="18" charset="0"/>
                <a:cs typeface="Times New Roman" pitchFamily="18" charset="0"/>
              </a:rPr>
              <a:t> la </a:t>
            </a:r>
            <a:r>
              <a:rPr lang="en-US" sz="2400" dirty="0" err="1">
                <a:solidFill>
                  <a:srgbClr val="000000"/>
                </a:solidFill>
                <a:latin typeface="Times New Roman" pitchFamily="18" charset="0"/>
                <a:cs typeface="Times New Roman" pitchFamily="18" charset="0"/>
              </a:rPr>
              <a:t>masă</a:t>
            </a:r>
            <a:r>
              <a:rPr lang="en-US" sz="2400" dirty="0">
                <a:solidFill>
                  <a:srgbClr val="000000"/>
                </a:solidFill>
                <a:latin typeface="Times New Roman" pitchFamily="18" charset="0"/>
                <a:cs typeface="Times New Roman" pitchFamily="18" charset="0"/>
              </a:rPr>
              <a:t/>
            </a:r>
            <a:br>
              <a:rPr lang="en-US" sz="2400" dirty="0">
                <a:solidFill>
                  <a:srgbClr val="000000"/>
                </a:solidFill>
                <a:latin typeface="Times New Roman" pitchFamily="18" charset="0"/>
                <a:cs typeface="Times New Roman" pitchFamily="18" charset="0"/>
              </a:rPr>
            </a:b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în</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domeniul</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frecvenţe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în</a:t>
            </a:r>
            <a:r>
              <a:rPr lang="en-US" sz="2400" dirty="0">
                <a:solidFill>
                  <a:srgbClr val="000000"/>
                </a:solidFill>
                <a:latin typeface="Times New Roman" pitchFamily="18" charset="0"/>
                <a:cs typeface="Times New Roman" pitchFamily="18" charset="0"/>
              </a:rPr>
              <a:t> care </a:t>
            </a:r>
            <a:r>
              <a:rPr lang="en-US" sz="2400" dirty="0" err="1">
                <a:solidFill>
                  <a:srgbClr val="000000"/>
                </a:solidFill>
                <a:latin typeface="Times New Roman" pitchFamily="18" charset="0"/>
                <a:cs typeface="Times New Roman" pitchFamily="18" charset="0"/>
              </a:rPr>
              <a:t>amplificarea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maximă</a:t>
            </a:r>
            <a:r>
              <a:rPr lang="en-US" sz="2400" dirty="0">
                <a:solidFill>
                  <a:srgbClr val="000000"/>
                </a:solidFill>
                <a:latin typeface="Times New Roman" pitchFamily="18" charset="0"/>
                <a:cs typeface="Times New Roman" pitchFamily="18" charset="0"/>
              </a:rPr>
              <a:t> se </a:t>
            </a:r>
            <a:r>
              <a:rPr lang="en-US" sz="2400" dirty="0" smtClean="0">
                <a:solidFill>
                  <a:srgbClr val="000000"/>
                </a:solidFill>
                <a:latin typeface="Times New Roman" pitchFamily="18" charset="0"/>
                <a:cs typeface="Times New Roman" pitchFamily="18" charset="0"/>
              </a:rPr>
              <a:t>pot </a:t>
            </a:r>
            <a:r>
              <a:rPr lang="en-US" sz="2400" dirty="0" err="1" smtClean="0">
                <a:solidFill>
                  <a:srgbClr val="000000"/>
                </a:solidFill>
                <a:latin typeface="Times New Roman" pitchFamily="18" charset="0"/>
                <a:cs typeface="Times New Roman" pitchFamily="18" charset="0"/>
              </a:rPr>
              <a:t>neglija</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efectele</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tuturor</a:t>
            </a:r>
            <a:r>
              <a:rPr lang="en-US" sz="2400" dirty="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capacităţilor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43396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1459317" y="17727"/>
            <a:ext cx="8746094" cy="2857520"/>
          </a:xfrm>
          <a:prstGeom prst="rect">
            <a:avLst/>
          </a:prstGeom>
          <a:noFill/>
          <a:ln w="9525">
            <a:noFill/>
            <a:miter lim="800000"/>
            <a:headEnd/>
            <a:tailEnd/>
          </a:ln>
          <a:effectLst/>
        </p:spPr>
      </p:pic>
      <p:sp>
        <p:nvSpPr>
          <p:cNvPr id="5" name="Прямоугольник 4"/>
          <p:cNvSpPr/>
          <p:nvPr/>
        </p:nvSpPr>
        <p:spPr>
          <a:xfrm>
            <a:off x="214265" y="2875247"/>
            <a:ext cx="11591453" cy="1015663"/>
          </a:xfrm>
          <a:prstGeom prst="rect">
            <a:avLst/>
          </a:prstGeom>
        </p:spPr>
        <p:txBody>
          <a:bodyPr wrap="square">
            <a:spAutoFit/>
          </a:bodyPr>
          <a:lstStyle/>
          <a:p>
            <a:r>
              <a:rPr lang="en-US" sz="2000" dirty="0" err="1" smtClean="0">
                <a:solidFill>
                  <a:srgbClr val="000000"/>
                </a:solidFill>
                <a:latin typeface="Times New Roman" pitchFamily="18" charset="0"/>
                <a:cs typeface="Times New Roman" pitchFamily="18" charset="0"/>
              </a:rPr>
              <a:t>să</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găsim</a:t>
            </a:r>
            <a:r>
              <a:rPr lang="en-US" sz="2000" dirty="0">
                <a:solidFill>
                  <a:srgbClr val="000000"/>
                </a:solidFill>
                <a:latin typeface="Times New Roman" pitchFamily="18" charset="0"/>
                <a:cs typeface="Times New Roman" pitchFamily="18" charset="0"/>
              </a:rPr>
              <a:t> o </a:t>
            </a:r>
            <a:r>
              <a:rPr lang="en-US" sz="2000" dirty="0" err="1">
                <a:solidFill>
                  <a:srgbClr val="000000"/>
                </a:solidFill>
                <a:latin typeface="Times New Roman" pitchFamily="18" charset="0"/>
                <a:cs typeface="Times New Roman" pitchFamily="18" charset="0"/>
              </a:rPr>
              <a:t>expresie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utilă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pentru</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factorul</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de </a:t>
            </a:r>
            <a:r>
              <a:rPr lang="en-US" sz="2000" dirty="0" err="1" smtClean="0">
                <a:solidFill>
                  <a:srgbClr val="000000"/>
                </a:solidFill>
                <a:latin typeface="Times New Roman" pitchFamily="18" charset="0"/>
                <a:cs typeface="Times New Roman" pitchFamily="18" charset="0"/>
              </a:rPr>
              <a:t>amplificare</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baza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căreia</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se </a:t>
            </a:r>
            <a:r>
              <a:rPr lang="en-US" sz="2000" dirty="0" err="1" smtClean="0">
                <a:solidFill>
                  <a:srgbClr val="000000"/>
                </a:solidFill>
                <a:latin typeface="Times New Roman" pitchFamily="18" charset="0"/>
                <a:cs typeface="Times New Roman" pitchFamily="18" charset="0"/>
              </a:rPr>
              <a:t>poate</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proiecta</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un </a:t>
            </a:r>
            <a:r>
              <a:rPr lang="en-US" sz="2000" dirty="0" err="1">
                <a:solidFill>
                  <a:srgbClr val="000000"/>
                </a:solidFill>
                <a:latin typeface="Times New Roman" pitchFamily="18" charset="0"/>
                <a:cs typeface="Times New Roman" pitchFamily="18" charset="0"/>
              </a:rPr>
              <a:t>amplificator</a:t>
            </a:r>
            <a:r>
              <a:rPr lang="en-US" sz="2000" dirty="0">
                <a:solidFill>
                  <a:srgbClr val="000000"/>
                </a:solidFill>
                <a:latin typeface="Times New Roman" pitchFamily="18" charset="0"/>
                <a:cs typeface="Times New Roman" pitchFamily="18" charset="0"/>
              </a:rPr>
              <a:t> real</a:t>
            </a:r>
            <a:r>
              <a:rPr lang="en-US" sz="2000" dirty="0" smtClean="0">
                <a:solidFill>
                  <a:srgbClr val="000000"/>
                </a:solidFill>
                <a:latin typeface="Times New Roman" pitchFamily="18" charset="0"/>
                <a:cs typeface="Times New Roman" pitchFamily="18" charset="0"/>
              </a:rPr>
              <a:t>. </a:t>
            </a:r>
          </a:p>
          <a:p>
            <a:r>
              <a:rPr lang="en-US" sz="2000" dirty="0" err="1" smtClean="0">
                <a:solidFill>
                  <a:srgbClr val="000000"/>
                </a:solidFill>
                <a:latin typeface="Times New Roman" pitchFamily="18" charset="0"/>
                <a:cs typeface="Times New Roman" pitchFamily="18" charset="0"/>
              </a:rPr>
              <a:t>Având</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în</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vedere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valorile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rezistenţelor</a:t>
            </a:r>
            <a:r>
              <a:rPr lang="en-US" sz="2000" dirty="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R1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R2 </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şi</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a </a:t>
            </a:r>
            <a:r>
              <a:rPr lang="en-US" sz="2000" dirty="0" err="1">
                <a:solidFill>
                  <a:srgbClr val="000000"/>
                </a:solidFill>
                <a:latin typeface="Times New Roman" pitchFamily="18" charset="0"/>
                <a:cs typeface="Times New Roman" pitchFamily="18" charset="0"/>
              </a:rPr>
              <a:t>impedanţei</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intrare</a:t>
            </a:r>
            <a:r>
              <a:rPr lang="en-US" sz="2000" dirty="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h11 </a:t>
            </a:r>
            <a:r>
              <a:rPr lang="en-US" sz="2000" dirty="0">
                <a:solidFill>
                  <a:srgbClr val="000000"/>
                </a:solidFill>
                <a:latin typeface="Times New Roman" pitchFamily="18" charset="0"/>
                <a:cs typeface="Times New Roman" pitchFamily="18" charset="0"/>
              </a:rPr>
              <a:t>a </a:t>
            </a:r>
            <a:r>
              <a:rPr lang="en-US" sz="2000" dirty="0" err="1">
                <a:solidFill>
                  <a:srgbClr val="000000"/>
                </a:solidFill>
                <a:latin typeface="Times New Roman" pitchFamily="18" charset="0"/>
                <a:cs typeface="Times New Roman" pitchFamily="18" charset="0"/>
              </a:rPr>
              <a:t>tranzistorului</a:t>
            </a:r>
            <a:r>
              <a:rPr lang="en-US" sz="2000" dirty="0">
                <a:solidFill>
                  <a:srgbClr val="000000"/>
                </a:solidFill>
                <a:latin typeface="Times New Roman" pitchFamily="18" charset="0"/>
                <a:cs typeface="Times New Roman" pitchFamily="18" charset="0"/>
              </a:rPr>
              <a:t> se </a:t>
            </a:r>
            <a:r>
              <a:rPr lang="en-US" sz="2000" dirty="0" err="1" smtClean="0">
                <a:solidFill>
                  <a:srgbClr val="000000"/>
                </a:solidFill>
                <a:latin typeface="Times New Roman" pitchFamily="18" charset="0"/>
                <a:cs typeface="Times New Roman" pitchFamily="18" charset="0"/>
              </a:rPr>
              <a:t>poate</a:t>
            </a: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aprecia</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că</a:t>
            </a:r>
            <a:r>
              <a:rPr lang="en-US" sz="2000" dirty="0">
                <a:latin typeface="Times New Roman" pitchFamily="18" charset="0"/>
                <a:cs typeface="Times New Roman" pitchFamily="18" charset="0"/>
              </a:rPr>
              <a:t> </a:t>
            </a:r>
          </a:p>
        </p:txBody>
      </p:sp>
      <p:pic>
        <p:nvPicPr>
          <p:cNvPr id="6" name="Picture 2"/>
          <p:cNvPicPr>
            <a:picLocks noChangeAspect="1" noChangeArrowheads="1"/>
          </p:cNvPicPr>
          <p:nvPr/>
        </p:nvPicPr>
        <p:blipFill>
          <a:blip r:embed="rId3"/>
          <a:srcRect/>
          <a:stretch>
            <a:fillRect/>
          </a:stretch>
        </p:blipFill>
        <p:spPr bwMode="auto">
          <a:xfrm>
            <a:off x="945229" y="3528899"/>
            <a:ext cx="1458485" cy="686968"/>
          </a:xfrm>
          <a:prstGeom prst="rect">
            <a:avLst/>
          </a:prstGeom>
          <a:noFill/>
          <a:ln w="9525">
            <a:noFill/>
            <a:miter lim="800000"/>
            <a:headEnd/>
            <a:tailEnd/>
          </a:ln>
          <a:effectLst/>
        </p:spPr>
      </p:pic>
      <p:sp>
        <p:nvSpPr>
          <p:cNvPr id="7" name="Прямоугольник 6"/>
          <p:cNvSpPr/>
          <p:nvPr/>
        </p:nvSpPr>
        <p:spPr>
          <a:xfrm>
            <a:off x="4335045" y="3897329"/>
            <a:ext cx="6096000" cy="461665"/>
          </a:xfrm>
          <a:prstGeom prst="rect">
            <a:avLst/>
          </a:prstGeom>
        </p:spPr>
        <p:txBody>
          <a:bodyPr>
            <a:spAutoFit/>
          </a:bodyPr>
          <a:lstStyle/>
          <a:p>
            <a:r>
              <a:rPr lang="en-US" sz="2400" dirty="0" err="1" smtClean="0">
                <a:solidFill>
                  <a:srgbClr val="000000"/>
                </a:solidFill>
                <a:latin typeface="Times New Roman" pitchFamily="18" charset="0"/>
                <a:cs typeface="Times New Roman" pitchFamily="18" charset="0"/>
              </a:rPr>
              <a:t>variaţia</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curentului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bază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va</a:t>
            </a:r>
            <a:r>
              <a:rPr lang="en-US" sz="2400" dirty="0">
                <a:solidFill>
                  <a:srgbClr val="000000"/>
                </a:solidFill>
                <a:latin typeface="Times New Roman" pitchFamily="18" charset="0"/>
                <a:cs typeface="Times New Roman" pitchFamily="18" charset="0"/>
              </a:rPr>
              <a:t> fi:</a:t>
            </a:r>
            <a:r>
              <a:rPr lang="en-US" sz="2400" dirty="0">
                <a:latin typeface="Times New Roman" pitchFamily="18" charset="0"/>
                <a:cs typeface="Times New Roman" pitchFamily="18" charset="0"/>
              </a:rPr>
              <a:t> </a:t>
            </a:r>
          </a:p>
        </p:txBody>
      </p:sp>
      <p:pic>
        <p:nvPicPr>
          <p:cNvPr id="8" name="Picture 3"/>
          <p:cNvPicPr>
            <a:picLocks noChangeAspect="1" noChangeArrowheads="1"/>
          </p:cNvPicPr>
          <p:nvPr/>
        </p:nvPicPr>
        <p:blipFill>
          <a:blip r:embed="rId4"/>
          <a:srcRect/>
          <a:stretch>
            <a:fillRect/>
          </a:stretch>
        </p:blipFill>
        <p:spPr bwMode="auto">
          <a:xfrm>
            <a:off x="8482651" y="3803205"/>
            <a:ext cx="1453941" cy="702244"/>
          </a:xfrm>
          <a:prstGeom prst="rect">
            <a:avLst/>
          </a:prstGeom>
          <a:noFill/>
          <a:ln w="9525">
            <a:noFill/>
            <a:miter lim="800000"/>
            <a:headEnd/>
            <a:tailEnd/>
          </a:ln>
          <a:effectLst/>
          <a:scene3d>
            <a:camera prst="orthographicFront"/>
            <a:lightRig rig="threePt" dir="t"/>
          </a:scene3d>
          <a:sp3d contourW="6350"/>
        </p:spPr>
      </p:pic>
      <p:sp>
        <p:nvSpPr>
          <p:cNvPr id="15" name="Прямоугольник 14"/>
          <p:cNvSpPr/>
          <p:nvPr/>
        </p:nvSpPr>
        <p:spPr>
          <a:xfrm>
            <a:off x="136225" y="4671615"/>
            <a:ext cx="11392278" cy="707886"/>
          </a:xfrm>
          <a:prstGeom prst="rect">
            <a:avLst/>
          </a:prstGeom>
        </p:spPr>
        <p:txBody>
          <a:bodyPr wrap="square">
            <a:spAutoFit/>
          </a:bodyPr>
          <a:lstStyle/>
          <a:p>
            <a:r>
              <a:rPr lang="en-US" sz="2000" dirty="0" err="1"/>
              <a:t>Mergând</a:t>
            </a:r>
            <a:r>
              <a:rPr lang="en-US" sz="2000" dirty="0"/>
              <a:t> </a:t>
            </a:r>
            <a:r>
              <a:rPr lang="en-US" sz="2000" dirty="0" err="1"/>
              <a:t>acum</a:t>
            </a:r>
            <a:r>
              <a:rPr lang="en-US" sz="2000" dirty="0"/>
              <a:t> </a:t>
            </a:r>
            <a:r>
              <a:rPr lang="en-US" sz="2000" dirty="0" err="1"/>
              <a:t>în</a:t>
            </a:r>
            <a:r>
              <a:rPr lang="en-US" sz="2000" dirty="0"/>
              <a:t> </a:t>
            </a:r>
            <a:r>
              <a:rPr lang="en-US" sz="2000" dirty="0" err="1"/>
              <a:t>circuitul</a:t>
            </a:r>
            <a:r>
              <a:rPr lang="en-US" sz="2000" dirty="0"/>
              <a:t> de </a:t>
            </a:r>
            <a:r>
              <a:rPr lang="en-US" sz="2000" dirty="0" err="1"/>
              <a:t>ieşire</a:t>
            </a:r>
            <a:r>
              <a:rPr lang="en-US" sz="2000" dirty="0"/>
              <a:t> </a:t>
            </a:r>
            <a:r>
              <a:rPr lang="en-US" sz="2000" dirty="0" err="1"/>
              <a:t>vom</a:t>
            </a:r>
            <a:r>
              <a:rPr lang="en-US" sz="2000" dirty="0"/>
              <a:t> </a:t>
            </a:r>
            <a:r>
              <a:rPr lang="en-US" sz="2000" dirty="0" err="1"/>
              <a:t>observa</a:t>
            </a:r>
            <a:r>
              <a:rPr lang="en-US" sz="2000" dirty="0"/>
              <a:t> </a:t>
            </a:r>
            <a:r>
              <a:rPr lang="en-US" sz="2000" dirty="0" err="1"/>
              <a:t>că</a:t>
            </a:r>
            <a:r>
              <a:rPr lang="en-US" sz="2000" dirty="0"/>
              <a:t> </a:t>
            </a:r>
            <a:r>
              <a:rPr lang="en-US" sz="2000" dirty="0" err="1"/>
              <a:t>prin</a:t>
            </a:r>
            <a:r>
              <a:rPr lang="en-US" sz="2000" dirty="0"/>
              <a:t> </a:t>
            </a:r>
            <a:r>
              <a:rPr lang="en-US" sz="2000" dirty="0" err="1" smtClean="0"/>
              <a:t>rezistenţa</a:t>
            </a:r>
            <a:r>
              <a:rPr lang="en-US" sz="2000" dirty="0" smtClean="0"/>
              <a:t> </a:t>
            </a:r>
            <a:r>
              <a:rPr lang="en-US" sz="2000" dirty="0" err="1" smtClean="0"/>
              <a:t>echivalentă</a:t>
            </a:r>
            <a:r>
              <a:rPr lang="en-US" sz="2000" dirty="0" smtClean="0"/>
              <a:t> </a:t>
            </a:r>
            <a:r>
              <a:rPr lang="en-US" sz="2000" dirty="0" err="1"/>
              <a:t>paralel</a:t>
            </a:r>
            <a:r>
              <a:rPr lang="en-US" sz="2000" dirty="0"/>
              <a:t> </a:t>
            </a:r>
            <a:r>
              <a:rPr lang="en-US" sz="2000" dirty="0" err="1"/>
              <a:t>R</a:t>
            </a:r>
            <a:r>
              <a:rPr lang="en-US" sz="2000" baseline="-25000" dirty="0" err="1"/>
              <a:t>c</a:t>
            </a:r>
            <a:r>
              <a:rPr lang="en-US" sz="2000" dirty="0"/>
              <a:t>|| h</a:t>
            </a:r>
            <a:r>
              <a:rPr lang="en-US" sz="2000" baseline="-25000" dirty="0"/>
              <a:t>22</a:t>
            </a:r>
            <a:r>
              <a:rPr lang="en-US" sz="2000" dirty="0"/>
              <a:t> </a:t>
            </a:r>
            <a:r>
              <a:rPr lang="en-US" sz="2000" baseline="30000" dirty="0"/>
              <a:t>−1</a:t>
            </a:r>
            <a:r>
              <a:rPr lang="en-US" sz="2000" dirty="0"/>
              <a:t> ||</a:t>
            </a:r>
            <a:r>
              <a:rPr lang="en-US" sz="2000" dirty="0" err="1"/>
              <a:t>R</a:t>
            </a:r>
            <a:r>
              <a:rPr lang="en-US" sz="2000" baseline="-25000" dirty="0" err="1"/>
              <a:t>sarc</a:t>
            </a:r>
            <a:r>
              <a:rPr lang="en-US" sz="2000" dirty="0"/>
              <a:t> </a:t>
            </a:r>
            <a:r>
              <a:rPr lang="en-US" sz="2000" dirty="0" err="1"/>
              <a:t>circulă</a:t>
            </a:r>
            <a:r>
              <a:rPr lang="en-US" sz="2000" dirty="0"/>
              <a:t> de la </a:t>
            </a:r>
            <a:r>
              <a:rPr lang="en-US" sz="2000" dirty="0" err="1"/>
              <a:t>borna</a:t>
            </a:r>
            <a:r>
              <a:rPr lang="en-US" sz="2000" dirty="0"/>
              <a:t> de </a:t>
            </a:r>
            <a:r>
              <a:rPr lang="en-US" sz="2000" dirty="0" err="1"/>
              <a:t>masă</a:t>
            </a:r>
            <a:r>
              <a:rPr lang="en-US" sz="2000" dirty="0"/>
              <a:t> </a:t>
            </a:r>
            <a:r>
              <a:rPr lang="en-US" sz="2000" dirty="0" err="1"/>
              <a:t>spre</a:t>
            </a:r>
            <a:r>
              <a:rPr lang="en-US" sz="2000" dirty="0"/>
              <a:t> </a:t>
            </a:r>
            <a:r>
              <a:rPr lang="en-US" sz="2000" dirty="0" err="1" smtClean="0"/>
              <a:t>borna</a:t>
            </a:r>
            <a:r>
              <a:rPr lang="en-US" sz="2000" dirty="0" smtClean="0"/>
              <a:t> “</a:t>
            </a:r>
            <a:r>
              <a:rPr lang="en-US" sz="2000" dirty="0" err="1"/>
              <a:t>caldă</a:t>
            </a:r>
            <a:r>
              <a:rPr lang="en-US" sz="2000" dirty="0"/>
              <a:t>” </a:t>
            </a:r>
            <a:r>
              <a:rPr lang="en-US" sz="2000" dirty="0" err="1"/>
              <a:t>curentul</a:t>
            </a:r>
            <a:r>
              <a:rPr lang="en-US" sz="2000" dirty="0"/>
              <a:t> h</a:t>
            </a:r>
            <a:r>
              <a:rPr lang="en-US" sz="2000" baseline="-25000" dirty="0"/>
              <a:t>21</a:t>
            </a:r>
            <a:r>
              <a:rPr lang="en-US" sz="2000" dirty="0"/>
              <a:t>∆i</a:t>
            </a:r>
            <a:r>
              <a:rPr lang="en-US" sz="2000" baseline="-25000" dirty="0"/>
              <a:t>b</a:t>
            </a:r>
            <a:r>
              <a:rPr lang="en-US" sz="2000" dirty="0"/>
              <a:t>, </a:t>
            </a:r>
            <a:r>
              <a:rPr lang="en-US" sz="2000" dirty="0" err="1"/>
              <a:t>astfel</a:t>
            </a:r>
            <a:r>
              <a:rPr lang="en-US" sz="2000" dirty="0"/>
              <a:t> </a:t>
            </a:r>
            <a:r>
              <a:rPr lang="en-US" sz="2000" dirty="0" err="1"/>
              <a:t>că</a:t>
            </a:r>
            <a:r>
              <a:rPr lang="en-US" sz="2000" dirty="0"/>
              <a:t> </a:t>
            </a:r>
            <a:r>
              <a:rPr lang="en-US" sz="2000" dirty="0" err="1"/>
              <a:t>tensiunea</a:t>
            </a:r>
            <a:r>
              <a:rPr lang="en-US" sz="2000" dirty="0"/>
              <a:t> de </a:t>
            </a:r>
            <a:r>
              <a:rPr lang="en-US" sz="2000" dirty="0" err="1"/>
              <a:t>ieşire</a:t>
            </a:r>
            <a:r>
              <a:rPr lang="en-US" sz="2000" dirty="0"/>
              <a:t> </a:t>
            </a:r>
            <a:r>
              <a:rPr lang="en-US" sz="2000" dirty="0" err="1"/>
              <a:t>va</a:t>
            </a:r>
            <a:r>
              <a:rPr lang="en-US" sz="2000" dirty="0"/>
              <a:t> fi:</a:t>
            </a:r>
          </a:p>
        </p:txBody>
      </p:sp>
      <p:pic>
        <p:nvPicPr>
          <p:cNvPr id="16" name="Picture 4"/>
          <p:cNvPicPr>
            <a:picLocks noChangeAspect="1" noChangeArrowheads="1"/>
          </p:cNvPicPr>
          <p:nvPr/>
        </p:nvPicPr>
        <p:blipFill>
          <a:blip r:embed="rId5"/>
          <a:srcRect/>
          <a:stretch>
            <a:fillRect/>
          </a:stretch>
        </p:blipFill>
        <p:spPr bwMode="auto">
          <a:xfrm>
            <a:off x="4153585" y="5601776"/>
            <a:ext cx="3357558" cy="466945"/>
          </a:xfrm>
          <a:prstGeom prst="rect">
            <a:avLst/>
          </a:prstGeom>
          <a:noFill/>
          <a:ln w="9525">
            <a:noFill/>
            <a:miter lim="800000"/>
            <a:headEnd/>
            <a:tailEnd/>
          </a:ln>
          <a:effectLst/>
          <a:scene3d>
            <a:camera prst="orthographicFront"/>
            <a:lightRig rig="threePt" dir="t"/>
          </a:scene3d>
          <a:sp3d contourW="6350"/>
        </p:spPr>
      </p:pic>
    </p:spTree>
    <p:extLst>
      <p:ext uri="{BB962C8B-B14F-4D97-AF65-F5344CB8AC3E}">
        <p14:creationId xmlns:p14="http://schemas.microsoft.com/office/powerpoint/2010/main" val="1411682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0891" y="88333"/>
            <a:ext cx="11718202" cy="830997"/>
          </a:xfrm>
          <a:prstGeom prst="rect">
            <a:avLst/>
          </a:prstGeom>
        </p:spPr>
        <p:txBody>
          <a:bodyPr wrap="square">
            <a:spAutoFit/>
          </a:bodyPr>
          <a:lstStyle/>
          <a:p>
            <a:r>
              <a:rPr lang="en-US" sz="2400" dirty="0">
                <a:solidFill>
                  <a:srgbClr val="000000"/>
                </a:solidFill>
                <a:latin typeface="Times New Roman" pitchFamily="18" charset="0"/>
                <a:cs typeface="Times New Roman" pitchFamily="18" charset="0"/>
              </a:rPr>
              <a:t>Din </a:t>
            </a:r>
            <a:r>
              <a:rPr lang="en-US" sz="2400" dirty="0" err="1" smtClean="0">
                <a:solidFill>
                  <a:srgbClr val="000000"/>
                </a:solidFill>
                <a:latin typeface="Times New Roman" pitchFamily="18" charset="0"/>
                <a:cs typeface="Times New Roman" pitchFamily="18" charset="0"/>
              </a:rPr>
              <a:t>ultimele</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dou</a:t>
            </a:r>
            <a:r>
              <a:rPr lang="x-none" sz="2400" dirty="0" smtClean="0">
                <a:solidFill>
                  <a:srgbClr val="000000"/>
                </a:solidFill>
                <a:latin typeface="Times New Roman" pitchFamily="18" charset="0"/>
                <a:cs typeface="Times New Roman" pitchFamily="18" charset="0"/>
              </a:rPr>
              <a:t>ă relații</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rezultă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expresia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factorului</a:t>
            </a: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de </a:t>
            </a:r>
            <a:r>
              <a:rPr lang="en-US" sz="2400" dirty="0" err="1" smtClean="0">
                <a:solidFill>
                  <a:srgbClr val="000000"/>
                </a:solidFill>
                <a:latin typeface="Times New Roman" pitchFamily="18" charset="0"/>
                <a:cs typeface="Times New Roman" pitchFamily="18" charset="0"/>
              </a:rPr>
              <a:t>amplificare</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la </a:t>
            </a:r>
            <a:r>
              <a:rPr lang="en-US" sz="2400" dirty="0" err="1">
                <a:solidFill>
                  <a:srgbClr val="000000"/>
                </a:solidFill>
                <a:latin typeface="Times New Roman" pitchFamily="18" charset="0"/>
                <a:cs typeface="Times New Roman" pitchFamily="18" charset="0"/>
              </a:rPr>
              <a:t>mijlocul</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benzii</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frecvenţe</a:t>
            </a:r>
            <a:r>
              <a:rPr lang="en-US" sz="2400" dirty="0">
                <a:solidFill>
                  <a:srgbClr val="000000"/>
                </a:solidFill>
                <a:latin typeface="Times New Roman" pitchFamily="18" charset="0"/>
                <a:cs typeface="Times New Roman" pitchFamily="18" charset="0"/>
              </a:rPr>
              <a:t>:</a:t>
            </a:r>
            <a:r>
              <a:rPr lang="en-US" sz="2400" dirty="0">
                <a:latin typeface="Times New Roman" pitchFamily="18" charset="0"/>
                <a:cs typeface="Times New Roman" pitchFamily="18" charset="0"/>
              </a:rPr>
              <a:t> </a:t>
            </a:r>
          </a:p>
        </p:txBody>
      </p:sp>
      <p:pic>
        <p:nvPicPr>
          <p:cNvPr id="5" name="Picture 5"/>
          <p:cNvPicPr>
            <a:picLocks noChangeAspect="1" noChangeArrowheads="1"/>
          </p:cNvPicPr>
          <p:nvPr/>
        </p:nvPicPr>
        <p:blipFill>
          <a:blip r:embed="rId2"/>
          <a:srcRect/>
          <a:stretch>
            <a:fillRect/>
          </a:stretch>
        </p:blipFill>
        <p:spPr bwMode="auto">
          <a:xfrm>
            <a:off x="3179827" y="706128"/>
            <a:ext cx="4667592" cy="928694"/>
          </a:xfrm>
          <a:prstGeom prst="rect">
            <a:avLst/>
          </a:prstGeom>
          <a:noFill/>
          <a:ln w="9525">
            <a:noFill/>
            <a:miter lim="800000"/>
            <a:headEnd/>
            <a:tailEnd/>
          </a:ln>
          <a:effectLst/>
          <a:scene3d>
            <a:camera prst="orthographicFront"/>
            <a:lightRig rig="threePt" dir="t"/>
          </a:scene3d>
          <a:sp3d contourW="6350"/>
        </p:spPr>
      </p:pic>
      <p:sp>
        <p:nvSpPr>
          <p:cNvPr id="6" name="Прямоугольник 5"/>
          <p:cNvSpPr/>
          <p:nvPr/>
        </p:nvSpPr>
        <p:spPr>
          <a:xfrm>
            <a:off x="73936" y="1891920"/>
            <a:ext cx="12044127" cy="1569660"/>
          </a:xfrm>
          <a:prstGeom prst="rect">
            <a:avLst/>
          </a:prstGeom>
        </p:spPr>
        <p:txBody>
          <a:bodyPr wrap="square">
            <a:spAutoFit/>
          </a:bodyPr>
          <a:lstStyle/>
          <a:p>
            <a:r>
              <a:rPr lang="en-US" sz="2400" dirty="0" err="1">
                <a:solidFill>
                  <a:srgbClr val="000000"/>
                </a:solidFill>
                <a:latin typeface="Times New Roman" pitchFamily="18" charset="0"/>
                <a:cs typeface="Times New Roman" pitchFamily="18" charset="0"/>
              </a:rPr>
              <a:t>Dacă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sursa</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semnal</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este</a:t>
            </a:r>
            <a:r>
              <a:rPr lang="en-US" sz="2400" dirty="0">
                <a:solidFill>
                  <a:srgbClr val="000000"/>
                </a:solidFill>
                <a:latin typeface="Times New Roman" pitchFamily="18" charset="0"/>
                <a:cs typeface="Times New Roman" pitchFamily="18" charset="0"/>
              </a:rPr>
              <a:t> o </a:t>
            </a:r>
            <a:r>
              <a:rPr lang="en-US" sz="2400" dirty="0" err="1">
                <a:solidFill>
                  <a:srgbClr val="000000"/>
                </a:solidFill>
                <a:latin typeface="Times New Roman" pitchFamily="18" charset="0"/>
                <a:cs typeface="Times New Roman" pitchFamily="18" charset="0"/>
              </a:rPr>
              <a:t>sursă</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tensiune</a:t>
            </a:r>
            <a:r>
              <a:rPr lang="en-US" sz="2400" dirty="0">
                <a:solidFill>
                  <a:srgbClr val="000000"/>
                </a:solidFill>
                <a:latin typeface="Times New Roman" pitchFamily="18" charset="0"/>
                <a:cs typeface="Times New Roman" pitchFamily="18" charset="0"/>
              </a:rPr>
              <a:t> cu </a:t>
            </a:r>
            <a:r>
              <a:rPr lang="en-US" sz="2400" dirty="0" err="1">
                <a:solidFill>
                  <a:srgbClr val="000000"/>
                </a:solidFill>
                <a:latin typeface="Times New Roman" pitchFamily="18" charset="0"/>
                <a:cs typeface="Times New Roman" pitchFamily="18" charset="0"/>
              </a:rPr>
              <a:t>rezistenţa</a:t>
            </a:r>
            <a:r>
              <a:rPr lang="en-US" sz="2400" dirty="0">
                <a:solidFill>
                  <a:srgbClr val="000000"/>
                </a:solidFill>
                <a:latin typeface="Times New Roman" pitchFamily="18" charset="0"/>
                <a:cs typeface="Times New Roman" pitchFamily="18" charset="0"/>
              </a:rPr>
              <a:t> de </a:t>
            </a:r>
            <a:r>
              <a:rPr lang="en-US" sz="2400" dirty="0" err="1" smtClean="0">
                <a:solidFill>
                  <a:srgbClr val="000000"/>
                </a:solidFill>
                <a:latin typeface="Times New Roman" pitchFamily="18" charset="0"/>
                <a:cs typeface="Times New Roman" pitchFamily="18" charset="0"/>
              </a:rPr>
              <a:t>ieşire</a:t>
            </a:r>
            <a:r>
              <a:rPr lang="x-none"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foarte</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mică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atunci</a:t>
            </a:r>
            <a:r>
              <a:rPr lang="en-US" sz="2400" dirty="0">
                <a:solidFill>
                  <a:srgbClr val="000000"/>
                </a:solidFill>
                <a:latin typeface="Times New Roman" pitchFamily="18" charset="0"/>
                <a:cs typeface="Times New Roman" pitchFamily="18" charset="0"/>
              </a:rPr>
              <a:t> </a:t>
            </a:r>
            <a:r>
              <a:rPr lang="en-US" sz="2400" i="1" dirty="0" err="1">
                <a:solidFill>
                  <a:srgbClr val="000000"/>
                </a:solidFill>
                <a:latin typeface="Times New Roman" pitchFamily="18" charset="0"/>
                <a:cs typeface="Times New Roman" pitchFamily="18" charset="0"/>
              </a:rPr>
              <a:t>R</a:t>
            </a:r>
            <a:r>
              <a:rPr lang="en-US" sz="1200" i="1" dirty="0" err="1">
                <a:solidFill>
                  <a:srgbClr val="000000"/>
                </a:solidFill>
                <a:latin typeface="Times New Roman" pitchFamily="18" charset="0"/>
                <a:cs typeface="Times New Roman" pitchFamily="18" charset="0"/>
              </a:rPr>
              <a:t>s</a:t>
            </a:r>
            <a:r>
              <a:rPr lang="en-US" sz="1200" i="1" dirty="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&lt;&lt; </a:t>
            </a:r>
            <a:r>
              <a:rPr lang="en-US" sz="2400" i="1" dirty="0">
                <a:solidFill>
                  <a:srgbClr val="000000"/>
                </a:solidFill>
                <a:latin typeface="Times New Roman" pitchFamily="18" charset="0"/>
                <a:cs typeface="Times New Roman" pitchFamily="18" charset="0"/>
              </a:rPr>
              <a:t>h</a:t>
            </a:r>
            <a:r>
              <a:rPr lang="en-US" sz="1200" dirty="0">
                <a:solidFill>
                  <a:srgbClr val="000000"/>
                </a:solidFill>
                <a:latin typeface="Times New Roman" pitchFamily="18" charset="0"/>
                <a:cs typeface="Times New Roman" pitchFamily="18" charset="0"/>
              </a:rPr>
              <a:t>11</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asemenea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dacă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rezistenţa</a:t>
            </a:r>
            <a:r>
              <a:rPr lang="en-US" sz="2400" dirty="0">
                <a:solidFill>
                  <a:srgbClr val="000000"/>
                </a:solidFill>
                <a:latin typeface="Times New Roman" pitchFamily="18" charset="0"/>
                <a:cs typeface="Times New Roman" pitchFamily="18" charset="0"/>
              </a:rPr>
              <a:t> din </a:t>
            </a:r>
            <a:r>
              <a:rPr lang="en-US" sz="2400" dirty="0" err="1">
                <a:solidFill>
                  <a:srgbClr val="000000"/>
                </a:solidFill>
                <a:latin typeface="Times New Roman" pitchFamily="18" charset="0"/>
                <a:cs typeface="Times New Roman" pitchFamily="18" charset="0"/>
              </a:rPr>
              <a:t>colector</a:t>
            </a:r>
            <a:r>
              <a:rPr lang="en-US" sz="2400" dirty="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este</a:t>
            </a:r>
            <a:r>
              <a:rPr lang="x-none"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mult</a:t>
            </a:r>
            <a:r>
              <a:rPr lang="en-US" sz="2400" dirty="0" smtClean="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mai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mică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decât</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rezistenţa</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sarcină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şi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impedanţa</a:t>
            </a:r>
            <a:r>
              <a:rPr lang="en-US" sz="2400" dirty="0">
                <a:solidFill>
                  <a:srgbClr val="000000"/>
                </a:solidFill>
                <a:latin typeface="Times New Roman" pitchFamily="18" charset="0"/>
                <a:cs typeface="Times New Roman" pitchFamily="18" charset="0"/>
              </a:rPr>
              <a:t> de </a:t>
            </a:r>
            <a:r>
              <a:rPr lang="en-US" sz="2400" dirty="0" err="1">
                <a:solidFill>
                  <a:srgbClr val="000000"/>
                </a:solidFill>
                <a:latin typeface="Times New Roman" pitchFamily="18" charset="0"/>
                <a:cs typeface="Times New Roman" pitchFamily="18" charset="0"/>
              </a:rPr>
              <a:t>ieşire</a:t>
            </a:r>
            <a:r>
              <a:rPr lang="en-US" sz="2400" dirty="0">
                <a:solidFill>
                  <a:srgbClr val="000000"/>
                </a:solidFill>
                <a:latin typeface="Times New Roman" pitchFamily="18" charset="0"/>
                <a:cs typeface="Times New Roman" pitchFamily="18" charset="0"/>
              </a:rPr>
              <a:t> </a:t>
            </a:r>
            <a:r>
              <a:rPr lang="en-US" sz="2400" dirty="0" smtClean="0">
                <a:solidFill>
                  <a:srgbClr val="000000"/>
                </a:solidFill>
                <a:latin typeface="Times New Roman" pitchFamily="18" charset="0"/>
                <a:cs typeface="Times New Roman" pitchFamily="18" charset="0"/>
              </a:rPr>
              <a:t>a</a:t>
            </a:r>
            <a:r>
              <a:rPr lang="x-none"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tranzistorului</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a:t>
            </a:r>
            <a:r>
              <a:rPr lang="en-US" sz="2400" i="1" dirty="0" err="1">
                <a:solidFill>
                  <a:srgbClr val="000000"/>
                </a:solidFill>
                <a:latin typeface="Times New Roman" pitchFamily="18" charset="0"/>
                <a:cs typeface="Times New Roman" pitchFamily="18" charset="0"/>
              </a:rPr>
              <a:t>R</a:t>
            </a:r>
            <a:r>
              <a:rPr lang="en-US" sz="1200" i="1" dirty="0" err="1">
                <a:solidFill>
                  <a:srgbClr val="000000"/>
                </a:solidFill>
                <a:latin typeface="Times New Roman" pitchFamily="18" charset="0"/>
                <a:cs typeface="Times New Roman" pitchFamily="18" charset="0"/>
              </a:rPr>
              <a:t>c</a:t>
            </a:r>
            <a:r>
              <a:rPr lang="en-US" sz="1200" i="1" dirty="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&lt;&lt; </a:t>
            </a:r>
            <a:r>
              <a:rPr lang="en-US" sz="2400" i="1" dirty="0" err="1">
                <a:solidFill>
                  <a:srgbClr val="000000"/>
                </a:solidFill>
                <a:latin typeface="Times New Roman" pitchFamily="18" charset="0"/>
                <a:cs typeface="Times New Roman" pitchFamily="18" charset="0"/>
              </a:rPr>
              <a:t>R</a:t>
            </a:r>
            <a:r>
              <a:rPr lang="en-US" sz="1200" i="1" dirty="0" err="1">
                <a:solidFill>
                  <a:srgbClr val="000000"/>
                </a:solidFill>
                <a:latin typeface="Times New Roman" pitchFamily="18" charset="0"/>
                <a:cs typeface="Times New Roman" pitchFamily="18" charset="0"/>
              </a:rPr>
              <a:t>sarc</a:t>
            </a:r>
            <a:r>
              <a:rPr lang="en-US" sz="2400" dirty="0">
                <a:solidFill>
                  <a:srgbClr val="000000"/>
                </a:solidFill>
                <a:latin typeface="Times New Roman" pitchFamily="18" charset="0"/>
                <a:cs typeface="Times New Roman" pitchFamily="18" charset="0"/>
              </a:rPr>
              <a:t>, </a:t>
            </a:r>
            <a:r>
              <a:rPr lang="en-US" sz="2400" i="1" dirty="0">
                <a:solidFill>
                  <a:srgbClr val="000000"/>
                </a:solidFill>
                <a:latin typeface="Times New Roman" pitchFamily="18" charset="0"/>
                <a:cs typeface="Times New Roman" pitchFamily="18" charset="0"/>
              </a:rPr>
              <a:t>h</a:t>
            </a:r>
            <a:r>
              <a:rPr lang="en-US" sz="1200" dirty="0">
                <a:solidFill>
                  <a:srgbClr val="000000"/>
                </a:solidFill>
                <a:latin typeface="Times New Roman" pitchFamily="18" charset="0"/>
                <a:cs typeface="Times New Roman" pitchFamily="18" charset="0"/>
              </a:rPr>
              <a:t>22 </a:t>
            </a:r>
            <a:r>
              <a:rPr lang="en-US" sz="2400" baseline="30000" dirty="0">
                <a:solidFill>
                  <a:srgbClr val="000000"/>
                </a:solidFill>
                <a:latin typeface="Times New Roman" pitchFamily="18" charset="0"/>
                <a:cs typeface="Times New Roman" pitchFamily="18" charset="0"/>
              </a:rPr>
              <a:t>-1 </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atunci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expresia</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factorului</a:t>
            </a:r>
            <a:r>
              <a:rPr lang="en-US" sz="2400" dirty="0">
                <a:solidFill>
                  <a:srgbClr val="000000"/>
                </a:solidFill>
                <a:latin typeface="Times New Roman" pitchFamily="18" charset="0"/>
                <a:cs typeface="Times New Roman" pitchFamily="18" charset="0"/>
              </a:rPr>
              <a:t> de </a:t>
            </a:r>
            <a:r>
              <a:rPr lang="en-US" sz="2400" dirty="0" err="1" smtClean="0">
                <a:solidFill>
                  <a:srgbClr val="000000"/>
                </a:solidFill>
                <a:latin typeface="Times New Roman" pitchFamily="18" charset="0"/>
                <a:cs typeface="Times New Roman" pitchFamily="18" charset="0"/>
              </a:rPr>
              <a:t>amplificare</a:t>
            </a:r>
            <a:r>
              <a:rPr lang="x-none"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poate</a:t>
            </a: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fi </a:t>
            </a:r>
            <a:r>
              <a:rPr lang="en-US" sz="2400" dirty="0" err="1">
                <a:solidFill>
                  <a:srgbClr val="000000"/>
                </a:solidFill>
                <a:latin typeface="Times New Roman" pitchFamily="18" charset="0"/>
                <a:cs typeface="Times New Roman" pitchFamily="18" charset="0"/>
              </a:rPr>
              <a:t>calculată</a:t>
            </a:r>
            <a:r>
              <a:rPr lang="en-US" sz="2400" dirty="0">
                <a:solidFill>
                  <a:srgbClr val="000000"/>
                </a:solidFill>
                <a:latin typeface="Times New Roman" pitchFamily="18" charset="0"/>
                <a:cs typeface="Times New Roman" pitchFamily="18" charset="0"/>
              </a:rPr>
              <a:t> cu o </a:t>
            </a:r>
            <a:r>
              <a:rPr lang="en-US" sz="2400" dirty="0" err="1">
                <a:solidFill>
                  <a:srgbClr val="000000"/>
                </a:solidFill>
                <a:latin typeface="Times New Roman" pitchFamily="18" charset="0"/>
                <a:cs typeface="Times New Roman" pitchFamily="18" charset="0"/>
              </a:rPr>
              <a:t>bună</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aproximaţie</a:t>
            </a:r>
            <a:r>
              <a:rPr lang="en-US" sz="2400" dirty="0">
                <a:solidFill>
                  <a:srgbClr val="000000"/>
                </a:solidFill>
                <a:latin typeface="Times New Roman" pitchFamily="18" charset="0"/>
                <a:cs typeface="Times New Roman" pitchFamily="18" charset="0"/>
              </a:rPr>
              <a:t> cu </a:t>
            </a:r>
            <a:r>
              <a:rPr lang="en-US" sz="2400" dirty="0" err="1">
                <a:solidFill>
                  <a:srgbClr val="000000"/>
                </a:solidFill>
                <a:latin typeface="Times New Roman" pitchFamily="18" charset="0"/>
                <a:cs typeface="Times New Roman" pitchFamily="18" charset="0"/>
              </a:rPr>
              <a:t>relaţia</a:t>
            </a:r>
            <a:r>
              <a:rPr lang="en-US" sz="2400" dirty="0">
                <a:solidFill>
                  <a:srgbClr val="000000"/>
                </a:solidFill>
                <a:latin typeface="Times New Roman" pitchFamily="18" charset="0"/>
                <a:cs typeface="Times New Roman" pitchFamily="18" charset="0"/>
              </a:rPr>
              <a:t>:</a:t>
            </a:r>
            <a:r>
              <a:rPr lang="en-US" sz="2400" dirty="0">
                <a:latin typeface="Times New Roman" pitchFamily="18" charset="0"/>
                <a:cs typeface="Times New Roman" pitchFamily="18" charset="0"/>
              </a:rPr>
              <a:t> </a:t>
            </a:r>
          </a:p>
        </p:txBody>
      </p:sp>
      <p:pic>
        <p:nvPicPr>
          <p:cNvPr id="7" name="Picture 6"/>
          <p:cNvPicPr>
            <a:picLocks noChangeAspect="1" noChangeArrowheads="1"/>
          </p:cNvPicPr>
          <p:nvPr/>
        </p:nvPicPr>
        <p:blipFill>
          <a:blip r:embed="rId3"/>
          <a:srcRect/>
          <a:stretch>
            <a:fillRect/>
          </a:stretch>
        </p:blipFill>
        <p:spPr bwMode="auto">
          <a:xfrm>
            <a:off x="4314550" y="3798282"/>
            <a:ext cx="2244199" cy="1143008"/>
          </a:xfrm>
          <a:prstGeom prst="rect">
            <a:avLst/>
          </a:prstGeom>
          <a:noFill/>
          <a:ln w="9525">
            <a:noFill/>
            <a:miter lim="800000"/>
            <a:headEnd/>
            <a:tailEnd/>
          </a:ln>
          <a:effectLst/>
          <a:scene3d>
            <a:camera prst="orthographicFront"/>
            <a:lightRig rig="threePt" dir="t"/>
          </a:scene3d>
          <a:sp3d contourW="6350"/>
        </p:spPr>
      </p:pic>
      <p:sp>
        <p:nvSpPr>
          <p:cNvPr id="12" name="Прямоугольник 11"/>
          <p:cNvSpPr/>
          <p:nvPr/>
        </p:nvSpPr>
        <p:spPr>
          <a:xfrm>
            <a:off x="0" y="4919008"/>
            <a:ext cx="12192000" cy="1938992"/>
          </a:xfrm>
          <a:prstGeom prst="rect">
            <a:avLst/>
          </a:prstGeom>
        </p:spPr>
        <p:txBody>
          <a:bodyPr wrap="square">
            <a:spAutoFit/>
          </a:bodyPr>
          <a:lstStyle/>
          <a:p>
            <a:r>
              <a:rPr lang="en-US" sz="2400" dirty="0" err="1" smtClean="0">
                <a:latin typeface="Times New Roman" panose="02020603050405020304" pitchFamily="18" charset="0"/>
                <a:cs typeface="Times New Roman" panose="02020603050405020304" pitchFamily="18" charset="0"/>
              </a:rPr>
              <a:t>două</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concluzii</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factorul</a:t>
            </a:r>
            <a:r>
              <a:rPr lang="en-US" sz="2400" dirty="0" smtClean="0">
                <a:latin typeface="Times New Roman" panose="02020603050405020304" pitchFamily="18" charset="0"/>
                <a:cs typeface="Times New Roman" panose="02020603050405020304" pitchFamily="18" charset="0"/>
              </a:rPr>
              <a:t> de </a:t>
            </a:r>
            <a:r>
              <a:rPr lang="en-US" sz="2400" dirty="0" err="1" smtClean="0">
                <a:latin typeface="Times New Roman" panose="02020603050405020304" pitchFamily="18" charset="0"/>
                <a:cs typeface="Times New Roman" panose="02020603050405020304" pitchFamily="18" charset="0"/>
              </a:rPr>
              <a:t>amplificare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în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tensiune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este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determinat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în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primul</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rând</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de</a:t>
            </a:r>
            <a:r>
              <a:rPr lang="x-none"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parametrii</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 </a:t>
            </a:r>
            <a:r>
              <a:rPr lang="en-US" sz="2400" dirty="0" err="1">
                <a:latin typeface="Times New Roman" panose="02020603050405020304" pitchFamily="18" charset="0"/>
                <a:cs typeface="Times New Roman" panose="02020603050405020304" pitchFamily="18" charset="0"/>
              </a:rPr>
              <a:t>semnal</a:t>
            </a:r>
            <a:r>
              <a:rPr lang="en-US" sz="2400" dirty="0">
                <a:latin typeface="Times New Roman" panose="02020603050405020304" pitchFamily="18" charset="0"/>
                <a:cs typeface="Times New Roman" panose="02020603050405020304" pitchFamily="18" charset="0"/>
              </a:rPr>
              <a:t> mic </a:t>
            </a:r>
            <a:r>
              <a:rPr lang="en-US" sz="2400" dirty="0" err="1">
                <a:latin typeface="Times New Roman" panose="02020603050405020304" pitchFamily="18" charset="0"/>
                <a:cs typeface="Times New Roman" panose="02020603050405020304" pitchFamily="18" charset="0"/>
              </a:rPr>
              <a:t>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tranzistorului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şi</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rezistenţa</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din</a:t>
            </a:r>
            <a:r>
              <a:rPr lang="x-none"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colector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semnul</a:t>
            </a:r>
            <a:r>
              <a:rPr lang="en-US" sz="2400" dirty="0">
                <a:latin typeface="Times New Roman" panose="02020603050405020304" pitchFamily="18" charset="0"/>
                <a:cs typeface="Times New Roman" panose="02020603050405020304" pitchFamily="18" charset="0"/>
              </a:rPr>
              <a:t> “-” din </a:t>
            </a:r>
            <a:r>
              <a:rPr lang="en-US" sz="2400" dirty="0" err="1">
                <a:latin typeface="Times New Roman" panose="02020603050405020304" pitchFamily="18" charset="0"/>
                <a:cs typeface="Times New Roman" panose="02020603050405020304" pitchFamily="18" charset="0"/>
              </a:rPr>
              <a:t>expresia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factorului</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semnifică</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defazajul</a:t>
            </a:r>
            <a:r>
              <a:rPr lang="x-none" sz="24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cu </a:t>
            </a:r>
            <a:r>
              <a:rPr lang="en-US" sz="2400" dirty="0">
                <a:latin typeface="Times New Roman" panose="02020603050405020304" pitchFamily="18" charset="0"/>
                <a:cs typeface="Times New Roman" panose="02020603050405020304" pitchFamily="18" charset="0"/>
              </a:rPr>
              <a:t>180</a:t>
            </a:r>
            <a:r>
              <a:rPr lang="en-US" sz="2400" baseline="30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 al </a:t>
            </a:r>
            <a:r>
              <a:rPr lang="en-US" sz="2400" dirty="0" err="1">
                <a:latin typeface="Times New Roman" panose="02020603050405020304" pitchFamily="18" charset="0"/>
                <a:cs typeface="Times New Roman" panose="02020603050405020304" pitchFamily="18" charset="0"/>
              </a:rPr>
              <a:t>semnalului</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ieşire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urma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semnalului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aplicat</a:t>
            </a:r>
            <a:r>
              <a:rPr lang="en-US" sz="2400" dirty="0">
                <a:latin typeface="Times New Roman" panose="02020603050405020304" pitchFamily="18" charset="0"/>
                <a:cs typeface="Times New Roman" panose="02020603050405020304" pitchFamily="18" charset="0"/>
              </a:rPr>
              <a:t> la </a:t>
            </a:r>
            <a:r>
              <a:rPr lang="en-US" sz="2400" dirty="0" err="1" smtClean="0">
                <a:latin typeface="Times New Roman" panose="02020603050405020304" pitchFamily="18" charset="0"/>
                <a:cs typeface="Times New Roman" panose="02020603050405020304" pitchFamily="18" charset="0"/>
              </a:rPr>
              <a:t>intrarea</a:t>
            </a:r>
            <a:r>
              <a:rPr lang="x-none"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amplificatorului</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7755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12192000" cy="2554545"/>
          </a:xfrm>
          <a:prstGeom prst="rect">
            <a:avLst/>
          </a:prstGeom>
        </p:spPr>
        <p:txBody>
          <a:bodyPr wrap="square">
            <a:spAutoFit/>
          </a:bodyPr>
          <a:lstStyle/>
          <a:p>
            <a:pPr marL="342900" indent="-342900">
              <a:buFont typeface="Arial" panose="020B0604020202020204" pitchFamily="34" charset="0"/>
              <a:buChar char="•"/>
            </a:pPr>
            <a:r>
              <a:rPr lang="en-US" sz="2000" dirty="0" err="1" smtClean="0">
                <a:solidFill>
                  <a:srgbClr val="000000"/>
                </a:solidFill>
                <a:latin typeface="Times New Roman" pitchFamily="18" charset="0"/>
                <a:cs typeface="Times New Roman" pitchFamily="18" charset="0"/>
              </a:rPr>
              <a:t>dacă</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din </a:t>
            </a:r>
            <a:r>
              <a:rPr lang="en-US" sz="2000" dirty="0" smtClean="0">
                <a:solidFill>
                  <a:srgbClr val="000000"/>
                </a:solidFill>
                <a:latin typeface="Times New Roman" pitchFamily="18" charset="0"/>
                <a:cs typeface="Times New Roman" pitchFamily="18" charset="0"/>
              </a:rPr>
              <a:t>schema</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amplificatorului</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se </a:t>
            </a:r>
            <a:r>
              <a:rPr lang="en-US" sz="2000" dirty="0" err="1">
                <a:solidFill>
                  <a:srgbClr val="000000"/>
                </a:solidFill>
                <a:latin typeface="Times New Roman" pitchFamily="18" charset="0"/>
                <a:cs typeface="Times New Roman" pitchFamily="18" charset="0"/>
              </a:rPr>
              <a:t>elimină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condensatorul</a:t>
            </a:r>
            <a:r>
              <a:rPr lang="en-US" sz="2000" dirty="0">
                <a:solidFill>
                  <a:srgbClr val="000000"/>
                </a:solidFill>
                <a:latin typeface="Times New Roman" pitchFamily="18" charset="0"/>
                <a:cs typeface="Times New Roman" pitchFamily="18" charset="0"/>
              </a:rPr>
              <a:t> </a:t>
            </a:r>
            <a:r>
              <a:rPr lang="en-US" sz="2000" i="1" dirty="0" smtClean="0">
                <a:solidFill>
                  <a:srgbClr val="000000"/>
                </a:solidFill>
                <a:latin typeface="Times New Roman" pitchFamily="18" charset="0"/>
                <a:cs typeface="Times New Roman" pitchFamily="18" charset="0"/>
              </a:rPr>
              <a:t>CE</a:t>
            </a:r>
            <a:r>
              <a:rPr lang="en-US" sz="2000" dirty="0" smtClean="0">
                <a:solidFill>
                  <a:srgbClr val="000000"/>
                </a:solidFill>
                <a:latin typeface="Times New Roman" pitchFamily="18" charset="0"/>
                <a:cs typeface="Times New Roman" pitchFamily="18" charset="0"/>
              </a:rPr>
              <a:t>, </a:t>
            </a:r>
          </a:p>
          <a:p>
            <a:pPr marL="342900" indent="-342900">
              <a:buFont typeface="Arial" panose="020B0604020202020204" pitchFamily="34" charset="0"/>
              <a:buChar char="•"/>
            </a:pPr>
            <a:r>
              <a:rPr lang="en-US" sz="2000" dirty="0" err="1" smtClean="0">
                <a:solidFill>
                  <a:srgbClr val="000000"/>
                </a:solidFill>
                <a:latin typeface="Times New Roman" pitchFamily="18" charset="0"/>
                <a:cs typeface="Times New Roman" pitchFamily="18" charset="0"/>
              </a:rPr>
              <a:t>curentul</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variabil</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emitor</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va</a:t>
            </a:r>
            <a:r>
              <a:rPr lang="en-US" sz="2000" dirty="0">
                <a:solidFill>
                  <a:srgbClr val="000000"/>
                </a:solidFill>
                <a:latin typeface="Times New Roman" pitchFamily="18" charset="0"/>
                <a:cs typeface="Times New Roman" pitchFamily="18" charset="0"/>
              </a:rPr>
              <a:t> fi </a:t>
            </a:r>
            <a:r>
              <a:rPr lang="en-US" sz="2000" dirty="0" err="1">
                <a:solidFill>
                  <a:srgbClr val="000000"/>
                </a:solidFill>
                <a:latin typeface="Times New Roman" pitchFamily="18" charset="0"/>
                <a:cs typeface="Times New Roman" pitchFamily="18" charset="0"/>
              </a:rPr>
              <a:t>obligat</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să</a:t>
            </a:r>
            <a:r>
              <a:rPr lang="en-US" sz="2000" dirty="0">
                <a:solidFill>
                  <a:srgbClr val="000000"/>
                </a:solidFill>
                <a:latin typeface="Times New Roman" pitchFamily="18" charset="0"/>
                <a:cs typeface="Times New Roman" pitchFamily="18" charset="0"/>
              </a:rPr>
              <a:t> se </a:t>
            </a:r>
            <a:r>
              <a:rPr lang="en-US" sz="2000" dirty="0" err="1">
                <a:solidFill>
                  <a:srgbClr val="000000"/>
                </a:solidFill>
                <a:latin typeface="Times New Roman" pitchFamily="18" charset="0"/>
                <a:cs typeface="Times New Roman" pitchFamily="18" charset="0"/>
              </a:rPr>
              <a:t>scurgă</a:t>
            </a:r>
            <a:r>
              <a:rPr lang="en-US" sz="2000" dirty="0">
                <a:solidFill>
                  <a:srgbClr val="000000"/>
                </a:solidFill>
                <a:latin typeface="Times New Roman" pitchFamily="18" charset="0"/>
                <a:cs typeface="Times New Roman" pitchFamily="18" charset="0"/>
              </a:rPr>
              <a:t> la </a:t>
            </a:r>
            <a:r>
              <a:rPr lang="en-US" sz="2000" dirty="0" err="1">
                <a:solidFill>
                  <a:srgbClr val="000000"/>
                </a:solidFill>
                <a:latin typeface="Times New Roman" pitchFamily="18" charset="0"/>
                <a:cs typeface="Times New Roman" pitchFamily="18" charset="0"/>
              </a:rPr>
              <a:t>masă</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prin</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rezistenţa</a:t>
            </a:r>
            <a:r>
              <a:rPr lang="en-US" sz="2000" dirty="0" smtClean="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RE</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pPr marL="342900" indent="-342900">
              <a:buFont typeface="Arial" panose="020B0604020202020204" pitchFamily="34" charset="0"/>
              <a:buChar char="•"/>
            </a:pPr>
            <a:r>
              <a:rPr lang="en-US" sz="2000" dirty="0" smtClean="0">
                <a:solidFill>
                  <a:srgbClr val="000000"/>
                </a:solidFill>
                <a:latin typeface="Times New Roman" pitchFamily="18" charset="0"/>
                <a:cs typeface="Times New Roman" pitchFamily="18" charset="0"/>
              </a:rPr>
              <a:t>o </a:t>
            </a:r>
            <a:r>
              <a:rPr lang="en-US" sz="2000" dirty="0">
                <a:solidFill>
                  <a:srgbClr val="000000"/>
                </a:solidFill>
                <a:latin typeface="Times New Roman" pitchFamily="18" charset="0"/>
                <a:cs typeface="Times New Roman" pitchFamily="18" charset="0"/>
              </a:rPr>
              <a:t>parte din </a:t>
            </a:r>
            <a:r>
              <a:rPr lang="en-US" sz="2000" dirty="0" err="1">
                <a:solidFill>
                  <a:srgbClr val="000000"/>
                </a:solidFill>
                <a:latin typeface="Times New Roman" pitchFamily="18" charset="0"/>
                <a:cs typeface="Times New Roman" pitchFamily="18" charset="0"/>
              </a:rPr>
              <a:t>energia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semnalului</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ieşire</a:t>
            </a:r>
            <a:r>
              <a:rPr lang="en-US" sz="2000" dirty="0">
                <a:solidFill>
                  <a:srgbClr val="000000"/>
                </a:solidFill>
                <a:latin typeface="Times New Roman" pitchFamily="18" charset="0"/>
                <a:cs typeface="Times New Roman" pitchFamily="18" charset="0"/>
              </a:rPr>
              <a:t> se </a:t>
            </a:r>
            <a:r>
              <a:rPr lang="en-US" sz="2000" dirty="0" err="1">
                <a:solidFill>
                  <a:srgbClr val="000000"/>
                </a:solidFill>
                <a:latin typeface="Times New Roman" pitchFamily="18" charset="0"/>
                <a:cs typeface="Times New Roman" pitchFamily="18" charset="0"/>
              </a:rPr>
              <a:t>va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disipa</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pe</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această</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rezistenţă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semnalul</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ieşire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va</a:t>
            </a:r>
            <a:r>
              <a:rPr lang="en-US" sz="2000" dirty="0">
                <a:solidFill>
                  <a:srgbClr val="000000"/>
                </a:solidFill>
                <a:latin typeface="Times New Roman" pitchFamily="18" charset="0"/>
                <a:cs typeface="Times New Roman" pitchFamily="18" charset="0"/>
              </a:rPr>
              <a:t> fi </a:t>
            </a:r>
            <a:r>
              <a:rPr lang="en-US" sz="2000" dirty="0" err="1">
                <a:solidFill>
                  <a:srgbClr val="000000"/>
                </a:solidFill>
                <a:latin typeface="Times New Roman" pitchFamily="18" charset="0"/>
                <a:cs typeface="Times New Roman" pitchFamily="18" charset="0"/>
              </a:rPr>
              <a:t>mai</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mic,</a:t>
            </a:r>
            <a:r>
              <a:rPr lang="en-US" sz="2000" dirty="0">
                <a:solidFill>
                  <a:srgbClr val="000000"/>
                </a:solidFill>
                <a:latin typeface="Times New Roman" pitchFamily="18" charset="0"/>
                <a:cs typeface="Times New Roman" pitchFamily="18" charset="0"/>
              </a:rPr>
              <a:t/>
            </a:r>
            <a:br>
              <a:rPr lang="en-US" sz="2000" dirty="0">
                <a:solidFill>
                  <a:srgbClr val="000000"/>
                </a:solidFill>
                <a:latin typeface="Times New Roman" pitchFamily="18" charset="0"/>
                <a:cs typeface="Times New Roman" pitchFamily="18" charset="0"/>
              </a:rPr>
            </a:br>
            <a:r>
              <a:rPr lang="en-US" sz="2000" dirty="0" err="1" smtClean="0">
                <a:solidFill>
                  <a:srgbClr val="000000"/>
                </a:solidFill>
                <a:latin typeface="Times New Roman" pitchFamily="18" charset="0"/>
                <a:cs typeface="Times New Roman" pitchFamily="18" charset="0"/>
              </a:rPr>
              <a:t>rezistenţa</a:t>
            </a:r>
            <a:r>
              <a:rPr lang="en-US" sz="2000" dirty="0" smtClean="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RE </a:t>
            </a:r>
            <a:r>
              <a:rPr lang="en-US" sz="2000" dirty="0">
                <a:solidFill>
                  <a:srgbClr val="000000"/>
                </a:solidFill>
                <a:latin typeface="Times New Roman" pitchFamily="18" charset="0"/>
                <a:cs typeface="Times New Roman" pitchFamily="18" charset="0"/>
              </a:rPr>
              <a:t>se </a:t>
            </a:r>
            <a:r>
              <a:rPr lang="en-US" sz="2000" dirty="0" err="1">
                <a:solidFill>
                  <a:srgbClr val="000000"/>
                </a:solidFill>
                <a:latin typeface="Times New Roman" pitchFamily="18" charset="0"/>
                <a:cs typeface="Times New Roman" pitchFamily="18" charset="0"/>
              </a:rPr>
              <a:t>află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atât</a:t>
            </a:r>
            <a:r>
              <a:rPr lang="en-US" sz="2000" dirty="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în</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circuitul</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de </a:t>
            </a:r>
            <a:r>
              <a:rPr lang="en-US" sz="2000" dirty="0" err="1">
                <a:solidFill>
                  <a:srgbClr val="000000"/>
                </a:solidFill>
                <a:latin typeface="Times New Roman" pitchFamily="18" charset="0"/>
                <a:cs typeface="Times New Roman" pitchFamily="18" charset="0"/>
              </a:rPr>
              <a:t>intrare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cât</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în</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circuitul</a:t>
            </a:r>
            <a:r>
              <a:rPr lang="en-US" sz="2000" dirty="0">
                <a:solidFill>
                  <a:srgbClr val="000000"/>
                </a:solidFill>
                <a:latin typeface="Times New Roman" pitchFamily="18" charset="0"/>
                <a:cs typeface="Times New Roman" pitchFamily="18" charset="0"/>
              </a:rPr>
              <a:t> de </a:t>
            </a:r>
            <a:r>
              <a:rPr lang="en-US" sz="2000" dirty="0" err="1">
                <a:solidFill>
                  <a:srgbClr val="000000"/>
                </a:solidFill>
                <a:latin typeface="Times New Roman" pitchFamily="18" charset="0"/>
                <a:cs typeface="Times New Roman" pitchFamily="18" charset="0"/>
              </a:rPr>
              <a:t>ieşire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emitor</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comun</a:t>
            </a:r>
            <a:r>
              <a:rPr lang="en-US" sz="2000" dirty="0" smtClean="0">
                <a:solidFill>
                  <a:srgbClr val="000000"/>
                </a:solidFill>
                <a:latin typeface="Times New Roman" pitchFamily="18" charset="0"/>
                <a:cs typeface="Times New Roman" pitchFamily="18" charset="0"/>
              </a:rPr>
              <a:t>).</a:t>
            </a:r>
          </a:p>
          <a:p>
            <a:pPr marL="342900" indent="-342900">
              <a:buFont typeface="Arial" panose="020B0604020202020204" pitchFamily="34" charset="0"/>
              <a:buChar char="•"/>
            </a:pPr>
            <a:r>
              <a:rPr lang="en-US"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tensiunea</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sursei</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de </a:t>
            </a:r>
            <a:r>
              <a:rPr lang="en-US" sz="2000" dirty="0" err="1">
                <a:solidFill>
                  <a:srgbClr val="000000"/>
                </a:solidFill>
                <a:latin typeface="Times New Roman" pitchFamily="18" charset="0"/>
                <a:cs typeface="Times New Roman" pitchFamily="18" charset="0"/>
              </a:rPr>
              <a:t>semnal</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tensiunea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pe</a:t>
            </a:r>
            <a:r>
              <a:rPr lang="en-US" sz="2000" dirty="0">
                <a:solidFill>
                  <a:srgbClr val="000000"/>
                </a:solidFill>
                <a:latin typeface="Times New Roman" pitchFamily="18" charset="0"/>
                <a:cs typeface="Times New Roman" pitchFamily="18" charset="0"/>
              </a:rPr>
              <a:t> </a:t>
            </a:r>
            <a:r>
              <a:rPr lang="en-US" sz="2000" i="1" dirty="0">
                <a:solidFill>
                  <a:srgbClr val="000000"/>
                </a:solidFill>
                <a:latin typeface="Times New Roman" pitchFamily="18" charset="0"/>
                <a:cs typeface="Times New Roman" pitchFamily="18" charset="0"/>
              </a:rPr>
              <a:t>RE </a:t>
            </a:r>
            <a:r>
              <a:rPr lang="en-US" sz="2000" dirty="0" err="1">
                <a:solidFill>
                  <a:srgbClr val="000000"/>
                </a:solidFill>
                <a:latin typeface="Times New Roman" pitchFamily="18" charset="0"/>
                <a:cs typeface="Times New Roman" pitchFamily="18" charset="0"/>
              </a:rPr>
              <a:t>sunt</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în</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antifază</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pPr marL="342900" indent="-342900">
              <a:buFont typeface="Arial" panose="020B0604020202020204" pitchFamily="34" charset="0"/>
              <a:buChar char="•"/>
            </a:pPr>
            <a:r>
              <a:rPr lang="en-US" sz="2000" dirty="0" smtClean="0">
                <a:solidFill>
                  <a:srgbClr val="000000"/>
                </a:solidFill>
                <a:latin typeface="Times New Roman" pitchFamily="18" charset="0"/>
                <a:cs typeface="Times New Roman" pitchFamily="18" charset="0"/>
              </a:rPr>
              <a:t>o </a:t>
            </a:r>
            <a:r>
              <a:rPr lang="en-US" sz="2000" dirty="0">
                <a:solidFill>
                  <a:srgbClr val="000000"/>
                </a:solidFill>
                <a:latin typeface="Times New Roman" pitchFamily="18" charset="0"/>
                <a:cs typeface="Times New Roman" pitchFamily="18" charset="0"/>
              </a:rPr>
              <a:t>parte din </a:t>
            </a:r>
            <a:r>
              <a:rPr lang="en-US" sz="2000" dirty="0" err="1">
                <a:solidFill>
                  <a:srgbClr val="000000"/>
                </a:solidFill>
                <a:latin typeface="Times New Roman" pitchFamily="18" charset="0"/>
                <a:cs typeface="Times New Roman" pitchFamily="18" charset="0"/>
              </a:rPr>
              <a:t>semnalul</a:t>
            </a:r>
            <a:r>
              <a:rPr lang="en-US" sz="2000" dirty="0">
                <a:solidFill>
                  <a:srgbClr val="000000"/>
                </a:solidFill>
                <a:latin typeface="Times New Roman" pitchFamily="18" charset="0"/>
                <a:cs typeface="Times New Roman" pitchFamily="18" charset="0"/>
              </a:rPr>
              <a:t> de la </a:t>
            </a:r>
            <a:r>
              <a:rPr lang="en-US" sz="2000" dirty="0" err="1">
                <a:solidFill>
                  <a:srgbClr val="000000"/>
                </a:solidFill>
                <a:latin typeface="Times New Roman" pitchFamily="18" charset="0"/>
                <a:cs typeface="Times New Roman" pitchFamily="18" charset="0"/>
              </a:rPr>
              <a:t>ieşire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este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readus</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la</a:t>
            </a:r>
            <a:r>
              <a:rPr lang="x-none" sz="2000" dirty="0" smtClean="0">
                <a:solidFill>
                  <a:srgbClr val="000000"/>
                </a:solidFill>
                <a:latin typeface="Times New Roman" pitchFamily="18" charset="0"/>
                <a:cs typeface="Times New Roman" pitchFamily="18" charset="0"/>
              </a:rPr>
              <a:t> </a:t>
            </a:r>
            <a:r>
              <a:rPr lang="en-US" sz="2000" dirty="0" err="1" smtClean="0">
                <a:solidFill>
                  <a:srgbClr val="000000"/>
                </a:solidFill>
                <a:latin typeface="Times New Roman" pitchFamily="18" charset="0"/>
                <a:cs typeface="Times New Roman" pitchFamily="18" charset="0"/>
              </a:rPr>
              <a:t>intrare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în</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antifază</a:t>
            </a:r>
            <a:r>
              <a:rPr lang="en-US" sz="2000" dirty="0">
                <a:solidFill>
                  <a:srgbClr val="000000"/>
                </a:solidFill>
                <a:latin typeface="Times New Roman" pitchFamily="18" charset="0"/>
                <a:cs typeface="Times New Roman" pitchFamily="18" charset="0"/>
              </a:rPr>
              <a:t> cu </a:t>
            </a:r>
            <a:r>
              <a:rPr lang="en-US" sz="2000" dirty="0" err="1">
                <a:solidFill>
                  <a:srgbClr val="000000"/>
                </a:solidFill>
                <a:latin typeface="Times New Roman" pitchFamily="18" charset="0"/>
                <a:cs typeface="Times New Roman" pitchFamily="18" charset="0"/>
              </a:rPr>
              <a:t>semnalul</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sursei</a:t>
            </a:r>
            <a:r>
              <a:rPr lang="en-US" sz="2000" dirty="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a:p>
            <a:pPr marL="342900" indent="-342900">
              <a:buFont typeface="Arial" panose="020B0604020202020204" pitchFamily="34" charset="0"/>
              <a:buChar char="•"/>
            </a:pPr>
            <a:r>
              <a:rPr lang="en-US" sz="2000" dirty="0" err="1" smtClean="0">
                <a:solidFill>
                  <a:srgbClr val="000000"/>
                </a:solidFill>
                <a:latin typeface="Times New Roman" pitchFamily="18" charset="0"/>
                <a:cs typeface="Times New Roman" pitchFamily="18" charset="0"/>
              </a:rPr>
              <a:t>Acest</a:t>
            </a:r>
            <a:r>
              <a:rPr lang="en-US" sz="2000" dirty="0" smtClean="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proces</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poartă</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denumirea</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de</a:t>
            </a:r>
            <a:r>
              <a:rPr lang="x-none" sz="2000" dirty="0" smtClean="0">
                <a:solidFill>
                  <a:srgbClr val="000000"/>
                </a:solidFill>
                <a:latin typeface="Times New Roman" pitchFamily="18" charset="0"/>
                <a:cs typeface="Times New Roman" pitchFamily="18" charset="0"/>
              </a:rPr>
              <a:t> </a:t>
            </a:r>
            <a:r>
              <a:rPr lang="en-US" sz="2000" b="1" dirty="0" err="1" smtClean="0">
                <a:solidFill>
                  <a:srgbClr val="FF0000"/>
                </a:solidFill>
                <a:latin typeface="Times New Roman" pitchFamily="18" charset="0"/>
                <a:cs typeface="Times New Roman" pitchFamily="18" charset="0"/>
              </a:rPr>
              <a:t>reacţie</a:t>
            </a:r>
            <a:r>
              <a:rPr lang="en-US" sz="2000" b="1" dirty="0" smtClean="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negativă</a:t>
            </a:r>
            <a:r>
              <a:rPr lang="en-US" sz="2000" b="1" dirty="0">
                <a:solidFill>
                  <a:srgbClr val="FF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şi</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unul</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dintre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efectele</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ei</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asupra</a:t>
            </a:r>
            <a:r>
              <a:rPr lang="en-US" sz="2000" dirty="0">
                <a:solidFill>
                  <a:srgbClr val="000000"/>
                </a:solidFill>
                <a:latin typeface="Times New Roman" pitchFamily="18" charset="0"/>
                <a:cs typeface="Times New Roman" pitchFamily="18" charset="0"/>
              </a:rPr>
              <a:t> </a:t>
            </a:r>
            <a:r>
              <a:rPr lang="en-US" sz="2000" dirty="0" err="1">
                <a:solidFill>
                  <a:srgbClr val="000000"/>
                </a:solidFill>
                <a:latin typeface="Times New Roman" pitchFamily="18" charset="0"/>
                <a:cs typeface="Times New Roman" pitchFamily="18" charset="0"/>
              </a:rPr>
              <a:t>amplificatorului</a:t>
            </a:r>
            <a:r>
              <a:rPr lang="en-US" sz="2000" dirty="0">
                <a:solidFill>
                  <a:srgbClr val="000000"/>
                </a:solidFill>
                <a:latin typeface="Times New Roman" pitchFamily="18" charset="0"/>
                <a:cs typeface="Times New Roman" pitchFamily="18" charset="0"/>
              </a:rPr>
              <a:t> </a:t>
            </a:r>
            <a:r>
              <a:rPr lang="en-US" sz="2000" b="1" dirty="0" err="1" smtClean="0">
                <a:solidFill>
                  <a:srgbClr val="000000"/>
                </a:solidFill>
                <a:latin typeface="Times New Roman" pitchFamily="18" charset="0"/>
                <a:cs typeface="Times New Roman" pitchFamily="18" charset="0"/>
              </a:rPr>
              <a:t>este</a:t>
            </a:r>
            <a:r>
              <a:rPr lang="x-none" sz="2000" b="1" dirty="0" smtClean="0">
                <a:solidFill>
                  <a:srgbClr val="000000"/>
                </a:solidFill>
                <a:latin typeface="Times New Roman" pitchFamily="18" charset="0"/>
                <a:cs typeface="Times New Roman" pitchFamily="18" charset="0"/>
              </a:rPr>
              <a:t> </a:t>
            </a:r>
            <a:r>
              <a:rPr lang="en-US" sz="2000" b="1" dirty="0" err="1" smtClean="0">
                <a:solidFill>
                  <a:srgbClr val="000000"/>
                </a:solidFill>
                <a:latin typeface="Times New Roman" pitchFamily="18" charset="0"/>
                <a:cs typeface="Times New Roman" pitchFamily="18" charset="0"/>
              </a:rPr>
              <a:t>micşorarea</a:t>
            </a:r>
            <a:r>
              <a:rPr lang="en-US" sz="2000" b="1" dirty="0" smtClean="0">
                <a:solidFill>
                  <a:srgbClr val="000000"/>
                </a:solidFill>
                <a:latin typeface="Times New Roman" pitchFamily="18" charset="0"/>
                <a:cs typeface="Times New Roman" pitchFamily="18" charset="0"/>
              </a:rPr>
              <a:t> </a:t>
            </a:r>
            <a:r>
              <a:rPr lang="en-US" sz="2000" b="1" dirty="0" err="1">
                <a:solidFill>
                  <a:srgbClr val="000000"/>
                </a:solidFill>
                <a:latin typeface="Times New Roman" pitchFamily="18" charset="0"/>
                <a:cs typeface="Times New Roman" pitchFamily="18" charset="0"/>
              </a:rPr>
              <a:t>factorului</a:t>
            </a:r>
            <a:r>
              <a:rPr lang="en-US" sz="2000" b="1" dirty="0">
                <a:solidFill>
                  <a:srgbClr val="000000"/>
                </a:solidFill>
                <a:latin typeface="Times New Roman" pitchFamily="18" charset="0"/>
                <a:cs typeface="Times New Roman" pitchFamily="18" charset="0"/>
              </a:rPr>
              <a:t> de </a:t>
            </a:r>
            <a:r>
              <a:rPr lang="en-US" sz="2000" b="1" dirty="0" err="1">
                <a:solidFill>
                  <a:srgbClr val="000000"/>
                </a:solidFill>
                <a:latin typeface="Times New Roman" pitchFamily="18" charset="0"/>
                <a:cs typeface="Times New Roman" pitchFamily="18" charset="0"/>
              </a:rPr>
              <a:t>amplificare</a:t>
            </a:r>
            <a:r>
              <a:rPr lang="en-US" sz="2000" b="1" dirty="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al </a:t>
            </a:r>
            <a:r>
              <a:rPr lang="en-US" sz="2000" dirty="0" err="1">
                <a:solidFill>
                  <a:srgbClr val="000000"/>
                </a:solidFill>
                <a:latin typeface="Times New Roman" pitchFamily="18" charset="0"/>
                <a:cs typeface="Times New Roman" pitchFamily="18" charset="0"/>
              </a:rPr>
              <a:t>acestuia</a:t>
            </a:r>
            <a:r>
              <a:rPr lang="en-US" sz="2000" dirty="0" smtClean="0">
                <a:solidFill>
                  <a:srgbClr val="000000"/>
                </a:solidFill>
                <a:latin typeface="Times New Roman" pitchFamily="18" charset="0"/>
                <a:cs typeface="Times New Roman" pitchFamily="18" charset="0"/>
              </a:rPr>
              <a:t>.</a:t>
            </a:r>
            <a:r>
              <a:rPr lang="x-none" sz="2000" dirty="0" smtClean="0">
                <a:solidFill>
                  <a:srgbClr val="000000"/>
                </a:solidFill>
                <a:latin typeface="Times New Roman" pitchFamily="18" charset="0"/>
                <a:cs typeface="Times New Roman" pitchFamily="18" charset="0"/>
              </a:rPr>
              <a:t> </a:t>
            </a:r>
            <a:endParaRPr lang="en-US" sz="2000" dirty="0" smtClean="0">
              <a:solidFill>
                <a:srgbClr val="000000"/>
              </a:solidFill>
              <a:latin typeface="Times New Roman" pitchFamily="18" charset="0"/>
              <a:cs typeface="Times New Roman" pitchFamily="18" charset="0"/>
            </a:endParaRPr>
          </a:p>
        </p:txBody>
      </p:sp>
      <p:pic>
        <p:nvPicPr>
          <p:cNvPr id="5" name="Picture 2"/>
          <p:cNvPicPr>
            <a:picLocks noGrp="1" noChangeAspect="1" noChangeArrowheads="1"/>
          </p:cNvPicPr>
          <p:nvPr>
            <p:ph idx="1"/>
          </p:nvPr>
        </p:nvPicPr>
        <p:blipFill>
          <a:blip r:embed="rId2"/>
          <a:srcRect/>
          <a:stretch>
            <a:fillRect/>
          </a:stretch>
        </p:blipFill>
        <p:spPr bwMode="auto">
          <a:xfrm>
            <a:off x="2709206" y="3349380"/>
            <a:ext cx="5648258" cy="3445243"/>
          </a:xfrm>
          <a:prstGeom prst="rect">
            <a:avLst/>
          </a:prstGeom>
          <a:noFill/>
          <a:ln w="9525">
            <a:noFill/>
            <a:miter lim="800000"/>
            <a:headEnd/>
            <a:tailEnd/>
          </a:ln>
          <a:effectLst/>
        </p:spPr>
      </p:pic>
    </p:spTree>
    <p:extLst>
      <p:ext uri="{BB962C8B-B14F-4D97-AF65-F5344CB8AC3E}">
        <p14:creationId xmlns:p14="http://schemas.microsoft.com/office/powerpoint/2010/main" val="16341062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71187"/>
            <a:ext cx="12192000" cy="646331"/>
          </a:xfrm>
          <a:prstGeom prst="rect">
            <a:avLst/>
          </a:prstGeom>
        </p:spPr>
        <p:txBody>
          <a:bodyPr wrap="square">
            <a:spAutoFit/>
          </a:bodyPr>
          <a:lstStyle/>
          <a:p>
            <a:r>
              <a:rPr lang="en-US" dirty="0" err="1">
                <a:solidFill>
                  <a:srgbClr val="000000"/>
                </a:solidFill>
                <a:latin typeface="Times New Roman" pitchFamily="18" charset="0"/>
                <a:cs typeface="Times New Roman" pitchFamily="18" charset="0"/>
              </a:rPr>
              <a:t>Pentru</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deducerea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mai</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uşoară</a:t>
            </a:r>
            <a:r>
              <a:rPr lang="en-US" dirty="0">
                <a:solidFill>
                  <a:srgbClr val="000000"/>
                </a:solidFill>
                <a:latin typeface="Times New Roman" pitchFamily="18" charset="0"/>
                <a:cs typeface="Times New Roman" pitchFamily="18" charset="0"/>
              </a:rPr>
              <a:t> a </a:t>
            </a:r>
            <a:r>
              <a:rPr lang="en-US" dirty="0" err="1">
                <a:solidFill>
                  <a:srgbClr val="000000"/>
                </a:solidFill>
                <a:latin typeface="Times New Roman" pitchFamily="18" charset="0"/>
                <a:cs typeface="Times New Roman" pitchFamily="18" charset="0"/>
              </a:rPr>
              <a:t>expresiei</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factorului</a:t>
            </a:r>
            <a:r>
              <a:rPr lang="en-US" dirty="0">
                <a:solidFill>
                  <a:srgbClr val="000000"/>
                </a:solidFill>
                <a:latin typeface="Times New Roman" pitchFamily="18" charset="0"/>
                <a:cs typeface="Times New Roman" pitchFamily="18" charset="0"/>
              </a:rPr>
              <a:t> de </a:t>
            </a:r>
            <a:r>
              <a:rPr lang="en-US" dirty="0" err="1" smtClean="0">
                <a:solidFill>
                  <a:srgbClr val="000000"/>
                </a:solidFill>
                <a:latin typeface="Times New Roman" pitchFamily="18" charset="0"/>
                <a:cs typeface="Times New Roman" pitchFamily="18" charset="0"/>
              </a:rPr>
              <a:t>amplificare</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această</a:t>
            </a:r>
            <a:r>
              <a:rPr lang="en-US" dirty="0" smtClean="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schemă</a:t>
            </a:r>
            <a:r>
              <a:rPr lang="en-US" dirty="0">
                <a:solidFill>
                  <a:srgbClr val="000000"/>
                </a:solidFill>
                <a:latin typeface="Times New Roman" pitchFamily="18" charset="0"/>
                <a:cs typeface="Times New Roman" pitchFamily="18" charset="0"/>
              </a:rPr>
              <a:t> se </a:t>
            </a:r>
            <a:r>
              <a:rPr lang="en-US" dirty="0" err="1">
                <a:solidFill>
                  <a:srgbClr val="000000"/>
                </a:solidFill>
                <a:latin typeface="Times New Roman" pitchFamily="18" charset="0"/>
                <a:cs typeface="Times New Roman" pitchFamily="18" charset="0"/>
              </a:rPr>
              <a:t>poate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modifica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prin</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transformarea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sursei</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curent</a:t>
            </a:r>
            <a:r>
              <a:rPr lang="en-US" dirty="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într</a:t>
            </a:r>
            <a:r>
              <a:rPr lang="en-US" dirty="0" smtClean="0">
                <a:solidFill>
                  <a:srgbClr val="000000"/>
                </a:solidFill>
                <a:latin typeface="Times New Roman" pitchFamily="18" charset="0"/>
                <a:cs typeface="Times New Roman" pitchFamily="18" charset="0"/>
              </a:rPr>
              <a:t>-o</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sursă</a:t>
            </a:r>
            <a:r>
              <a:rPr lang="en-US" dirty="0" smtClean="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echivalentă</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tensiune</a:t>
            </a:r>
            <a:r>
              <a:rPr lang="en-US" dirty="0">
                <a:latin typeface="Times New Roman" pitchFamily="18" charset="0"/>
                <a:cs typeface="Times New Roman" pitchFamily="18" charset="0"/>
              </a:rPr>
              <a:t> </a:t>
            </a:r>
          </a:p>
        </p:txBody>
      </p:sp>
      <p:pic>
        <p:nvPicPr>
          <p:cNvPr id="5" name="Picture 2"/>
          <p:cNvPicPr>
            <a:picLocks noGrp="1" noChangeAspect="1" noChangeArrowheads="1"/>
          </p:cNvPicPr>
          <p:nvPr>
            <p:ph idx="1"/>
          </p:nvPr>
        </p:nvPicPr>
        <p:blipFill>
          <a:blip r:embed="rId2"/>
          <a:srcRect/>
          <a:stretch>
            <a:fillRect/>
          </a:stretch>
        </p:blipFill>
        <p:spPr bwMode="auto">
          <a:xfrm>
            <a:off x="1643418" y="1341592"/>
            <a:ext cx="8072494" cy="4826260"/>
          </a:xfrm>
          <a:prstGeom prst="rect">
            <a:avLst/>
          </a:prstGeom>
          <a:noFill/>
          <a:ln w="9525">
            <a:noFill/>
            <a:miter lim="800000"/>
            <a:headEnd/>
            <a:tailEnd/>
          </a:ln>
          <a:effectLst/>
        </p:spPr>
      </p:pic>
    </p:spTree>
    <p:extLst>
      <p:ext uri="{BB962C8B-B14F-4D97-AF65-F5344CB8AC3E}">
        <p14:creationId xmlns:p14="http://schemas.microsoft.com/office/powerpoint/2010/main" val="37113423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 y="0"/>
            <a:ext cx="12068269" cy="923330"/>
          </a:xfrm>
          <a:prstGeom prst="rect">
            <a:avLst/>
          </a:prstGeom>
        </p:spPr>
        <p:txBody>
          <a:bodyPr wrap="square">
            <a:spAutoFit/>
          </a:bodyPr>
          <a:lstStyle/>
          <a:p>
            <a:r>
              <a:rPr lang="en-US" dirty="0">
                <a:solidFill>
                  <a:srgbClr val="000000"/>
                </a:solidFill>
                <a:latin typeface="Times New Roman" pitchFamily="18" charset="0"/>
                <a:cs typeface="Times New Roman" pitchFamily="18" charset="0"/>
              </a:rPr>
              <a:t>La </a:t>
            </a:r>
            <a:r>
              <a:rPr lang="en-US" dirty="0" err="1">
                <a:solidFill>
                  <a:srgbClr val="000000"/>
                </a:solidFill>
                <a:latin typeface="Times New Roman" pitchFamily="18" charset="0"/>
                <a:cs typeface="Times New Roman" pitchFamily="18" charset="0"/>
              </a:rPr>
              <a:t>curentul</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prin</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rezistenţa</a:t>
            </a:r>
            <a:r>
              <a:rPr lang="en-US" dirty="0">
                <a:solidFill>
                  <a:srgbClr val="000000"/>
                </a:solidFill>
                <a:latin typeface="Times New Roman" pitchFamily="18" charset="0"/>
                <a:cs typeface="Times New Roman" pitchFamily="18" charset="0"/>
              </a:rPr>
              <a:t> </a:t>
            </a:r>
            <a:r>
              <a:rPr lang="en-US" i="1" dirty="0">
                <a:solidFill>
                  <a:srgbClr val="000000"/>
                </a:solidFill>
                <a:latin typeface="Times New Roman" pitchFamily="18" charset="0"/>
                <a:cs typeface="Times New Roman" pitchFamily="18" charset="0"/>
              </a:rPr>
              <a:t>R</a:t>
            </a:r>
            <a:r>
              <a:rPr lang="en-US" sz="1050" i="1" dirty="0">
                <a:solidFill>
                  <a:srgbClr val="000000"/>
                </a:solidFill>
                <a:latin typeface="Times New Roman" pitchFamily="18" charset="0"/>
                <a:cs typeface="Times New Roman" pitchFamily="18" charset="0"/>
              </a:rPr>
              <a:t>E </a:t>
            </a:r>
            <a:r>
              <a:rPr lang="en-US" dirty="0" err="1">
                <a:solidFill>
                  <a:srgbClr val="000000"/>
                </a:solidFill>
                <a:latin typeface="Times New Roman" pitchFamily="18" charset="0"/>
                <a:cs typeface="Times New Roman" pitchFamily="18" charset="0"/>
              </a:rPr>
              <a:t>contribuie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atât</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curentul</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bază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cât</a:t>
            </a:r>
            <a:r>
              <a:rPr lang="en-US" dirty="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şi</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cel</a:t>
            </a:r>
            <a:r>
              <a:rPr lang="en-US" dirty="0" smtClean="0">
                <a:solidFill>
                  <a:srgbClr val="000000"/>
                </a:solidFill>
                <a:latin typeface="Times New Roman" pitchFamily="18" charset="0"/>
                <a:cs typeface="Times New Roman" pitchFamily="18" charset="0"/>
              </a:rPr>
              <a:t> </a:t>
            </a:r>
            <a:r>
              <a:rPr lang="en-US" dirty="0">
                <a:solidFill>
                  <a:srgbClr val="000000"/>
                </a:solidFill>
                <a:latin typeface="Times New Roman" pitchFamily="18" charset="0"/>
                <a:cs typeface="Times New Roman" pitchFamily="18" charset="0"/>
              </a:rPr>
              <a:t>de </a:t>
            </a:r>
            <a:r>
              <a:rPr lang="en-US" dirty="0" err="1">
                <a:solidFill>
                  <a:srgbClr val="000000"/>
                </a:solidFill>
                <a:latin typeface="Times New Roman" pitchFamily="18" charset="0"/>
                <a:cs typeface="Times New Roman" pitchFamily="18" charset="0"/>
              </a:rPr>
              <a:t>colector</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dar</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având</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în</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vedere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factorul</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amplificare</a:t>
            </a:r>
            <a:r>
              <a:rPr lang="en-US" dirty="0">
                <a:solidFill>
                  <a:srgbClr val="000000"/>
                </a:solidFill>
                <a:latin typeface="Times New Roman" pitchFamily="18" charset="0"/>
                <a:cs typeface="Times New Roman" pitchFamily="18" charset="0"/>
              </a:rPr>
              <a:t> mare </a:t>
            </a:r>
            <a:r>
              <a:rPr lang="en-US" dirty="0" smtClean="0">
                <a:solidFill>
                  <a:srgbClr val="000000"/>
                </a:solidFill>
                <a:latin typeface="Times New Roman" pitchFamily="18" charset="0"/>
                <a:cs typeface="Times New Roman" pitchFamily="18" charset="0"/>
              </a:rPr>
              <a:t>al</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tranzistorului</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în</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primă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aproximaţie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contribuţia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curentului</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bază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poate</a:t>
            </a:r>
            <a:r>
              <a:rPr lang="en-US" dirty="0">
                <a:solidFill>
                  <a:srgbClr val="000000"/>
                </a:solidFill>
                <a:latin typeface="Times New Roman" pitchFamily="18" charset="0"/>
                <a:cs typeface="Times New Roman" pitchFamily="18" charset="0"/>
              </a:rPr>
              <a:t> </a:t>
            </a:r>
            <a:r>
              <a:rPr lang="en-US" dirty="0" smtClean="0">
                <a:solidFill>
                  <a:srgbClr val="000000"/>
                </a:solidFill>
                <a:latin typeface="Times New Roman" pitchFamily="18" charset="0"/>
                <a:cs typeface="Times New Roman" pitchFamily="18" charset="0"/>
              </a:rPr>
              <a:t>fi</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neglijată</a:t>
            </a:r>
            <a:r>
              <a:rPr lang="en-US" dirty="0">
                <a:solidFill>
                  <a:srgbClr val="000000"/>
                </a:solidFill>
                <a:latin typeface="Times New Roman" pitchFamily="18" charset="0"/>
                <a:cs typeface="Times New Roman" pitchFamily="18" charset="0"/>
              </a:rPr>
              <a:t>. Cu </a:t>
            </a:r>
            <a:r>
              <a:rPr lang="en-US" dirty="0" err="1">
                <a:solidFill>
                  <a:srgbClr val="000000"/>
                </a:solidFill>
                <a:latin typeface="Times New Roman" pitchFamily="18" charset="0"/>
                <a:cs typeface="Times New Roman" pitchFamily="18" charset="0"/>
              </a:rPr>
              <a:t>aceste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precizări</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după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rezolvarea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sistemului</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ecuaţii</a:t>
            </a:r>
            <a:r>
              <a:rPr lang="en-US" dirty="0">
                <a:solidFill>
                  <a:srgbClr val="000000"/>
                </a:solidFill>
                <a:latin typeface="Times New Roman" pitchFamily="18" charset="0"/>
                <a:cs typeface="Times New Roman" pitchFamily="18" charset="0"/>
              </a:rPr>
              <a:t>:</a:t>
            </a:r>
            <a:r>
              <a:rPr lang="en-US" dirty="0">
                <a:latin typeface="Times New Roman" pitchFamily="18" charset="0"/>
                <a:cs typeface="Times New Roman" pitchFamily="18" charset="0"/>
              </a:rPr>
              <a:t> </a:t>
            </a:r>
          </a:p>
        </p:txBody>
      </p:sp>
      <p:pic>
        <p:nvPicPr>
          <p:cNvPr id="5" name="Picture 2"/>
          <p:cNvPicPr>
            <a:picLocks noChangeAspect="1" noChangeArrowheads="1"/>
          </p:cNvPicPr>
          <p:nvPr/>
        </p:nvPicPr>
        <p:blipFill>
          <a:blip r:embed="rId2"/>
          <a:srcRect/>
          <a:stretch>
            <a:fillRect/>
          </a:stretch>
        </p:blipFill>
        <p:spPr bwMode="auto">
          <a:xfrm>
            <a:off x="1421508" y="923330"/>
            <a:ext cx="3517131" cy="500066"/>
          </a:xfrm>
          <a:prstGeom prst="rect">
            <a:avLst/>
          </a:prstGeom>
          <a:noFill/>
          <a:ln w="9525">
            <a:noFill/>
            <a:miter lim="800000"/>
            <a:headEnd/>
            <a:tailEnd/>
          </a:ln>
          <a:effectLst/>
          <a:scene3d>
            <a:camera prst="orthographicFront"/>
            <a:lightRig rig="threePt" dir="t"/>
          </a:scene3d>
          <a:sp3d contourW="6350"/>
        </p:spPr>
      </p:pic>
      <p:pic>
        <p:nvPicPr>
          <p:cNvPr id="6" name="Picture 3"/>
          <p:cNvPicPr>
            <a:picLocks noChangeAspect="1" noChangeArrowheads="1"/>
          </p:cNvPicPr>
          <p:nvPr/>
        </p:nvPicPr>
        <p:blipFill>
          <a:blip r:embed="rId3"/>
          <a:srcRect/>
          <a:stretch>
            <a:fillRect/>
          </a:stretch>
        </p:blipFill>
        <p:spPr bwMode="auto">
          <a:xfrm>
            <a:off x="1421508" y="1560908"/>
            <a:ext cx="3786214" cy="785818"/>
          </a:xfrm>
          <a:prstGeom prst="rect">
            <a:avLst/>
          </a:prstGeom>
          <a:noFill/>
          <a:ln w="9525">
            <a:noFill/>
            <a:miter lim="800000"/>
            <a:headEnd/>
            <a:tailEnd/>
          </a:ln>
          <a:effectLst/>
          <a:scene3d>
            <a:camera prst="orthographicFront"/>
            <a:lightRig rig="threePt" dir="t"/>
          </a:scene3d>
          <a:sp3d contourW="6350"/>
        </p:spPr>
      </p:pic>
      <p:pic>
        <p:nvPicPr>
          <p:cNvPr id="7" name="Picture 4"/>
          <p:cNvPicPr>
            <a:picLocks noChangeAspect="1" noChangeArrowheads="1"/>
          </p:cNvPicPr>
          <p:nvPr/>
        </p:nvPicPr>
        <p:blipFill>
          <a:blip r:embed="rId4"/>
          <a:srcRect/>
          <a:stretch>
            <a:fillRect/>
          </a:stretch>
        </p:blipFill>
        <p:spPr bwMode="auto">
          <a:xfrm>
            <a:off x="1421508" y="2484238"/>
            <a:ext cx="2372762" cy="642942"/>
          </a:xfrm>
          <a:prstGeom prst="rect">
            <a:avLst/>
          </a:prstGeom>
          <a:noFill/>
          <a:ln w="9525">
            <a:noFill/>
            <a:miter lim="800000"/>
            <a:headEnd/>
            <a:tailEnd/>
          </a:ln>
          <a:effectLst/>
          <a:scene3d>
            <a:camera prst="orthographicFront"/>
            <a:lightRig rig="threePt" dir="t"/>
          </a:scene3d>
          <a:sp3d contourW="6350"/>
        </p:spPr>
      </p:pic>
      <p:pic>
        <p:nvPicPr>
          <p:cNvPr id="8" name="Picture 5"/>
          <p:cNvPicPr>
            <a:picLocks noChangeAspect="1" noChangeArrowheads="1"/>
          </p:cNvPicPr>
          <p:nvPr/>
        </p:nvPicPr>
        <p:blipFill>
          <a:blip r:embed="rId5"/>
          <a:srcRect/>
          <a:stretch>
            <a:fillRect/>
          </a:stretch>
        </p:blipFill>
        <p:spPr bwMode="auto">
          <a:xfrm>
            <a:off x="1421508" y="3236503"/>
            <a:ext cx="1957652" cy="785818"/>
          </a:xfrm>
          <a:prstGeom prst="rect">
            <a:avLst/>
          </a:prstGeom>
          <a:noFill/>
          <a:ln w="9525">
            <a:noFill/>
            <a:miter lim="800000"/>
            <a:headEnd/>
            <a:tailEnd/>
          </a:ln>
          <a:effectLst/>
          <a:scene3d>
            <a:camera prst="orthographicFront"/>
            <a:lightRig rig="threePt" dir="t"/>
          </a:scene3d>
          <a:sp3d contourW="6350"/>
        </p:spPr>
      </p:pic>
      <p:sp>
        <p:nvSpPr>
          <p:cNvPr id="9" name="Прямоугольник 8"/>
          <p:cNvSpPr/>
          <p:nvPr/>
        </p:nvSpPr>
        <p:spPr>
          <a:xfrm>
            <a:off x="-1" y="4059958"/>
            <a:ext cx="8139065" cy="369332"/>
          </a:xfrm>
          <a:prstGeom prst="rect">
            <a:avLst/>
          </a:prstGeom>
        </p:spPr>
        <p:txBody>
          <a:bodyPr wrap="square">
            <a:spAutoFit/>
          </a:bodyPr>
          <a:lstStyle/>
          <a:p>
            <a:r>
              <a:rPr lang="en-US" dirty="0" err="1">
                <a:solidFill>
                  <a:srgbClr val="000000"/>
                </a:solidFill>
                <a:latin typeface="Times New Roman" pitchFamily="18" charset="0"/>
                <a:cs typeface="Times New Roman" pitchFamily="18" charset="0"/>
              </a:rPr>
              <a:t>rezultă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următoarea</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expresie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pentru</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factorul</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amplificare</a:t>
            </a:r>
            <a:r>
              <a:rPr lang="en-US" dirty="0">
                <a:solidFill>
                  <a:srgbClr val="000000"/>
                </a:solidFill>
                <a:latin typeface="Times New Roman" pitchFamily="18" charset="0"/>
                <a:cs typeface="Times New Roman" pitchFamily="18" charset="0"/>
              </a:rPr>
              <a:t>:</a:t>
            </a:r>
            <a:r>
              <a:rPr lang="en-US" dirty="0">
                <a:latin typeface="Times New Roman" pitchFamily="18" charset="0"/>
                <a:cs typeface="Times New Roman" pitchFamily="18" charset="0"/>
              </a:rPr>
              <a:t> </a:t>
            </a:r>
          </a:p>
        </p:txBody>
      </p:sp>
      <p:pic>
        <p:nvPicPr>
          <p:cNvPr id="10" name="Picture 6"/>
          <p:cNvPicPr>
            <a:picLocks noChangeAspect="1" noChangeArrowheads="1"/>
          </p:cNvPicPr>
          <p:nvPr/>
        </p:nvPicPr>
        <p:blipFill>
          <a:blip r:embed="rId6"/>
          <a:srcRect/>
          <a:stretch>
            <a:fillRect/>
          </a:stretch>
        </p:blipFill>
        <p:spPr bwMode="auto">
          <a:xfrm>
            <a:off x="241549" y="4538613"/>
            <a:ext cx="4966173" cy="2143140"/>
          </a:xfrm>
          <a:prstGeom prst="rect">
            <a:avLst/>
          </a:prstGeom>
          <a:noFill/>
          <a:ln w="9525">
            <a:noFill/>
            <a:miter lim="800000"/>
            <a:headEnd/>
            <a:tailEnd/>
          </a:ln>
          <a:effectLst/>
          <a:scene3d>
            <a:camera prst="orthographicFront"/>
            <a:lightRig rig="threePt" dir="t"/>
          </a:scene3d>
          <a:sp3d contourW="6350"/>
        </p:spPr>
      </p:pic>
      <p:sp>
        <p:nvSpPr>
          <p:cNvPr id="11" name="Прямоугольник 10"/>
          <p:cNvSpPr/>
          <p:nvPr/>
        </p:nvSpPr>
        <p:spPr>
          <a:xfrm>
            <a:off x="5293258" y="4538613"/>
            <a:ext cx="6775009" cy="646331"/>
          </a:xfrm>
          <a:prstGeom prst="rect">
            <a:avLst/>
          </a:prstGeom>
        </p:spPr>
        <p:txBody>
          <a:bodyPr wrap="square">
            <a:spAutoFit/>
          </a:bodyPr>
          <a:lstStyle/>
          <a:p>
            <a:r>
              <a:rPr lang="en-US" dirty="0" err="1">
                <a:solidFill>
                  <a:srgbClr val="000000"/>
                </a:solidFill>
                <a:latin typeface="Times New Roman" pitchFamily="18" charset="0"/>
                <a:cs typeface="Times New Roman" pitchFamily="18" charset="0"/>
              </a:rPr>
              <a:t>În</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relaţia</a:t>
            </a:r>
            <a:r>
              <a:rPr lang="en-US" dirty="0">
                <a:solidFill>
                  <a:srgbClr val="000000"/>
                </a:solidFill>
                <a:latin typeface="Times New Roman" pitchFamily="18" charset="0"/>
                <a:cs typeface="Times New Roman" pitchFamily="18" charset="0"/>
              </a:rPr>
              <a:t> </a:t>
            </a:r>
            <a:r>
              <a:rPr lang="en-US" dirty="0" smtClean="0">
                <a:solidFill>
                  <a:srgbClr val="000000"/>
                </a:solidFill>
                <a:latin typeface="Times New Roman" pitchFamily="18" charset="0"/>
                <a:cs typeface="Times New Roman" pitchFamily="18" charset="0"/>
              </a:rPr>
              <a:t>data se </a:t>
            </a:r>
            <a:r>
              <a:rPr lang="en-US" dirty="0" err="1">
                <a:solidFill>
                  <a:srgbClr val="000000"/>
                </a:solidFill>
                <a:latin typeface="Times New Roman" pitchFamily="18" charset="0"/>
                <a:cs typeface="Times New Roman" pitchFamily="18" charset="0"/>
              </a:rPr>
              <a:t>vede</a:t>
            </a:r>
            <a:r>
              <a:rPr lang="en-US" dirty="0">
                <a:solidFill>
                  <a:srgbClr val="000000"/>
                </a:solidFill>
                <a:latin typeface="Times New Roman" pitchFamily="18" charset="0"/>
                <a:cs typeface="Times New Roman" pitchFamily="18" charset="0"/>
              </a:rPr>
              <a:t> </a:t>
            </a:r>
            <a:r>
              <a:rPr lang="en-US" dirty="0" smtClean="0">
                <a:solidFill>
                  <a:srgbClr val="000000"/>
                </a:solidFill>
                <a:latin typeface="Times New Roman" pitchFamily="18" charset="0"/>
                <a:cs typeface="Times New Roman" pitchFamily="18" charset="0"/>
              </a:rPr>
              <a:t>ca </a:t>
            </a:r>
            <a:r>
              <a:rPr lang="en-US" dirty="0">
                <a:solidFill>
                  <a:srgbClr val="000000"/>
                </a:solidFill>
                <a:latin typeface="Times New Roman" pitchFamily="18" charset="0"/>
                <a:cs typeface="Times New Roman" pitchFamily="18" charset="0"/>
              </a:rPr>
              <a:t>la </a:t>
            </a:r>
            <a:r>
              <a:rPr lang="en-US" dirty="0" err="1" smtClean="0">
                <a:solidFill>
                  <a:srgbClr val="000000"/>
                </a:solidFill>
                <a:latin typeface="Times New Roman" pitchFamily="18" charset="0"/>
                <a:cs typeface="Times New Roman" pitchFamily="18" charset="0"/>
              </a:rPr>
              <a:t>numărătorul</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ei</a:t>
            </a:r>
            <a:r>
              <a:rPr lang="en-US" dirty="0" smtClean="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apare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factorul</a:t>
            </a:r>
            <a:r>
              <a:rPr lang="en-US" dirty="0">
                <a:solidFill>
                  <a:srgbClr val="000000"/>
                </a:solidFill>
                <a:latin typeface="Times New Roman" pitchFamily="18" charset="0"/>
                <a:cs typeface="Times New Roman" pitchFamily="18" charset="0"/>
              </a:rPr>
              <a:t> de </a:t>
            </a:r>
            <a:r>
              <a:rPr lang="en-US" dirty="0" err="1">
                <a:solidFill>
                  <a:srgbClr val="000000"/>
                </a:solidFill>
                <a:latin typeface="Times New Roman" pitchFamily="18" charset="0"/>
                <a:cs typeface="Times New Roman" pitchFamily="18" charset="0"/>
              </a:rPr>
              <a:t>amplificare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fără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reacţie</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negativă</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iar</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numitorul</a:t>
            </a:r>
            <a:r>
              <a:rPr lang="en-US" dirty="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este</a:t>
            </a:r>
            <a:r>
              <a:rPr lang="x-none"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supraunitar</a:t>
            </a:r>
            <a:r>
              <a:rPr lang="en-US" dirty="0">
                <a:solidFill>
                  <a:srgbClr val="000000"/>
                </a:solidFill>
                <a:latin typeface="Times New Roman" pitchFamily="18" charset="0"/>
                <a:cs typeface="Times New Roman" pitchFamily="18" charset="0"/>
              </a:rPr>
              <a:t>, </a:t>
            </a:r>
            <a:r>
              <a:rPr lang="en-US" dirty="0" err="1">
                <a:solidFill>
                  <a:srgbClr val="000000"/>
                </a:solidFill>
                <a:latin typeface="Times New Roman" pitchFamily="18" charset="0"/>
                <a:cs typeface="Times New Roman" pitchFamily="18" charset="0"/>
              </a:rPr>
              <a:t>deci</a:t>
            </a:r>
            <a:r>
              <a:rPr lang="en-US" dirty="0">
                <a:solidFill>
                  <a:srgbClr val="000000"/>
                </a:solidFill>
                <a:latin typeface="Times New Roman" pitchFamily="18" charset="0"/>
                <a:cs typeface="Times New Roman" pitchFamily="18" charset="0"/>
              </a:rPr>
              <a:t> </a:t>
            </a:r>
            <a:r>
              <a:rPr lang="en-US" i="1" dirty="0" err="1">
                <a:solidFill>
                  <a:srgbClr val="000000"/>
                </a:solidFill>
                <a:latin typeface="Times New Roman" pitchFamily="18" charset="0"/>
                <a:cs typeface="Times New Roman" pitchFamily="18" charset="0"/>
              </a:rPr>
              <a:t>A</a:t>
            </a:r>
            <a:r>
              <a:rPr lang="en-US" sz="1050" i="1" dirty="0" err="1">
                <a:solidFill>
                  <a:srgbClr val="000000"/>
                </a:solidFill>
                <a:latin typeface="Times New Roman" pitchFamily="18" charset="0"/>
                <a:cs typeface="Times New Roman" pitchFamily="18" charset="0"/>
              </a:rPr>
              <a:t>uRN</a:t>
            </a:r>
            <a:r>
              <a:rPr lang="en-US" sz="1050" i="1" dirty="0">
                <a:solidFill>
                  <a:srgbClr val="000000"/>
                </a:solidFill>
                <a:latin typeface="Times New Roman" pitchFamily="18" charset="0"/>
                <a:cs typeface="Times New Roman" pitchFamily="18" charset="0"/>
              </a:rPr>
              <a:t> </a:t>
            </a:r>
            <a:r>
              <a:rPr lang="en-US" dirty="0">
                <a:solidFill>
                  <a:srgbClr val="000000"/>
                </a:solidFill>
                <a:latin typeface="Times New Roman" pitchFamily="18" charset="0"/>
                <a:cs typeface="Times New Roman" pitchFamily="18" charset="0"/>
              </a:rPr>
              <a:t>&lt; </a:t>
            </a:r>
            <a:r>
              <a:rPr lang="en-US" i="1" dirty="0" err="1">
                <a:solidFill>
                  <a:srgbClr val="000000"/>
                </a:solidFill>
                <a:latin typeface="Times New Roman" pitchFamily="18" charset="0"/>
                <a:cs typeface="Times New Roman" pitchFamily="18" charset="0"/>
              </a:rPr>
              <a:t>A</a:t>
            </a:r>
            <a:r>
              <a:rPr lang="en-US" sz="1050" i="1" dirty="0" err="1">
                <a:solidFill>
                  <a:srgbClr val="000000"/>
                </a:solidFill>
                <a:latin typeface="Times New Roman" pitchFamily="18" charset="0"/>
                <a:cs typeface="Times New Roman" pitchFamily="18" charset="0"/>
              </a:rPr>
              <a:t>uo</a:t>
            </a:r>
            <a:r>
              <a:rPr lang="en-US" dirty="0">
                <a:solidFill>
                  <a:srgbClr val="000000"/>
                </a:solidFill>
                <a:latin typeface="Times New Roman" pitchFamily="18" charset="0"/>
                <a:cs typeface="Times New Roman" pitchFamily="18" charset="0"/>
              </a:rPr>
              <a:t>.</a:t>
            </a:r>
            <a:r>
              <a:rPr lang="en-US" dirty="0">
                <a:latin typeface="Times New Roman" pitchFamily="18" charset="0"/>
                <a:cs typeface="Times New Roman" pitchFamily="18" charset="0"/>
              </a:rPr>
              <a:t> </a:t>
            </a:r>
          </a:p>
        </p:txBody>
      </p:sp>
    </p:spTree>
    <p:extLst>
      <p:ext uri="{BB962C8B-B14F-4D97-AF65-F5344CB8AC3E}">
        <p14:creationId xmlns:p14="http://schemas.microsoft.com/office/powerpoint/2010/main" val="20683802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98407" y="129396"/>
            <a:ext cx="11921706" cy="6573329"/>
          </a:xfrm>
        </p:spPr>
        <p:txBody>
          <a:bodyPr/>
          <a:lstStyle/>
          <a:p>
            <a:pPr marL="0" indent="0">
              <a:buNone/>
            </a:pPr>
            <a:r>
              <a:rPr lang="ro-RO" b="1" i="1" dirty="0"/>
              <a:t>Amplificatorul repetor pe emitor (conexiune </a:t>
            </a:r>
            <a:r>
              <a:rPr lang="ro-RO" b="1" i="1" dirty="0" smtClean="0"/>
              <a:t>colector</a:t>
            </a:r>
            <a:r>
              <a:rPr lang="en-US" b="1" i="1" dirty="0" smtClean="0"/>
              <a:t> </a:t>
            </a:r>
            <a:r>
              <a:rPr lang="ro-RO" b="1" i="1" dirty="0" smtClean="0"/>
              <a:t>comun</a:t>
            </a:r>
            <a:r>
              <a:rPr lang="ro-RO" b="1" i="1" dirty="0"/>
              <a:t>)</a:t>
            </a:r>
            <a:r>
              <a:rPr lang="ro-RO" dirty="0"/>
              <a:t> </a:t>
            </a:r>
            <a:br>
              <a:rPr lang="ro-RO" dirty="0"/>
            </a:br>
            <a:endParaRPr lang="ru-RU" dirty="0"/>
          </a:p>
        </p:txBody>
      </p:sp>
      <p:pic>
        <p:nvPicPr>
          <p:cNvPr id="4" name="Рисунок 3"/>
          <p:cNvPicPr>
            <a:picLocks noChangeAspect="1"/>
          </p:cNvPicPr>
          <p:nvPr/>
        </p:nvPicPr>
        <p:blipFill>
          <a:blip r:embed="rId2"/>
          <a:stretch>
            <a:fillRect/>
          </a:stretch>
        </p:blipFill>
        <p:spPr>
          <a:xfrm>
            <a:off x="103517" y="957621"/>
            <a:ext cx="6349042" cy="5475157"/>
          </a:xfrm>
          <a:prstGeom prst="rect">
            <a:avLst/>
          </a:prstGeom>
        </p:spPr>
      </p:pic>
      <p:sp>
        <p:nvSpPr>
          <p:cNvPr id="5" name="Прямоугольник 4"/>
          <p:cNvSpPr/>
          <p:nvPr/>
        </p:nvSpPr>
        <p:spPr>
          <a:xfrm>
            <a:off x="5011947" y="724710"/>
            <a:ext cx="7013276" cy="1600438"/>
          </a:xfrm>
          <a:prstGeom prst="rect">
            <a:avLst/>
          </a:prstGeom>
        </p:spPr>
        <p:txBody>
          <a:bodyPr wrap="square">
            <a:spAutoFit/>
          </a:bodyPr>
          <a:lstStyle/>
          <a:p>
            <a:r>
              <a:rPr lang="ro-RO" sz="2000" dirty="0">
                <a:solidFill>
                  <a:srgbClr val="000000"/>
                </a:solidFill>
                <a:latin typeface="TimesNewRomanPSMT"/>
              </a:rPr>
              <a:t>Faţă de sarcina pe care debitează energie, </a:t>
            </a:r>
            <a:r>
              <a:rPr lang="ro-RO" sz="2000" b="1" dirty="0">
                <a:solidFill>
                  <a:srgbClr val="000000"/>
                </a:solidFill>
                <a:latin typeface="TimesNewRomanPSMT"/>
              </a:rPr>
              <a:t>amplificatorul reprezintă o </a:t>
            </a:r>
            <a:r>
              <a:rPr lang="ro-RO" sz="2000" b="1" dirty="0" smtClean="0">
                <a:solidFill>
                  <a:srgbClr val="000000"/>
                </a:solidFill>
                <a:latin typeface="TimesNewRomanPSMT"/>
              </a:rPr>
              <a:t>sursă</a:t>
            </a:r>
            <a:r>
              <a:rPr lang="en-US" sz="2000" b="1" dirty="0" smtClean="0">
                <a:solidFill>
                  <a:srgbClr val="000000"/>
                </a:solidFill>
                <a:latin typeface="TimesNewRomanPSMT"/>
              </a:rPr>
              <a:t> </a:t>
            </a:r>
            <a:r>
              <a:rPr lang="ro-RO" sz="2000" b="1" dirty="0" smtClean="0">
                <a:solidFill>
                  <a:srgbClr val="000000"/>
                </a:solidFill>
                <a:latin typeface="TimesNewRomanPSMT"/>
              </a:rPr>
              <a:t>de </a:t>
            </a:r>
            <a:r>
              <a:rPr lang="ro-RO" sz="2000" b="1" dirty="0">
                <a:solidFill>
                  <a:srgbClr val="000000"/>
                </a:solidFill>
                <a:latin typeface="TimesNewRomanPSMT"/>
              </a:rPr>
              <a:t>tensiune</a:t>
            </a:r>
            <a:r>
              <a:rPr lang="ro-RO" sz="2000" dirty="0">
                <a:solidFill>
                  <a:srgbClr val="000000"/>
                </a:solidFill>
                <a:latin typeface="TimesNewRomanPSMT"/>
              </a:rPr>
              <a:t>. Pentru ca ea să fie </a:t>
            </a:r>
            <a:r>
              <a:rPr lang="ro-RO" sz="2000" b="1" dirty="0">
                <a:solidFill>
                  <a:srgbClr val="000000"/>
                </a:solidFill>
                <a:latin typeface="TimesNewRomanPSMT"/>
              </a:rPr>
              <a:t>cât mai apropiată de o sursă ideală</a:t>
            </a:r>
            <a:r>
              <a:rPr lang="ro-RO" sz="2000" dirty="0">
                <a:solidFill>
                  <a:srgbClr val="000000"/>
                </a:solidFill>
                <a:latin typeface="TimesNewRomanPSMT"/>
              </a:rPr>
              <a:t> </a:t>
            </a:r>
            <a:r>
              <a:rPr lang="ro-RO" sz="2000" dirty="0" smtClean="0">
                <a:solidFill>
                  <a:srgbClr val="000000"/>
                </a:solidFill>
                <a:latin typeface="TimesNewRomanPSMT"/>
              </a:rPr>
              <a:t>este</a:t>
            </a:r>
            <a:r>
              <a:rPr lang="en-US" sz="2000" dirty="0" smtClean="0">
                <a:solidFill>
                  <a:srgbClr val="000000"/>
                </a:solidFill>
                <a:latin typeface="TimesNewRomanPSMT"/>
              </a:rPr>
              <a:t> </a:t>
            </a:r>
            <a:r>
              <a:rPr lang="ro-RO" sz="2000" dirty="0" smtClean="0">
                <a:solidFill>
                  <a:srgbClr val="000000"/>
                </a:solidFill>
                <a:latin typeface="TimesNewRomanPSMT"/>
              </a:rPr>
              <a:t>necesar </a:t>
            </a:r>
            <a:r>
              <a:rPr lang="ro-RO" sz="2000" dirty="0">
                <a:solidFill>
                  <a:srgbClr val="000000"/>
                </a:solidFill>
                <a:latin typeface="TimesNewRomanPSMT"/>
              </a:rPr>
              <a:t>ca rezistenţa sa de ieşire să fie cât mai mică posibil. </a:t>
            </a:r>
            <a:r>
              <a:rPr lang="ro-RO" dirty="0"/>
              <a:t/>
            </a:r>
            <a:br>
              <a:rPr lang="ro-RO" dirty="0"/>
            </a:br>
            <a:endParaRPr lang="ru-RU" dirty="0"/>
          </a:p>
        </p:txBody>
      </p:sp>
    </p:spTree>
    <p:extLst>
      <p:ext uri="{BB962C8B-B14F-4D97-AF65-F5344CB8AC3E}">
        <p14:creationId xmlns:p14="http://schemas.microsoft.com/office/powerpoint/2010/main" val="1850871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63901" y="155274"/>
            <a:ext cx="11947586" cy="1009292"/>
          </a:xfrm>
        </p:spPr>
        <p:txBody>
          <a:bodyPr>
            <a:noAutofit/>
          </a:bodyPr>
          <a:lstStyle/>
          <a:p>
            <a:pPr marL="0" indent="0">
              <a:buNone/>
            </a:pPr>
            <a:r>
              <a:rPr lang="ro-RO" sz="2400" dirty="0">
                <a:latin typeface="Times New Roman" panose="02020603050405020304" pitchFamily="18" charset="0"/>
                <a:cs typeface="Times New Roman" panose="02020603050405020304" pitchFamily="18" charset="0"/>
              </a:rPr>
              <a:t>Folosind aceleaşi aproximări ca şi în cazurile precedente, </a:t>
            </a:r>
            <a:r>
              <a:rPr lang="ro-RO" sz="2400" dirty="0" smtClean="0">
                <a:latin typeface="Times New Roman" panose="02020603050405020304" pitchFamily="18" charset="0"/>
                <a:cs typeface="Times New Roman" panose="02020603050405020304" pitchFamily="18" charset="0"/>
              </a:rPr>
              <a:t>schema</a:t>
            </a:r>
            <a:r>
              <a:rPr lang="en-US" sz="2400" dirty="0" smtClean="0">
                <a:latin typeface="Times New Roman" panose="02020603050405020304" pitchFamily="18" charset="0"/>
                <a:cs typeface="Times New Roman" panose="02020603050405020304" pitchFamily="18" charset="0"/>
              </a:rPr>
              <a:t> </a:t>
            </a:r>
            <a:r>
              <a:rPr lang="ro-RO" sz="2400" dirty="0" smtClean="0">
                <a:latin typeface="Times New Roman" panose="02020603050405020304" pitchFamily="18" charset="0"/>
                <a:cs typeface="Times New Roman" panose="02020603050405020304" pitchFamily="18" charset="0"/>
              </a:rPr>
              <a:t>echivalentă </a:t>
            </a:r>
            <a:r>
              <a:rPr lang="ro-RO" sz="2400" dirty="0">
                <a:latin typeface="Times New Roman" panose="02020603050405020304" pitchFamily="18" charset="0"/>
                <a:cs typeface="Times New Roman" panose="02020603050405020304" pitchFamily="18" charset="0"/>
              </a:rPr>
              <a:t>a amplificatorului repetor pe emitor </a:t>
            </a:r>
            <a:r>
              <a:rPr lang="ro-RO" sz="2400" dirty="0"/>
              <a:t/>
            </a:r>
            <a:br>
              <a:rPr lang="ro-RO" sz="2400" dirty="0"/>
            </a:br>
            <a:endParaRPr lang="ru-RU" sz="2400" dirty="0"/>
          </a:p>
        </p:txBody>
      </p:sp>
      <p:pic>
        <p:nvPicPr>
          <p:cNvPr id="4" name="Рисунок 3"/>
          <p:cNvPicPr>
            <a:picLocks noChangeAspect="1"/>
          </p:cNvPicPr>
          <p:nvPr/>
        </p:nvPicPr>
        <p:blipFill>
          <a:blip r:embed="rId2"/>
          <a:stretch>
            <a:fillRect/>
          </a:stretch>
        </p:blipFill>
        <p:spPr>
          <a:xfrm>
            <a:off x="336519" y="927159"/>
            <a:ext cx="6141918" cy="4399800"/>
          </a:xfrm>
          <a:prstGeom prst="rect">
            <a:avLst/>
          </a:prstGeom>
        </p:spPr>
      </p:pic>
      <p:sp>
        <p:nvSpPr>
          <p:cNvPr id="5" name="Прямоугольник 4"/>
          <p:cNvSpPr/>
          <p:nvPr/>
        </p:nvSpPr>
        <p:spPr>
          <a:xfrm>
            <a:off x="6651055" y="841400"/>
            <a:ext cx="2354922" cy="461665"/>
          </a:xfrm>
          <a:prstGeom prst="rect">
            <a:avLst/>
          </a:prstGeom>
        </p:spPr>
        <p:txBody>
          <a:bodyPr wrap="square">
            <a:spAutoFit/>
          </a:bodyPr>
          <a:lstStyle/>
          <a:p>
            <a:r>
              <a:rPr lang="ro-RO" sz="2400" dirty="0">
                <a:solidFill>
                  <a:srgbClr val="000000"/>
                </a:solidFill>
                <a:latin typeface="Times New Roman" panose="02020603050405020304" pitchFamily="18" charset="0"/>
                <a:cs typeface="Times New Roman" panose="02020603050405020304" pitchFamily="18" charset="0"/>
              </a:rPr>
              <a:t>Ştiind că</a:t>
            </a:r>
            <a:r>
              <a:rPr lang="ro-RO" sz="2400" dirty="0">
                <a:latin typeface="Times New Roman" panose="02020603050405020304" pitchFamily="18" charset="0"/>
                <a:cs typeface="Times New Roman" panose="02020603050405020304" pitchFamily="18" charset="0"/>
              </a:rPr>
              <a:t> </a:t>
            </a:r>
            <a:endParaRPr lang="ru-RU" sz="2400" dirty="0">
              <a:latin typeface="Times New Roman" panose="02020603050405020304" pitchFamily="18" charset="0"/>
              <a:cs typeface="Times New Roman" panose="02020603050405020304" pitchFamily="18" charset="0"/>
            </a:endParaRPr>
          </a:p>
        </p:txBody>
      </p:sp>
      <p:pic>
        <p:nvPicPr>
          <p:cNvPr id="7" name="Рисунок 6"/>
          <p:cNvPicPr>
            <a:picLocks noChangeAspect="1"/>
          </p:cNvPicPr>
          <p:nvPr/>
        </p:nvPicPr>
        <p:blipFill>
          <a:blip r:embed="rId3"/>
          <a:stretch>
            <a:fillRect/>
          </a:stretch>
        </p:blipFill>
        <p:spPr>
          <a:xfrm>
            <a:off x="8061428" y="841400"/>
            <a:ext cx="2497303" cy="503974"/>
          </a:xfrm>
          <a:prstGeom prst="rect">
            <a:avLst/>
          </a:prstGeom>
        </p:spPr>
      </p:pic>
      <p:sp>
        <p:nvSpPr>
          <p:cNvPr id="8" name="Прямоугольник 7"/>
          <p:cNvSpPr/>
          <p:nvPr/>
        </p:nvSpPr>
        <p:spPr>
          <a:xfrm>
            <a:off x="7102415" y="1345374"/>
            <a:ext cx="4698521" cy="1107996"/>
          </a:xfrm>
          <a:prstGeom prst="rect">
            <a:avLst/>
          </a:prstGeom>
        </p:spPr>
        <p:txBody>
          <a:bodyPr wrap="square">
            <a:spAutoFit/>
          </a:bodyPr>
          <a:lstStyle/>
          <a:p>
            <a:r>
              <a:rPr lang="ro-RO" sz="2400" dirty="0">
                <a:solidFill>
                  <a:srgbClr val="000000"/>
                </a:solidFill>
                <a:latin typeface="Times New Roman" panose="02020603050405020304" pitchFamily="18" charset="0"/>
                <a:cs typeface="Times New Roman" panose="02020603050405020304" pitchFamily="18" charset="0"/>
              </a:rPr>
              <a:t>pe baza schemei pot fi scrise </a:t>
            </a:r>
            <a:r>
              <a:rPr lang="ro-RO" sz="2400" dirty="0" smtClean="0">
                <a:solidFill>
                  <a:srgbClr val="000000"/>
                </a:solidFill>
                <a:latin typeface="Times New Roman" panose="02020603050405020304" pitchFamily="18" charset="0"/>
                <a:cs typeface="Times New Roman" panose="02020603050405020304" pitchFamily="18" charset="0"/>
              </a:rPr>
              <a:t>următoarele</a:t>
            </a:r>
            <a:r>
              <a:rPr lang="en-US" sz="2400" dirty="0" smtClean="0">
                <a:solidFill>
                  <a:srgbClr val="000000"/>
                </a:solidFill>
                <a:latin typeface="Times New Roman" panose="02020603050405020304" pitchFamily="18" charset="0"/>
                <a:cs typeface="Times New Roman" panose="02020603050405020304" pitchFamily="18" charset="0"/>
              </a:rPr>
              <a:t> </a:t>
            </a:r>
            <a:r>
              <a:rPr lang="ro-RO" sz="2400" dirty="0" smtClean="0">
                <a:solidFill>
                  <a:srgbClr val="000000"/>
                </a:solidFill>
                <a:latin typeface="Times New Roman" panose="02020603050405020304" pitchFamily="18" charset="0"/>
                <a:cs typeface="Times New Roman" panose="02020603050405020304" pitchFamily="18" charset="0"/>
              </a:rPr>
              <a:t>ecuaţii</a:t>
            </a:r>
            <a:r>
              <a:rPr lang="ro-RO" sz="2400" dirty="0" smtClean="0">
                <a:latin typeface="Times New Roman" panose="02020603050405020304" pitchFamily="18" charset="0"/>
                <a:cs typeface="Times New Roman" panose="02020603050405020304" pitchFamily="18" charset="0"/>
              </a:rPr>
              <a:t> </a:t>
            </a:r>
            <a:r>
              <a:rPr lang="ro-RO" dirty="0"/>
              <a:t/>
            </a:r>
            <a:br>
              <a:rPr lang="ro-RO" dirty="0"/>
            </a:br>
            <a:endParaRPr lang="ru-RU" dirty="0"/>
          </a:p>
        </p:txBody>
      </p:sp>
      <p:pic>
        <p:nvPicPr>
          <p:cNvPr id="9" name="Рисунок 8"/>
          <p:cNvPicPr>
            <a:picLocks noChangeAspect="1"/>
          </p:cNvPicPr>
          <p:nvPr/>
        </p:nvPicPr>
        <p:blipFill>
          <a:blip r:embed="rId4"/>
          <a:stretch>
            <a:fillRect/>
          </a:stretch>
        </p:blipFill>
        <p:spPr>
          <a:xfrm>
            <a:off x="6691402" y="2286515"/>
            <a:ext cx="4629150" cy="695325"/>
          </a:xfrm>
          <a:prstGeom prst="rect">
            <a:avLst/>
          </a:prstGeom>
        </p:spPr>
      </p:pic>
      <p:pic>
        <p:nvPicPr>
          <p:cNvPr id="10" name="Рисунок 9"/>
          <p:cNvPicPr>
            <a:picLocks noChangeAspect="1"/>
          </p:cNvPicPr>
          <p:nvPr/>
        </p:nvPicPr>
        <p:blipFill>
          <a:blip r:embed="rId5"/>
          <a:stretch>
            <a:fillRect/>
          </a:stretch>
        </p:blipFill>
        <p:spPr>
          <a:xfrm>
            <a:off x="7338564" y="3260440"/>
            <a:ext cx="3467100" cy="704850"/>
          </a:xfrm>
          <a:prstGeom prst="rect">
            <a:avLst/>
          </a:prstGeom>
        </p:spPr>
      </p:pic>
      <p:pic>
        <p:nvPicPr>
          <p:cNvPr id="11" name="Рисунок 10"/>
          <p:cNvPicPr>
            <a:picLocks noChangeAspect="1"/>
          </p:cNvPicPr>
          <p:nvPr/>
        </p:nvPicPr>
        <p:blipFill>
          <a:blip r:embed="rId6"/>
          <a:stretch>
            <a:fillRect/>
          </a:stretch>
        </p:blipFill>
        <p:spPr>
          <a:xfrm>
            <a:off x="8061428" y="4452757"/>
            <a:ext cx="2571750" cy="1247775"/>
          </a:xfrm>
          <a:prstGeom prst="rect">
            <a:avLst/>
          </a:prstGeom>
        </p:spPr>
      </p:pic>
    </p:spTree>
    <p:extLst>
      <p:ext uri="{BB962C8B-B14F-4D97-AF65-F5344CB8AC3E}">
        <p14:creationId xmlns:p14="http://schemas.microsoft.com/office/powerpoint/2010/main" val="1306054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0" y="5371"/>
            <a:ext cx="7203057" cy="3618049"/>
          </a:xfrm>
          <a:prstGeom prst="rect">
            <a:avLst/>
          </a:prstGeom>
        </p:spPr>
      </p:pic>
      <p:sp>
        <p:nvSpPr>
          <p:cNvPr id="5" name="Прямоугольник 4"/>
          <p:cNvSpPr/>
          <p:nvPr/>
        </p:nvSpPr>
        <p:spPr>
          <a:xfrm>
            <a:off x="8077585" y="492030"/>
            <a:ext cx="4822166" cy="1200329"/>
          </a:xfrm>
          <a:prstGeom prst="rect">
            <a:avLst/>
          </a:prstGeom>
        </p:spPr>
        <p:txBody>
          <a:bodyPr wrap="square">
            <a:spAutoFit/>
          </a:bodyPr>
          <a:lstStyle/>
          <a:p>
            <a:r>
              <a:rPr lang="pt-BR" sz="2400" dirty="0">
                <a:solidFill>
                  <a:srgbClr val="000000"/>
                </a:solidFill>
                <a:latin typeface="Times New Roman" panose="02020603050405020304" pitchFamily="18" charset="0"/>
                <a:cs typeface="Times New Roman" panose="02020603050405020304" pitchFamily="18" charset="0"/>
              </a:rPr>
              <a:t>Din ele rezultă expresia finală a factorul de amplificare</a:t>
            </a:r>
            <a:r>
              <a:rPr lang="pt-BR" sz="2400" dirty="0">
                <a:latin typeface="Times New Roman" panose="02020603050405020304" pitchFamily="18" charset="0"/>
                <a:cs typeface="Times New Roman" panose="02020603050405020304" pitchFamily="18" charset="0"/>
              </a:rPr>
              <a:t> </a:t>
            </a:r>
            <a:br>
              <a:rPr lang="pt-BR"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3"/>
          <a:stretch>
            <a:fillRect/>
          </a:stretch>
        </p:blipFill>
        <p:spPr>
          <a:xfrm>
            <a:off x="8559111" y="1397340"/>
            <a:ext cx="3286125" cy="1990725"/>
          </a:xfrm>
          <a:prstGeom prst="rect">
            <a:avLst/>
          </a:prstGeom>
        </p:spPr>
      </p:pic>
      <p:sp>
        <p:nvSpPr>
          <p:cNvPr id="7" name="Прямоугольник 6"/>
          <p:cNvSpPr/>
          <p:nvPr/>
        </p:nvSpPr>
        <p:spPr>
          <a:xfrm>
            <a:off x="7203057" y="3623420"/>
            <a:ext cx="4728105" cy="1247518"/>
          </a:xfrm>
          <a:prstGeom prst="rect">
            <a:avLst/>
          </a:prstGeom>
        </p:spPr>
        <p:txBody>
          <a:bodyPr wrap="square">
            <a:spAutoFit/>
          </a:bodyPr>
          <a:lstStyle/>
          <a:p>
            <a:r>
              <a:rPr lang="ro-RO" sz="2400" dirty="0">
                <a:solidFill>
                  <a:srgbClr val="000000"/>
                </a:solidFill>
                <a:latin typeface="Times New Roman" panose="02020603050405020304" pitchFamily="18" charset="0"/>
                <a:cs typeface="Times New Roman" panose="02020603050405020304" pitchFamily="18" charset="0"/>
              </a:rPr>
              <a:t>factorul de amplificare este aproape unitar: </a:t>
            </a:r>
            <a:r>
              <a:rPr lang="ro-RO" sz="2400" i="1" dirty="0">
                <a:solidFill>
                  <a:srgbClr val="000000"/>
                </a:solidFill>
                <a:latin typeface="Times New Roman" panose="02020603050405020304" pitchFamily="18" charset="0"/>
                <a:cs typeface="Times New Roman" panose="02020603050405020304" pitchFamily="18" charset="0"/>
              </a:rPr>
              <a:t>A</a:t>
            </a:r>
            <a:r>
              <a:rPr lang="ro-RO" sz="1200" i="1" dirty="0">
                <a:solidFill>
                  <a:srgbClr val="000000"/>
                </a:solidFill>
                <a:latin typeface="Times New Roman" panose="02020603050405020304" pitchFamily="18" charset="0"/>
                <a:cs typeface="Times New Roman" panose="02020603050405020304" pitchFamily="18" charset="0"/>
              </a:rPr>
              <a:t>u </a:t>
            </a:r>
            <a:r>
              <a:rPr lang="ro-RO" sz="2400" dirty="0">
                <a:solidFill>
                  <a:srgbClr val="000000"/>
                </a:solidFill>
                <a:latin typeface="Times New Roman" panose="02020603050405020304" pitchFamily="18" charset="0"/>
                <a:cs typeface="Times New Roman" panose="02020603050405020304" pitchFamily="18" charset="0"/>
              </a:rPr>
              <a:t>≅ 1</a:t>
            </a:r>
            <a:r>
              <a:rPr lang="ro-RO" sz="2400" dirty="0">
                <a:latin typeface="Times New Roman" panose="02020603050405020304" pitchFamily="18" charset="0"/>
                <a:cs typeface="Times New Roman" panose="02020603050405020304" pitchFamily="18" charset="0"/>
              </a:rPr>
              <a:t> </a:t>
            </a:r>
            <a:br>
              <a:rPr lang="ro-RO"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553528" y="5319126"/>
            <a:ext cx="11377634" cy="1200329"/>
          </a:xfrm>
          <a:prstGeom prst="rect">
            <a:avLst/>
          </a:prstGeom>
        </p:spPr>
        <p:txBody>
          <a:bodyPr wrap="square">
            <a:spAutoFit/>
          </a:bodyPr>
          <a:lstStyle/>
          <a:p>
            <a:r>
              <a:rPr lang="ro-RO" sz="2400" dirty="0">
                <a:solidFill>
                  <a:srgbClr val="000000"/>
                </a:solidFill>
                <a:latin typeface="Times New Roman" panose="02020603050405020304" pitchFamily="18" charset="0"/>
                <a:cs typeface="Times New Roman" panose="02020603050405020304" pitchFamily="18" charset="0"/>
              </a:rPr>
              <a:t>se poate afirma că semnalul de ieşire reproduce în formă</a:t>
            </a:r>
            <a:r>
              <a:rPr lang="ro-RO" sz="2400" dirty="0" smtClean="0">
                <a:solidFill>
                  <a:srgbClr val="000000"/>
                </a:solidFill>
                <a:latin typeface="Times New Roman" panose="02020603050405020304" pitchFamily="18" charset="0"/>
                <a:cs typeface="Times New Roman" panose="02020603050405020304" pitchFamily="18" charset="0"/>
              </a:rPr>
              <a:t>,</a:t>
            </a:r>
            <a:r>
              <a:rPr lang="en-US" sz="2400" dirty="0" smtClean="0">
                <a:solidFill>
                  <a:srgbClr val="000000"/>
                </a:solidFill>
                <a:latin typeface="Times New Roman" panose="02020603050405020304" pitchFamily="18" charset="0"/>
                <a:cs typeface="Times New Roman" panose="02020603050405020304" pitchFamily="18" charset="0"/>
              </a:rPr>
              <a:t> </a:t>
            </a:r>
            <a:r>
              <a:rPr lang="ro-RO" sz="2400" dirty="0" smtClean="0">
                <a:solidFill>
                  <a:srgbClr val="000000"/>
                </a:solidFill>
                <a:latin typeface="Times New Roman" panose="02020603050405020304" pitchFamily="18" charset="0"/>
                <a:cs typeface="Times New Roman" panose="02020603050405020304" pitchFamily="18" charset="0"/>
              </a:rPr>
              <a:t>amplitudine </a:t>
            </a:r>
            <a:r>
              <a:rPr lang="ro-RO" sz="2400" dirty="0">
                <a:solidFill>
                  <a:srgbClr val="000000"/>
                </a:solidFill>
                <a:latin typeface="Times New Roman" panose="02020603050405020304" pitchFamily="18" charset="0"/>
                <a:cs typeface="Times New Roman" panose="02020603050405020304" pitchFamily="18" charset="0"/>
              </a:rPr>
              <a:t>şi fază semnalul de intrare, amplificatorul comportându-se </a:t>
            </a:r>
            <a:r>
              <a:rPr lang="ro-RO" sz="2400" dirty="0" smtClean="0">
                <a:solidFill>
                  <a:srgbClr val="000000"/>
                </a:solidFill>
                <a:latin typeface="Times New Roman" panose="02020603050405020304" pitchFamily="18" charset="0"/>
                <a:cs typeface="Times New Roman" panose="02020603050405020304" pitchFamily="18" charset="0"/>
              </a:rPr>
              <a:t>la</a:t>
            </a:r>
            <a:r>
              <a:rPr lang="en-US" sz="2400" dirty="0" smtClean="0">
                <a:solidFill>
                  <a:srgbClr val="000000"/>
                </a:solidFill>
                <a:latin typeface="Times New Roman" panose="02020603050405020304" pitchFamily="18" charset="0"/>
                <a:cs typeface="Times New Roman" panose="02020603050405020304" pitchFamily="18" charset="0"/>
              </a:rPr>
              <a:t> </a:t>
            </a:r>
            <a:r>
              <a:rPr lang="ro-RO" sz="2400" dirty="0" smtClean="0">
                <a:solidFill>
                  <a:srgbClr val="000000"/>
                </a:solidFill>
                <a:latin typeface="Times New Roman" panose="02020603050405020304" pitchFamily="18" charset="0"/>
                <a:cs typeface="Times New Roman" panose="02020603050405020304" pitchFamily="18" charset="0"/>
              </a:rPr>
              <a:t>ieşirea </a:t>
            </a:r>
            <a:r>
              <a:rPr lang="ro-RO" sz="2400" dirty="0">
                <a:solidFill>
                  <a:srgbClr val="000000"/>
                </a:solidFill>
                <a:latin typeface="Times New Roman" panose="02020603050405020304" pitchFamily="18" charset="0"/>
                <a:cs typeface="Times New Roman" panose="02020603050405020304" pitchFamily="18" charset="0"/>
              </a:rPr>
              <a:t>sa ca o sursă de tensiune aproape ideală.</a:t>
            </a:r>
            <a:r>
              <a:rPr lang="ro-RO" sz="2400" dirty="0">
                <a:latin typeface="Times New Roman" panose="02020603050405020304" pitchFamily="18" charset="0"/>
                <a:cs typeface="Times New Roman" panose="02020603050405020304" pitchFamily="18" charset="0"/>
              </a:rPr>
              <a:t> </a:t>
            </a:r>
            <a:br>
              <a:rPr lang="ro-RO"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261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8638" y="97706"/>
            <a:ext cx="2534728" cy="756309"/>
          </a:xfrm>
        </p:spPr>
        <p:txBody>
          <a:bodyPr>
            <a:normAutofit/>
          </a:bodyPr>
          <a:lstStyle/>
          <a:p>
            <a:r>
              <a:rPr lang="en-US" sz="3600" b="1" dirty="0" err="1" smtClean="0">
                <a:latin typeface="Times New Roman" panose="02020603050405020304" pitchFamily="18" charset="0"/>
                <a:cs typeface="Times New Roman" panose="02020603050405020304" pitchFamily="18" charset="0"/>
              </a:rPr>
              <a:t>Concluzii</a:t>
            </a:r>
            <a:r>
              <a:rPr lang="en-US" sz="3600" b="1" dirty="0" smtClean="0">
                <a:latin typeface="Times New Roman" panose="02020603050405020304" pitchFamily="18" charset="0"/>
                <a:cs typeface="Times New Roman" panose="02020603050405020304" pitchFamily="18" charset="0"/>
              </a:rPr>
              <a:t>:  </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3516" y="759125"/>
            <a:ext cx="11999343" cy="6021237"/>
          </a:xfrm>
        </p:spPr>
        <p:txBody>
          <a:bodyPr>
            <a:normAutofit fontScale="62500" lnSpcReduction="20000"/>
          </a:bodyPr>
          <a:lstStyle/>
          <a:p>
            <a:pPr marL="0" indent="0">
              <a:buNone/>
            </a:pPr>
            <a:r>
              <a:rPr lang="ro-RO" dirty="0" smtClean="0"/>
              <a:t>se </a:t>
            </a:r>
            <a:r>
              <a:rPr lang="ro-RO" dirty="0"/>
              <a:t>poate de afirmat că amplificatorul cu tranzistor bipolar în conexiune emitor comun are următoarele </a:t>
            </a:r>
            <a:r>
              <a:rPr lang="ro-RO" dirty="0" smtClean="0"/>
              <a:t>avantaje:</a:t>
            </a:r>
          </a:p>
          <a:p>
            <a:r>
              <a:rPr lang="ro-RO" b="1" dirty="0"/>
              <a:t>Câștig de tensiune ridicat:</a:t>
            </a:r>
            <a:r>
              <a:rPr lang="ro-RO" dirty="0"/>
              <a:t> Configurația emitor comun poate oferi un câștig de tensiune considerabil, ceea ce îl face ideal pentru amplificarea semnalelor slabe.</a:t>
            </a:r>
          </a:p>
          <a:p>
            <a:r>
              <a:rPr lang="ro-RO" b="1" dirty="0"/>
              <a:t>Impedanță de intrare moderată:</a:t>
            </a:r>
            <a:r>
              <a:rPr lang="ro-RO" dirty="0"/>
              <a:t> Impedanța de intrare a acestei configurații este suficient de mare pentru a evita încărcarea sursei de semnal, dar nu atât de mare încât să facă dificilă cuplarea.</a:t>
            </a:r>
          </a:p>
          <a:p>
            <a:r>
              <a:rPr lang="ro-RO" b="1" dirty="0"/>
              <a:t>Impedanță de ieșire scăzută:</a:t>
            </a:r>
            <a:r>
              <a:rPr lang="ro-RO" dirty="0"/>
              <a:t> Impedanța de ieșire relativ scăzută permite o bună adaptare la sarcini cu impedanță redusă.</a:t>
            </a:r>
          </a:p>
          <a:p>
            <a:r>
              <a:rPr lang="ro-RO" b="1" dirty="0"/>
              <a:t>Liniaritate bună:</a:t>
            </a:r>
            <a:r>
              <a:rPr lang="ro-RO" dirty="0"/>
              <a:t> În clasa A, configurația emitor comun poate oferi o liniaritate bună, ceea ce înseamnă că distorsiunile armonice sunt reduse.</a:t>
            </a:r>
          </a:p>
          <a:p>
            <a:r>
              <a:rPr lang="ro-RO" b="1" dirty="0"/>
              <a:t>Simplitate:</a:t>
            </a:r>
            <a:r>
              <a:rPr lang="ro-RO" dirty="0"/>
              <a:t> Este o configurație relativ simplă, ușor de înțeles și de implementat.</a:t>
            </a:r>
          </a:p>
          <a:p>
            <a:r>
              <a:rPr lang="ro-RO" b="1" dirty="0"/>
              <a:t>Pe lângă aceste avantaje generale, configurația emitor comun prezintă și anumite particularități care pot fi exploatate în diferite aplicații:</a:t>
            </a:r>
            <a:endParaRPr lang="ro-RO" dirty="0"/>
          </a:p>
          <a:p>
            <a:r>
              <a:rPr lang="ro-RO" b="1" dirty="0"/>
              <a:t>Controlul curentului de colector:</a:t>
            </a:r>
            <a:r>
              <a:rPr lang="ro-RO" dirty="0"/>
              <a:t> Prin variația curentului de bază, se poate controla cu precizie curentul de colector, ceea ce este util în aplicații de reglare a puterii.</a:t>
            </a:r>
          </a:p>
          <a:p>
            <a:r>
              <a:rPr lang="ro-RO" b="1" dirty="0"/>
              <a:t>Posibilitatea de a adăuga feedback:</a:t>
            </a:r>
            <a:r>
              <a:rPr lang="ro-RO" dirty="0"/>
              <a:t> Prin introducerea unei rețele de feedback, se pot îmbunătăți caracteristicile amplificatorului, cum ar fi stabilitatea și banda pasantă.</a:t>
            </a:r>
          </a:p>
          <a:p>
            <a:r>
              <a:rPr lang="ro-RO" b="1" dirty="0"/>
              <a:t>Cu toate acestea, este important să menționăm că configurația emitor comun are și unele dezavantaje:</a:t>
            </a:r>
            <a:endParaRPr lang="ro-RO" dirty="0"/>
          </a:p>
          <a:p>
            <a:r>
              <a:rPr lang="ro-RO" b="1" dirty="0"/>
              <a:t>Dependența de temperatură:</a:t>
            </a:r>
            <a:r>
              <a:rPr lang="ro-RO" dirty="0"/>
              <a:t> Performanțele amplificatorului pot fi influențate de variațiile de temperatură.</a:t>
            </a:r>
          </a:p>
          <a:p>
            <a:r>
              <a:rPr lang="ro-RO" b="1" dirty="0"/>
              <a:t>Eficiență redusă:</a:t>
            </a:r>
            <a:r>
              <a:rPr lang="ro-RO" dirty="0"/>
              <a:t> În clasa A, eficiența energetică este relativ scăzută datorită faptului că tranzistorul disipă o putere semnificativă chiar și în absența unui semnal de intrare.</a:t>
            </a:r>
          </a:p>
          <a:p>
            <a:r>
              <a:rPr lang="ro-RO" b="1" dirty="0"/>
              <a:t>În concluzie,</a:t>
            </a:r>
            <a:r>
              <a:rPr lang="ro-RO" dirty="0"/>
              <a:t> amplificatorul cu tranzistor bipolar în conexiune emitor comun este o configurație versatilă și utilizată pe scară largă în electronica analogică. Alegerea acestei configurații depinde de cerințele specifice ale aplicației, cum ar fi nivelul de câștig necesar, impedanțele de intrare și ieșire dorite, și nivelul de distorsiuni admisibil.</a:t>
            </a:r>
          </a:p>
          <a:p>
            <a:pPr marL="0" indent="0">
              <a:buNone/>
            </a:pPr>
            <a:endParaRPr lang="ru-RU" dirty="0"/>
          </a:p>
        </p:txBody>
      </p:sp>
    </p:spTree>
    <p:extLst>
      <p:ext uri="{BB962C8B-B14F-4D97-AF65-F5344CB8AC3E}">
        <p14:creationId xmlns:p14="http://schemas.microsoft.com/office/powerpoint/2010/main" val="88307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Объект 4"/>
          <p:cNvGraphicFramePr>
            <a:graphicFrameLocks noGrp="1"/>
          </p:cNvGraphicFramePr>
          <p:nvPr>
            <p:ph idx="1"/>
            <p:extLst>
              <p:ext uri="{D42A27DB-BD31-4B8C-83A1-F6EECF244321}">
                <p14:modId xmlns:p14="http://schemas.microsoft.com/office/powerpoint/2010/main" val="1642249124"/>
              </p:ext>
            </p:extLst>
          </p:nvPr>
        </p:nvGraphicFramePr>
        <p:xfrm>
          <a:off x="181035" y="2053237"/>
          <a:ext cx="11896725" cy="3215640"/>
        </p:xfrm>
        <a:graphic>
          <a:graphicData uri="http://schemas.openxmlformats.org/drawingml/2006/table">
            <a:tbl>
              <a:tblPr firstRow="1" bandRow="1">
                <a:tableStyleId>{5C22544A-7EE6-4342-B048-85BDC9FD1C3A}</a:tableStyleId>
              </a:tblPr>
              <a:tblGrid>
                <a:gridCol w="3965575"/>
                <a:gridCol w="3965575"/>
                <a:gridCol w="3965575"/>
              </a:tblGrid>
              <a:tr h="370840">
                <a:tc>
                  <a:txBody>
                    <a:bodyPr/>
                    <a:lstStyle/>
                    <a:p>
                      <a:pPr algn="ctr" rtl="0" fontAlgn="b"/>
                      <a:r>
                        <a:rPr lang="ro-RO" sz="2800" dirty="0">
                          <a:effectLst/>
                        </a:rPr>
                        <a:t>Caracteristică</a:t>
                      </a:r>
                    </a:p>
                  </a:txBody>
                  <a:tcPr marL="28575" marR="28575" marT="19050" marB="19050" anchor="b"/>
                </a:tc>
                <a:tc>
                  <a:txBody>
                    <a:bodyPr/>
                    <a:lstStyle/>
                    <a:p>
                      <a:pPr algn="ctr" rtl="0" fontAlgn="b"/>
                      <a:r>
                        <a:rPr lang="ro-RO" sz="2800">
                          <a:effectLst/>
                        </a:rPr>
                        <a:t>Emitter comun (EC)</a:t>
                      </a:r>
                    </a:p>
                  </a:txBody>
                  <a:tcPr marL="28575" marR="28575" marT="19050" marB="19050" anchor="b"/>
                </a:tc>
                <a:tc>
                  <a:txBody>
                    <a:bodyPr/>
                    <a:lstStyle/>
                    <a:p>
                      <a:pPr algn="ctr" rtl="0" fontAlgn="b"/>
                      <a:r>
                        <a:rPr lang="ro-RO" sz="2800">
                          <a:effectLst/>
                        </a:rPr>
                        <a:t>Colector comun (CC)</a:t>
                      </a:r>
                    </a:p>
                  </a:txBody>
                  <a:tcPr marL="0" marR="0" marT="19050" marB="19050" anchor="b"/>
                </a:tc>
              </a:tr>
              <a:tr h="370840">
                <a:tc>
                  <a:txBody>
                    <a:bodyPr/>
                    <a:lstStyle/>
                    <a:p>
                      <a:pPr algn="ctr" rtl="0" fontAlgn="b"/>
                      <a:r>
                        <a:rPr lang="ro-RO" sz="2800" dirty="0">
                          <a:effectLst/>
                        </a:rPr>
                        <a:t>Câștig de tensiune</a:t>
                      </a:r>
                    </a:p>
                  </a:txBody>
                  <a:tcPr marL="28575" marR="28575" marT="19050" marB="19050" anchor="b"/>
                </a:tc>
                <a:tc>
                  <a:txBody>
                    <a:bodyPr/>
                    <a:lstStyle/>
                    <a:p>
                      <a:pPr algn="ctr" rtl="0" fontAlgn="b"/>
                      <a:r>
                        <a:rPr lang="ro-RO" sz="2800">
                          <a:effectLst/>
                        </a:rPr>
                        <a:t>Ridicat</a:t>
                      </a:r>
                    </a:p>
                  </a:txBody>
                  <a:tcPr marL="28575" marR="28575" marT="19050" marB="19050" anchor="b"/>
                </a:tc>
                <a:tc>
                  <a:txBody>
                    <a:bodyPr/>
                    <a:lstStyle/>
                    <a:p>
                      <a:pPr algn="ctr" rtl="0" fontAlgn="b"/>
                      <a:r>
                        <a:rPr lang="ro-RO" sz="2800">
                          <a:effectLst/>
                        </a:rPr>
                        <a:t>Aproape de 1</a:t>
                      </a:r>
                    </a:p>
                  </a:txBody>
                  <a:tcPr marL="28575" marR="28575" marT="19050" marB="19050" anchor="b"/>
                </a:tc>
              </a:tr>
              <a:tr h="370840">
                <a:tc>
                  <a:txBody>
                    <a:bodyPr/>
                    <a:lstStyle/>
                    <a:p>
                      <a:pPr algn="ctr" rtl="0" fontAlgn="b"/>
                      <a:r>
                        <a:rPr lang="ro-RO" sz="2800" dirty="0">
                          <a:effectLst/>
                        </a:rPr>
                        <a:t>Impedanță de intrare</a:t>
                      </a:r>
                    </a:p>
                  </a:txBody>
                  <a:tcPr marL="28575" marR="28575" marT="19050" marB="19050" anchor="b"/>
                </a:tc>
                <a:tc>
                  <a:txBody>
                    <a:bodyPr/>
                    <a:lstStyle/>
                    <a:p>
                      <a:pPr algn="ctr" rtl="0" fontAlgn="b"/>
                      <a:r>
                        <a:rPr lang="ro-RO" sz="2800" dirty="0">
                          <a:effectLst/>
                        </a:rPr>
                        <a:t>Moderată</a:t>
                      </a:r>
                    </a:p>
                  </a:txBody>
                  <a:tcPr marL="28575" marR="28575" marT="19050" marB="19050" anchor="b"/>
                </a:tc>
                <a:tc>
                  <a:txBody>
                    <a:bodyPr/>
                    <a:lstStyle/>
                    <a:p>
                      <a:pPr algn="ctr" rtl="0" fontAlgn="b"/>
                      <a:r>
                        <a:rPr lang="ro-RO" sz="2800">
                          <a:effectLst/>
                        </a:rPr>
                        <a:t>Ridică</a:t>
                      </a:r>
                    </a:p>
                  </a:txBody>
                  <a:tcPr marL="28575" marR="28575" marT="19050" marB="19050" anchor="b"/>
                </a:tc>
              </a:tr>
              <a:tr h="370840">
                <a:tc>
                  <a:txBody>
                    <a:bodyPr/>
                    <a:lstStyle/>
                    <a:p>
                      <a:pPr algn="ctr" rtl="0" fontAlgn="b"/>
                      <a:r>
                        <a:rPr lang="ro-RO" sz="2800">
                          <a:effectLst/>
                        </a:rPr>
                        <a:t>Impedanță de ieșire</a:t>
                      </a:r>
                    </a:p>
                  </a:txBody>
                  <a:tcPr marL="28575" marR="28575" marT="19050" marB="19050" anchor="b"/>
                </a:tc>
                <a:tc>
                  <a:txBody>
                    <a:bodyPr/>
                    <a:lstStyle/>
                    <a:p>
                      <a:pPr algn="ctr" rtl="0" fontAlgn="b"/>
                      <a:r>
                        <a:rPr lang="ro-RO" sz="2800" dirty="0">
                          <a:effectLst/>
                        </a:rPr>
                        <a:t>Moderată</a:t>
                      </a:r>
                    </a:p>
                  </a:txBody>
                  <a:tcPr marL="28575" marR="28575" marT="19050" marB="19050" anchor="b"/>
                </a:tc>
                <a:tc>
                  <a:txBody>
                    <a:bodyPr/>
                    <a:lstStyle/>
                    <a:p>
                      <a:pPr algn="ctr" rtl="0" fontAlgn="b"/>
                      <a:r>
                        <a:rPr lang="ro-RO" sz="2800">
                          <a:effectLst/>
                        </a:rPr>
                        <a:t>Scăzută</a:t>
                      </a:r>
                    </a:p>
                  </a:txBody>
                  <a:tcPr marL="28575" marR="28575" marT="19050" marB="19050" anchor="b"/>
                </a:tc>
              </a:tr>
              <a:tr h="370840">
                <a:tc>
                  <a:txBody>
                    <a:bodyPr/>
                    <a:lstStyle/>
                    <a:p>
                      <a:pPr algn="ctr" rtl="0" fontAlgn="b"/>
                      <a:r>
                        <a:rPr lang="ro-RO" sz="2800">
                          <a:effectLst/>
                        </a:rPr>
                        <a:t>Inversare de fază</a:t>
                      </a:r>
                    </a:p>
                  </a:txBody>
                  <a:tcPr marL="28575" marR="28575" marT="19050" marB="19050" anchor="b"/>
                </a:tc>
                <a:tc>
                  <a:txBody>
                    <a:bodyPr/>
                    <a:lstStyle/>
                    <a:p>
                      <a:pPr algn="ctr" rtl="0" fontAlgn="b"/>
                      <a:r>
                        <a:rPr lang="ro-RO" sz="2800" dirty="0">
                          <a:effectLst/>
                        </a:rPr>
                        <a:t>Da</a:t>
                      </a:r>
                    </a:p>
                  </a:txBody>
                  <a:tcPr marL="28575" marR="28575" marT="19050" marB="19050" anchor="b"/>
                </a:tc>
                <a:tc>
                  <a:txBody>
                    <a:bodyPr/>
                    <a:lstStyle/>
                    <a:p>
                      <a:pPr algn="ctr" rtl="0" fontAlgn="b"/>
                      <a:r>
                        <a:rPr lang="ro-RO" sz="2800" dirty="0">
                          <a:effectLst/>
                        </a:rPr>
                        <a:t>Nu</a:t>
                      </a:r>
                    </a:p>
                  </a:txBody>
                  <a:tcPr marL="28575" marR="28575" marT="19050" marB="19050" anchor="b"/>
                </a:tc>
              </a:tr>
              <a:tr h="370840">
                <a:tc>
                  <a:txBody>
                    <a:bodyPr/>
                    <a:lstStyle/>
                    <a:p>
                      <a:pPr algn="ctr" rtl="0" fontAlgn="b"/>
                      <a:r>
                        <a:rPr lang="ro-RO" sz="2800">
                          <a:effectLst/>
                        </a:rPr>
                        <a:t>Aplicații tipice</a:t>
                      </a:r>
                    </a:p>
                  </a:txBody>
                  <a:tcPr marL="28575" marR="28575" marT="19050" marB="19050" anchor="b"/>
                </a:tc>
                <a:tc>
                  <a:txBody>
                    <a:bodyPr/>
                    <a:lstStyle/>
                    <a:p>
                      <a:pPr algn="ctr" rtl="0" fontAlgn="b"/>
                      <a:r>
                        <a:rPr lang="ro-RO" sz="2800" dirty="0">
                          <a:effectLst/>
                        </a:rPr>
                        <a:t>Amplificatoare audio, intermediare, oscilatoare</a:t>
                      </a:r>
                    </a:p>
                  </a:txBody>
                  <a:tcPr marL="28575" marR="28575" marT="19050" marB="19050" anchor="b"/>
                </a:tc>
                <a:tc>
                  <a:txBody>
                    <a:bodyPr/>
                    <a:lstStyle/>
                    <a:p>
                      <a:pPr algn="ctr" rtl="0" fontAlgn="b"/>
                      <a:r>
                        <a:rPr lang="ro-RO" sz="2800" dirty="0">
                          <a:effectLst/>
                        </a:rPr>
                        <a:t>Buffer, drivere, etaje de ieșire</a:t>
                      </a:r>
                    </a:p>
                  </a:txBody>
                  <a:tcPr marL="0" marR="0" marT="19050" marB="19050" anchor="b"/>
                </a:tc>
              </a:tr>
            </a:tbl>
          </a:graphicData>
        </a:graphic>
      </p:graphicFrame>
    </p:spTree>
    <p:extLst>
      <p:ext uri="{BB962C8B-B14F-4D97-AF65-F5344CB8AC3E}">
        <p14:creationId xmlns:p14="http://schemas.microsoft.com/office/powerpoint/2010/main" val="3815299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2336" y="2185299"/>
            <a:ext cx="4216879" cy="1325563"/>
          </a:xfrm>
        </p:spPr>
        <p:txBody>
          <a:bodyPr>
            <a:normAutofit/>
          </a:bodyPr>
          <a:lstStyle/>
          <a:p>
            <a:r>
              <a:rPr lang="ro-MD" sz="6000" b="1" i="1" dirty="0" smtClean="0">
                <a:latin typeface="Times New Roman" panose="02020603050405020304" pitchFamily="18" charset="0"/>
                <a:cs typeface="Times New Roman" panose="02020603050405020304" pitchFamily="18" charset="0"/>
              </a:rPr>
              <a:t>Întrebari ?</a:t>
            </a:r>
            <a:endParaRPr lang="ru-RU" sz="6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543581"/>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9746</TotalTime>
  <Words>1760</Words>
  <Application>Microsoft Office PowerPoint</Application>
  <PresentationFormat>Широкоэкранный</PresentationFormat>
  <Paragraphs>139</Paragraphs>
  <Slides>24</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24</vt:i4>
      </vt:variant>
    </vt:vector>
  </HeadingPairs>
  <TitlesOfParts>
    <vt:vector size="31" baseType="lpstr">
      <vt:lpstr>Arial</vt:lpstr>
      <vt:lpstr>Calibri</vt:lpstr>
      <vt:lpstr>Calibri Light</vt:lpstr>
      <vt:lpstr>Symbol</vt:lpstr>
      <vt:lpstr>Times New Roman</vt:lpstr>
      <vt:lpstr>TimesNewRomanPSMT</vt:lpstr>
      <vt:lpstr>Office Theme</vt:lpstr>
      <vt:lpstr>Circuite și Dispozitive Electronice  Amplificatorul de semnal mic în conexiune cu Emitor comun.</vt:lpstr>
      <vt:lpstr>Literatura recomandata </vt:lpstr>
      <vt:lpstr>Презентация PowerPoint</vt:lpstr>
      <vt:lpstr>Recapitularea cunoștințelor tranzistori bipolari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Concluzii:  </vt:lpstr>
      <vt:lpstr>Презентация PowerPoint</vt:lpstr>
      <vt:lpstr>Întrebari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Circuite și Dispozitive Electronice  L.1 – Introducere</dc:title>
  <dc:creator>Пользователь Windows</dc:creator>
  <cp:lastModifiedBy>asea</cp:lastModifiedBy>
  <cp:revision>406</cp:revision>
  <cp:lastPrinted>2021-11-20T21:52:30Z</cp:lastPrinted>
  <dcterms:created xsi:type="dcterms:W3CDTF">2020-08-28T11:28:42Z</dcterms:created>
  <dcterms:modified xsi:type="dcterms:W3CDTF">2024-11-26T13:09:38Z</dcterms:modified>
</cp:coreProperties>
</file>