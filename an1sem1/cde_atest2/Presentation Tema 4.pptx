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5"/>
  </p:notesMasterIdLst>
  <p:sldIdLst>
    <p:sldId id="256" r:id="rId2"/>
    <p:sldId id="257" r:id="rId3"/>
    <p:sldId id="269" r:id="rId4"/>
    <p:sldId id="308" r:id="rId5"/>
    <p:sldId id="258" r:id="rId6"/>
    <p:sldId id="309" r:id="rId7"/>
    <p:sldId id="310" r:id="rId8"/>
    <p:sldId id="311" r:id="rId9"/>
    <p:sldId id="259" r:id="rId10"/>
    <p:sldId id="260" r:id="rId11"/>
    <p:sldId id="270" r:id="rId12"/>
    <p:sldId id="261" r:id="rId13"/>
    <p:sldId id="262" r:id="rId14"/>
    <p:sldId id="263" r:id="rId15"/>
    <p:sldId id="264" r:id="rId16"/>
    <p:sldId id="265" r:id="rId17"/>
    <p:sldId id="282" r:id="rId18"/>
    <p:sldId id="266" r:id="rId19"/>
    <p:sldId id="267" r:id="rId20"/>
    <p:sldId id="268" r:id="rId21"/>
    <p:sldId id="271" r:id="rId22"/>
    <p:sldId id="272" r:id="rId23"/>
    <p:sldId id="274" r:id="rId24"/>
    <p:sldId id="289" r:id="rId25"/>
    <p:sldId id="275" r:id="rId26"/>
    <p:sldId id="276" r:id="rId27"/>
    <p:sldId id="277" r:id="rId28"/>
    <p:sldId id="278" r:id="rId29"/>
    <p:sldId id="279" r:id="rId30"/>
    <p:sldId id="290" r:id="rId31"/>
    <p:sldId id="291" r:id="rId32"/>
    <p:sldId id="292" r:id="rId33"/>
    <p:sldId id="293" r:id="rId34"/>
    <p:sldId id="273" r:id="rId35"/>
    <p:sldId id="280" r:id="rId36"/>
    <p:sldId id="281" r:id="rId37"/>
    <p:sldId id="283" r:id="rId38"/>
    <p:sldId id="285" r:id="rId39"/>
    <p:sldId id="284" r:id="rId40"/>
    <p:sldId id="286" r:id="rId41"/>
    <p:sldId id="287" r:id="rId42"/>
    <p:sldId id="288" r:id="rId43"/>
    <p:sldId id="294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50" autoAdjust="0"/>
    <p:restoredTop sz="95253" autoAdjust="0"/>
  </p:normalViewPr>
  <p:slideViewPr>
    <p:cSldViewPr snapToGrid="0">
      <p:cViewPr varScale="1">
        <p:scale>
          <a:sx n="111" d="100"/>
          <a:sy n="111" d="100"/>
        </p:scale>
        <p:origin x="-948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527F67-3A50-4297-B8B6-693DA88AA5E4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58DB0D-707A-4B4F-9F6C-74B60B20F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655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58DB0D-707A-4B4F-9F6C-74B60B20FB9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132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014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196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351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16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972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483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477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827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069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207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CAE28-B5DB-416C-BBE2-FF443ED9C5B5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767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7CAE28-B5DB-416C-BBE2-FF443ED9C5B5}" type="datetimeFigureOut">
              <a:rPr lang="en-US" smtClean="0"/>
              <a:t>10/26/2021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BC0902-DFCD-4542-83AB-0F1E2C26E2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582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jpeg"/><Relationship Id="rId5" Type="http://schemas.openxmlformats.org/officeDocument/2006/relationships/image" Target="../media/image41.jpeg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jpe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gi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>
          <a:xfrm>
            <a:off x="434565" y="280656"/>
            <a:ext cx="11633703" cy="3648547"/>
          </a:xfrm>
        </p:spPr>
        <p:txBody>
          <a:bodyPr anchor="t">
            <a:normAutofit/>
          </a:bodyPr>
          <a:lstStyle/>
          <a:p>
            <a:r>
              <a:rPr lang="x-none" sz="5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Circuite și Dispozitive Electronice </a:t>
            </a:r>
            <a:br>
              <a:rPr lang="x-none" sz="5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Tema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4</a:t>
            </a:r>
            <a:r>
              <a:rPr lang="x-none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it-I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Tranzistoare bipolare. Tipuri. Caracteristici. Conexiuni. Utilizare</a:t>
            </a:r>
            <a:r>
              <a:rPr lang="it-IT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it-IT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>
          <a:xfrm>
            <a:off x="1406305" y="6047715"/>
            <a:ext cx="9144000" cy="495678"/>
          </a:xfrm>
        </p:spPr>
        <p:txBody>
          <a:bodyPr/>
          <a:lstStyle/>
          <a:p>
            <a:r>
              <a:rPr lang="en-US" smtClean="0"/>
              <a:t>Conf.univ. dr. Cretu Vasilii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873658" y="2938231"/>
            <a:ext cx="104295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x-none" b="1">
                <a:latin typeface="Times New Roman" panose="02020603050405020304" pitchFamily="18" charset="0"/>
                <a:cs typeface="Times New Roman" panose="02020603050405020304" pitchFamily="18" charset="0"/>
              </a:rPr>
              <a:t>Scopul: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 a face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cuno</a:t>
            </a:r>
            <a:r>
              <a:rPr lang="ro-MO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ștință cu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MO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ipuri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și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simboluri</a:t>
            </a:r>
            <a:r>
              <a:rPr lang="ro-MO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 tranzistoarelor bipolare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Principiul de funcţionare. Circuite echivalente pentru analiza tranzistorului bipolar în c.c. Montaje cu tranzistoare bipolare. Caracteristicile statice ale tranzistorului bipolar. Circuite de polarizare. </a:t>
            </a:r>
            <a:r>
              <a:rPr lang="vi-V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Procedee </a:t>
            </a:r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neliniare pentru stabilizarea punctului static de funcţionare.</a:t>
            </a:r>
            <a:endParaRPr lang="en-US" strike="sngStrik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953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одержимое 2"/>
          <p:cNvSpPr>
            <a:spLocks noGrp="1"/>
          </p:cNvSpPr>
          <p:nvPr>
            <p:ph idx="1"/>
          </p:nvPr>
        </p:nvSpPr>
        <p:spPr>
          <a:xfrm>
            <a:off x="97971" y="97972"/>
            <a:ext cx="12009665" cy="6066064"/>
          </a:xfrm>
        </p:spPr>
        <p:txBody>
          <a:bodyPr/>
          <a:lstStyle/>
          <a:p>
            <a:pPr marL="0" algn="just">
              <a:buNone/>
            </a:pPr>
            <a:r>
              <a:rPr lang="en-US" dirty="0" err="1"/>
              <a:t>Tranzistorul</a:t>
            </a:r>
            <a:r>
              <a:rPr lang="en-US" dirty="0"/>
              <a:t> bipolar </a:t>
            </a:r>
            <a:r>
              <a:rPr lang="en-US" dirty="0" err="1"/>
              <a:t>este</a:t>
            </a:r>
            <a:r>
              <a:rPr lang="en-US" dirty="0"/>
              <a:t> un </a:t>
            </a:r>
            <a:r>
              <a:rPr lang="en-US" dirty="0" err="1"/>
              <a:t>dispozitiv</a:t>
            </a:r>
            <a:r>
              <a:rPr lang="en-US" dirty="0"/>
              <a:t> electronic </a:t>
            </a:r>
            <a:r>
              <a:rPr lang="en-US" dirty="0" err="1"/>
              <a:t>activ</a:t>
            </a:r>
            <a:r>
              <a:rPr lang="en-US" dirty="0"/>
              <a:t> cu </a:t>
            </a:r>
            <a:r>
              <a:rPr lang="en-US" dirty="0" err="1"/>
              <a:t>trei</a:t>
            </a:r>
            <a:r>
              <a:rPr lang="en-US" dirty="0"/>
              <a:t> </a:t>
            </a:r>
            <a:r>
              <a:rPr lang="en-US" dirty="0" err="1"/>
              <a:t>terminale</a:t>
            </a:r>
            <a:r>
              <a:rPr lang="en-US" dirty="0"/>
              <a:t>: </a:t>
            </a:r>
            <a:r>
              <a:rPr lang="en-US" dirty="0" err="1" smtClean="0"/>
              <a:t>emitorul</a:t>
            </a:r>
            <a:r>
              <a:rPr lang="x-none" dirty="0" smtClean="0"/>
              <a:t> </a:t>
            </a:r>
            <a:r>
              <a:rPr lang="en-US" dirty="0" smtClean="0"/>
              <a:t>(E</a:t>
            </a:r>
            <a:r>
              <a:rPr lang="en-US" dirty="0"/>
              <a:t>), </a:t>
            </a:r>
            <a:r>
              <a:rPr lang="en-US" dirty="0" err="1"/>
              <a:t>baza</a:t>
            </a:r>
            <a:r>
              <a:rPr lang="en-US" dirty="0"/>
              <a:t> (B)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colectorul</a:t>
            </a:r>
            <a:r>
              <a:rPr lang="en-US" dirty="0"/>
              <a:t> (C).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trei</a:t>
            </a:r>
            <a:r>
              <a:rPr lang="en-US" dirty="0"/>
              <a:t> </a:t>
            </a:r>
            <a:r>
              <a:rPr lang="en-US" dirty="0" err="1"/>
              <a:t>terminale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plasate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trei</a:t>
            </a:r>
            <a:r>
              <a:rPr lang="en-US" dirty="0"/>
              <a:t> </a:t>
            </a:r>
            <a:r>
              <a:rPr lang="en-US" dirty="0" err="1"/>
              <a:t>regiuni</a:t>
            </a:r>
            <a:r>
              <a:rPr lang="en-US" dirty="0"/>
              <a:t> </a:t>
            </a:r>
            <a:r>
              <a:rPr lang="en-US" dirty="0" err="1"/>
              <a:t>semiconductoare</a:t>
            </a:r>
            <a:r>
              <a:rPr lang="en-US" dirty="0"/>
              <a:t> de </a:t>
            </a:r>
            <a:r>
              <a:rPr lang="en-US" dirty="0" err="1"/>
              <a:t>conductibilitate</a:t>
            </a:r>
            <a:r>
              <a:rPr lang="en-US" dirty="0"/>
              <a:t> </a:t>
            </a:r>
            <a:r>
              <a:rPr lang="en-US" dirty="0" err="1"/>
              <a:t>diferită</a:t>
            </a:r>
            <a:r>
              <a:rPr lang="en-US" dirty="0"/>
              <a:t> (p </a:t>
            </a:r>
            <a:r>
              <a:rPr lang="en-US" dirty="0" err="1"/>
              <a:t>sau</a:t>
            </a:r>
            <a:r>
              <a:rPr lang="en-US" dirty="0"/>
              <a:t> n) ale </a:t>
            </a:r>
            <a:r>
              <a:rPr lang="en-US" dirty="0" err="1"/>
              <a:t>aceluiaşi</a:t>
            </a:r>
            <a:r>
              <a:rPr lang="en-US" dirty="0"/>
              <a:t> </a:t>
            </a:r>
            <a:r>
              <a:rPr lang="en-US" dirty="0" err="1"/>
              <a:t>cristal</a:t>
            </a:r>
            <a:r>
              <a:rPr lang="en-US" dirty="0"/>
              <a:t> semiconductor (</a:t>
            </a:r>
            <a:r>
              <a:rPr lang="en-US" dirty="0" err="1"/>
              <a:t>în</a:t>
            </a:r>
            <a:r>
              <a:rPr lang="en-US" dirty="0"/>
              <a:t> general </a:t>
            </a:r>
            <a:r>
              <a:rPr lang="en-US" dirty="0" err="1"/>
              <a:t>germaniu</a:t>
            </a:r>
            <a:r>
              <a:rPr lang="en-US" dirty="0"/>
              <a:t> – Ge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siliciu</a:t>
            </a:r>
            <a:r>
              <a:rPr lang="en-US" dirty="0"/>
              <a:t> – Si). </a:t>
            </a:r>
            <a:r>
              <a:rPr lang="en-US" dirty="0" err="1"/>
              <a:t>Denumirea</a:t>
            </a:r>
            <a:r>
              <a:rPr lang="en-US" dirty="0"/>
              <a:t> de </a:t>
            </a:r>
            <a:r>
              <a:rPr lang="en-US" dirty="0" err="1"/>
              <a:t>tranzistor</a:t>
            </a:r>
            <a:r>
              <a:rPr lang="en-US" dirty="0"/>
              <a:t> bipolar </a:t>
            </a:r>
            <a:r>
              <a:rPr lang="en-US" dirty="0" err="1"/>
              <a:t>provine</a:t>
            </a:r>
            <a:r>
              <a:rPr lang="en-US" dirty="0"/>
              <a:t> de la </a:t>
            </a:r>
            <a:r>
              <a:rPr lang="en-US" dirty="0" err="1"/>
              <a:t>următoarea</a:t>
            </a:r>
            <a:r>
              <a:rPr lang="en-US" dirty="0"/>
              <a:t> </a:t>
            </a:r>
            <a:r>
              <a:rPr lang="en-US" dirty="0" err="1"/>
              <a:t>caracteristică</a:t>
            </a:r>
            <a:r>
              <a:rPr lang="en-US" dirty="0"/>
              <a:t>: </a:t>
            </a:r>
            <a:r>
              <a:rPr lang="en-US" dirty="0" err="1"/>
              <a:t>conducţia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asigurată</a:t>
            </a:r>
            <a:r>
              <a:rPr lang="en-US" dirty="0"/>
              <a:t> de </a:t>
            </a:r>
            <a:r>
              <a:rPr lang="en-US" dirty="0" err="1"/>
              <a:t>două</a:t>
            </a:r>
            <a:r>
              <a:rPr lang="en-US" dirty="0"/>
              <a:t> </a:t>
            </a:r>
            <a:r>
              <a:rPr lang="en-US" dirty="0" err="1"/>
              <a:t>tipuri</a:t>
            </a:r>
            <a:r>
              <a:rPr lang="en-US" dirty="0"/>
              <a:t> de </a:t>
            </a:r>
            <a:r>
              <a:rPr lang="en-US" dirty="0" err="1"/>
              <a:t>purtători</a:t>
            </a:r>
            <a:r>
              <a:rPr lang="en-US" dirty="0"/>
              <a:t> de </a:t>
            </a:r>
            <a:r>
              <a:rPr lang="en-US" dirty="0" err="1"/>
              <a:t>sarcină</a:t>
            </a:r>
            <a:r>
              <a:rPr lang="en-US" dirty="0"/>
              <a:t> de </a:t>
            </a:r>
            <a:r>
              <a:rPr lang="en-US" dirty="0" err="1"/>
              <a:t>polaritate</a:t>
            </a:r>
            <a:r>
              <a:rPr lang="en-US" dirty="0"/>
              <a:t> </a:t>
            </a:r>
            <a:r>
              <a:rPr lang="en-US" dirty="0" err="1"/>
              <a:t>diferită</a:t>
            </a:r>
            <a:r>
              <a:rPr lang="en-US" dirty="0"/>
              <a:t> (</a:t>
            </a:r>
            <a:r>
              <a:rPr lang="en-US" dirty="0" err="1"/>
              <a:t>electroni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goluri</a:t>
            </a:r>
            <a:r>
              <a:rPr lang="en-US" dirty="0" smtClean="0"/>
              <a:t>).</a:t>
            </a:r>
            <a:endParaRPr lang="x-none" dirty="0" smtClean="0"/>
          </a:p>
          <a:p>
            <a:pPr marL="0">
              <a:buNone/>
            </a:pPr>
            <a:endParaRPr lang="ro-RO" dirty="0" smtClean="0"/>
          </a:p>
          <a:p>
            <a:pPr marL="0">
              <a:buNone/>
            </a:pPr>
            <a:r>
              <a:rPr lang="en-US" dirty="0" smtClean="0"/>
              <a:t>William Shockley – </a:t>
            </a:r>
            <a:r>
              <a:rPr lang="en-US" dirty="0" err="1" smtClean="0"/>
              <a:t>fizician</a:t>
            </a:r>
            <a:r>
              <a:rPr lang="en-US" dirty="0" smtClean="0"/>
              <a:t> </a:t>
            </a:r>
            <a:r>
              <a:rPr lang="en-US" dirty="0" err="1" smtClean="0"/>
              <a:t>american</a:t>
            </a:r>
            <a:r>
              <a:rPr lang="en-US" dirty="0" smtClean="0"/>
              <a:t>, </a:t>
            </a:r>
            <a:r>
              <a:rPr lang="en-US" dirty="0" err="1" smtClean="0"/>
              <a:t>laureat</a:t>
            </a:r>
            <a:r>
              <a:rPr lang="en-US" dirty="0" smtClean="0"/>
              <a:t> al </a:t>
            </a:r>
            <a:r>
              <a:rPr lang="en-US" dirty="0" err="1" smtClean="0"/>
              <a:t>premiului</a:t>
            </a:r>
            <a:r>
              <a:rPr lang="en-US" dirty="0" smtClean="0"/>
              <a:t> Nobel </a:t>
            </a:r>
            <a:r>
              <a:rPr lang="en-US" dirty="0" err="1" smtClean="0"/>
              <a:t>în</a:t>
            </a:r>
            <a:r>
              <a:rPr lang="en-US" dirty="0" smtClean="0"/>
              <a:t> 1956 </a:t>
            </a:r>
            <a:r>
              <a:rPr lang="en-US" dirty="0" err="1" smtClean="0"/>
              <a:t>împreună</a:t>
            </a:r>
            <a:r>
              <a:rPr lang="en-US" dirty="0" smtClean="0"/>
              <a:t> cu J. Bardeen  </a:t>
            </a:r>
            <a:r>
              <a:rPr lang="en-US" dirty="0" err="1" smtClean="0"/>
              <a:t>şi</a:t>
            </a:r>
            <a:r>
              <a:rPr lang="en-US" dirty="0" smtClean="0"/>
              <a:t> W.H Brattain. Au pus la </a:t>
            </a:r>
            <a:r>
              <a:rPr lang="en-US" dirty="0" err="1" smtClean="0"/>
              <a:t>punct</a:t>
            </a:r>
            <a:r>
              <a:rPr lang="en-US" dirty="0" smtClean="0"/>
              <a:t> </a:t>
            </a:r>
            <a:r>
              <a:rPr lang="en-US" dirty="0" err="1" smtClean="0"/>
              <a:t>tehnologia</a:t>
            </a:r>
            <a:r>
              <a:rPr lang="en-US" dirty="0" smtClean="0"/>
              <a:t> </a:t>
            </a:r>
            <a:r>
              <a:rPr lang="en-US" dirty="0" err="1" smtClean="0"/>
              <a:t>tranzistorului</a:t>
            </a:r>
            <a:r>
              <a:rPr lang="en-US" dirty="0" smtClean="0"/>
              <a:t>.</a:t>
            </a:r>
            <a:endParaRPr lang="ru-RU" dirty="0" smtClean="0"/>
          </a:p>
          <a:p>
            <a:pPr marL="0"/>
            <a:endParaRPr lang="ru-RU" dirty="0"/>
          </a:p>
        </p:txBody>
      </p:sp>
      <p:pic>
        <p:nvPicPr>
          <p:cNvPr id="3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681" y="3887144"/>
            <a:ext cx="2509530" cy="2815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5278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G2R-1 24VDC OMRON OCB - Relay: electromagnetic | SPDT; Ucoil: 24VDC;  10A/250VAC; 10A/30VDC; G2R-1-24DC | TME - Electronic components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03" r="18291"/>
          <a:stretch/>
        </p:blipFill>
        <p:spPr bwMode="auto">
          <a:xfrm>
            <a:off x="212272" y="170535"/>
            <a:ext cx="369025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77" y="102928"/>
            <a:ext cx="3510793" cy="1978811"/>
          </a:xfrm>
          <a:prstGeom prst="rect">
            <a:avLst/>
          </a:prstGeom>
        </p:spPr>
      </p:pic>
      <p:pic>
        <p:nvPicPr>
          <p:cNvPr id="6" name="Picture 4" descr="Relee electromagnetice | electromatic.ro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543" y="4552302"/>
            <a:ext cx="8807562" cy="1897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4232" y="2304620"/>
            <a:ext cx="3718285" cy="2247682"/>
          </a:xfrm>
          <a:prstGeom prst="rect">
            <a:avLst/>
          </a:prstGeom>
        </p:spPr>
      </p:pic>
      <p:pic>
        <p:nvPicPr>
          <p:cNvPr id="8" name="Picture 2" descr="Электровакуумный диод. Виды, характеристики , принцип работы...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5374" y="411903"/>
            <a:ext cx="4135764" cy="253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3000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FF0000"/>
                </a:solidFill>
              </a:rPr>
              <a:t>Informatii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generale</a:t>
            </a:r>
            <a:endParaRPr lang="ru-RU" b="1" dirty="0">
              <a:solidFill>
                <a:srgbClr val="FF000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vi-VN" b="1" u="sng" dirty="0"/>
              <a:t>Tranzistor bipolar </a:t>
            </a:r>
            <a:r>
              <a:rPr lang="vi-VN" dirty="0"/>
              <a:t>- un </a:t>
            </a:r>
            <a:r>
              <a:rPr lang="ro-MO" dirty="0" smtClean="0">
                <a:latin typeface="Arial" panose="020B0604020202020204" pitchFamily="34" charset="0"/>
                <a:cs typeface="Arial" panose="020B0604020202020204" pitchFamily="34" charset="0"/>
              </a:rPr>
              <a:t>cristal din </a:t>
            </a:r>
            <a:r>
              <a:rPr lang="vi-VN" dirty="0" smtClean="0">
                <a:latin typeface="Arial" panose="020B0604020202020204" pitchFamily="34" charset="0"/>
                <a:cs typeface="Arial" panose="020B0604020202020204" pitchFamily="34" charset="0"/>
              </a:rPr>
              <a:t>două </a:t>
            </a:r>
            <a:r>
              <a:rPr lang="vi-VN" dirty="0"/>
              <a:t>joncțiuni p-n interconectate, constând din trei zone cu tipuri </a:t>
            </a:r>
            <a:r>
              <a:rPr lang="vi-VN" dirty="0" smtClean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ro-MO" dirty="0" smtClean="0">
                <a:latin typeface="Arial" panose="020B0604020202020204" pitchFamily="34" charset="0"/>
                <a:cs typeface="Arial" panose="020B0604020202020204" pitchFamily="34" charset="0"/>
              </a:rPr>
              <a:t>iferite de</a:t>
            </a:r>
            <a:r>
              <a:rPr lang="vi-VN" dirty="0" smtClean="0">
                <a:latin typeface="Arial" panose="020B0604020202020204" pitchFamily="34" charset="0"/>
                <a:cs typeface="Arial" panose="020B0604020202020204" pitchFamily="34" charset="0"/>
              </a:rPr>
              <a:t> conducti</a:t>
            </a:r>
            <a:r>
              <a:rPr lang="ro-MO" dirty="0" smtClean="0">
                <a:latin typeface="Arial" panose="020B0604020202020204" pitchFamily="34" charset="0"/>
                <a:cs typeface="Arial" panose="020B0604020202020204" pitchFamily="34" charset="0"/>
              </a:rPr>
              <a:t>bilitate</a:t>
            </a:r>
            <a:r>
              <a:rPr lang="vi-VN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dirty="0"/>
              <a:t>electrică, potrivite pentru amplificarea puterii</a:t>
            </a:r>
            <a:r>
              <a:rPr lang="vi-VN" dirty="0" smtClean="0"/>
              <a:t>.</a:t>
            </a:r>
            <a:endParaRPr lang="ro-MO" dirty="0" smtClean="0"/>
          </a:p>
          <a:p>
            <a:pPr marL="457200" lvl="1" indent="0">
              <a:buNone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Există tranzistoare de 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conducție directă (p-n-p) și inversă (n-p-n)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C:\Users\Ababii\Desktop\depanarea-circuitelor-cu-tranzistoare-bipolar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4137" y="3452502"/>
            <a:ext cx="7523505" cy="3312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9990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254" y="241070"/>
            <a:ext cx="6681929" cy="661693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4012" y="2926172"/>
            <a:ext cx="2116484" cy="1913206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8808" y="4769903"/>
            <a:ext cx="4810408" cy="1874368"/>
          </a:xfrm>
          <a:prstGeom prst="rect">
            <a:avLst/>
          </a:prstGeom>
        </p:spPr>
      </p:pic>
      <p:pic>
        <p:nvPicPr>
          <p:cNvPr id="1026" name="Picture 2" descr="PNP Tranzistor Bipolar Junction Transistor NPN Electronic Symbol, PNG,  1600x1129px, Pnp Tranzistor, Art, Bipolar Junction Transistor,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4286" y="163286"/>
            <a:ext cx="3894930" cy="274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4339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7265" y="74568"/>
            <a:ext cx="10515600" cy="1325563"/>
          </a:xfrm>
        </p:spPr>
        <p:txBody>
          <a:bodyPr/>
          <a:lstStyle/>
          <a:p>
            <a:r>
              <a:rPr lang="ro-MO" b="1" dirty="0" smtClean="0">
                <a:solidFill>
                  <a:srgbClr val="FF0000"/>
                </a:solidFill>
              </a:rPr>
              <a:t>Clasificarea tranzistoarelor</a:t>
            </a:r>
            <a:endParaRPr lang="ru-RU" b="1" dirty="0">
              <a:solidFill>
                <a:srgbClr val="FF0000"/>
              </a:solidFill>
            </a:endParaRPr>
          </a:p>
        </p:txBody>
      </p:sp>
      <p:pic>
        <p:nvPicPr>
          <p:cNvPr id="2050" name="Picture 2" descr="C:\Users\Ababii\Desktop\trans-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238" y="1334759"/>
            <a:ext cx="9729654" cy="5459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4762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O" b="1" dirty="0">
                <a:solidFill>
                  <a:srgbClr val="FF0000"/>
                </a:solidFill>
              </a:rPr>
              <a:t>Clasificarea tranzistoarelor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957129" y="1623701"/>
            <a:ext cx="1063096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o-MO" sz="3200" dirty="0" smtClean="0"/>
              <a:t>Tranzistori de putere mică, până la 100 mW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o-MO" sz="3200" dirty="0" smtClean="0"/>
              <a:t>Tranzistori de putere medie, de la 0,1 până la 1 W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o-MO" sz="3200" dirty="0" smtClean="0"/>
              <a:t>Tranzistori de putere (mai mult de 1 W)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o-MO" sz="3200" dirty="0" smtClean="0"/>
              <a:t>Tranzistori de frecvență joasă – până la 3 MHz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o-MO" sz="3200" dirty="0" smtClean="0"/>
              <a:t>Tranzistori de frecvență medie – de la 3 până la 30 MHz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o-MO" sz="3200" dirty="0" smtClean="0"/>
              <a:t>Tranzistori de frecvență înaltă – de la 30 până la 300 MHz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o-MO" sz="3200" dirty="0" smtClean="0"/>
              <a:t>Tranzistori de frecvență ultraînaltă – mai mult de 300 Mhz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561042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MO" b="1" dirty="0">
                <a:solidFill>
                  <a:srgbClr val="FF0000"/>
                </a:solidFill>
              </a:rPr>
              <a:t>Clasificarea tranzistoarelor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MO" sz="3200" dirty="0" smtClean="0"/>
              <a:t>Tranzistori discreți:</a:t>
            </a:r>
          </a:p>
          <a:p>
            <a:pPr lvl="1"/>
            <a:r>
              <a:rPr lang="ro-MO" sz="2800" dirty="0"/>
              <a:t>Cu carcasă:</a:t>
            </a:r>
          </a:p>
          <a:p>
            <a:pPr lvl="2"/>
            <a:r>
              <a:rPr lang="ro-MO" sz="2400" dirty="0"/>
              <a:t>Pentru montare liberă</a:t>
            </a:r>
          </a:p>
          <a:p>
            <a:pPr lvl="2"/>
            <a:r>
              <a:rPr lang="ro-MO" sz="2400" dirty="0"/>
              <a:t>Pentru instalarea pe radiator</a:t>
            </a:r>
          </a:p>
          <a:p>
            <a:pPr lvl="2"/>
            <a:r>
              <a:rPr lang="ro-MO" sz="2400" dirty="0"/>
              <a:t>Pentru sistem de lipire automatizat</a:t>
            </a:r>
          </a:p>
          <a:p>
            <a:pPr lvl="1"/>
            <a:r>
              <a:rPr lang="ro-MO" sz="2800" dirty="0"/>
              <a:t>Fără carcasă </a:t>
            </a:r>
          </a:p>
          <a:p>
            <a:r>
              <a:rPr lang="ro-MO" sz="3200" dirty="0" smtClean="0"/>
              <a:t>Tranzistori în componența schemelor integrate</a:t>
            </a:r>
          </a:p>
          <a:p>
            <a:pPr marL="457200" lvl="1" indent="0">
              <a:buNone/>
            </a:pPr>
            <a:endParaRPr lang="ro-MO" dirty="0" smtClean="0"/>
          </a:p>
        </p:txBody>
      </p:sp>
      <p:pic>
        <p:nvPicPr>
          <p:cNvPr id="4" name="Picture 2" descr="C:\Users\Ababii\Desktop\ыыы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70" t="30113" b="35285"/>
          <a:stretch/>
        </p:blipFill>
        <p:spPr bwMode="auto">
          <a:xfrm>
            <a:off x="7426294" y="1495513"/>
            <a:ext cx="4348520" cy="2922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2368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7695" y="0"/>
            <a:ext cx="12004895" cy="6858000"/>
          </a:xfrm>
        </p:spPr>
        <p:txBody>
          <a:bodyPr/>
          <a:lstStyle/>
          <a:p>
            <a:r>
              <a:rPr lang="fr-FR" dirty="0"/>
              <a:t>Mărimile electrice ce caracterizează un TB</a:t>
            </a:r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72" y="497375"/>
            <a:ext cx="10683834" cy="366722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17694" y="4200305"/>
            <a:ext cx="1174234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Asimilând tranzistorul cu un nod de circuit, se poate scrie că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fr-F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t-IT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it-IT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it-IT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t-IT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 i</a:t>
            </a:r>
            <a:r>
              <a:rPr lang="it-IT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it-IT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it-IT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it-IT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it-IT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x-none" dirty="0" smtClean="0">
                <a:latin typeface="Times New Roman" pitchFamily="18" charset="0"/>
                <a:cs typeface="Times New Roman" pitchFamily="18" charset="0"/>
              </a:rPr>
              <a:t>(1)</a:t>
            </a:r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;  U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CE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BE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CB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(2)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Ţinând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cont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relaţiile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ro-MO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sus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cele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şase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mărimi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electrice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caracterizează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un TB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rezulta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doar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patru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dintre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sunt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independente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doi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curenţi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două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tensiuni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alege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cele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patru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mărimi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independente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nevoie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de un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criteriu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acesta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fiind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oferit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tipul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conexiunii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care se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află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TB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privit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ca un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cuadripol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10986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790099"/>
          </a:xfrm>
        </p:spPr>
        <p:txBody>
          <a:bodyPr/>
          <a:lstStyle/>
          <a:p>
            <a:r>
              <a:rPr lang="it-IT" b="1" dirty="0" smtClean="0"/>
              <a:t>Conexiunile </a:t>
            </a:r>
            <a:r>
              <a:rPr lang="it-IT" b="1" dirty="0"/>
              <a:t>tranzistorului. Tipuri de caracteristici</a:t>
            </a:r>
            <a:r>
              <a:rPr lang="it-IT" dirty="0"/>
              <a:t> </a:t>
            </a:r>
            <a:br>
              <a:rPr lang="it-IT" dirty="0"/>
            </a:br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97" y="427291"/>
            <a:ext cx="5438775" cy="15621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764369" y="357424"/>
            <a:ext cx="642763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Un </a:t>
            </a:r>
            <a:r>
              <a:rPr lang="en-US" dirty="0" err="1">
                <a:solidFill>
                  <a:srgbClr val="000000"/>
                </a:solidFill>
              </a:rPr>
              <a:t>diport</a:t>
            </a:r>
            <a:r>
              <a:rPr lang="en-US" dirty="0">
                <a:solidFill>
                  <a:srgbClr val="000000"/>
                </a:solidFill>
              </a:rPr>
              <a:t> (</a:t>
            </a:r>
            <a:r>
              <a:rPr lang="en-US" dirty="0" err="1">
                <a:solidFill>
                  <a:srgbClr val="000000"/>
                </a:solidFill>
              </a:rPr>
              <a:t>cuadripol</a:t>
            </a:r>
            <a:r>
              <a:rPr lang="en-US" dirty="0">
                <a:solidFill>
                  <a:srgbClr val="000000"/>
                </a:solidFill>
              </a:rPr>
              <a:t>) </a:t>
            </a:r>
            <a:r>
              <a:rPr lang="en-US" dirty="0" err="1">
                <a:solidFill>
                  <a:srgbClr val="000000"/>
                </a:solidFill>
              </a:rPr>
              <a:t>este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caracterizat</a:t>
            </a:r>
            <a:r>
              <a:rPr lang="en-US" dirty="0">
                <a:solidFill>
                  <a:srgbClr val="000000"/>
                </a:solidFill>
              </a:rPr>
              <a:t> de </a:t>
            </a:r>
            <a:r>
              <a:rPr lang="en-US" dirty="0" err="1">
                <a:solidFill>
                  <a:srgbClr val="000000"/>
                </a:solidFill>
              </a:rPr>
              <a:t>patru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mărimi</a:t>
            </a:r>
            <a:r>
              <a:rPr lang="en-US" dirty="0">
                <a:solidFill>
                  <a:srgbClr val="000000"/>
                </a:solidFill>
              </a:rPr>
              <a:t>, </a:t>
            </a:r>
            <a:r>
              <a:rPr lang="en-US" dirty="0" err="1">
                <a:solidFill>
                  <a:srgbClr val="000000"/>
                </a:solidFill>
              </a:rPr>
              <a:t>două</a:t>
            </a:r>
            <a:r>
              <a:rPr lang="en-US" dirty="0">
                <a:solidFill>
                  <a:srgbClr val="000000"/>
                </a:solidFill>
              </a:rPr>
              <a:t> de </a:t>
            </a:r>
            <a:r>
              <a:rPr lang="en-US" dirty="0" err="1">
                <a:solidFill>
                  <a:srgbClr val="000000"/>
                </a:solidFill>
              </a:rPr>
              <a:t>intrare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şi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 err="1">
                <a:solidFill>
                  <a:srgbClr val="000000"/>
                </a:solidFill>
              </a:rPr>
              <a:t>două</a:t>
            </a:r>
            <a:r>
              <a:rPr lang="en-US" dirty="0">
                <a:solidFill>
                  <a:srgbClr val="000000"/>
                </a:solidFill>
              </a:rPr>
              <a:t> de </a:t>
            </a:r>
            <a:r>
              <a:rPr lang="en-US" dirty="0" err="1">
                <a:solidFill>
                  <a:srgbClr val="000000"/>
                </a:solidFill>
              </a:rPr>
              <a:t>ieşire</a:t>
            </a:r>
            <a:r>
              <a:rPr lang="en-US" dirty="0" smtClean="0">
                <a:solidFill>
                  <a:srgbClr val="000000"/>
                </a:solidFill>
              </a:rPr>
              <a:t>. </a:t>
            </a:r>
          </a:p>
          <a:p>
            <a:r>
              <a:rPr lang="en-US" dirty="0" smtClean="0"/>
              <a:t>Cum </a:t>
            </a:r>
            <a:r>
              <a:rPr lang="en-US" dirty="0" err="1"/>
              <a:t>diportul</a:t>
            </a:r>
            <a:r>
              <a:rPr lang="en-US" dirty="0"/>
              <a:t> (care </a:t>
            </a:r>
            <a:r>
              <a:rPr lang="en-US" dirty="0" err="1"/>
              <a:t>poate</a:t>
            </a:r>
            <a:r>
              <a:rPr lang="en-US" dirty="0"/>
              <a:t> fi </a:t>
            </a:r>
            <a:r>
              <a:rPr lang="en-US" dirty="0" err="1"/>
              <a:t>văzut</a:t>
            </a:r>
            <a:r>
              <a:rPr lang="en-US" dirty="0"/>
              <a:t> ca o “</a:t>
            </a:r>
            <a:r>
              <a:rPr lang="en-US" dirty="0" smtClean="0"/>
              <a:t>cutie </a:t>
            </a:r>
            <a:r>
              <a:rPr lang="en-US" dirty="0" err="1" smtClean="0"/>
              <a:t>neagră</a:t>
            </a:r>
            <a:r>
              <a:rPr lang="en-US" dirty="0"/>
              <a:t>”, </a:t>
            </a:r>
            <a:r>
              <a:rPr lang="en-US" dirty="0" err="1"/>
              <a:t>în</a:t>
            </a:r>
            <a:r>
              <a:rPr lang="en-US" dirty="0"/>
              <a:t> care se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imagina</a:t>
            </a:r>
            <a:r>
              <a:rPr lang="en-US" dirty="0"/>
              <a:t> </a:t>
            </a:r>
            <a:r>
              <a:rPr lang="en-US" dirty="0" err="1"/>
              <a:t>că</a:t>
            </a:r>
            <a:r>
              <a:rPr lang="en-US" dirty="0"/>
              <a:t> se </a:t>
            </a:r>
            <a:r>
              <a:rPr lang="en-US" dirty="0" err="1" smtClean="0"/>
              <a:t>află</a:t>
            </a:r>
            <a:r>
              <a:rPr lang="en-US" dirty="0" smtClean="0"/>
              <a:t> </a:t>
            </a:r>
            <a:r>
              <a:rPr lang="en-US" dirty="0" err="1" smtClean="0"/>
              <a:t>orice</a:t>
            </a:r>
            <a:r>
              <a:rPr lang="en-US" dirty="0" smtClean="0"/>
              <a:t> </a:t>
            </a:r>
            <a:r>
              <a:rPr lang="en-US" dirty="0" err="1"/>
              <a:t>dispozitiv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circuit electric, cu o</a:t>
            </a:r>
            <a:br>
              <a:rPr lang="en-US" dirty="0"/>
            </a:br>
            <a:r>
              <a:rPr lang="en-US" dirty="0" err="1"/>
              <a:t>schemă</a:t>
            </a:r>
            <a:r>
              <a:rPr lang="en-US" dirty="0"/>
              <a:t> </a:t>
            </a:r>
            <a:r>
              <a:rPr lang="en-US" dirty="0" err="1"/>
              <a:t>oricât</a:t>
            </a:r>
            <a:r>
              <a:rPr lang="en-US" dirty="0"/>
              <a:t> de </a:t>
            </a:r>
            <a:r>
              <a:rPr lang="en-US" dirty="0" err="1"/>
              <a:t>complexă</a:t>
            </a:r>
            <a:r>
              <a:rPr lang="en-US" dirty="0"/>
              <a:t>)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 smtClean="0"/>
              <a:t>caracterizat</a:t>
            </a:r>
            <a:r>
              <a:rPr lang="en-US" dirty="0" smtClean="0"/>
              <a:t> </a:t>
            </a:r>
            <a:r>
              <a:rPr lang="en-US" dirty="0" err="1" smtClean="0"/>
              <a:t>prin</a:t>
            </a:r>
            <a:r>
              <a:rPr lang="en-US" dirty="0" smtClean="0"/>
              <a:t> </a:t>
            </a:r>
            <a:r>
              <a:rPr lang="en-US" dirty="0" err="1"/>
              <a:t>patru</a:t>
            </a:r>
            <a:r>
              <a:rPr lang="en-US" dirty="0"/>
              <a:t> borne </a:t>
            </a:r>
            <a:r>
              <a:rPr lang="en-US" dirty="0" err="1"/>
              <a:t>iar</a:t>
            </a:r>
            <a:r>
              <a:rPr lang="en-US" dirty="0"/>
              <a:t> </a:t>
            </a:r>
            <a:r>
              <a:rPr lang="en-US" dirty="0" err="1"/>
              <a:t>tranzistorul</a:t>
            </a:r>
            <a:r>
              <a:rPr lang="en-US" dirty="0"/>
              <a:t> are </a:t>
            </a:r>
            <a:r>
              <a:rPr lang="en-US" dirty="0" err="1"/>
              <a:t>doar</a:t>
            </a:r>
            <a:r>
              <a:rPr lang="en-US" dirty="0"/>
              <a:t> </a:t>
            </a:r>
            <a:r>
              <a:rPr lang="en-US" dirty="0" err="1"/>
              <a:t>trei</a:t>
            </a:r>
            <a:r>
              <a:rPr lang="en-US" dirty="0" smtClean="0"/>
              <a:t>, </a:t>
            </a:r>
            <a:r>
              <a:rPr lang="en-US" dirty="0" err="1" smtClean="0"/>
              <a:t>una</a:t>
            </a:r>
            <a:r>
              <a:rPr lang="en-US" dirty="0" smtClean="0"/>
              <a:t> </a:t>
            </a:r>
            <a:r>
              <a:rPr lang="en-US" dirty="0"/>
              <a:t>din </a:t>
            </a:r>
            <a:r>
              <a:rPr lang="en-US" dirty="0" err="1"/>
              <a:t>ele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fie </a:t>
            </a:r>
            <a:r>
              <a:rPr lang="en-US" dirty="0" err="1"/>
              <a:t>comună</a:t>
            </a:r>
            <a:r>
              <a:rPr lang="en-US" dirty="0"/>
              <a:t> </a:t>
            </a:r>
            <a:r>
              <a:rPr lang="en-US" dirty="0" err="1"/>
              <a:t>atât</a:t>
            </a:r>
            <a:r>
              <a:rPr lang="en-US" dirty="0"/>
              <a:t> </a:t>
            </a:r>
            <a:r>
              <a:rPr lang="en-US" dirty="0" err="1" smtClean="0"/>
              <a:t>intrării</a:t>
            </a:r>
            <a:r>
              <a:rPr lang="en-US" dirty="0" smtClean="0"/>
              <a:t> </a:t>
            </a:r>
            <a:r>
              <a:rPr lang="en-US" dirty="0" err="1" smtClean="0"/>
              <a:t>cât</a:t>
            </a:r>
            <a:r>
              <a:rPr lang="en-US" dirty="0" smtClean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ieşirii</a:t>
            </a:r>
            <a:r>
              <a:rPr lang="en-US" dirty="0" smtClean="0"/>
              <a:t>. </a:t>
            </a:r>
            <a:r>
              <a:rPr lang="en-US" dirty="0" err="1" smtClean="0"/>
              <a:t>Borna</a:t>
            </a:r>
            <a:r>
              <a:rPr lang="en-US" dirty="0" smtClean="0"/>
              <a:t> </a:t>
            </a:r>
            <a:r>
              <a:rPr lang="en-US" dirty="0" err="1"/>
              <a:t>comună</a:t>
            </a:r>
            <a:r>
              <a:rPr lang="en-US" dirty="0"/>
              <a:t> </a:t>
            </a:r>
            <a:r>
              <a:rPr lang="en-US" dirty="0" err="1"/>
              <a:t>defineşte</a:t>
            </a:r>
            <a:r>
              <a:rPr lang="en-US" dirty="0"/>
              <a:t> </a:t>
            </a:r>
            <a:r>
              <a:rPr lang="en-US" dirty="0" err="1"/>
              <a:t>conexiunea</a:t>
            </a:r>
            <a:r>
              <a:rPr lang="en-US" dirty="0"/>
              <a:t> TB.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96157" y="2276948"/>
            <a:ext cx="118358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Descrierea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funcţionării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cuadripolului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constă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determinarea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curenţilor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atunci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când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cunosc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valorile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tensiunilor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Curenţii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la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respectiv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la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cuadripolului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vor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exprima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fiecare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funcţie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două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adică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031" y="3200278"/>
            <a:ext cx="2266950" cy="962025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3044981" y="2963863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Mărimile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curenţii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i</a:t>
            </a:r>
            <a:r>
              <a:rPr lang="en-US" sz="105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i</a:t>
            </a:r>
            <a:r>
              <a:rPr lang="en-US" sz="105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funcţii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două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variabile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adică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din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punct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vedere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grafic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cuadripolul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deci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descris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două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familii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caracteristici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sub forma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suprafeţe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practică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folosesc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trei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dintre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caracteristicile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posibile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curbe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nivel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suprafeţele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respective),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anume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0" y="4308273"/>
            <a:ext cx="1218898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/>
              <a:t>Caracteristica</a:t>
            </a:r>
            <a:r>
              <a:rPr lang="en-US" sz="2400" dirty="0"/>
              <a:t> de </a:t>
            </a:r>
            <a:r>
              <a:rPr lang="en-US" sz="2400" dirty="0" err="1"/>
              <a:t>intrare</a:t>
            </a:r>
            <a:r>
              <a:rPr lang="en-US" sz="2400" dirty="0"/>
              <a:t> i</a:t>
            </a:r>
            <a:r>
              <a:rPr lang="en-US" sz="2400" baseline="-25000" dirty="0"/>
              <a:t>1</a:t>
            </a:r>
            <a:r>
              <a:rPr lang="en-US" sz="2400" dirty="0"/>
              <a:t> = i</a:t>
            </a:r>
            <a:r>
              <a:rPr lang="en-US" sz="2400" baseline="-25000" dirty="0"/>
              <a:t>1</a:t>
            </a:r>
            <a:r>
              <a:rPr lang="en-US" sz="2400" dirty="0"/>
              <a:t>(v</a:t>
            </a:r>
            <a:r>
              <a:rPr lang="en-US" sz="2400" baseline="-25000" dirty="0"/>
              <a:t>1</a:t>
            </a:r>
            <a:r>
              <a:rPr lang="en-US" sz="2400" dirty="0"/>
              <a:t>) ; v</a:t>
            </a:r>
            <a:r>
              <a:rPr lang="en-US" sz="2400" baseline="-25000" dirty="0"/>
              <a:t>2</a:t>
            </a:r>
            <a:r>
              <a:rPr lang="en-US" sz="2400" dirty="0"/>
              <a:t> = </a:t>
            </a:r>
            <a:r>
              <a:rPr lang="x-none" sz="2400" dirty="0" smtClean="0"/>
              <a:t>Constant</a:t>
            </a:r>
            <a:endParaRPr lang="en-US" sz="2400" dirty="0"/>
          </a:p>
          <a:p>
            <a:r>
              <a:rPr lang="en-US" dirty="0" err="1"/>
              <a:t>Reprezintă</a:t>
            </a:r>
            <a:r>
              <a:rPr lang="en-US" dirty="0"/>
              <a:t> </a:t>
            </a:r>
            <a:r>
              <a:rPr lang="en-US" dirty="0" err="1"/>
              <a:t>dependenţa</a:t>
            </a:r>
            <a:r>
              <a:rPr lang="en-US" dirty="0"/>
              <a:t> </a:t>
            </a:r>
            <a:r>
              <a:rPr lang="en-US" dirty="0" err="1"/>
              <a:t>curentului</a:t>
            </a:r>
            <a:r>
              <a:rPr lang="en-US" dirty="0"/>
              <a:t> de </a:t>
            </a:r>
            <a:r>
              <a:rPr lang="en-US" dirty="0" err="1"/>
              <a:t>intrare</a:t>
            </a:r>
            <a:r>
              <a:rPr lang="en-US" dirty="0"/>
              <a:t> </a:t>
            </a:r>
            <a:r>
              <a:rPr lang="en-US" dirty="0" err="1"/>
              <a:t>funcţie</a:t>
            </a:r>
            <a:r>
              <a:rPr lang="en-US" dirty="0"/>
              <a:t> de </a:t>
            </a:r>
            <a:r>
              <a:rPr lang="en-US" dirty="0" err="1"/>
              <a:t>tensiunea</a:t>
            </a:r>
            <a:r>
              <a:rPr lang="en-US" dirty="0"/>
              <a:t> de </a:t>
            </a:r>
            <a:r>
              <a:rPr lang="en-US" dirty="0" err="1"/>
              <a:t>intrare</a:t>
            </a:r>
            <a:r>
              <a:rPr lang="en-US" dirty="0"/>
              <a:t>, </a:t>
            </a:r>
            <a:r>
              <a:rPr lang="en-US" dirty="0" err="1"/>
              <a:t>pentru</a:t>
            </a:r>
            <a:r>
              <a:rPr lang="en-US" dirty="0"/>
              <a:t> diverse </a:t>
            </a:r>
            <a:r>
              <a:rPr lang="en-US" dirty="0" err="1"/>
              <a:t>valori</a:t>
            </a:r>
            <a:r>
              <a:rPr lang="en-US" dirty="0"/>
              <a:t> </a:t>
            </a:r>
            <a:r>
              <a:rPr lang="en-US" dirty="0" err="1"/>
              <a:t>constante</a:t>
            </a:r>
            <a:r>
              <a:rPr lang="en-US" dirty="0"/>
              <a:t> ale </a:t>
            </a:r>
            <a:r>
              <a:rPr lang="en-US" dirty="0" err="1"/>
              <a:t>tensiunii</a:t>
            </a:r>
            <a:r>
              <a:rPr lang="en-US" dirty="0"/>
              <a:t> de </a:t>
            </a:r>
            <a:r>
              <a:rPr lang="en-US" dirty="0" err="1"/>
              <a:t>ieşire</a:t>
            </a:r>
            <a:r>
              <a:rPr lang="en-US" dirty="0"/>
              <a:t>. </a:t>
            </a:r>
          </a:p>
          <a:p>
            <a:r>
              <a:rPr lang="en-US" sz="2400" dirty="0" err="1"/>
              <a:t>Caracteristica</a:t>
            </a:r>
            <a:r>
              <a:rPr lang="en-US" sz="2400" dirty="0"/>
              <a:t> de transfer  i</a:t>
            </a:r>
            <a:r>
              <a:rPr lang="en-US" sz="2400" baseline="-25000" dirty="0"/>
              <a:t>2</a:t>
            </a:r>
            <a:r>
              <a:rPr lang="en-US" sz="2400" dirty="0"/>
              <a:t> = i</a:t>
            </a:r>
            <a:r>
              <a:rPr lang="en-US" sz="2400" baseline="-25000" dirty="0"/>
              <a:t>2</a:t>
            </a:r>
            <a:r>
              <a:rPr lang="en-US" sz="2400" dirty="0"/>
              <a:t> (v</a:t>
            </a:r>
            <a:r>
              <a:rPr lang="en-US" sz="2400" baseline="-25000" dirty="0"/>
              <a:t>1</a:t>
            </a:r>
            <a:r>
              <a:rPr lang="en-US" sz="2400" dirty="0"/>
              <a:t>) ; v</a:t>
            </a:r>
            <a:r>
              <a:rPr lang="en-US" sz="2400" baseline="-25000" dirty="0"/>
              <a:t>2</a:t>
            </a:r>
            <a:r>
              <a:rPr lang="en-US" sz="2400" dirty="0"/>
              <a:t> = </a:t>
            </a:r>
            <a:r>
              <a:rPr lang="x-none" sz="2400" dirty="0"/>
              <a:t>Constant</a:t>
            </a:r>
            <a:endParaRPr lang="en-US" sz="2400" dirty="0"/>
          </a:p>
          <a:p>
            <a:r>
              <a:rPr lang="en-US" dirty="0" err="1" smtClean="0"/>
              <a:t>Reprezintă</a:t>
            </a:r>
            <a:r>
              <a:rPr lang="en-US" dirty="0" smtClean="0"/>
              <a:t> </a:t>
            </a:r>
            <a:r>
              <a:rPr lang="en-US" dirty="0" err="1"/>
              <a:t>dependenţa</a:t>
            </a:r>
            <a:r>
              <a:rPr lang="en-US" dirty="0"/>
              <a:t> </a:t>
            </a:r>
            <a:r>
              <a:rPr lang="en-US" dirty="0" err="1"/>
              <a:t>curentului</a:t>
            </a:r>
            <a:r>
              <a:rPr lang="en-US" dirty="0"/>
              <a:t> de </a:t>
            </a:r>
            <a:r>
              <a:rPr lang="en-US" dirty="0" err="1"/>
              <a:t>ieşire</a:t>
            </a:r>
            <a:r>
              <a:rPr lang="en-US" dirty="0"/>
              <a:t> </a:t>
            </a:r>
            <a:r>
              <a:rPr lang="en-US" dirty="0" err="1"/>
              <a:t>funcţie</a:t>
            </a:r>
            <a:r>
              <a:rPr lang="en-US" dirty="0"/>
              <a:t> de </a:t>
            </a:r>
            <a:r>
              <a:rPr lang="en-US" dirty="0" err="1"/>
              <a:t>tensiunea</a:t>
            </a:r>
            <a:r>
              <a:rPr lang="en-US" dirty="0"/>
              <a:t> de </a:t>
            </a:r>
            <a:r>
              <a:rPr lang="en-US" dirty="0" err="1"/>
              <a:t>intrare</a:t>
            </a:r>
            <a:r>
              <a:rPr lang="en-US" dirty="0"/>
              <a:t>, </a:t>
            </a:r>
            <a:r>
              <a:rPr lang="en-US" dirty="0" err="1"/>
              <a:t>pentru</a:t>
            </a:r>
            <a:r>
              <a:rPr lang="en-US" dirty="0"/>
              <a:t> diverse </a:t>
            </a:r>
            <a:r>
              <a:rPr lang="en-US" dirty="0" err="1"/>
              <a:t>valori</a:t>
            </a:r>
            <a:r>
              <a:rPr lang="en-US" dirty="0"/>
              <a:t> </a:t>
            </a:r>
            <a:r>
              <a:rPr lang="en-US" dirty="0" err="1"/>
              <a:t>constante</a:t>
            </a:r>
            <a:r>
              <a:rPr lang="en-US" dirty="0"/>
              <a:t> ale </a:t>
            </a:r>
            <a:r>
              <a:rPr lang="en-US" dirty="0" err="1"/>
              <a:t>tensiunii</a:t>
            </a:r>
            <a:r>
              <a:rPr lang="en-US" dirty="0"/>
              <a:t> de </a:t>
            </a:r>
            <a:r>
              <a:rPr lang="en-US" dirty="0" err="1"/>
              <a:t>ieşire</a:t>
            </a:r>
            <a:r>
              <a:rPr lang="en-US" dirty="0"/>
              <a:t> </a:t>
            </a:r>
          </a:p>
          <a:p>
            <a:r>
              <a:rPr lang="en-US" sz="2400" dirty="0" err="1"/>
              <a:t>Caracteristica</a:t>
            </a:r>
            <a:r>
              <a:rPr lang="en-US" sz="2400" dirty="0"/>
              <a:t> de </a:t>
            </a:r>
            <a:r>
              <a:rPr lang="en-US" sz="2400" dirty="0" err="1"/>
              <a:t>ieşire</a:t>
            </a:r>
            <a:r>
              <a:rPr lang="en-US" sz="2400" dirty="0"/>
              <a:t> i</a:t>
            </a:r>
            <a:r>
              <a:rPr lang="en-US" sz="2400" baseline="-25000" dirty="0"/>
              <a:t>2</a:t>
            </a:r>
            <a:r>
              <a:rPr lang="en-US" sz="2400" dirty="0"/>
              <a:t> = i</a:t>
            </a:r>
            <a:r>
              <a:rPr lang="en-US" sz="2400" baseline="-25000" dirty="0"/>
              <a:t>2</a:t>
            </a:r>
            <a:r>
              <a:rPr lang="en-US" sz="2400" dirty="0"/>
              <a:t> (v</a:t>
            </a:r>
            <a:r>
              <a:rPr lang="en-US" sz="2400" baseline="-25000" dirty="0"/>
              <a:t>2</a:t>
            </a:r>
            <a:r>
              <a:rPr lang="en-US" sz="2400" dirty="0"/>
              <a:t>) ; v</a:t>
            </a:r>
            <a:r>
              <a:rPr lang="en-US" sz="2400" baseline="-25000" dirty="0"/>
              <a:t>1</a:t>
            </a:r>
            <a:r>
              <a:rPr lang="en-US" sz="2400" dirty="0"/>
              <a:t> </a:t>
            </a:r>
            <a:r>
              <a:rPr lang="en-US" sz="2400" dirty="0" err="1"/>
              <a:t>sau</a:t>
            </a:r>
            <a:r>
              <a:rPr lang="en-US" sz="2400" dirty="0"/>
              <a:t> i</a:t>
            </a:r>
            <a:r>
              <a:rPr lang="en-US" sz="2400" baseline="-25000" dirty="0"/>
              <a:t>1</a:t>
            </a:r>
            <a:r>
              <a:rPr lang="en-US" sz="2400" dirty="0"/>
              <a:t> = </a:t>
            </a:r>
            <a:r>
              <a:rPr lang="x-none" sz="2400" dirty="0"/>
              <a:t>Constant</a:t>
            </a:r>
            <a:endParaRPr lang="en-US" sz="2400" dirty="0"/>
          </a:p>
          <a:p>
            <a:r>
              <a:rPr lang="en-US" dirty="0" err="1" smtClean="0"/>
              <a:t>Reprezintă</a:t>
            </a:r>
            <a:r>
              <a:rPr lang="en-US" dirty="0" smtClean="0"/>
              <a:t> </a:t>
            </a:r>
            <a:r>
              <a:rPr lang="en-US" dirty="0" err="1"/>
              <a:t>dependenţa</a:t>
            </a:r>
            <a:r>
              <a:rPr lang="en-US" dirty="0"/>
              <a:t> </a:t>
            </a:r>
            <a:r>
              <a:rPr lang="en-US" dirty="0" err="1"/>
              <a:t>curentului</a:t>
            </a:r>
            <a:r>
              <a:rPr lang="en-US" dirty="0"/>
              <a:t> de </a:t>
            </a:r>
            <a:r>
              <a:rPr lang="en-US" dirty="0" err="1"/>
              <a:t>ieşire</a:t>
            </a:r>
            <a:r>
              <a:rPr lang="en-US" dirty="0"/>
              <a:t> </a:t>
            </a:r>
            <a:r>
              <a:rPr lang="en-US" dirty="0" err="1"/>
              <a:t>funcţie</a:t>
            </a:r>
            <a:r>
              <a:rPr lang="en-US" dirty="0"/>
              <a:t> de </a:t>
            </a:r>
            <a:r>
              <a:rPr lang="en-US" dirty="0" err="1"/>
              <a:t>tensiunea</a:t>
            </a:r>
            <a:r>
              <a:rPr lang="en-US" dirty="0"/>
              <a:t> de </a:t>
            </a:r>
            <a:r>
              <a:rPr lang="en-US" dirty="0" err="1"/>
              <a:t>ieşire</a:t>
            </a:r>
            <a:r>
              <a:rPr lang="en-US" dirty="0"/>
              <a:t>, </a:t>
            </a:r>
            <a:r>
              <a:rPr lang="en-US" dirty="0" err="1"/>
              <a:t>pentru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diverse </a:t>
            </a:r>
            <a:r>
              <a:rPr lang="en-US" dirty="0" err="1"/>
              <a:t>valori</a:t>
            </a:r>
            <a:r>
              <a:rPr lang="en-US" dirty="0"/>
              <a:t> </a:t>
            </a:r>
            <a:r>
              <a:rPr lang="en-US" dirty="0" err="1"/>
              <a:t>constante</a:t>
            </a:r>
            <a:r>
              <a:rPr lang="en-US" dirty="0"/>
              <a:t> ale </a:t>
            </a:r>
            <a:r>
              <a:rPr lang="en-US" dirty="0" err="1"/>
              <a:t>curentului</a:t>
            </a:r>
            <a:r>
              <a:rPr lang="en-US" dirty="0"/>
              <a:t> (</a:t>
            </a:r>
            <a:r>
              <a:rPr lang="en-US" dirty="0" err="1"/>
              <a:t>tensiunii</a:t>
            </a:r>
            <a:r>
              <a:rPr lang="en-US" dirty="0"/>
              <a:t>) de </a:t>
            </a:r>
            <a:r>
              <a:rPr lang="en-US" dirty="0" err="1"/>
              <a:t>intrare</a:t>
            </a:r>
            <a:r>
              <a:rPr lang="en-US" dirty="0"/>
              <a:t>.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01562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untitled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557" y="119558"/>
            <a:ext cx="5358492" cy="5858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6" descr="ETAJE FUNDAMENTALE REALIZATE CU TRANZISTOARE BIPOLARE"/>
          <p:cNvSpPr>
            <a:spLocks noChangeAspect="1" noChangeArrowheads="1"/>
          </p:cNvSpPr>
          <p:nvPr/>
        </p:nvSpPr>
        <p:spPr bwMode="auto">
          <a:xfrm>
            <a:off x="307975" y="7937"/>
            <a:ext cx="2818946" cy="2818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128" name="Picture 8" descr="Calculator schemă amplificator cu un tranzistor bipolar - Hobbytronic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1353" y="372154"/>
            <a:ext cx="3861253" cy="5220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871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94" y="0"/>
            <a:ext cx="6143625" cy="68961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3862" y="391656"/>
            <a:ext cx="3981450" cy="127635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3862" y="2365312"/>
            <a:ext cx="3943350" cy="127635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9574" y="4810691"/>
            <a:ext cx="3971925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998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790099"/>
          </a:xfrm>
        </p:spPr>
        <p:txBody>
          <a:bodyPr>
            <a:normAutofit/>
          </a:bodyPr>
          <a:lstStyle/>
          <a:p>
            <a:r>
              <a:rPr lang="en-US" b="1" dirty="0"/>
              <a:t>PRINCIPIUL DE </a:t>
            </a:r>
            <a:r>
              <a:rPr lang="en-US" b="1" dirty="0" smtClean="0"/>
              <a:t>FUNCŢIONARE</a:t>
            </a:r>
          </a:p>
          <a:p>
            <a:pPr marL="0" indent="0">
              <a:buNone/>
            </a:pPr>
            <a:r>
              <a:rPr lang="en-US" b="1" dirty="0" err="1"/>
              <a:t>Generalităţi</a:t>
            </a:r>
            <a:r>
              <a:rPr lang="en-US" dirty="0"/>
              <a:t> </a:t>
            </a:r>
            <a:br>
              <a:rPr lang="en-US" dirty="0"/>
            </a:br>
            <a:r>
              <a:rPr lang="en-US" sz="2000" dirty="0" err="1"/>
              <a:t>Funcţionarea</a:t>
            </a:r>
            <a:r>
              <a:rPr lang="en-US" sz="2000" dirty="0"/>
              <a:t> </a:t>
            </a:r>
            <a:r>
              <a:rPr lang="en-US" sz="2000" dirty="0" err="1"/>
              <a:t>unui</a:t>
            </a:r>
            <a:r>
              <a:rPr lang="en-US" sz="2000" dirty="0"/>
              <a:t> </a:t>
            </a:r>
            <a:r>
              <a:rPr lang="en-US" sz="2000" dirty="0" err="1"/>
              <a:t>tranzistor</a:t>
            </a:r>
            <a:r>
              <a:rPr lang="en-US" sz="2000" dirty="0"/>
              <a:t> (</a:t>
            </a:r>
            <a:r>
              <a:rPr lang="en-US" sz="2000" dirty="0" err="1"/>
              <a:t>într</a:t>
            </a:r>
            <a:r>
              <a:rPr lang="en-US" sz="2000" dirty="0"/>
              <a:t>-un circuit </a:t>
            </a:r>
            <a:r>
              <a:rPr lang="en-US" sz="2000" dirty="0" err="1"/>
              <a:t>oarecare</a:t>
            </a:r>
            <a:r>
              <a:rPr lang="en-US" sz="2000" dirty="0"/>
              <a:t>) </a:t>
            </a:r>
            <a:r>
              <a:rPr lang="en-US" sz="2000" dirty="0" err="1"/>
              <a:t>poate</a:t>
            </a:r>
            <a:r>
              <a:rPr lang="en-US" sz="2000" dirty="0"/>
              <a:t> fi </a:t>
            </a:r>
            <a:r>
              <a:rPr lang="en-US" sz="2000" dirty="0" err="1"/>
              <a:t>înţeleasă</a:t>
            </a:r>
            <a:r>
              <a:rPr lang="en-US" sz="2000" dirty="0"/>
              <a:t> </a:t>
            </a:r>
            <a:r>
              <a:rPr lang="en-US" sz="2000" dirty="0" err="1"/>
              <a:t>doar</a:t>
            </a:r>
            <a:r>
              <a:rPr lang="en-US" sz="2000" dirty="0"/>
              <a:t> </a:t>
            </a:r>
            <a:r>
              <a:rPr lang="en-US" sz="2000" dirty="0" err="1"/>
              <a:t>dacă</a:t>
            </a:r>
            <a:r>
              <a:rPr lang="en-US" sz="2000" dirty="0"/>
              <a:t> </a:t>
            </a:r>
            <a:r>
              <a:rPr lang="en-US" sz="2000" dirty="0" err="1" smtClean="0"/>
              <a:t>este</a:t>
            </a:r>
            <a:r>
              <a:rPr lang="en-US" sz="2000" dirty="0" smtClean="0"/>
              <a:t> </a:t>
            </a:r>
            <a:r>
              <a:rPr lang="en-US" sz="2000" dirty="0" err="1" smtClean="0"/>
              <a:t>foarte</a:t>
            </a:r>
            <a:r>
              <a:rPr lang="en-US" sz="2000" dirty="0" smtClean="0"/>
              <a:t> </a:t>
            </a:r>
            <a:r>
              <a:rPr lang="en-US" sz="2000" dirty="0" err="1"/>
              <a:t>clară</a:t>
            </a:r>
            <a:r>
              <a:rPr lang="en-US" sz="2000" dirty="0"/>
              <a:t> </a:t>
            </a:r>
            <a:r>
              <a:rPr lang="en-US" sz="2000" dirty="0" err="1"/>
              <a:t>comportarea</a:t>
            </a:r>
            <a:r>
              <a:rPr lang="en-US" sz="2000" dirty="0"/>
              <a:t> </a:t>
            </a:r>
            <a:r>
              <a:rPr lang="en-US" sz="2000" dirty="0" err="1"/>
              <a:t>acestuia</a:t>
            </a:r>
            <a:r>
              <a:rPr lang="en-US" sz="2000" dirty="0"/>
              <a:t>: </a:t>
            </a:r>
            <a:endParaRPr lang="en-US" sz="2000" dirty="0" smtClean="0"/>
          </a:p>
          <a:p>
            <a:r>
              <a:rPr lang="en-US" sz="2000" dirty="0"/>
              <a:t> </a:t>
            </a:r>
            <a:r>
              <a:rPr lang="en-US" sz="2000" dirty="0" err="1"/>
              <a:t>în</a:t>
            </a:r>
            <a:r>
              <a:rPr lang="en-US" sz="2000" dirty="0"/>
              <a:t> </a:t>
            </a:r>
            <a:r>
              <a:rPr lang="en-US" sz="2000" dirty="0" err="1"/>
              <a:t>regim</a:t>
            </a:r>
            <a:r>
              <a:rPr lang="en-US" sz="2000" dirty="0"/>
              <a:t> static (la </a:t>
            </a:r>
            <a:r>
              <a:rPr lang="en-US" sz="2000" dirty="0" err="1"/>
              <a:t>bornele</a:t>
            </a:r>
            <a:r>
              <a:rPr lang="en-US" sz="2000" dirty="0"/>
              <a:t> </a:t>
            </a:r>
            <a:r>
              <a:rPr lang="en-US" sz="2000" dirty="0" err="1"/>
              <a:t>tranzistorului</a:t>
            </a:r>
            <a:r>
              <a:rPr lang="en-US" sz="2000" dirty="0"/>
              <a:t> se </a:t>
            </a:r>
            <a:r>
              <a:rPr lang="en-US" sz="2000" dirty="0" err="1"/>
              <a:t>aplică</a:t>
            </a:r>
            <a:r>
              <a:rPr lang="en-US" sz="2000" dirty="0"/>
              <a:t> </a:t>
            </a:r>
            <a:r>
              <a:rPr lang="en-US" sz="2000" dirty="0" err="1"/>
              <a:t>tensiuni</a:t>
            </a:r>
            <a:r>
              <a:rPr lang="en-US" sz="2000" dirty="0"/>
              <a:t> continue);</a:t>
            </a:r>
          </a:p>
          <a:p>
            <a:r>
              <a:rPr lang="en-US" sz="2000" dirty="0" err="1"/>
              <a:t>în</a:t>
            </a:r>
            <a:r>
              <a:rPr lang="en-US" sz="2000" dirty="0"/>
              <a:t> </a:t>
            </a:r>
            <a:r>
              <a:rPr lang="en-US" sz="2000" dirty="0" err="1"/>
              <a:t>regim</a:t>
            </a:r>
            <a:r>
              <a:rPr lang="en-US" sz="2000" dirty="0"/>
              <a:t> </a:t>
            </a:r>
            <a:r>
              <a:rPr lang="en-US" sz="2000" dirty="0" err="1"/>
              <a:t>dinamic</a:t>
            </a:r>
            <a:r>
              <a:rPr lang="en-US" sz="2000" dirty="0"/>
              <a:t> (la </a:t>
            </a:r>
            <a:r>
              <a:rPr lang="en-US" sz="2000" dirty="0" err="1"/>
              <a:t>intrarea</a:t>
            </a:r>
            <a:r>
              <a:rPr lang="en-US" sz="2000" dirty="0"/>
              <a:t> </a:t>
            </a:r>
            <a:r>
              <a:rPr lang="en-US" sz="2000" dirty="0" err="1"/>
              <a:t>tranzistorului</a:t>
            </a:r>
            <a:r>
              <a:rPr lang="en-US" sz="2000" dirty="0"/>
              <a:t> </a:t>
            </a:r>
            <a:r>
              <a:rPr lang="en-US" sz="2000" dirty="0" err="1"/>
              <a:t>văzut</a:t>
            </a:r>
            <a:r>
              <a:rPr lang="en-US" sz="2000" dirty="0"/>
              <a:t> ca un </a:t>
            </a:r>
            <a:r>
              <a:rPr lang="en-US" sz="2000" dirty="0" err="1"/>
              <a:t>diport</a:t>
            </a:r>
            <a:r>
              <a:rPr lang="en-US" sz="2000" dirty="0"/>
              <a:t> </a:t>
            </a:r>
            <a:r>
              <a:rPr lang="en-US" sz="2000" dirty="0" err="1"/>
              <a:t>apare</a:t>
            </a:r>
            <a:r>
              <a:rPr lang="en-US" sz="2000" dirty="0"/>
              <a:t> un </a:t>
            </a:r>
            <a:r>
              <a:rPr lang="en-US" sz="2000" dirty="0" err="1"/>
              <a:t>semnal</a:t>
            </a:r>
            <a:r>
              <a:rPr lang="en-US" sz="2000" dirty="0"/>
              <a:t> </a:t>
            </a:r>
            <a:r>
              <a:rPr lang="en-US" sz="2000" dirty="0" smtClean="0"/>
              <a:t>de </a:t>
            </a:r>
            <a:r>
              <a:rPr lang="en-US" sz="2000" dirty="0" err="1" smtClean="0"/>
              <a:t>comandă</a:t>
            </a:r>
            <a:r>
              <a:rPr lang="en-US" sz="2000" dirty="0" smtClean="0"/>
              <a:t> </a:t>
            </a:r>
            <a:r>
              <a:rPr lang="en-US" sz="2000" dirty="0"/>
              <a:t>(sinusoidal </a:t>
            </a:r>
            <a:r>
              <a:rPr lang="en-US" sz="2000" dirty="0" err="1"/>
              <a:t>sau</a:t>
            </a:r>
            <a:r>
              <a:rPr lang="en-US" sz="2000" dirty="0"/>
              <a:t> </a:t>
            </a:r>
            <a:r>
              <a:rPr lang="en-US" sz="2000" dirty="0" err="1"/>
              <a:t>impuls</a:t>
            </a:r>
            <a:r>
              <a:rPr lang="en-US" sz="2000" dirty="0"/>
              <a:t>), sub forma </a:t>
            </a:r>
            <a:r>
              <a:rPr lang="en-US" sz="2000" dirty="0" err="1"/>
              <a:t>unui</a:t>
            </a:r>
            <a:r>
              <a:rPr lang="en-US" sz="2000" dirty="0"/>
              <a:t> </a:t>
            </a:r>
            <a:r>
              <a:rPr lang="en-US" sz="2000" dirty="0" err="1"/>
              <a:t>curent</a:t>
            </a:r>
            <a:r>
              <a:rPr lang="en-US" sz="2000" dirty="0"/>
              <a:t> </a:t>
            </a:r>
            <a:r>
              <a:rPr lang="en-US" sz="2000" dirty="0" err="1"/>
              <a:t>sau</a:t>
            </a:r>
            <a:r>
              <a:rPr lang="en-US" sz="2000" dirty="0"/>
              <a:t> a </a:t>
            </a:r>
            <a:r>
              <a:rPr lang="en-US" sz="2000" dirty="0" err="1"/>
              <a:t>unei</a:t>
            </a:r>
            <a:r>
              <a:rPr lang="en-US" sz="2000" dirty="0"/>
              <a:t> </a:t>
            </a:r>
            <a:r>
              <a:rPr lang="en-US" sz="2000" dirty="0" err="1"/>
              <a:t>tensiuni</a:t>
            </a:r>
            <a:r>
              <a:rPr lang="en-US" sz="2000" dirty="0"/>
              <a:t>, </a:t>
            </a:r>
            <a:r>
              <a:rPr lang="en-US" sz="2000" dirty="0" err="1"/>
              <a:t>semnal</a:t>
            </a:r>
            <a:r>
              <a:rPr lang="en-US" sz="2000" dirty="0"/>
              <a:t> </a:t>
            </a:r>
            <a:r>
              <a:rPr lang="en-US" sz="2000" dirty="0" err="1"/>
              <a:t>ce</a:t>
            </a:r>
            <a:r>
              <a:rPr lang="en-US" sz="2000" dirty="0"/>
              <a:t> se </a:t>
            </a:r>
            <a:r>
              <a:rPr lang="en-US" sz="2000" dirty="0" err="1"/>
              <a:t>suprapune</a:t>
            </a:r>
            <a:r>
              <a:rPr lang="en-US" sz="2000" dirty="0"/>
              <a:t> </a:t>
            </a:r>
            <a:r>
              <a:rPr lang="en-US" sz="2000" dirty="0" err="1"/>
              <a:t>peste</a:t>
            </a:r>
            <a:r>
              <a:rPr lang="en-US" sz="2000" dirty="0"/>
              <a:t> o </a:t>
            </a:r>
            <a:r>
              <a:rPr lang="en-US" sz="2000" dirty="0" err="1"/>
              <a:t>tensiune</a:t>
            </a:r>
            <a:r>
              <a:rPr lang="en-US" sz="2000" dirty="0"/>
              <a:t> </a:t>
            </a:r>
            <a:r>
              <a:rPr lang="en-US" sz="2000" dirty="0" err="1"/>
              <a:t>continuă</a:t>
            </a:r>
            <a:r>
              <a:rPr lang="en-US" sz="2000" dirty="0"/>
              <a:t> </a:t>
            </a:r>
            <a:r>
              <a:rPr lang="en-US" sz="2000" dirty="0" err="1"/>
              <a:t>preexistentă</a:t>
            </a:r>
            <a:r>
              <a:rPr lang="en-US" sz="2000" dirty="0"/>
              <a:t>). </a:t>
            </a:r>
            <a:br>
              <a:rPr lang="en-US" sz="2000" dirty="0"/>
            </a:br>
            <a:endParaRPr lang="en-US" sz="2000" dirty="0" smtClean="0"/>
          </a:p>
          <a:p>
            <a:pPr marL="0" indent="0">
              <a:buNone/>
            </a:pPr>
            <a:r>
              <a:rPr lang="pt-BR" sz="2000" dirty="0"/>
              <a:t>Curentul de emitor şi cel de colector sunt aproximativ egali: </a:t>
            </a:r>
            <a:endParaRPr lang="pt-BR" sz="2000" dirty="0" smtClean="0"/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endParaRPr lang="pt-BR" sz="2000" dirty="0" smtClean="0"/>
          </a:p>
          <a:p>
            <a:pPr marL="0" indent="0">
              <a:buNone/>
            </a:pPr>
            <a:r>
              <a:rPr lang="en-US" sz="2000" dirty="0" err="1"/>
              <a:t>În</a:t>
            </a:r>
            <a:r>
              <a:rPr lang="en-US" sz="2000" dirty="0"/>
              <a:t> </a:t>
            </a:r>
            <a:r>
              <a:rPr lang="en-US" sz="2000" dirty="0" err="1"/>
              <a:t>regim</a:t>
            </a:r>
            <a:r>
              <a:rPr lang="en-US" sz="2000" dirty="0"/>
              <a:t> static, </a:t>
            </a:r>
            <a:r>
              <a:rPr lang="en-US" sz="2000" dirty="0" err="1"/>
              <a:t>curentul</a:t>
            </a:r>
            <a:r>
              <a:rPr lang="en-US" sz="2000" dirty="0"/>
              <a:t> de </a:t>
            </a:r>
            <a:r>
              <a:rPr lang="en-US" sz="2000" dirty="0" err="1"/>
              <a:t>bază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mult</a:t>
            </a:r>
            <a:r>
              <a:rPr lang="en-US" sz="2000" dirty="0"/>
              <a:t> </a:t>
            </a:r>
            <a:r>
              <a:rPr lang="en-US" sz="2000" dirty="0" err="1"/>
              <a:t>mai</a:t>
            </a:r>
            <a:r>
              <a:rPr lang="en-US" sz="2000" dirty="0"/>
              <a:t> mic </a:t>
            </a:r>
            <a:r>
              <a:rPr lang="en-US" sz="2000" dirty="0" err="1"/>
              <a:t>decât</a:t>
            </a:r>
            <a:r>
              <a:rPr lang="en-US" sz="2000" dirty="0"/>
              <a:t> </a:t>
            </a:r>
            <a:r>
              <a:rPr lang="en-US" sz="2000" dirty="0" err="1"/>
              <a:t>curentul</a:t>
            </a:r>
            <a:r>
              <a:rPr lang="en-US" sz="2000" dirty="0"/>
              <a:t> de </a:t>
            </a:r>
            <a:r>
              <a:rPr lang="en-US" sz="2000" dirty="0" err="1"/>
              <a:t>colector</a:t>
            </a:r>
            <a:r>
              <a:rPr lang="en-US" sz="2000" dirty="0"/>
              <a:t>: </a:t>
            </a: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err="1" smtClean="0"/>
              <a:t>Unde</a:t>
            </a:r>
            <a:r>
              <a:rPr lang="en-US" sz="2000" dirty="0" smtClean="0"/>
              <a:t> </a:t>
            </a:r>
            <a:r>
              <a:rPr lang="el-GR" sz="2000" dirty="0" smtClean="0"/>
              <a:t>β</a:t>
            </a:r>
            <a:r>
              <a:rPr lang="en-US" sz="2000" baseline="-25000" dirty="0"/>
              <a:t>F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amplificarea</a:t>
            </a:r>
            <a:r>
              <a:rPr lang="en-US" sz="2000" dirty="0"/>
              <a:t> </a:t>
            </a:r>
            <a:r>
              <a:rPr lang="en-US" sz="2000" dirty="0" err="1"/>
              <a:t>în</a:t>
            </a:r>
            <a:r>
              <a:rPr lang="en-US" sz="2000" dirty="0"/>
              <a:t> </a:t>
            </a:r>
            <a:r>
              <a:rPr lang="en-US" sz="2000" dirty="0" err="1"/>
              <a:t>curent</a:t>
            </a:r>
            <a:r>
              <a:rPr lang="en-US" sz="2000" dirty="0"/>
              <a:t> la </a:t>
            </a:r>
            <a:r>
              <a:rPr lang="en-US" sz="2000" dirty="0" err="1"/>
              <a:t>semnale</a:t>
            </a:r>
            <a:r>
              <a:rPr lang="en-US" sz="2000" dirty="0"/>
              <a:t> </a:t>
            </a:r>
            <a:r>
              <a:rPr lang="en-US" sz="2000" dirty="0" err="1"/>
              <a:t>mari</a:t>
            </a:r>
            <a:r>
              <a:rPr lang="en-US" sz="2000" dirty="0"/>
              <a:t>, </a:t>
            </a:r>
            <a:r>
              <a:rPr lang="en-US" sz="2000" dirty="0" err="1"/>
              <a:t>fiind</a:t>
            </a:r>
            <a:r>
              <a:rPr lang="en-US" sz="2000" dirty="0"/>
              <a:t> o </a:t>
            </a:r>
            <a:r>
              <a:rPr lang="en-US" sz="2000" dirty="0" err="1"/>
              <a:t>mărime</a:t>
            </a:r>
            <a:r>
              <a:rPr lang="en-US" sz="2000" dirty="0"/>
              <a:t> </a:t>
            </a:r>
            <a:r>
              <a:rPr lang="en-US" sz="2000" dirty="0" err="1"/>
              <a:t>ce</a:t>
            </a:r>
            <a:r>
              <a:rPr lang="en-US" sz="2000" dirty="0"/>
              <a:t> </a:t>
            </a:r>
            <a:r>
              <a:rPr lang="en-US" sz="2000" dirty="0" err="1" smtClean="0"/>
              <a:t>depinde</a:t>
            </a:r>
            <a:r>
              <a:rPr lang="en-US" sz="2000" dirty="0" smtClean="0"/>
              <a:t> de </a:t>
            </a:r>
            <a:r>
              <a:rPr lang="en-US" sz="2000" dirty="0" err="1"/>
              <a:t>tranzistor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 </a:t>
            </a:r>
            <a:r>
              <a:rPr lang="en-US" sz="2000" dirty="0" err="1"/>
              <a:t>Tranzistoarele</a:t>
            </a:r>
            <a:r>
              <a:rPr lang="en-US" sz="2000" dirty="0"/>
              <a:t> de </a:t>
            </a:r>
            <a:r>
              <a:rPr lang="en-US" sz="2000" dirty="0" err="1"/>
              <a:t>mică</a:t>
            </a:r>
            <a:r>
              <a:rPr lang="en-US" sz="2000" dirty="0"/>
              <a:t> </a:t>
            </a:r>
            <a:r>
              <a:rPr lang="en-US" sz="2000" dirty="0" err="1"/>
              <a:t>putere</a:t>
            </a:r>
            <a:r>
              <a:rPr lang="en-US" sz="2000" dirty="0"/>
              <a:t> </a:t>
            </a:r>
            <a:r>
              <a:rPr lang="en-US" sz="2000" dirty="0" err="1"/>
              <a:t>sunt</a:t>
            </a:r>
            <a:r>
              <a:rPr lang="en-US" sz="2000" dirty="0"/>
              <a:t> </a:t>
            </a:r>
            <a:r>
              <a:rPr lang="en-US" sz="2000" dirty="0" err="1"/>
              <a:t>caracterizate</a:t>
            </a:r>
            <a:r>
              <a:rPr lang="en-US" sz="2000" dirty="0"/>
              <a:t> de </a:t>
            </a:r>
            <a:r>
              <a:rPr lang="en-US" sz="2000" dirty="0" err="1"/>
              <a:t>valori</a:t>
            </a:r>
            <a:r>
              <a:rPr lang="en-US" sz="2000" dirty="0"/>
              <a:t> </a:t>
            </a:r>
            <a:r>
              <a:rPr lang="en-US" sz="2000" dirty="0" err="1"/>
              <a:t>mari</a:t>
            </a:r>
            <a:r>
              <a:rPr lang="en-US" sz="2000" dirty="0"/>
              <a:t> ale </a:t>
            </a:r>
            <a:r>
              <a:rPr lang="en-US" sz="2000" dirty="0" err="1"/>
              <a:t>lui</a:t>
            </a:r>
            <a:r>
              <a:rPr lang="en-US" sz="2000" dirty="0"/>
              <a:t> </a:t>
            </a:r>
            <a:r>
              <a:rPr lang="el-GR" sz="2000" dirty="0"/>
              <a:t>β</a:t>
            </a:r>
            <a:r>
              <a:rPr lang="en-US" sz="2000" baseline="-25000" dirty="0"/>
              <a:t>F</a:t>
            </a:r>
            <a:r>
              <a:rPr lang="en-US" sz="2000" dirty="0"/>
              <a:t> (</a:t>
            </a:r>
            <a:r>
              <a:rPr lang="en-US" sz="2000" dirty="0" smtClean="0"/>
              <a:t>de </a:t>
            </a:r>
            <a:r>
              <a:rPr lang="en-US" sz="2000" dirty="0" err="1" smtClean="0"/>
              <a:t>ordinul</a:t>
            </a:r>
            <a:r>
              <a:rPr lang="en-US" sz="2000" dirty="0" smtClean="0"/>
              <a:t> </a:t>
            </a:r>
            <a:r>
              <a:rPr lang="en-US" sz="2000" dirty="0" err="1"/>
              <a:t>sutelor</a:t>
            </a:r>
            <a:r>
              <a:rPr lang="en-US" sz="2000" dirty="0"/>
              <a:t>), </a:t>
            </a:r>
            <a:r>
              <a:rPr lang="en-US" sz="2000" dirty="0" err="1"/>
              <a:t>iar</a:t>
            </a:r>
            <a:r>
              <a:rPr lang="en-US" sz="2000" dirty="0"/>
              <a:t> </a:t>
            </a:r>
            <a:r>
              <a:rPr lang="en-US" sz="2000" dirty="0" err="1"/>
              <a:t>cele</a:t>
            </a:r>
            <a:r>
              <a:rPr lang="en-US" sz="2000" dirty="0"/>
              <a:t> de </a:t>
            </a:r>
            <a:r>
              <a:rPr lang="en-US" sz="2000" dirty="0" err="1"/>
              <a:t>putere</a:t>
            </a:r>
            <a:r>
              <a:rPr lang="en-US" sz="2000" dirty="0"/>
              <a:t> </a:t>
            </a:r>
            <a:r>
              <a:rPr lang="en-US" sz="2000" dirty="0" err="1"/>
              <a:t>medie</a:t>
            </a:r>
            <a:r>
              <a:rPr lang="en-US" sz="2000" dirty="0"/>
              <a:t> </a:t>
            </a:r>
            <a:r>
              <a:rPr lang="en-US" sz="2000" dirty="0" err="1"/>
              <a:t>sau</a:t>
            </a:r>
            <a:r>
              <a:rPr lang="en-US" sz="2000" dirty="0"/>
              <a:t> mare </a:t>
            </a:r>
            <a:r>
              <a:rPr lang="en-US" sz="2000" dirty="0" err="1"/>
              <a:t>prezintă</a:t>
            </a:r>
            <a:r>
              <a:rPr lang="en-US" sz="2000" dirty="0"/>
              <a:t> </a:t>
            </a:r>
            <a:r>
              <a:rPr lang="en-US" sz="2000" dirty="0" err="1"/>
              <a:t>valori</a:t>
            </a:r>
            <a:r>
              <a:rPr lang="en-US" sz="2000" dirty="0"/>
              <a:t> </a:t>
            </a:r>
            <a:r>
              <a:rPr lang="en-US" sz="2000" dirty="0" err="1"/>
              <a:t>mai</a:t>
            </a:r>
            <a:r>
              <a:rPr lang="en-US" sz="2000" dirty="0"/>
              <a:t> </a:t>
            </a:r>
            <a:r>
              <a:rPr lang="en-US" sz="2000" dirty="0" err="1"/>
              <a:t>mici</a:t>
            </a:r>
            <a:r>
              <a:rPr lang="en-US" sz="2000" dirty="0"/>
              <a:t> (</a:t>
            </a:r>
            <a:r>
              <a:rPr lang="en-US" sz="2000" dirty="0" smtClean="0"/>
              <a:t>de </a:t>
            </a:r>
            <a:r>
              <a:rPr lang="en-US" sz="2000" dirty="0" err="1" smtClean="0"/>
              <a:t>ordinul</a:t>
            </a:r>
            <a:r>
              <a:rPr lang="en-US" sz="2000" dirty="0" smtClean="0"/>
              <a:t> </a:t>
            </a:r>
            <a:r>
              <a:rPr lang="en-US" sz="2000" dirty="0" err="1"/>
              <a:t>zecilor</a:t>
            </a:r>
            <a:r>
              <a:rPr lang="en-US" sz="2000" dirty="0"/>
              <a:t>) ale </a:t>
            </a:r>
            <a:r>
              <a:rPr lang="en-US" sz="2000" dirty="0" err="1"/>
              <a:t>acestui</a:t>
            </a:r>
            <a:r>
              <a:rPr lang="en-US" sz="2000" dirty="0"/>
              <a:t> </a:t>
            </a:r>
            <a:r>
              <a:rPr lang="en-US" sz="2000" dirty="0" err="1"/>
              <a:t>parametru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 </a:t>
            </a:r>
            <a:r>
              <a:rPr lang="en-US" sz="2000" dirty="0" err="1"/>
              <a:t>Trebuie</a:t>
            </a:r>
            <a:r>
              <a:rPr lang="en-US" sz="2000" dirty="0"/>
              <a:t> </a:t>
            </a:r>
            <a:r>
              <a:rPr lang="en-US" sz="2000" dirty="0" err="1"/>
              <a:t>subliniată</a:t>
            </a:r>
            <a:r>
              <a:rPr lang="en-US" sz="2000" dirty="0"/>
              <a:t> </a:t>
            </a:r>
            <a:r>
              <a:rPr lang="en-US" sz="2000" dirty="0" err="1"/>
              <a:t>dispersia</a:t>
            </a:r>
            <a:r>
              <a:rPr lang="en-US" sz="2000" dirty="0"/>
              <a:t> mare a </a:t>
            </a:r>
            <a:r>
              <a:rPr lang="en-US" sz="2000" dirty="0" err="1"/>
              <a:t>parametrului</a:t>
            </a:r>
            <a:r>
              <a:rPr lang="en-US" sz="2000" dirty="0"/>
              <a:t> </a:t>
            </a:r>
            <a:r>
              <a:rPr lang="el-GR" sz="2000" dirty="0"/>
              <a:t>β</a:t>
            </a:r>
            <a:r>
              <a:rPr lang="en-US" sz="2000" baseline="-25000" dirty="0" smtClean="0"/>
              <a:t>F</a:t>
            </a:r>
            <a:r>
              <a:rPr lang="en-US" sz="2000" dirty="0" smtClean="0"/>
              <a:t>, </a:t>
            </a:r>
            <a:r>
              <a:rPr lang="en-US" sz="2000" dirty="0" err="1"/>
              <a:t>chiar</a:t>
            </a:r>
            <a:r>
              <a:rPr lang="en-US" sz="2000" dirty="0"/>
              <a:t> </a:t>
            </a:r>
            <a:r>
              <a:rPr lang="en-US" sz="2000" dirty="0" err="1"/>
              <a:t>pentru</a:t>
            </a:r>
            <a:r>
              <a:rPr lang="en-US" sz="2000" dirty="0"/>
              <a:t> </a:t>
            </a:r>
            <a:r>
              <a:rPr lang="en-US" sz="2000" dirty="0" err="1" smtClean="0"/>
              <a:t>tranzistoare</a:t>
            </a:r>
            <a:r>
              <a:rPr lang="en-US" sz="2000" dirty="0" smtClean="0"/>
              <a:t> </a:t>
            </a:r>
            <a:r>
              <a:rPr lang="en-US" sz="2000" dirty="0" err="1" smtClean="0"/>
              <a:t>făcând</a:t>
            </a:r>
            <a:r>
              <a:rPr lang="en-US" sz="2000" dirty="0" smtClean="0"/>
              <a:t> </a:t>
            </a:r>
            <a:r>
              <a:rPr lang="en-US" sz="2000" dirty="0"/>
              <a:t>parte din </a:t>
            </a:r>
            <a:r>
              <a:rPr lang="en-US" sz="2000" dirty="0" err="1"/>
              <a:t>aceeaşi</a:t>
            </a:r>
            <a:r>
              <a:rPr lang="en-US" sz="2000" dirty="0"/>
              <a:t> </a:t>
            </a:r>
            <a:r>
              <a:rPr lang="en-US" sz="2000" dirty="0" err="1"/>
              <a:t>familie</a:t>
            </a:r>
            <a:r>
              <a:rPr lang="en-US" sz="2000" dirty="0" smtClean="0"/>
              <a:t>.</a:t>
            </a:r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736" y="3549288"/>
            <a:ext cx="2419350" cy="8096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838" y="4784272"/>
            <a:ext cx="2501993" cy="381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114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0535" y="63374"/>
            <a:ext cx="12004895" cy="6708618"/>
          </a:xfrm>
        </p:spPr>
        <p:txBody>
          <a:bodyPr>
            <a:normAutofit/>
          </a:bodyPr>
          <a:lstStyle/>
          <a:p>
            <a:r>
              <a:rPr lang="en-US" sz="2000" dirty="0" err="1"/>
              <a:t>În</a:t>
            </a:r>
            <a:r>
              <a:rPr lang="en-US" sz="2000" dirty="0"/>
              <a:t> </a:t>
            </a:r>
            <a:r>
              <a:rPr lang="en-US" sz="2000" dirty="0" err="1"/>
              <a:t>regim</a:t>
            </a:r>
            <a:r>
              <a:rPr lang="en-US" sz="2000" dirty="0"/>
              <a:t> </a:t>
            </a:r>
            <a:r>
              <a:rPr lang="en-US" sz="2000" dirty="0" err="1"/>
              <a:t>dinamic</a:t>
            </a:r>
            <a:r>
              <a:rPr lang="en-US" sz="2000" dirty="0"/>
              <a:t>, </a:t>
            </a:r>
            <a:r>
              <a:rPr lang="en-US" sz="2000" dirty="0" err="1"/>
              <a:t>variaţia</a:t>
            </a:r>
            <a:r>
              <a:rPr lang="en-US" sz="2000" dirty="0"/>
              <a:t> </a:t>
            </a:r>
            <a:r>
              <a:rPr lang="en-US" sz="2000" dirty="0" err="1"/>
              <a:t>curentului</a:t>
            </a:r>
            <a:r>
              <a:rPr lang="en-US" sz="2000" dirty="0"/>
              <a:t> de </a:t>
            </a:r>
            <a:r>
              <a:rPr lang="en-US" sz="2000" dirty="0" err="1"/>
              <a:t>bază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mult</a:t>
            </a:r>
            <a:r>
              <a:rPr lang="en-US" sz="2000" dirty="0"/>
              <a:t> </a:t>
            </a:r>
            <a:r>
              <a:rPr lang="en-US" sz="2000" dirty="0" err="1"/>
              <a:t>mai</a:t>
            </a:r>
            <a:r>
              <a:rPr lang="en-US" sz="2000" dirty="0"/>
              <a:t> </a:t>
            </a:r>
            <a:r>
              <a:rPr lang="en-US" sz="2000" dirty="0" err="1"/>
              <a:t>mică</a:t>
            </a:r>
            <a:r>
              <a:rPr lang="en-US" sz="2000" dirty="0"/>
              <a:t> </a:t>
            </a:r>
            <a:r>
              <a:rPr lang="en-US" sz="2000" dirty="0" err="1"/>
              <a:t>decât</a:t>
            </a:r>
            <a:r>
              <a:rPr lang="en-US" sz="2000" dirty="0"/>
              <a:t> </a:t>
            </a:r>
            <a:r>
              <a:rPr lang="en-US" sz="2000" dirty="0" err="1" smtClean="0"/>
              <a:t>variaţia</a:t>
            </a:r>
            <a:r>
              <a:rPr lang="ru-RU" sz="2000" dirty="0" smtClean="0"/>
              <a:t> с</a:t>
            </a:r>
            <a:r>
              <a:rPr lang="en-US" sz="2000" dirty="0" err="1" smtClean="0"/>
              <a:t>urentului</a:t>
            </a:r>
            <a:r>
              <a:rPr lang="en-US" sz="2000" dirty="0" smtClean="0"/>
              <a:t> </a:t>
            </a:r>
            <a:r>
              <a:rPr lang="en-US" sz="2000" dirty="0"/>
              <a:t>de </a:t>
            </a:r>
            <a:r>
              <a:rPr lang="en-US" sz="2000" dirty="0" err="1"/>
              <a:t>colector</a:t>
            </a:r>
            <a:r>
              <a:rPr lang="en-US" sz="2000" dirty="0"/>
              <a:t>: </a:t>
            </a:r>
            <a:r>
              <a:rPr lang="en-US" dirty="0"/>
              <a:t/>
            </a:r>
            <a:br>
              <a:rPr lang="en-US" dirty="0"/>
            </a:br>
            <a:endParaRPr lang="ru-RU" dirty="0" smtClean="0"/>
          </a:p>
          <a:p>
            <a:r>
              <a:rPr lang="en-US" sz="2000" dirty="0"/>
              <a:t>h</a:t>
            </a:r>
            <a:r>
              <a:rPr lang="en-US" sz="2000" baseline="-25000" dirty="0"/>
              <a:t>21</a:t>
            </a:r>
            <a:r>
              <a:rPr lang="en-US" sz="2000" dirty="0"/>
              <a:t> (</a:t>
            </a:r>
            <a:r>
              <a:rPr lang="en-US" sz="2000" dirty="0" err="1"/>
              <a:t>sau</a:t>
            </a:r>
            <a:r>
              <a:rPr lang="en-US" sz="2000" dirty="0"/>
              <a:t> </a:t>
            </a:r>
            <a:r>
              <a:rPr lang="en-US" sz="2000" dirty="0" err="1" smtClean="0"/>
              <a:t>h</a:t>
            </a:r>
            <a:r>
              <a:rPr lang="en-US" sz="2000" baseline="-25000" dirty="0" err="1" smtClean="0"/>
              <a:t>fe</a:t>
            </a:r>
            <a:r>
              <a:rPr lang="en-US" sz="2000" dirty="0" smtClean="0"/>
              <a:t> </a:t>
            </a:r>
            <a:r>
              <a:rPr lang="en-US" sz="2000" dirty="0"/>
              <a:t>)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amplificarea</a:t>
            </a:r>
            <a:r>
              <a:rPr lang="en-US" sz="2000" dirty="0"/>
              <a:t> </a:t>
            </a:r>
            <a:r>
              <a:rPr lang="en-US" sz="2000" dirty="0" err="1"/>
              <a:t>în</a:t>
            </a:r>
            <a:r>
              <a:rPr lang="en-US" sz="2000" dirty="0"/>
              <a:t> </a:t>
            </a:r>
            <a:r>
              <a:rPr lang="en-US" sz="2000" dirty="0" err="1"/>
              <a:t>curent</a:t>
            </a:r>
            <a:r>
              <a:rPr lang="en-US" sz="2000" dirty="0"/>
              <a:t> la </a:t>
            </a:r>
            <a:r>
              <a:rPr lang="en-US" sz="2000" dirty="0" err="1"/>
              <a:t>semnale</a:t>
            </a:r>
            <a:r>
              <a:rPr lang="en-US" sz="2000" dirty="0"/>
              <a:t> </a:t>
            </a:r>
            <a:r>
              <a:rPr lang="en-US" sz="2000" dirty="0" err="1"/>
              <a:t>mici</a:t>
            </a:r>
            <a:r>
              <a:rPr lang="en-US" sz="2000" dirty="0"/>
              <a:t> cu </a:t>
            </a:r>
            <a:r>
              <a:rPr lang="en-US" sz="2000" dirty="0" err="1"/>
              <a:t>ieşirea</a:t>
            </a:r>
            <a:r>
              <a:rPr lang="en-US" sz="2000" dirty="0"/>
              <a:t> </a:t>
            </a:r>
            <a:r>
              <a:rPr lang="en-US" sz="2000" dirty="0" err="1" smtClean="0"/>
              <a:t>în</a:t>
            </a:r>
            <a:r>
              <a:rPr lang="ru-RU" sz="2000" dirty="0" smtClean="0"/>
              <a:t> </a:t>
            </a:r>
            <a:r>
              <a:rPr lang="en-US" sz="2000" dirty="0" err="1" smtClean="0"/>
              <a:t>scurtcircuit</a:t>
            </a:r>
            <a:r>
              <a:rPr lang="en-US" sz="2000" dirty="0" smtClean="0"/>
              <a:t> </a:t>
            </a:r>
            <a:r>
              <a:rPr lang="en-US" dirty="0"/>
              <a:t/>
            </a:r>
            <a:br>
              <a:rPr lang="en-US" dirty="0"/>
            </a:br>
            <a:endParaRPr lang="ru-RU" dirty="0" smtClean="0"/>
          </a:p>
          <a:p>
            <a:endParaRPr lang="ru-RU" dirty="0"/>
          </a:p>
          <a:p>
            <a:r>
              <a:rPr lang="en-US" sz="2600" dirty="0" err="1"/>
              <a:t>În</a:t>
            </a:r>
            <a:r>
              <a:rPr lang="en-US" sz="2600" dirty="0"/>
              <a:t> </a:t>
            </a:r>
            <a:r>
              <a:rPr lang="en-US" sz="2600" dirty="0" err="1"/>
              <a:t>funcţionarea</a:t>
            </a:r>
            <a:r>
              <a:rPr lang="en-US" sz="2600" dirty="0"/>
              <a:t> </a:t>
            </a:r>
            <a:r>
              <a:rPr lang="en-US" sz="2600" dirty="0" err="1"/>
              <a:t>normală</a:t>
            </a:r>
            <a:r>
              <a:rPr lang="en-US" sz="2600" dirty="0"/>
              <a:t> a </a:t>
            </a:r>
            <a:r>
              <a:rPr lang="en-US" sz="2600" dirty="0" err="1"/>
              <a:t>unui</a:t>
            </a:r>
            <a:r>
              <a:rPr lang="en-US" sz="2600" dirty="0"/>
              <a:t> </a:t>
            </a:r>
            <a:r>
              <a:rPr lang="en-US" sz="2600" dirty="0" err="1"/>
              <a:t>tranzistor</a:t>
            </a:r>
            <a:r>
              <a:rPr lang="en-US" sz="2600" dirty="0"/>
              <a:t> </a:t>
            </a:r>
            <a:r>
              <a:rPr lang="en-US" sz="2600" dirty="0" err="1"/>
              <a:t>joncţiunea</a:t>
            </a:r>
            <a:r>
              <a:rPr lang="en-US" sz="2600" dirty="0"/>
              <a:t> </a:t>
            </a:r>
            <a:r>
              <a:rPr lang="en-US" sz="2600" dirty="0" err="1"/>
              <a:t>emitor-bază</a:t>
            </a:r>
            <a:r>
              <a:rPr lang="en-US" sz="2600" dirty="0"/>
              <a:t> </a:t>
            </a:r>
            <a:r>
              <a:rPr lang="en-US" sz="2600" dirty="0" err="1"/>
              <a:t>este</a:t>
            </a:r>
            <a:r>
              <a:rPr lang="en-US" sz="2600" dirty="0"/>
              <a:t> </a:t>
            </a:r>
            <a:r>
              <a:rPr lang="en-US" sz="2600" dirty="0" err="1"/>
              <a:t>polarizată</a:t>
            </a:r>
            <a:r>
              <a:rPr lang="en-US" sz="2600" dirty="0"/>
              <a:t> direct, </a:t>
            </a:r>
            <a:r>
              <a:rPr lang="en-US" sz="2600" dirty="0" err="1" smtClean="0"/>
              <a:t>iar</a:t>
            </a:r>
            <a:r>
              <a:rPr lang="ru-RU" sz="2600" dirty="0" smtClean="0"/>
              <a:t> </a:t>
            </a:r>
            <a:r>
              <a:rPr lang="en-US" sz="2600" dirty="0" err="1" smtClean="0"/>
              <a:t>cea</a:t>
            </a:r>
            <a:r>
              <a:rPr lang="en-US" sz="2600" dirty="0" smtClean="0"/>
              <a:t> </a:t>
            </a:r>
            <a:r>
              <a:rPr lang="en-US" sz="2600" dirty="0" err="1"/>
              <a:t>colector-bază</a:t>
            </a:r>
            <a:r>
              <a:rPr lang="en-US" sz="2600" dirty="0"/>
              <a:t> </a:t>
            </a:r>
            <a:r>
              <a:rPr lang="en-US" sz="2600" dirty="0" err="1"/>
              <a:t>polarizată</a:t>
            </a:r>
            <a:r>
              <a:rPr lang="en-US" sz="2600" dirty="0"/>
              <a:t> invers. </a:t>
            </a:r>
            <a:r>
              <a:rPr lang="en-US" sz="2600" dirty="0" err="1"/>
              <a:t>Specificitatea</a:t>
            </a:r>
            <a:r>
              <a:rPr lang="en-US" sz="2600" dirty="0"/>
              <a:t> </a:t>
            </a:r>
            <a:r>
              <a:rPr lang="en-US" sz="2600" dirty="0" err="1"/>
              <a:t>tranzistorului</a:t>
            </a:r>
            <a:r>
              <a:rPr lang="en-US" sz="2600" dirty="0"/>
              <a:t> </a:t>
            </a:r>
            <a:r>
              <a:rPr lang="en-US" sz="2600" dirty="0" err="1"/>
              <a:t>este</a:t>
            </a:r>
            <a:r>
              <a:rPr lang="en-US" sz="2600" dirty="0"/>
              <a:t> </a:t>
            </a:r>
            <a:r>
              <a:rPr lang="en-US" sz="2600" dirty="0" err="1"/>
              <a:t>cuplarea</a:t>
            </a:r>
            <a:r>
              <a:rPr lang="en-US" sz="2600" dirty="0"/>
              <a:t> </a:t>
            </a:r>
            <a:r>
              <a:rPr lang="en-US" sz="2600" dirty="0" err="1"/>
              <a:t>electrică</a:t>
            </a:r>
            <a:r>
              <a:rPr lang="en-US" sz="2600" dirty="0"/>
              <a:t> </a:t>
            </a:r>
            <a:r>
              <a:rPr lang="en-US" sz="2600" dirty="0" smtClean="0"/>
              <a:t>a</a:t>
            </a:r>
            <a:r>
              <a:rPr lang="ru-RU" sz="2600" dirty="0" smtClean="0"/>
              <a:t> </a:t>
            </a:r>
            <a:r>
              <a:rPr lang="en-US" sz="2600" dirty="0" err="1" smtClean="0"/>
              <a:t>acestor</a:t>
            </a:r>
            <a:r>
              <a:rPr lang="en-US" sz="2600" dirty="0" smtClean="0"/>
              <a:t> </a:t>
            </a:r>
            <a:r>
              <a:rPr lang="en-US" sz="2600" dirty="0" err="1"/>
              <a:t>două</a:t>
            </a:r>
            <a:r>
              <a:rPr lang="en-US" sz="2600" dirty="0"/>
              <a:t> </a:t>
            </a:r>
            <a:r>
              <a:rPr lang="en-US" sz="2600" dirty="0" err="1"/>
              <a:t>joncţiuni</a:t>
            </a:r>
            <a:r>
              <a:rPr lang="en-US" sz="2600" dirty="0"/>
              <a:t> </a:t>
            </a:r>
            <a:r>
              <a:rPr lang="en-US" sz="2600" dirty="0" err="1"/>
              <a:t>pn</a:t>
            </a:r>
            <a:r>
              <a:rPr lang="en-US" sz="2600" dirty="0" smtClean="0"/>
              <a:t>.</a:t>
            </a:r>
            <a:endParaRPr lang="ru-RU" sz="2600" dirty="0" smtClean="0"/>
          </a:p>
          <a:p>
            <a:pPr marL="0" indent="0">
              <a:buNone/>
            </a:pPr>
            <a:r>
              <a:rPr lang="en-US" sz="2600" dirty="0"/>
              <a:t/>
            </a:r>
            <a:br>
              <a:rPr lang="en-US" sz="2600" dirty="0"/>
            </a:br>
            <a:r>
              <a:rPr lang="ru-RU" sz="2600" dirty="0" smtClean="0"/>
              <a:t>	</a:t>
            </a:r>
            <a:r>
              <a:rPr lang="en-US" sz="2600" dirty="0" err="1" smtClean="0"/>
              <a:t>Constructiv</a:t>
            </a:r>
            <a:r>
              <a:rPr lang="en-US" sz="2600" dirty="0"/>
              <a:t>, </a:t>
            </a:r>
            <a:r>
              <a:rPr lang="en-US" sz="2600" dirty="0" err="1"/>
              <a:t>trebuie</a:t>
            </a:r>
            <a:r>
              <a:rPr lang="en-US" sz="2600" dirty="0"/>
              <a:t> </a:t>
            </a:r>
            <a:r>
              <a:rPr lang="en-US" sz="2600" dirty="0" err="1"/>
              <a:t>îndeplinite</a:t>
            </a:r>
            <a:r>
              <a:rPr lang="en-US" sz="2600" dirty="0"/>
              <a:t> </a:t>
            </a:r>
            <a:r>
              <a:rPr lang="en-US" sz="2600" dirty="0" err="1"/>
              <a:t>două</a:t>
            </a:r>
            <a:r>
              <a:rPr lang="en-US" sz="2600" dirty="0"/>
              <a:t> </a:t>
            </a:r>
            <a:r>
              <a:rPr lang="en-US" sz="2600" dirty="0" err="1"/>
              <a:t>condiţii</a:t>
            </a:r>
            <a:r>
              <a:rPr lang="en-US" sz="2600" dirty="0"/>
              <a:t> </a:t>
            </a:r>
            <a:r>
              <a:rPr lang="en-US" sz="2600" dirty="0" smtClean="0"/>
              <a:t>:</a:t>
            </a:r>
            <a:endParaRPr lang="ru-RU" sz="2600" dirty="0" smtClean="0"/>
          </a:p>
          <a:p>
            <a:r>
              <a:rPr lang="en-US" sz="2600" dirty="0" smtClean="0"/>
              <a:t> </a:t>
            </a:r>
            <a:r>
              <a:rPr lang="en-US" sz="2600" dirty="0" err="1"/>
              <a:t>Joncţiunea</a:t>
            </a:r>
            <a:r>
              <a:rPr lang="en-US" sz="2600" dirty="0"/>
              <a:t> </a:t>
            </a:r>
            <a:r>
              <a:rPr lang="en-US" sz="2600" dirty="0" err="1"/>
              <a:t>emitor-bază</a:t>
            </a:r>
            <a:r>
              <a:rPr lang="en-US" sz="2600" dirty="0"/>
              <a:t> </a:t>
            </a:r>
            <a:r>
              <a:rPr lang="en-US" sz="2600" dirty="0" err="1"/>
              <a:t>trebuie</a:t>
            </a:r>
            <a:r>
              <a:rPr lang="en-US" sz="2600" dirty="0"/>
              <a:t> </a:t>
            </a:r>
            <a:r>
              <a:rPr lang="en-US" sz="2600" dirty="0" err="1"/>
              <a:t>să</a:t>
            </a:r>
            <a:r>
              <a:rPr lang="en-US" sz="2600" dirty="0"/>
              <a:t> fie </a:t>
            </a:r>
            <a:r>
              <a:rPr lang="en-US" sz="2600" dirty="0" err="1"/>
              <a:t>puternic</a:t>
            </a:r>
            <a:r>
              <a:rPr lang="en-US" sz="2600" dirty="0"/>
              <a:t> </a:t>
            </a:r>
            <a:r>
              <a:rPr lang="en-US" sz="2600" dirty="0" err="1"/>
              <a:t>asimetrică</a:t>
            </a:r>
            <a:r>
              <a:rPr lang="en-US" sz="2600" dirty="0"/>
              <a:t>: </a:t>
            </a:r>
            <a:r>
              <a:rPr lang="en-US" sz="2600" dirty="0" err="1"/>
              <a:t>p</a:t>
            </a:r>
            <a:r>
              <a:rPr lang="en-US" sz="2600" baseline="30000" dirty="0" err="1"/>
              <a:t>+</a:t>
            </a:r>
            <a:r>
              <a:rPr lang="en-US" sz="2600" dirty="0" err="1"/>
              <a:t>n</a:t>
            </a:r>
            <a:r>
              <a:rPr lang="en-US" sz="2600" dirty="0"/>
              <a:t> </a:t>
            </a:r>
            <a:r>
              <a:rPr lang="en-US" sz="2600" dirty="0" err="1"/>
              <a:t>în</a:t>
            </a:r>
            <a:r>
              <a:rPr lang="en-US" sz="2600" dirty="0"/>
              <a:t> </a:t>
            </a:r>
            <a:r>
              <a:rPr lang="en-US" sz="2600" dirty="0" err="1" smtClean="0"/>
              <a:t>cazul</a:t>
            </a:r>
            <a:r>
              <a:rPr lang="ru-RU" sz="2600" dirty="0" smtClean="0"/>
              <a:t> </a:t>
            </a:r>
            <a:r>
              <a:rPr lang="en-US" sz="2600" dirty="0" smtClean="0"/>
              <a:t/>
            </a:r>
            <a:br>
              <a:rPr lang="en-US" sz="2600" dirty="0" smtClean="0"/>
            </a:br>
            <a:r>
              <a:rPr lang="en-US" sz="2600" dirty="0" err="1" smtClean="0"/>
              <a:t>tranzistoarelor</a:t>
            </a:r>
            <a:r>
              <a:rPr lang="en-US" sz="2600" dirty="0" smtClean="0"/>
              <a:t> </a:t>
            </a:r>
            <a:r>
              <a:rPr lang="en-US" sz="2600" dirty="0" err="1"/>
              <a:t>pnp</a:t>
            </a:r>
            <a:r>
              <a:rPr lang="en-US" sz="2600" dirty="0"/>
              <a:t> </a:t>
            </a:r>
            <a:r>
              <a:rPr lang="en-US" sz="2600" dirty="0" err="1"/>
              <a:t>şi</a:t>
            </a:r>
            <a:r>
              <a:rPr lang="en-US" sz="2600" dirty="0"/>
              <a:t> </a:t>
            </a:r>
            <a:r>
              <a:rPr lang="en-US" sz="2600" dirty="0" err="1"/>
              <a:t>n</a:t>
            </a:r>
            <a:r>
              <a:rPr lang="en-US" sz="2600" baseline="30000" dirty="0" err="1"/>
              <a:t>+</a:t>
            </a:r>
            <a:r>
              <a:rPr lang="en-US" sz="2600" dirty="0" err="1"/>
              <a:t>p</a:t>
            </a:r>
            <a:r>
              <a:rPr lang="en-US" sz="2600" dirty="0"/>
              <a:t> </a:t>
            </a:r>
            <a:r>
              <a:rPr lang="en-US" sz="2600" dirty="0" err="1"/>
              <a:t>în</a:t>
            </a:r>
            <a:r>
              <a:rPr lang="en-US" sz="2600" dirty="0"/>
              <a:t> </a:t>
            </a:r>
            <a:r>
              <a:rPr lang="en-US" sz="2600" dirty="0" err="1"/>
              <a:t>cazul</a:t>
            </a:r>
            <a:r>
              <a:rPr lang="en-US" sz="2600" dirty="0"/>
              <a:t> </a:t>
            </a:r>
            <a:r>
              <a:rPr lang="en-US" sz="2600" dirty="0" err="1"/>
              <a:t>tranzistoarelor</a:t>
            </a:r>
            <a:r>
              <a:rPr lang="en-US" sz="2600" dirty="0"/>
              <a:t> </a:t>
            </a:r>
            <a:r>
              <a:rPr lang="en-US" sz="2600" dirty="0" err="1"/>
              <a:t>npn</a:t>
            </a:r>
            <a:r>
              <a:rPr lang="en-US" sz="2600" dirty="0"/>
              <a:t> (</a:t>
            </a:r>
            <a:r>
              <a:rPr lang="en-US" sz="2600" dirty="0" err="1"/>
              <a:t>adică</a:t>
            </a:r>
            <a:r>
              <a:rPr lang="en-US" sz="2600" dirty="0"/>
              <a:t> zona </a:t>
            </a:r>
            <a:r>
              <a:rPr lang="en-US" sz="2600" dirty="0" err="1"/>
              <a:t>puternic</a:t>
            </a:r>
            <a:r>
              <a:rPr lang="en-US" sz="2600" dirty="0"/>
              <a:t> </a:t>
            </a:r>
            <a:r>
              <a:rPr lang="en-US" sz="2600" dirty="0" err="1"/>
              <a:t>dopată</a:t>
            </a:r>
            <a:r>
              <a:rPr lang="en-US" sz="2600" dirty="0"/>
              <a:t/>
            </a:r>
            <a:br>
              <a:rPr lang="en-US" sz="2600" dirty="0"/>
            </a:br>
            <a:r>
              <a:rPr lang="en-US" sz="2600" dirty="0" err="1"/>
              <a:t>este</a:t>
            </a:r>
            <a:r>
              <a:rPr lang="en-US" sz="2600" dirty="0"/>
              <a:t> </a:t>
            </a:r>
            <a:r>
              <a:rPr lang="en-US" sz="2600" dirty="0" err="1"/>
              <a:t>emitorul</a:t>
            </a:r>
            <a:r>
              <a:rPr lang="en-US" sz="2600" dirty="0" smtClean="0"/>
              <a:t>).</a:t>
            </a:r>
            <a:endParaRPr lang="ru-RU" sz="2600" dirty="0" smtClean="0"/>
          </a:p>
          <a:p>
            <a:r>
              <a:rPr lang="en-US" sz="2600" dirty="0" err="1" smtClean="0"/>
              <a:t>Baza</a:t>
            </a:r>
            <a:r>
              <a:rPr lang="en-US" sz="2600" dirty="0" smtClean="0"/>
              <a:t> </a:t>
            </a:r>
            <a:r>
              <a:rPr lang="en-US" sz="2600" dirty="0" err="1"/>
              <a:t>trebuie</a:t>
            </a:r>
            <a:r>
              <a:rPr lang="en-US" sz="2600" dirty="0"/>
              <a:t> </a:t>
            </a:r>
            <a:r>
              <a:rPr lang="en-US" sz="2600" dirty="0" err="1"/>
              <a:t>să</a:t>
            </a:r>
            <a:r>
              <a:rPr lang="en-US" sz="2600" dirty="0"/>
              <a:t> fie </a:t>
            </a:r>
            <a:r>
              <a:rPr lang="en-US" sz="2600" dirty="0" err="1"/>
              <a:t>subţire</a:t>
            </a:r>
            <a:r>
              <a:rPr lang="en-US" sz="2600" dirty="0"/>
              <a:t> (</a:t>
            </a:r>
            <a:r>
              <a:rPr lang="en-US" sz="2600" dirty="0" err="1"/>
              <a:t>îngustă</a:t>
            </a:r>
            <a:r>
              <a:rPr lang="en-US" sz="2600" dirty="0"/>
              <a:t>) </a:t>
            </a:r>
            <a:r>
              <a:rPr lang="en-US" sz="2600" dirty="0" err="1"/>
              <a:t>în</a:t>
            </a:r>
            <a:r>
              <a:rPr lang="en-US" sz="2600" dirty="0"/>
              <a:t> </a:t>
            </a:r>
            <a:r>
              <a:rPr lang="en-US" sz="2600" dirty="0" err="1"/>
              <a:t>comparaţie</a:t>
            </a:r>
            <a:r>
              <a:rPr lang="en-US" sz="2600" dirty="0"/>
              <a:t> cu </a:t>
            </a:r>
            <a:r>
              <a:rPr lang="en-US" sz="2600" dirty="0" err="1"/>
              <a:t>lungimea</a:t>
            </a:r>
            <a:r>
              <a:rPr lang="en-US" sz="2600" dirty="0"/>
              <a:t> de </a:t>
            </a:r>
            <a:r>
              <a:rPr lang="en-US" sz="2600" dirty="0" err="1"/>
              <a:t>difuzie</a:t>
            </a:r>
            <a:r>
              <a:rPr lang="en-US" sz="2600" dirty="0"/>
              <a:t> </a:t>
            </a:r>
            <a:r>
              <a:rPr lang="en-US" sz="2600" dirty="0" err="1"/>
              <a:t>L</a:t>
            </a:r>
            <a:r>
              <a:rPr lang="en-US" sz="2600" baseline="-25000" dirty="0" err="1"/>
              <a:t>p</a:t>
            </a:r>
            <a:r>
              <a:rPr lang="en-US" sz="2600" dirty="0"/>
              <a:t> a</a:t>
            </a:r>
            <a:br>
              <a:rPr lang="en-US" sz="2600" dirty="0"/>
            </a:br>
            <a:r>
              <a:rPr lang="en-US" sz="2600" dirty="0" err="1"/>
              <a:t>purtătorilor</a:t>
            </a:r>
            <a:r>
              <a:rPr lang="en-US" sz="2600" dirty="0"/>
              <a:t> </a:t>
            </a:r>
            <a:r>
              <a:rPr lang="en-US" sz="2600" dirty="0" err="1"/>
              <a:t>majoritari</a:t>
            </a:r>
            <a:r>
              <a:rPr lang="en-US" sz="2600" dirty="0"/>
              <a:t> din </a:t>
            </a:r>
            <a:r>
              <a:rPr lang="en-US" sz="2600" dirty="0" err="1"/>
              <a:t>emitor</a:t>
            </a:r>
            <a:r>
              <a:rPr lang="en-US" sz="2600" dirty="0"/>
              <a:t> </a:t>
            </a:r>
            <a:r>
              <a:rPr lang="en-US" sz="2600" dirty="0" err="1"/>
              <a:t>ce</a:t>
            </a:r>
            <a:r>
              <a:rPr lang="en-US" sz="2600" dirty="0"/>
              <a:t> </a:t>
            </a:r>
            <a:r>
              <a:rPr lang="en-US" sz="2600" dirty="0" err="1"/>
              <a:t>ajung</a:t>
            </a:r>
            <a:r>
              <a:rPr lang="en-US" sz="2600" dirty="0"/>
              <a:t> </a:t>
            </a:r>
            <a:r>
              <a:rPr lang="en-US" sz="2600" dirty="0" err="1"/>
              <a:t>în</a:t>
            </a:r>
            <a:r>
              <a:rPr lang="en-US" sz="2600" dirty="0"/>
              <a:t> </a:t>
            </a:r>
            <a:r>
              <a:rPr lang="en-US" sz="2600" dirty="0" err="1"/>
              <a:t>bază</a:t>
            </a:r>
            <a:r>
              <a:rPr lang="en-US" sz="2600" dirty="0"/>
              <a:t>, </a:t>
            </a:r>
            <a:r>
              <a:rPr lang="en-US" sz="2600" dirty="0" err="1"/>
              <a:t>astfel</a:t>
            </a:r>
            <a:r>
              <a:rPr lang="en-US" sz="2600" dirty="0"/>
              <a:t> </a:t>
            </a:r>
            <a:r>
              <a:rPr lang="en-US" sz="2600" dirty="0" err="1"/>
              <a:t>încât</a:t>
            </a:r>
            <a:r>
              <a:rPr lang="en-US" sz="2600" dirty="0"/>
              <a:t> </a:t>
            </a:r>
            <a:r>
              <a:rPr lang="en-US" sz="2600" dirty="0" err="1"/>
              <a:t>cea</a:t>
            </a:r>
            <a:r>
              <a:rPr lang="en-US" sz="2600" dirty="0"/>
              <a:t> </a:t>
            </a:r>
            <a:r>
              <a:rPr lang="en-US" sz="2600" dirty="0" err="1"/>
              <a:t>mai</a:t>
            </a:r>
            <a:r>
              <a:rPr lang="en-US" sz="2600" dirty="0"/>
              <a:t> mare parte</a:t>
            </a:r>
            <a:br>
              <a:rPr lang="en-US" sz="2600" dirty="0"/>
            </a:br>
            <a:r>
              <a:rPr lang="en-US" sz="2600" dirty="0" err="1"/>
              <a:t>dintre</a:t>
            </a:r>
            <a:r>
              <a:rPr lang="en-US" sz="2600" dirty="0"/>
              <a:t> </a:t>
            </a:r>
            <a:r>
              <a:rPr lang="en-US" sz="2600" dirty="0" err="1"/>
              <a:t>ei</a:t>
            </a:r>
            <a:r>
              <a:rPr lang="en-US" sz="2600" dirty="0"/>
              <a:t> </a:t>
            </a:r>
            <a:r>
              <a:rPr lang="en-US" sz="2600" dirty="0" err="1"/>
              <a:t>să</a:t>
            </a:r>
            <a:r>
              <a:rPr lang="en-US" sz="2600" dirty="0"/>
              <a:t> fie </a:t>
            </a:r>
            <a:r>
              <a:rPr lang="en-US" sz="2600" dirty="0" err="1"/>
              <a:t>captaţi</a:t>
            </a:r>
            <a:r>
              <a:rPr lang="en-US" sz="2600" dirty="0"/>
              <a:t> de </a:t>
            </a:r>
            <a:r>
              <a:rPr lang="en-US" sz="2600" dirty="0" err="1"/>
              <a:t>colector</a:t>
            </a:r>
            <a:r>
              <a:rPr lang="en-US" sz="2600" dirty="0"/>
              <a:t>.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95" y="489857"/>
            <a:ext cx="2038073" cy="27174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596" y="1290071"/>
            <a:ext cx="628650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158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9587" y="99588"/>
            <a:ext cx="11977735" cy="6758412"/>
          </a:xfrm>
        </p:spPr>
        <p:txBody>
          <a:bodyPr/>
          <a:lstStyle/>
          <a:p>
            <a:r>
              <a:rPr lang="en-US" b="1" dirty="0" err="1"/>
              <a:t>Funcţionarea</a:t>
            </a:r>
            <a:r>
              <a:rPr lang="en-US" b="1" dirty="0"/>
              <a:t> </a:t>
            </a:r>
            <a:r>
              <a:rPr lang="en-US" b="1" dirty="0" err="1"/>
              <a:t>tranzistorului</a:t>
            </a:r>
            <a:r>
              <a:rPr lang="en-US" b="1" dirty="0"/>
              <a:t> </a:t>
            </a:r>
            <a:r>
              <a:rPr lang="en-US" b="1" dirty="0" err="1"/>
              <a:t>pnp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02" y="563484"/>
            <a:ext cx="4422194" cy="2798857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314384" y="652346"/>
            <a:ext cx="676293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Regimul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activ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normal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Un TB se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află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cest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regim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funcţionare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dacă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joncţiunea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EB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polarizată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direct,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iar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joncţiunea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CB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polarizată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invers.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cazul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TB de tip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pnp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rezultă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de-DE" baseline="-25000" dirty="0" smtClean="0">
                <a:latin typeface="Times New Roman" pitchFamily="18" charset="0"/>
                <a:cs typeface="Times New Roman" pitchFamily="18" charset="0"/>
              </a:rPr>
              <a:t>EB</a:t>
            </a:r>
            <a:r>
              <a:rPr lang="de-DE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de-DE" dirty="0">
                <a:latin typeface="Times New Roman" pitchFamily="18" charset="0"/>
                <a:cs typeface="Times New Roman" pitchFamily="18" charset="0"/>
              </a:rPr>
              <a:t>&gt; 0 ; </a:t>
            </a:r>
            <a:r>
              <a:rPr lang="de-DE" dirty="0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de-DE" baseline="-25000" dirty="0" smtClean="0">
                <a:latin typeface="Times New Roman" pitchFamily="18" charset="0"/>
                <a:cs typeface="Times New Roman" pitchFamily="18" charset="0"/>
              </a:rPr>
              <a:t>CB</a:t>
            </a:r>
            <a:r>
              <a:rPr lang="de-DE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de-DE" dirty="0">
                <a:latin typeface="Times New Roman" pitchFamily="18" charset="0"/>
                <a:cs typeface="Times New Roman" pitchFamily="18" charset="0"/>
              </a:rPr>
              <a:t>&lt; 0 </a:t>
            </a:r>
            <a:endParaRPr lang="de-DE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/>
              <a:t>Datorită</a:t>
            </a:r>
            <a:r>
              <a:rPr lang="en-US" dirty="0"/>
              <a:t> </a:t>
            </a:r>
            <a:r>
              <a:rPr lang="en-US" dirty="0" err="1"/>
              <a:t>polarizării</a:t>
            </a:r>
            <a:r>
              <a:rPr lang="en-US" dirty="0"/>
              <a:t> </a:t>
            </a:r>
            <a:r>
              <a:rPr lang="en-US" dirty="0" err="1"/>
              <a:t>directe</a:t>
            </a:r>
            <a:r>
              <a:rPr lang="en-US" dirty="0"/>
              <a:t> a </a:t>
            </a:r>
            <a:r>
              <a:rPr lang="en-US" dirty="0" err="1"/>
              <a:t>joncţiunii</a:t>
            </a:r>
            <a:r>
              <a:rPr lang="en-US" dirty="0"/>
              <a:t> EB, </a:t>
            </a:r>
            <a:r>
              <a:rPr lang="en-US" dirty="0" err="1"/>
              <a:t>lungimea</a:t>
            </a:r>
            <a:r>
              <a:rPr lang="en-US" dirty="0"/>
              <a:t> de </a:t>
            </a:r>
            <a:r>
              <a:rPr lang="en-US" dirty="0" err="1"/>
              <a:t>difuzie</a:t>
            </a:r>
            <a:r>
              <a:rPr lang="en-US" dirty="0"/>
              <a:t> </a:t>
            </a:r>
            <a:r>
              <a:rPr lang="en-US" dirty="0" err="1"/>
              <a:t>corespunzătoare</a:t>
            </a:r>
            <a:r>
              <a:rPr lang="en-US" dirty="0"/>
              <a:t> </a:t>
            </a:r>
            <a:r>
              <a:rPr lang="en-US" dirty="0" err="1"/>
              <a:t>acesteia</a:t>
            </a:r>
            <a:r>
              <a:rPr lang="en-US" dirty="0"/>
              <a:t> </a:t>
            </a:r>
            <a:r>
              <a:rPr lang="en-US" dirty="0" smtClean="0"/>
              <a:t>se </a:t>
            </a:r>
            <a:r>
              <a:rPr lang="en-US" dirty="0" err="1" smtClean="0"/>
              <a:t>va</a:t>
            </a:r>
            <a:r>
              <a:rPr lang="en-US" dirty="0" smtClean="0"/>
              <a:t> </a:t>
            </a:r>
            <a:r>
              <a:rPr lang="en-US" dirty="0" err="1" smtClean="0"/>
              <a:t>micşora</a:t>
            </a:r>
            <a:r>
              <a:rPr lang="en-US" dirty="0" smtClean="0"/>
              <a:t>. </a:t>
            </a:r>
            <a:r>
              <a:rPr lang="en-US" dirty="0"/>
              <a:t>De </a:t>
            </a:r>
            <a:r>
              <a:rPr lang="en-US" dirty="0" err="1"/>
              <a:t>asemenea</a:t>
            </a:r>
            <a:r>
              <a:rPr lang="en-US" dirty="0"/>
              <a:t>, </a:t>
            </a:r>
            <a:r>
              <a:rPr lang="en-US" dirty="0" err="1"/>
              <a:t>datorită</a:t>
            </a:r>
            <a:r>
              <a:rPr lang="en-US" dirty="0"/>
              <a:t> </a:t>
            </a:r>
            <a:r>
              <a:rPr lang="en-US" dirty="0" err="1"/>
              <a:t>polarizării</a:t>
            </a:r>
            <a:r>
              <a:rPr lang="en-US" dirty="0"/>
              <a:t> inverse a </a:t>
            </a:r>
            <a:r>
              <a:rPr lang="en-US" dirty="0" err="1"/>
              <a:t>joncţiunii</a:t>
            </a:r>
            <a:r>
              <a:rPr lang="en-US" dirty="0"/>
              <a:t> CB</a:t>
            </a:r>
            <a:r>
              <a:rPr lang="en-US" dirty="0" smtClean="0"/>
              <a:t>, </a:t>
            </a:r>
            <a:r>
              <a:rPr lang="en-US" dirty="0" err="1" smtClean="0"/>
              <a:t>lungimea</a:t>
            </a:r>
            <a:r>
              <a:rPr lang="en-US" dirty="0" smtClean="0"/>
              <a:t> </a:t>
            </a:r>
            <a:r>
              <a:rPr lang="en-US" dirty="0"/>
              <a:t>de </a:t>
            </a:r>
            <a:r>
              <a:rPr lang="en-US" dirty="0" err="1"/>
              <a:t>difuzie</a:t>
            </a:r>
            <a:r>
              <a:rPr lang="en-US" dirty="0"/>
              <a:t> </a:t>
            </a:r>
            <a:r>
              <a:rPr lang="en-US" dirty="0" err="1"/>
              <a:t>corespunzătoare</a:t>
            </a:r>
            <a:r>
              <a:rPr lang="en-US" dirty="0"/>
              <a:t> </a:t>
            </a:r>
            <a:r>
              <a:rPr lang="en-US" dirty="0" err="1"/>
              <a:t>acesteia</a:t>
            </a:r>
            <a:r>
              <a:rPr lang="en-US" dirty="0"/>
              <a:t> se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 smtClean="0"/>
              <a:t>mări</a:t>
            </a:r>
            <a:r>
              <a:rPr lang="en-US" dirty="0" smtClean="0"/>
              <a:t>, </a:t>
            </a:r>
            <a:r>
              <a:rPr lang="en-US" dirty="0" err="1" smtClean="0"/>
              <a:t>rezultând</a:t>
            </a:r>
            <a:r>
              <a:rPr lang="en-US" dirty="0" smtClean="0"/>
              <a:t> </a:t>
            </a:r>
            <a:r>
              <a:rPr lang="en-US" dirty="0" err="1" smtClean="0"/>
              <a:t>astfel</a:t>
            </a:r>
            <a:r>
              <a:rPr lang="en-US" dirty="0" smtClean="0"/>
              <a:t> </a:t>
            </a:r>
            <a:r>
              <a:rPr lang="en-US" dirty="0" err="1"/>
              <a:t>suprapunerea</a:t>
            </a:r>
            <a:r>
              <a:rPr lang="en-US" dirty="0"/>
              <a:t> </a:t>
            </a:r>
            <a:r>
              <a:rPr lang="en-US" dirty="0" err="1"/>
              <a:t>lor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o </a:t>
            </a:r>
            <a:r>
              <a:rPr lang="en-US" dirty="0" err="1"/>
              <a:t>anumită</a:t>
            </a:r>
            <a:r>
              <a:rPr lang="en-US" dirty="0"/>
              <a:t> </a:t>
            </a:r>
            <a:r>
              <a:rPr lang="en-US" dirty="0" err="1" smtClean="0"/>
              <a:t>zonă</a:t>
            </a:r>
            <a:r>
              <a:rPr lang="en-US" dirty="0" smtClean="0"/>
              <a:t>.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semnificaţia</a:t>
            </a:r>
            <a:r>
              <a:rPr lang="en-US" dirty="0"/>
              <a:t> </a:t>
            </a:r>
            <a:r>
              <a:rPr lang="en-US" dirty="0" err="1" smtClean="0"/>
              <a:t>noţiunii</a:t>
            </a:r>
            <a:r>
              <a:rPr lang="en-US" dirty="0" smtClean="0"/>
              <a:t> de </a:t>
            </a:r>
            <a:r>
              <a:rPr lang="en-US" dirty="0" err="1"/>
              <a:t>bază</a:t>
            </a:r>
            <a:r>
              <a:rPr lang="en-US" dirty="0"/>
              <a:t> </a:t>
            </a:r>
            <a:r>
              <a:rPr lang="en-US" dirty="0" err="1"/>
              <a:t>subţire</a:t>
            </a:r>
            <a:r>
              <a:rPr lang="en-US" dirty="0"/>
              <a:t>, </a:t>
            </a:r>
            <a:r>
              <a:rPr lang="en-US" dirty="0" err="1"/>
              <a:t>menţionată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paragraful</a:t>
            </a:r>
            <a:r>
              <a:rPr lang="en-US" dirty="0"/>
              <a:t> anterior. </a:t>
            </a:r>
            <a:endParaRPr lang="ru-RU" b="1" dirty="0" smtClean="0">
              <a:solidFill>
                <a:srgbClr val="000000"/>
              </a:solidFill>
              <a:latin typeface="TimesNewRomanPS-BoldMT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0" y="3237669"/>
            <a:ext cx="121920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acest</a:t>
            </a:r>
            <a:r>
              <a:rPr lang="en-US" dirty="0"/>
              <a:t> mod, </a:t>
            </a:r>
            <a:r>
              <a:rPr lang="en-US" dirty="0" err="1"/>
              <a:t>purtătorii</a:t>
            </a:r>
            <a:r>
              <a:rPr lang="en-US" dirty="0"/>
              <a:t> </a:t>
            </a:r>
            <a:r>
              <a:rPr lang="en-US" dirty="0" err="1"/>
              <a:t>majoritari</a:t>
            </a:r>
            <a:r>
              <a:rPr lang="en-US" dirty="0"/>
              <a:t> de </a:t>
            </a:r>
            <a:r>
              <a:rPr lang="en-US" dirty="0" err="1"/>
              <a:t>sarcină</a:t>
            </a:r>
            <a:r>
              <a:rPr lang="en-US" dirty="0"/>
              <a:t> </a:t>
            </a:r>
            <a:r>
              <a:rPr lang="en-US" dirty="0" err="1"/>
              <a:t>electrică</a:t>
            </a:r>
            <a:r>
              <a:rPr lang="en-US" dirty="0"/>
              <a:t> </a:t>
            </a:r>
            <a:r>
              <a:rPr lang="en-US" dirty="0" err="1"/>
              <a:t>injectaţi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bază</a:t>
            </a:r>
            <a:r>
              <a:rPr lang="en-US" dirty="0"/>
              <a:t> din </a:t>
            </a:r>
            <a:r>
              <a:rPr lang="en-US" dirty="0" err="1"/>
              <a:t>emitor</a:t>
            </a:r>
            <a:r>
              <a:rPr lang="en-US" dirty="0"/>
              <a:t> </a:t>
            </a:r>
            <a:r>
              <a:rPr lang="en-US" dirty="0" err="1"/>
              <a:t>datorită</a:t>
            </a:r>
            <a:r>
              <a:rPr lang="en-US" dirty="0"/>
              <a:t> </a:t>
            </a:r>
            <a:r>
              <a:rPr lang="en-US" dirty="0" err="1"/>
              <a:t>polarizării</a:t>
            </a:r>
            <a:r>
              <a:rPr lang="en-US" dirty="0"/>
              <a:t> </a:t>
            </a:r>
            <a:r>
              <a:rPr lang="en-US" dirty="0" err="1"/>
              <a:t>directe</a:t>
            </a:r>
            <a:r>
              <a:rPr lang="en-US" dirty="0"/>
              <a:t> a </a:t>
            </a:r>
            <a:r>
              <a:rPr lang="en-US" dirty="0" err="1"/>
              <a:t>joncţiunii</a:t>
            </a:r>
            <a:r>
              <a:rPr lang="en-US" dirty="0"/>
              <a:t> EB (</a:t>
            </a:r>
            <a:r>
              <a:rPr lang="en-US" dirty="0" err="1"/>
              <a:t>goluri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cazul</a:t>
            </a:r>
            <a:r>
              <a:rPr lang="en-US" dirty="0"/>
              <a:t> TB de tip </a:t>
            </a:r>
            <a:r>
              <a:rPr lang="en-US" dirty="0" err="1"/>
              <a:t>pnp</a:t>
            </a:r>
            <a:r>
              <a:rPr lang="en-US" dirty="0"/>
              <a:t>) </a:t>
            </a:r>
            <a:r>
              <a:rPr lang="en-US" dirty="0" err="1"/>
              <a:t>ajung</a:t>
            </a:r>
            <a:r>
              <a:rPr lang="en-US" dirty="0"/>
              <a:t> sub </a:t>
            </a:r>
            <a:r>
              <a:rPr lang="en-US" dirty="0" err="1"/>
              <a:t>influenţa</a:t>
            </a:r>
            <a:r>
              <a:rPr lang="en-US" dirty="0"/>
              <a:t> </a:t>
            </a:r>
            <a:r>
              <a:rPr lang="en-US" dirty="0" err="1"/>
              <a:t>câmpului</a:t>
            </a:r>
            <a:r>
              <a:rPr lang="en-US" dirty="0"/>
              <a:t> electric E</a:t>
            </a:r>
            <a:r>
              <a:rPr lang="en-US" baseline="-25000" dirty="0"/>
              <a:t>CB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se produce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joncţiunea</a:t>
            </a:r>
            <a:r>
              <a:rPr lang="en-US" dirty="0"/>
              <a:t> CB de </a:t>
            </a:r>
            <a:r>
              <a:rPr lang="en-US" dirty="0" err="1"/>
              <a:t>către</a:t>
            </a:r>
            <a:r>
              <a:rPr lang="en-US" dirty="0"/>
              <a:t> </a:t>
            </a:r>
            <a:r>
              <a:rPr lang="en-US" dirty="0" err="1"/>
              <a:t>tensiunea</a:t>
            </a:r>
            <a:r>
              <a:rPr lang="en-US" dirty="0"/>
              <a:t> U</a:t>
            </a:r>
            <a:r>
              <a:rPr lang="en-US" baseline="-25000" dirty="0"/>
              <a:t>CB</a:t>
            </a:r>
            <a:r>
              <a:rPr lang="en-US" dirty="0"/>
              <a:t>, </a:t>
            </a:r>
            <a:r>
              <a:rPr lang="en-US" dirty="0" err="1"/>
              <a:t>ce</a:t>
            </a:r>
            <a:r>
              <a:rPr lang="en-US" dirty="0"/>
              <a:t> o </a:t>
            </a:r>
            <a:r>
              <a:rPr lang="en-US" dirty="0" err="1"/>
              <a:t>polarizează</a:t>
            </a:r>
            <a:r>
              <a:rPr lang="en-US" dirty="0"/>
              <a:t> invers. </a:t>
            </a:r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câmp</a:t>
            </a:r>
            <a:r>
              <a:rPr lang="en-US" dirty="0"/>
              <a:t> electric </a:t>
            </a:r>
            <a:r>
              <a:rPr lang="en-US" dirty="0" err="1"/>
              <a:t>acţionează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purtătorilor</a:t>
            </a:r>
            <a:r>
              <a:rPr lang="en-US" dirty="0"/>
              <a:t> de </a:t>
            </a:r>
            <a:r>
              <a:rPr lang="en-US" dirty="0" err="1"/>
              <a:t>sarcină</a:t>
            </a:r>
            <a:r>
              <a:rPr lang="en-US" dirty="0"/>
              <a:t> cu </a:t>
            </a:r>
            <a:r>
              <a:rPr lang="en-US" dirty="0" err="1"/>
              <a:t>forţe</a:t>
            </a:r>
            <a:r>
              <a:rPr lang="en-US" dirty="0"/>
              <a:t> </a:t>
            </a:r>
            <a:r>
              <a:rPr lang="en-US" dirty="0" err="1"/>
              <a:t>electrostatice</a:t>
            </a:r>
            <a:r>
              <a:rPr lang="en-US" dirty="0"/>
              <a:t> F = </a:t>
            </a:r>
            <a:r>
              <a:rPr lang="en-US" dirty="0" err="1"/>
              <a:t>qE</a:t>
            </a:r>
            <a:r>
              <a:rPr lang="en-US" baseline="-25000" dirty="0" err="1"/>
              <a:t>CB</a:t>
            </a:r>
            <a:r>
              <a:rPr lang="en-US" dirty="0"/>
              <a:t> , </a:t>
            </a:r>
            <a:r>
              <a:rPr lang="en-US" dirty="0" err="1"/>
              <a:t>unde</a:t>
            </a:r>
            <a:r>
              <a:rPr lang="en-US" dirty="0"/>
              <a:t> q = e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cazul</a:t>
            </a:r>
            <a:r>
              <a:rPr lang="en-US" dirty="0"/>
              <a:t> </a:t>
            </a:r>
            <a:r>
              <a:rPr lang="en-US" dirty="0" err="1"/>
              <a:t>golurilor</a:t>
            </a:r>
            <a:r>
              <a:rPr lang="en-US" dirty="0"/>
              <a:t>, </a:t>
            </a:r>
            <a:r>
              <a:rPr lang="en-US" dirty="0" err="1"/>
              <a:t>respectiv</a:t>
            </a:r>
            <a:r>
              <a:rPr lang="en-US" dirty="0"/>
              <a:t> q = -e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 smtClean="0"/>
              <a:t>cazul</a:t>
            </a:r>
            <a:r>
              <a:rPr lang="en-US" dirty="0" smtClean="0"/>
              <a:t> </a:t>
            </a:r>
            <a:r>
              <a:rPr lang="en-US" dirty="0" err="1"/>
              <a:t>electronilor</a:t>
            </a:r>
            <a:r>
              <a:rPr lang="en-US" dirty="0"/>
              <a:t>. </a:t>
            </a:r>
            <a:r>
              <a:rPr lang="en-US" dirty="0" err="1"/>
              <a:t>Aceste</a:t>
            </a:r>
            <a:r>
              <a:rPr lang="en-US" dirty="0"/>
              <a:t> </a:t>
            </a:r>
            <a:r>
              <a:rPr lang="en-US" dirty="0" err="1"/>
              <a:t>forţe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orientate </a:t>
            </a:r>
            <a:r>
              <a:rPr lang="en-US" dirty="0" err="1"/>
              <a:t>astfel</a:t>
            </a:r>
            <a:r>
              <a:rPr lang="en-US" dirty="0"/>
              <a:t> </a:t>
            </a:r>
            <a:r>
              <a:rPr lang="en-US" dirty="0" err="1"/>
              <a:t>încât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imprime</a:t>
            </a:r>
            <a:r>
              <a:rPr lang="en-US" dirty="0"/>
              <a:t> </a:t>
            </a:r>
            <a:r>
              <a:rPr lang="en-US" dirty="0" err="1"/>
              <a:t>purtătorilor</a:t>
            </a:r>
            <a:r>
              <a:rPr lang="en-US" dirty="0"/>
              <a:t> de </a:t>
            </a:r>
            <a:r>
              <a:rPr lang="en-US" dirty="0" err="1"/>
              <a:t>sarcină</a:t>
            </a:r>
            <a:r>
              <a:rPr lang="en-US" dirty="0"/>
              <a:t> o </a:t>
            </a:r>
            <a:r>
              <a:rPr lang="en-US" dirty="0" err="1"/>
              <a:t>deplasare</a:t>
            </a:r>
            <a:r>
              <a:rPr lang="en-US" dirty="0"/>
              <a:t> </a:t>
            </a:r>
            <a:r>
              <a:rPr lang="en-US" dirty="0" err="1"/>
              <a:t>spre</a:t>
            </a:r>
            <a:r>
              <a:rPr lang="en-US" dirty="0"/>
              <a:t> </a:t>
            </a:r>
            <a:r>
              <a:rPr lang="en-US" dirty="0" err="1"/>
              <a:t>colector</a:t>
            </a:r>
            <a:r>
              <a:rPr lang="en-US" dirty="0"/>
              <a:t>. 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Traversarea</a:t>
            </a:r>
            <a:r>
              <a:rPr lang="en-US" dirty="0" smtClean="0"/>
              <a:t> </a:t>
            </a:r>
            <a:r>
              <a:rPr lang="en-US" dirty="0" err="1"/>
              <a:t>bazei</a:t>
            </a:r>
            <a:r>
              <a:rPr lang="en-US" dirty="0"/>
              <a:t> (de </a:t>
            </a:r>
            <a:r>
              <a:rPr lang="en-US" dirty="0" err="1"/>
              <a:t>fapt</a:t>
            </a:r>
            <a:r>
              <a:rPr lang="en-US" dirty="0"/>
              <a:t> a </a:t>
            </a:r>
            <a:r>
              <a:rPr lang="en-US" dirty="0" err="1"/>
              <a:t>joncţiunii</a:t>
            </a:r>
            <a:r>
              <a:rPr lang="en-US" dirty="0"/>
              <a:t> CB, </a:t>
            </a:r>
            <a:r>
              <a:rPr lang="en-US" dirty="0" err="1"/>
              <a:t>polarizată</a:t>
            </a:r>
            <a:r>
              <a:rPr lang="en-US" dirty="0"/>
              <a:t> invers) de </a:t>
            </a:r>
            <a:r>
              <a:rPr lang="en-US" dirty="0" err="1"/>
              <a:t>către</a:t>
            </a:r>
            <a:r>
              <a:rPr lang="en-US" dirty="0"/>
              <a:t> </a:t>
            </a:r>
            <a:r>
              <a:rPr lang="en-US" dirty="0" err="1"/>
              <a:t>purtătorii</a:t>
            </a:r>
            <a:r>
              <a:rPr lang="en-US" dirty="0"/>
              <a:t> de </a:t>
            </a:r>
            <a:r>
              <a:rPr lang="en-US" dirty="0" err="1"/>
              <a:t>sarcină</a:t>
            </a:r>
            <a:r>
              <a:rPr lang="en-US" dirty="0"/>
              <a:t> </a:t>
            </a:r>
            <a:r>
              <a:rPr lang="en-US" dirty="0" err="1"/>
              <a:t>electrică</a:t>
            </a:r>
            <a:r>
              <a:rPr lang="en-US" dirty="0"/>
              <a:t> </a:t>
            </a:r>
            <a:r>
              <a:rPr lang="en-US" dirty="0" err="1"/>
              <a:t>dintr</a:t>
            </a:r>
            <a:r>
              <a:rPr lang="en-US" dirty="0"/>
              <a:t>-un TB </a:t>
            </a:r>
            <a:r>
              <a:rPr lang="en-US" dirty="0" err="1"/>
              <a:t>funcţionând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RAN se </a:t>
            </a:r>
            <a:r>
              <a:rPr lang="en-US" dirty="0" err="1"/>
              <a:t>numeşte</a:t>
            </a:r>
            <a:r>
              <a:rPr lang="en-US" dirty="0"/>
              <a:t> </a:t>
            </a:r>
            <a:r>
              <a:rPr lang="en-US" dirty="0" err="1"/>
              <a:t>efect</a:t>
            </a:r>
            <a:r>
              <a:rPr lang="en-US" dirty="0"/>
              <a:t> de </a:t>
            </a:r>
            <a:r>
              <a:rPr lang="en-US" dirty="0" err="1"/>
              <a:t>tranzistor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err="1"/>
              <a:t>Cantitativ</a:t>
            </a:r>
            <a:r>
              <a:rPr lang="en-US" dirty="0"/>
              <a:t>, </a:t>
            </a:r>
            <a:r>
              <a:rPr lang="en-US" dirty="0" err="1"/>
              <a:t>acest</a:t>
            </a:r>
            <a:r>
              <a:rPr lang="en-US" dirty="0"/>
              <a:t> transfer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controlat</a:t>
            </a:r>
            <a:r>
              <a:rPr lang="en-US" dirty="0"/>
              <a:t> de </a:t>
            </a:r>
            <a:r>
              <a:rPr lang="en-US" dirty="0" err="1"/>
              <a:t>către</a:t>
            </a:r>
            <a:r>
              <a:rPr lang="en-US" dirty="0"/>
              <a:t> </a:t>
            </a:r>
            <a:r>
              <a:rPr lang="en-US" dirty="0" err="1"/>
              <a:t>valoarea</a:t>
            </a:r>
            <a:r>
              <a:rPr lang="en-US" dirty="0"/>
              <a:t> </a:t>
            </a:r>
            <a:r>
              <a:rPr lang="en-US" dirty="0" err="1"/>
              <a:t>tensiunii</a:t>
            </a:r>
            <a:r>
              <a:rPr lang="en-US" dirty="0"/>
              <a:t> </a:t>
            </a:r>
            <a:r>
              <a:rPr lang="en-US" dirty="0" err="1" smtClean="0"/>
              <a:t>u</a:t>
            </a:r>
            <a:r>
              <a:rPr lang="en-US" baseline="-25000" dirty="0" err="1" smtClean="0"/>
              <a:t>EB</a:t>
            </a:r>
            <a:r>
              <a:rPr lang="en-US" dirty="0" smtClean="0"/>
              <a:t>. </a:t>
            </a:r>
            <a:r>
              <a:rPr lang="en-US" dirty="0" err="1" smtClean="0"/>
              <a:t>După</a:t>
            </a:r>
            <a:r>
              <a:rPr lang="en-US" dirty="0" smtClean="0"/>
              <a:t> </a:t>
            </a:r>
            <a:r>
              <a:rPr lang="en-US" dirty="0"/>
              <a:t>cum se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constata</a:t>
            </a:r>
            <a:r>
              <a:rPr lang="en-US" dirty="0"/>
              <a:t> cu </a:t>
            </a:r>
            <a:r>
              <a:rPr lang="en-US" dirty="0" err="1"/>
              <a:t>uşurinţă</a:t>
            </a:r>
            <a:r>
              <a:rPr lang="en-US" dirty="0"/>
              <a:t>, </a:t>
            </a:r>
            <a:r>
              <a:rPr lang="en-US" dirty="0" err="1"/>
              <a:t>manifestarea</a:t>
            </a:r>
            <a:r>
              <a:rPr lang="en-US" dirty="0"/>
              <a:t> </a:t>
            </a:r>
            <a:r>
              <a:rPr lang="en-US" dirty="0" err="1"/>
              <a:t>acestui</a:t>
            </a:r>
            <a:r>
              <a:rPr lang="en-US" dirty="0"/>
              <a:t> </a:t>
            </a:r>
            <a:r>
              <a:rPr lang="en-US" dirty="0" err="1"/>
              <a:t>efect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o </a:t>
            </a:r>
            <a:r>
              <a:rPr lang="en-US" dirty="0" err="1"/>
              <a:t>consecinţă</a:t>
            </a:r>
            <a:r>
              <a:rPr lang="en-US" dirty="0"/>
              <a:t> </a:t>
            </a:r>
            <a:r>
              <a:rPr lang="en-US" dirty="0" smtClean="0"/>
              <a:t>a </a:t>
            </a:r>
            <a:r>
              <a:rPr lang="en-US" dirty="0" err="1" smtClean="0"/>
              <a:t>construcţiei</a:t>
            </a:r>
            <a:r>
              <a:rPr lang="en-US" dirty="0" smtClean="0"/>
              <a:t> </a:t>
            </a:r>
            <a:r>
              <a:rPr lang="en-US" dirty="0" err="1"/>
              <a:t>tranzistorului</a:t>
            </a:r>
            <a:r>
              <a:rPr lang="en-US" dirty="0"/>
              <a:t>, </a:t>
            </a:r>
            <a:r>
              <a:rPr lang="en-US" dirty="0" err="1"/>
              <a:t>în</a:t>
            </a:r>
            <a:r>
              <a:rPr lang="en-US" dirty="0"/>
              <a:t> special a </a:t>
            </a:r>
            <a:r>
              <a:rPr lang="en-US" dirty="0" err="1"/>
              <a:t>faptului</a:t>
            </a:r>
            <a:r>
              <a:rPr lang="en-US" dirty="0"/>
              <a:t> </a:t>
            </a:r>
            <a:r>
              <a:rPr lang="en-US" dirty="0" err="1"/>
              <a:t>că</a:t>
            </a:r>
            <a:r>
              <a:rPr lang="en-US" dirty="0"/>
              <a:t>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“</a:t>
            </a:r>
            <a:r>
              <a:rPr lang="en-US" dirty="0" err="1"/>
              <a:t>subţire</a:t>
            </a:r>
            <a:r>
              <a:rPr lang="en-US" dirty="0" smtClean="0"/>
              <a:t>”. </a:t>
            </a:r>
            <a:r>
              <a:rPr lang="en-US" dirty="0" err="1" smtClean="0"/>
              <a:t>Datorită</a:t>
            </a:r>
            <a:r>
              <a:rPr lang="en-US" dirty="0" smtClean="0"/>
              <a:t> </a:t>
            </a:r>
            <a:r>
              <a:rPr lang="en-US" dirty="0" err="1"/>
              <a:t>faptului</a:t>
            </a:r>
            <a:r>
              <a:rPr lang="en-US" dirty="0"/>
              <a:t> </a:t>
            </a:r>
            <a:r>
              <a:rPr lang="en-US" dirty="0" err="1"/>
              <a:t>că</a:t>
            </a:r>
            <a:r>
              <a:rPr lang="en-US" dirty="0"/>
              <a:t> </a:t>
            </a:r>
            <a:r>
              <a:rPr lang="en-US" dirty="0" err="1"/>
              <a:t>regiunea</a:t>
            </a:r>
            <a:r>
              <a:rPr lang="en-US" dirty="0"/>
              <a:t> </a:t>
            </a:r>
            <a:r>
              <a:rPr lang="en-US" dirty="0" err="1"/>
              <a:t>emitorului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puternic</a:t>
            </a:r>
            <a:r>
              <a:rPr lang="en-US" dirty="0"/>
              <a:t> </a:t>
            </a:r>
            <a:r>
              <a:rPr lang="en-US" dirty="0" err="1"/>
              <a:t>dopată</a:t>
            </a:r>
            <a:r>
              <a:rPr lang="en-US" dirty="0"/>
              <a:t> (p+) </a:t>
            </a:r>
            <a:r>
              <a:rPr lang="en-US" dirty="0" err="1"/>
              <a:t>faţă</a:t>
            </a:r>
            <a:r>
              <a:rPr lang="en-US" dirty="0"/>
              <a:t> de </a:t>
            </a:r>
            <a:r>
              <a:rPr lang="en-US" dirty="0" err="1"/>
              <a:t>cea</a:t>
            </a:r>
            <a:r>
              <a:rPr lang="en-US" dirty="0"/>
              <a:t> a </a:t>
            </a:r>
            <a:r>
              <a:rPr lang="en-US" dirty="0" err="1"/>
              <a:t>bazei</a:t>
            </a:r>
            <a:r>
              <a:rPr lang="en-US" dirty="0"/>
              <a:t>, </a:t>
            </a:r>
            <a:r>
              <a:rPr lang="en-US" dirty="0" err="1" smtClean="0"/>
              <a:t>în</a:t>
            </a:r>
            <a:r>
              <a:rPr lang="en-US" dirty="0" smtClean="0"/>
              <a:t> </a:t>
            </a:r>
            <a:r>
              <a:rPr lang="en-US" dirty="0" err="1" smtClean="0"/>
              <a:t>curentul</a:t>
            </a:r>
            <a:r>
              <a:rPr lang="en-US" dirty="0" smtClean="0"/>
              <a:t> </a:t>
            </a:r>
            <a:r>
              <a:rPr lang="en-US" dirty="0" err="1"/>
              <a:t>i</a:t>
            </a:r>
            <a:r>
              <a:rPr lang="en-US" baseline="-25000" dirty="0" err="1"/>
              <a:t>E</a:t>
            </a:r>
            <a:r>
              <a:rPr lang="en-US" dirty="0"/>
              <a:t> </a:t>
            </a:r>
            <a:r>
              <a:rPr lang="en-US" dirty="0" err="1"/>
              <a:t>predomină</a:t>
            </a:r>
            <a:r>
              <a:rPr lang="en-US" dirty="0"/>
              <a:t> </a:t>
            </a:r>
            <a:r>
              <a:rPr lang="en-US" dirty="0" err="1"/>
              <a:t>purtătorii</a:t>
            </a:r>
            <a:r>
              <a:rPr lang="en-US" dirty="0"/>
              <a:t> </a:t>
            </a:r>
            <a:r>
              <a:rPr lang="en-US" dirty="0" err="1"/>
              <a:t>majoritari</a:t>
            </a:r>
            <a:r>
              <a:rPr lang="en-US" dirty="0"/>
              <a:t> </a:t>
            </a:r>
            <a:r>
              <a:rPr lang="en-US" dirty="0" err="1"/>
              <a:t>injectaţi</a:t>
            </a:r>
            <a:r>
              <a:rPr lang="en-US" dirty="0"/>
              <a:t> (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difuzie</a:t>
            </a:r>
            <a:r>
              <a:rPr lang="en-US" dirty="0"/>
              <a:t>) din </a:t>
            </a:r>
            <a:r>
              <a:rPr lang="en-US" dirty="0" err="1"/>
              <a:t>emitor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 smtClean="0"/>
              <a:t>bază</a:t>
            </a:r>
            <a:r>
              <a:rPr lang="en-US" dirty="0" smtClean="0"/>
              <a:t> (</a:t>
            </a:r>
            <a:r>
              <a:rPr lang="en-US" dirty="0" err="1"/>
              <a:t>golurile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cazul</a:t>
            </a:r>
            <a:r>
              <a:rPr lang="en-US" dirty="0"/>
              <a:t> TB de tip </a:t>
            </a:r>
            <a:r>
              <a:rPr lang="en-US" dirty="0" err="1"/>
              <a:t>pnp</a:t>
            </a:r>
            <a:r>
              <a:rPr lang="en-US" dirty="0"/>
              <a:t>). </a:t>
            </a:r>
            <a:r>
              <a:rPr lang="en-US" dirty="0" err="1"/>
              <a:t>Purtătorii</a:t>
            </a:r>
            <a:r>
              <a:rPr lang="en-US" dirty="0"/>
              <a:t> </a:t>
            </a:r>
            <a:r>
              <a:rPr lang="en-US" dirty="0" err="1"/>
              <a:t>minoritari</a:t>
            </a:r>
            <a:r>
              <a:rPr lang="en-US" dirty="0"/>
              <a:t> din </a:t>
            </a:r>
            <a:r>
              <a:rPr lang="en-US" dirty="0" err="1"/>
              <a:t>bază</a:t>
            </a:r>
            <a:r>
              <a:rPr lang="en-US" dirty="0"/>
              <a:t> (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cazul</a:t>
            </a:r>
            <a:r>
              <a:rPr lang="en-US" dirty="0"/>
              <a:t> TB de tip </a:t>
            </a:r>
            <a:r>
              <a:rPr lang="en-US" dirty="0" err="1"/>
              <a:t>pnp</a:t>
            </a:r>
            <a:r>
              <a:rPr lang="en-US" dirty="0"/>
              <a:t>, </a:t>
            </a:r>
            <a:r>
              <a:rPr lang="en-US" dirty="0" err="1"/>
              <a:t>atât</a:t>
            </a:r>
            <a:endParaRPr lang="en-US" dirty="0"/>
          </a:p>
          <a:p>
            <a:r>
              <a:rPr lang="en-US" dirty="0" err="1"/>
              <a:t>golurile</a:t>
            </a:r>
            <a:r>
              <a:rPr lang="en-US" dirty="0"/>
              <a:t> </a:t>
            </a:r>
            <a:r>
              <a:rPr lang="en-US" dirty="0" err="1"/>
              <a:t>existente</a:t>
            </a:r>
            <a:r>
              <a:rPr lang="en-US" dirty="0"/>
              <a:t> </a:t>
            </a:r>
            <a:r>
              <a:rPr lang="en-US" dirty="0" err="1"/>
              <a:t>înaintea</a:t>
            </a:r>
            <a:r>
              <a:rPr lang="en-US" dirty="0"/>
              <a:t> </a:t>
            </a:r>
            <a:r>
              <a:rPr lang="en-US" dirty="0" err="1"/>
              <a:t>polarizării</a:t>
            </a:r>
            <a:r>
              <a:rPr lang="en-US" dirty="0"/>
              <a:t> </a:t>
            </a:r>
            <a:r>
              <a:rPr lang="en-US" dirty="0" err="1"/>
              <a:t>cât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golurile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au </a:t>
            </a:r>
            <a:r>
              <a:rPr lang="en-US" dirty="0" err="1"/>
              <a:t>difuzat</a:t>
            </a:r>
            <a:r>
              <a:rPr lang="en-US" dirty="0"/>
              <a:t> din </a:t>
            </a:r>
            <a:r>
              <a:rPr lang="en-US" dirty="0" err="1"/>
              <a:t>emitor</a:t>
            </a:r>
            <a:r>
              <a:rPr lang="en-US" dirty="0"/>
              <a:t>) se </a:t>
            </a:r>
            <a:r>
              <a:rPr lang="en-US" dirty="0" err="1"/>
              <a:t>vor</a:t>
            </a:r>
            <a:r>
              <a:rPr lang="en-US" dirty="0"/>
              <a:t> </a:t>
            </a:r>
            <a:r>
              <a:rPr lang="en-US" dirty="0" err="1" smtClean="0"/>
              <a:t>deplasa</a:t>
            </a:r>
            <a:r>
              <a:rPr lang="en-US" dirty="0" smtClean="0"/>
              <a:t> </a:t>
            </a:r>
            <a:r>
              <a:rPr lang="en-US" dirty="0" err="1" smtClean="0"/>
              <a:t>spre</a:t>
            </a:r>
            <a:r>
              <a:rPr lang="en-US" dirty="0" smtClean="0"/>
              <a:t> </a:t>
            </a:r>
            <a:r>
              <a:rPr lang="en-US" dirty="0" err="1"/>
              <a:t>colector</a:t>
            </a:r>
            <a:r>
              <a:rPr lang="en-US" dirty="0"/>
              <a:t>, </a:t>
            </a:r>
            <a:r>
              <a:rPr lang="en-US" dirty="0" err="1"/>
              <a:t>generându</a:t>
            </a:r>
            <a:r>
              <a:rPr lang="en-US" dirty="0"/>
              <a:t>-se </a:t>
            </a:r>
            <a:r>
              <a:rPr lang="en-US" dirty="0" err="1"/>
              <a:t>astfel</a:t>
            </a:r>
            <a:r>
              <a:rPr lang="en-US" dirty="0"/>
              <a:t> un </a:t>
            </a:r>
            <a:r>
              <a:rPr lang="en-US" dirty="0" err="1"/>
              <a:t>curent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baseline="-25000" dirty="0" err="1"/>
              <a:t>C</a:t>
            </a:r>
            <a:r>
              <a:rPr lang="en-US" dirty="0"/>
              <a:t> (</a:t>
            </a:r>
            <a:r>
              <a:rPr lang="en-US" dirty="0" err="1"/>
              <a:t>curent</a:t>
            </a:r>
            <a:r>
              <a:rPr lang="en-US" dirty="0"/>
              <a:t> de </a:t>
            </a:r>
            <a:r>
              <a:rPr lang="en-US" dirty="0" err="1"/>
              <a:t>colector</a:t>
            </a:r>
            <a:r>
              <a:rPr lang="en-US" dirty="0"/>
              <a:t>), care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 smtClean="0"/>
              <a:t>aproximativ</a:t>
            </a:r>
            <a:r>
              <a:rPr lang="en-US" dirty="0" smtClean="0"/>
              <a:t> </a:t>
            </a:r>
            <a:r>
              <a:rPr lang="en-US" dirty="0" err="1" smtClean="0"/>
              <a:t>egal</a:t>
            </a:r>
            <a:r>
              <a:rPr lang="en-US" dirty="0" smtClean="0"/>
              <a:t> </a:t>
            </a:r>
            <a:r>
              <a:rPr lang="en-US" dirty="0"/>
              <a:t>cu </a:t>
            </a:r>
            <a:r>
              <a:rPr lang="en-US" dirty="0" err="1"/>
              <a:t>cel</a:t>
            </a:r>
            <a:r>
              <a:rPr lang="en-US" dirty="0"/>
              <a:t> de </a:t>
            </a:r>
            <a:r>
              <a:rPr lang="en-US" dirty="0" err="1"/>
              <a:t>emitor</a:t>
            </a:r>
            <a:r>
              <a:rPr lang="en-US" dirty="0"/>
              <a:t>: </a:t>
            </a:r>
            <a:r>
              <a:rPr lang="en-US" dirty="0" err="1"/>
              <a:t>i</a:t>
            </a:r>
            <a:r>
              <a:rPr lang="en-US" baseline="-25000" dirty="0" err="1"/>
              <a:t>C</a:t>
            </a:r>
            <a:r>
              <a:rPr lang="en-US" dirty="0"/>
              <a:t> ≈ </a:t>
            </a:r>
            <a:r>
              <a:rPr lang="en-US" dirty="0" err="1"/>
              <a:t>i</a:t>
            </a:r>
            <a:r>
              <a:rPr lang="en-US" baseline="-25000" dirty="0" err="1"/>
              <a:t>E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3274452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5121" y="114300"/>
            <a:ext cx="11936186" cy="6743700"/>
          </a:xfrm>
        </p:spPr>
        <p:txBody>
          <a:bodyPr>
            <a:normAutofit/>
          </a:bodyPr>
          <a:lstStyle/>
          <a:p>
            <a:r>
              <a:rPr lang="en-US" sz="2000" dirty="0" err="1" smtClean="0"/>
              <a:t>joncţiunea</a:t>
            </a:r>
            <a:r>
              <a:rPr lang="en-US" sz="2000" dirty="0" smtClean="0"/>
              <a:t> </a:t>
            </a:r>
            <a:r>
              <a:rPr lang="en-US" sz="2000" dirty="0"/>
              <a:t>EB (</a:t>
            </a:r>
            <a:r>
              <a:rPr lang="en-US" sz="2000" dirty="0" err="1"/>
              <a:t>polarizată</a:t>
            </a:r>
            <a:r>
              <a:rPr lang="en-US" sz="2000" dirty="0"/>
              <a:t> direct) </a:t>
            </a:r>
            <a:r>
              <a:rPr lang="en-US" sz="2000" dirty="0" err="1"/>
              <a:t>poate</a:t>
            </a:r>
            <a:r>
              <a:rPr lang="en-US" sz="2000" dirty="0"/>
              <a:t> fi </a:t>
            </a:r>
            <a:r>
              <a:rPr lang="en-US" sz="2000" dirty="0" err="1"/>
              <a:t>asemănată</a:t>
            </a:r>
            <a:r>
              <a:rPr lang="en-US" sz="2000" dirty="0"/>
              <a:t> cu o </a:t>
            </a:r>
            <a:r>
              <a:rPr lang="en-US" sz="2000" dirty="0" err="1"/>
              <a:t>diodă</a:t>
            </a:r>
            <a:r>
              <a:rPr lang="en-US" sz="2000" dirty="0"/>
              <a:t> </a:t>
            </a:r>
            <a:r>
              <a:rPr lang="en-US" sz="2000" dirty="0" err="1"/>
              <a:t>polarizată</a:t>
            </a:r>
            <a:r>
              <a:rPr lang="en-US" sz="2000" dirty="0"/>
              <a:t> direct. </a:t>
            </a:r>
            <a:r>
              <a:rPr lang="en-US" sz="2000" dirty="0" err="1" smtClean="0"/>
              <a:t>În</a:t>
            </a:r>
            <a:r>
              <a:rPr lang="en-US" sz="2000" dirty="0" smtClean="0"/>
              <a:t> </a:t>
            </a:r>
            <a:r>
              <a:rPr lang="en-US" sz="2000" dirty="0" err="1" smtClean="0"/>
              <a:t>schimb</a:t>
            </a:r>
            <a:r>
              <a:rPr lang="en-US" sz="2000" dirty="0" smtClean="0"/>
              <a:t> </a:t>
            </a:r>
            <a:r>
              <a:rPr lang="en-US" sz="2000" dirty="0" err="1"/>
              <a:t>joncţiunea</a:t>
            </a:r>
            <a:r>
              <a:rPr lang="en-US" sz="2000" dirty="0"/>
              <a:t> CB nu </a:t>
            </a:r>
            <a:r>
              <a:rPr lang="en-US" sz="2000" dirty="0" err="1"/>
              <a:t>poate</a:t>
            </a:r>
            <a:r>
              <a:rPr lang="en-US" sz="2000" dirty="0"/>
              <a:t> fi </a:t>
            </a:r>
            <a:r>
              <a:rPr lang="en-US" sz="2000" dirty="0" err="1"/>
              <a:t>comparată</a:t>
            </a:r>
            <a:r>
              <a:rPr lang="en-US" sz="2000" dirty="0"/>
              <a:t> cu o </a:t>
            </a:r>
            <a:r>
              <a:rPr lang="en-US" sz="2000" dirty="0" err="1"/>
              <a:t>diodă</a:t>
            </a:r>
            <a:r>
              <a:rPr lang="en-US" sz="2000" dirty="0"/>
              <a:t> </a:t>
            </a:r>
            <a:r>
              <a:rPr lang="en-US" sz="2000" dirty="0" err="1"/>
              <a:t>polarizată</a:t>
            </a:r>
            <a:r>
              <a:rPr lang="en-US" sz="2000" dirty="0"/>
              <a:t> invers, </a:t>
            </a:r>
            <a:r>
              <a:rPr lang="en-US" sz="2000" dirty="0" err="1" smtClean="0"/>
              <a:t>deoarece</a:t>
            </a:r>
            <a:r>
              <a:rPr lang="en-US" sz="2000" dirty="0" smtClean="0"/>
              <a:t> </a:t>
            </a:r>
            <a:r>
              <a:rPr lang="en-US" sz="2000" dirty="0" err="1" smtClean="0"/>
              <a:t>într</a:t>
            </a:r>
            <a:r>
              <a:rPr lang="en-US" sz="2000" dirty="0" smtClean="0"/>
              <a:t>-o </a:t>
            </a:r>
            <a:r>
              <a:rPr lang="en-US" sz="2000" dirty="0" err="1"/>
              <a:t>astfel</a:t>
            </a:r>
            <a:r>
              <a:rPr lang="en-US" sz="2000" dirty="0"/>
              <a:t> de </a:t>
            </a:r>
            <a:r>
              <a:rPr lang="en-US" sz="2000" dirty="0" err="1"/>
              <a:t>situaţie</a:t>
            </a:r>
            <a:r>
              <a:rPr lang="en-US" sz="2000" dirty="0"/>
              <a:t> </a:t>
            </a:r>
            <a:r>
              <a:rPr lang="en-US" sz="2000" dirty="0" err="1"/>
              <a:t>prin</a:t>
            </a:r>
            <a:r>
              <a:rPr lang="en-US" sz="2000" dirty="0"/>
              <a:t> </a:t>
            </a:r>
            <a:r>
              <a:rPr lang="en-US" sz="2000" dirty="0" err="1"/>
              <a:t>diodă</a:t>
            </a:r>
            <a:r>
              <a:rPr lang="en-US" sz="2000" dirty="0"/>
              <a:t> </a:t>
            </a:r>
            <a:r>
              <a:rPr lang="en-US" sz="2000" dirty="0" err="1"/>
              <a:t>ar</a:t>
            </a:r>
            <a:r>
              <a:rPr lang="en-US" sz="2000" dirty="0"/>
              <a:t> </a:t>
            </a:r>
            <a:r>
              <a:rPr lang="en-US" sz="2000" dirty="0" err="1"/>
              <a:t>circula</a:t>
            </a:r>
            <a:r>
              <a:rPr lang="en-US" sz="2000" dirty="0"/>
              <a:t> un </a:t>
            </a:r>
            <a:r>
              <a:rPr lang="en-US" sz="2000" dirty="0" err="1"/>
              <a:t>curent</a:t>
            </a:r>
            <a:r>
              <a:rPr lang="en-US" sz="2000" dirty="0"/>
              <a:t> (invers) de </a:t>
            </a:r>
            <a:r>
              <a:rPr lang="en-US" sz="2000" dirty="0" err="1"/>
              <a:t>valoare</a:t>
            </a:r>
            <a:r>
              <a:rPr lang="en-US" sz="2000" dirty="0"/>
              <a:t> </a:t>
            </a:r>
            <a:r>
              <a:rPr lang="en-US" sz="2000" dirty="0" err="1" smtClean="0"/>
              <a:t>foarte</a:t>
            </a:r>
            <a:r>
              <a:rPr lang="en-US" sz="2000" dirty="0" smtClean="0"/>
              <a:t> </a:t>
            </a:r>
            <a:r>
              <a:rPr lang="en-US" sz="2000" dirty="0" err="1" smtClean="0"/>
              <a:t>mică</a:t>
            </a:r>
            <a:r>
              <a:rPr lang="en-US" sz="2000" dirty="0"/>
              <a:t>, </a:t>
            </a:r>
            <a:r>
              <a:rPr lang="en-US" sz="2000" dirty="0" err="1"/>
              <a:t>în</a:t>
            </a:r>
            <a:r>
              <a:rPr lang="en-US" sz="2000" dirty="0"/>
              <a:t> </a:t>
            </a:r>
            <a:r>
              <a:rPr lang="en-US" sz="2000" dirty="0" err="1"/>
              <a:t>nici</a:t>
            </a:r>
            <a:r>
              <a:rPr lang="en-US" sz="2000" dirty="0"/>
              <a:t> un </a:t>
            </a:r>
            <a:r>
              <a:rPr lang="en-US" sz="2000" dirty="0" err="1"/>
              <a:t>caz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baseline="-25000" dirty="0" err="1"/>
              <a:t>C</a:t>
            </a:r>
            <a:r>
              <a:rPr lang="en-US" sz="2000" dirty="0"/>
              <a:t> ≈ </a:t>
            </a:r>
            <a:r>
              <a:rPr lang="en-US" sz="2000" dirty="0" err="1"/>
              <a:t>i</a:t>
            </a:r>
            <a:r>
              <a:rPr lang="en-US" sz="2000" baseline="-25000" dirty="0" err="1"/>
              <a:t>E</a:t>
            </a:r>
            <a:r>
              <a:rPr lang="en-US" sz="2000" dirty="0"/>
              <a:t> . </a:t>
            </a:r>
            <a:endParaRPr lang="en-US" sz="2000" dirty="0" smtClean="0"/>
          </a:p>
          <a:p>
            <a:r>
              <a:rPr lang="en-US" sz="2000" dirty="0" smtClean="0"/>
              <a:t>Un </a:t>
            </a:r>
            <a:r>
              <a:rPr lang="en-US" sz="2000" dirty="0"/>
              <a:t>TB nu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echivalent</a:t>
            </a:r>
            <a:r>
              <a:rPr lang="en-US" sz="2000" dirty="0"/>
              <a:t> cu </a:t>
            </a:r>
            <a:r>
              <a:rPr lang="en-US" sz="2000" dirty="0" err="1" smtClean="0"/>
              <a:t>două</a:t>
            </a:r>
            <a:r>
              <a:rPr lang="en-US" sz="2000" dirty="0" smtClean="0"/>
              <a:t> diode </a:t>
            </a:r>
            <a:r>
              <a:rPr lang="en-US" sz="2000" dirty="0"/>
              <a:t>legate </a:t>
            </a:r>
            <a:endParaRPr lang="en-US" sz="2000" dirty="0" smtClean="0"/>
          </a:p>
          <a:p>
            <a:r>
              <a:rPr lang="en-US" sz="2000" dirty="0" smtClean="0"/>
              <a:t>La </a:t>
            </a:r>
            <a:r>
              <a:rPr lang="en-US" sz="2000" dirty="0" err="1"/>
              <a:t>definirea</a:t>
            </a:r>
            <a:r>
              <a:rPr lang="en-US" sz="2000" dirty="0"/>
              <a:t> TB s-a </a:t>
            </a:r>
            <a:r>
              <a:rPr lang="en-US" sz="2000" dirty="0" err="1"/>
              <a:t>amintit</a:t>
            </a:r>
            <a:r>
              <a:rPr lang="en-US" sz="2000" dirty="0"/>
              <a:t> </a:t>
            </a:r>
            <a:r>
              <a:rPr lang="en-US" sz="2000" dirty="0" err="1"/>
              <a:t>faptul</a:t>
            </a:r>
            <a:r>
              <a:rPr lang="en-US" sz="2000" dirty="0"/>
              <a:t> </a:t>
            </a:r>
            <a:r>
              <a:rPr lang="en-US" sz="2000" dirty="0" err="1"/>
              <a:t>că</a:t>
            </a:r>
            <a:r>
              <a:rPr lang="en-US" sz="2000" dirty="0"/>
              <a:t> </a:t>
            </a:r>
            <a:r>
              <a:rPr lang="en-US" sz="2000" dirty="0" err="1"/>
              <a:t>două</a:t>
            </a:r>
            <a:r>
              <a:rPr lang="en-US" sz="2000" dirty="0"/>
              <a:t> </a:t>
            </a:r>
            <a:r>
              <a:rPr lang="en-US" sz="2000" dirty="0" err="1" smtClean="0"/>
              <a:t>tipuri</a:t>
            </a:r>
            <a:r>
              <a:rPr lang="en-US" sz="2000" dirty="0" smtClean="0"/>
              <a:t> de </a:t>
            </a:r>
            <a:r>
              <a:rPr lang="en-US" sz="2000" dirty="0" err="1"/>
              <a:t>purtători</a:t>
            </a:r>
            <a:r>
              <a:rPr lang="en-US" sz="2000" dirty="0"/>
              <a:t> </a:t>
            </a:r>
            <a:r>
              <a:rPr lang="en-US" sz="2000" dirty="0" err="1"/>
              <a:t>asigură</a:t>
            </a:r>
            <a:r>
              <a:rPr lang="en-US" sz="2000" dirty="0"/>
              <a:t> </a:t>
            </a:r>
            <a:r>
              <a:rPr lang="en-US" sz="2000" dirty="0" err="1"/>
              <a:t>conducţia</a:t>
            </a:r>
            <a:r>
              <a:rPr lang="en-US" sz="2000" dirty="0"/>
              <a:t> (</a:t>
            </a:r>
            <a:r>
              <a:rPr lang="en-US" sz="2000" dirty="0" err="1"/>
              <a:t>goluri</a:t>
            </a:r>
            <a:r>
              <a:rPr lang="en-US" sz="2000" dirty="0"/>
              <a:t> </a:t>
            </a:r>
            <a:r>
              <a:rPr lang="en-US" sz="2000" dirty="0" err="1" smtClean="0"/>
              <a:t>şi</a:t>
            </a:r>
            <a:r>
              <a:rPr lang="en-US" sz="2000" dirty="0" smtClean="0"/>
              <a:t> </a:t>
            </a:r>
            <a:r>
              <a:rPr lang="en-US" sz="2000" dirty="0" err="1" smtClean="0"/>
              <a:t>electroni</a:t>
            </a:r>
            <a:r>
              <a:rPr lang="en-US" sz="2000" dirty="0"/>
              <a:t>). </a:t>
            </a:r>
            <a:r>
              <a:rPr lang="en-US" sz="2000" dirty="0" err="1"/>
              <a:t>Explicaţia</a:t>
            </a:r>
            <a:r>
              <a:rPr lang="en-US" sz="2000" dirty="0"/>
              <a:t> de </a:t>
            </a:r>
            <a:r>
              <a:rPr lang="en-US" sz="2000" dirty="0" err="1"/>
              <a:t>mai</a:t>
            </a:r>
            <a:r>
              <a:rPr lang="en-US" sz="2000" dirty="0"/>
              <a:t> </a:t>
            </a:r>
            <a:r>
              <a:rPr lang="en-US" sz="2000" dirty="0" err="1"/>
              <a:t>sus</a:t>
            </a:r>
            <a:r>
              <a:rPr lang="en-US" sz="2000" dirty="0"/>
              <a:t> </a:t>
            </a:r>
            <a:r>
              <a:rPr lang="en-US" sz="2000" dirty="0" err="1" smtClean="0"/>
              <a:t>accentuează</a:t>
            </a:r>
            <a:r>
              <a:rPr lang="en-US" sz="2000" dirty="0" smtClean="0"/>
              <a:t> </a:t>
            </a:r>
            <a:r>
              <a:rPr lang="en-US" sz="2000" dirty="0" err="1" smtClean="0"/>
              <a:t>doar</a:t>
            </a:r>
            <a:r>
              <a:rPr lang="en-US" sz="2000" dirty="0" smtClean="0"/>
              <a:t> </a:t>
            </a:r>
            <a:r>
              <a:rPr lang="en-US" sz="2000" dirty="0" err="1"/>
              <a:t>faptul</a:t>
            </a:r>
            <a:r>
              <a:rPr lang="en-US" sz="2000" dirty="0"/>
              <a:t> </a:t>
            </a:r>
            <a:r>
              <a:rPr lang="en-US" sz="2000" dirty="0" err="1"/>
              <a:t>că</a:t>
            </a:r>
            <a:r>
              <a:rPr lang="en-US" sz="2000" dirty="0"/>
              <a:t> </a:t>
            </a:r>
            <a:r>
              <a:rPr lang="en-US" sz="2000" dirty="0" err="1"/>
              <a:t>în</a:t>
            </a:r>
            <a:r>
              <a:rPr lang="en-US" sz="2000" dirty="0"/>
              <a:t> </a:t>
            </a:r>
            <a:r>
              <a:rPr lang="en-US" sz="2000" dirty="0" err="1"/>
              <a:t>cazul</a:t>
            </a:r>
            <a:r>
              <a:rPr lang="en-US" sz="2000" dirty="0"/>
              <a:t> </a:t>
            </a:r>
            <a:r>
              <a:rPr lang="en-US" sz="2000" dirty="0" err="1"/>
              <a:t>tranzistorului</a:t>
            </a:r>
            <a:r>
              <a:rPr lang="en-US" sz="2000" dirty="0"/>
              <a:t> de tip </a:t>
            </a:r>
            <a:r>
              <a:rPr lang="en-US" sz="2000" dirty="0" err="1" smtClean="0"/>
              <a:t>pnp</a:t>
            </a:r>
            <a:r>
              <a:rPr lang="en-US" sz="2000" dirty="0" smtClean="0"/>
              <a:t> </a:t>
            </a:r>
            <a:r>
              <a:rPr lang="en-US" sz="2000" dirty="0" err="1" smtClean="0"/>
              <a:t>curentul</a:t>
            </a:r>
            <a:r>
              <a:rPr lang="en-US" sz="2000" dirty="0" smtClean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în</a:t>
            </a:r>
            <a:r>
              <a:rPr lang="en-US" sz="2000" dirty="0"/>
              <a:t> </a:t>
            </a:r>
            <a:r>
              <a:rPr lang="en-US" sz="2000" dirty="0" err="1"/>
              <a:t>majoritate</a:t>
            </a:r>
            <a:r>
              <a:rPr lang="en-US" sz="2000" dirty="0"/>
              <a:t> format din </a:t>
            </a:r>
            <a:r>
              <a:rPr lang="en-US" sz="2000" dirty="0" err="1"/>
              <a:t>goluri</a:t>
            </a:r>
            <a:r>
              <a:rPr lang="en-US" sz="2000" dirty="0" smtClean="0"/>
              <a:t>. Din </a:t>
            </a:r>
            <a:r>
              <a:rPr lang="en-US" sz="2000" dirty="0" err="1"/>
              <a:t>comparaţia</a:t>
            </a:r>
            <a:r>
              <a:rPr lang="en-US" sz="2000" dirty="0"/>
              <a:t> </a:t>
            </a:r>
            <a:r>
              <a:rPr lang="en-US" sz="2000" dirty="0" err="1"/>
              <a:t>joncţiunii</a:t>
            </a:r>
            <a:r>
              <a:rPr lang="en-US" sz="2000" dirty="0"/>
              <a:t> </a:t>
            </a:r>
            <a:r>
              <a:rPr lang="en-US" sz="2000" dirty="0" err="1"/>
              <a:t>emitor</a:t>
            </a:r>
            <a:r>
              <a:rPr lang="en-US" sz="2000" dirty="0"/>
              <a:t> </a:t>
            </a:r>
            <a:r>
              <a:rPr lang="en-US" sz="2000" dirty="0" err="1"/>
              <a:t>bază</a:t>
            </a:r>
            <a:r>
              <a:rPr lang="en-US" sz="2000" dirty="0"/>
              <a:t> cu </a:t>
            </a:r>
            <a:r>
              <a:rPr lang="en-US" sz="2000" dirty="0" smtClean="0"/>
              <a:t>o </a:t>
            </a:r>
            <a:r>
              <a:rPr lang="en-US" sz="2000" dirty="0" err="1" smtClean="0"/>
              <a:t>diodă</a:t>
            </a:r>
            <a:r>
              <a:rPr lang="en-US" sz="2000" dirty="0" smtClean="0"/>
              <a:t> </a:t>
            </a:r>
            <a:r>
              <a:rPr lang="en-US" sz="2000" dirty="0" err="1"/>
              <a:t>polarizată</a:t>
            </a:r>
            <a:r>
              <a:rPr lang="en-US" sz="2000" dirty="0"/>
              <a:t> direct </a:t>
            </a:r>
            <a:r>
              <a:rPr lang="en-US" sz="2000" dirty="0" err="1"/>
              <a:t>rezultă</a:t>
            </a:r>
            <a:r>
              <a:rPr lang="en-US" sz="2000" dirty="0"/>
              <a:t> </a:t>
            </a:r>
            <a:r>
              <a:rPr lang="en-US" sz="2000" dirty="0" err="1" smtClean="0"/>
              <a:t>că</a:t>
            </a:r>
            <a:r>
              <a:rPr lang="en-US" sz="2000" dirty="0" smtClean="0"/>
              <a:t>: </a:t>
            </a:r>
            <a:r>
              <a:rPr lang="en-US" sz="2000" dirty="0" err="1" smtClean="0"/>
              <a:t>u</a:t>
            </a:r>
            <a:r>
              <a:rPr lang="en-US" sz="2000" baseline="-25000" dirty="0" err="1" smtClean="0"/>
              <a:t>EB</a:t>
            </a:r>
            <a:r>
              <a:rPr lang="en-US" sz="2000" dirty="0" smtClean="0"/>
              <a:t> </a:t>
            </a:r>
            <a:r>
              <a:rPr lang="en-US" sz="2000" dirty="0"/>
              <a:t>≈ </a:t>
            </a:r>
            <a:r>
              <a:rPr lang="en-US" sz="2000" dirty="0" smtClean="0"/>
              <a:t>ct. cu </a:t>
            </a:r>
            <a:r>
              <a:rPr lang="en-US" sz="2000" dirty="0" err="1"/>
              <a:t>valori</a:t>
            </a:r>
            <a:r>
              <a:rPr lang="en-US" sz="2000" dirty="0"/>
              <a:t> </a:t>
            </a:r>
            <a:r>
              <a:rPr lang="en-US" sz="2000" dirty="0" err="1"/>
              <a:t>tipice</a:t>
            </a:r>
            <a:r>
              <a:rPr lang="en-US" sz="2000" dirty="0"/>
              <a:t> de </a:t>
            </a:r>
            <a:r>
              <a:rPr lang="en-US" sz="2000" dirty="0" err="1"/>
              <a:t>ordinul</a:t>
            </a:r>
            <a:r>
              <a:rPr lang="en-US" sz="2000" dirty="0"/>
              <a:t> 0,6 – 0,7V </a:t>
            </a:r>
            <a:r>
              <a:rPr lang="en-US" sz="2000" dirty="0" err="1"/>
              <a:t>pentru</a:t>
            </a:r>
            <a:r>
              <a:rPr lang="en-US" sz="2000" dirty="0"/>
              <a:t> </a:t>
            </a:r>
            <a:r>
              <a:rPr lang="en-US" sz="2000" dirty="0" smtClean="0"/>
              <a:t>Si </a:t>
            </a:r>
            <a:r>
              <a:rPr lang="en-US" sz="2000" dirty="0" err="1" smtClean="0"/>
              <a:t>şi</a:t>
            </a:r>
            <a:r>
              <a:rPr lang="en-US" sz="2000" dirty="0" smtClean="0"/>
              <a:t> </a:t>
            </a:r>
            <a:r>
              <a:rPr lang="en-US" sz="2000" dirty="0"/>
              <a:t>0,2 – 0,3V </a:t>
            </a:r>
            <a:r>
              <a:rPr lang="en-US" sz="2000" dirty="0" err="1"/>
              <a:t>pentru</a:t>
            </a:r>
            <a:r>
              <a:rPr lang="en-US" sz="2000" dirty="0"/>
              <a:t> Ge</a:t>
            </a:r>
            <a:r>
              <a:rPr lang="en-US" sz="2000" dirty="0" smtClean="0"/>
              <a:t>. Dar </a:t>
            </a:r>
            <a:r>
              <a:rPr lang="en-US" sz="2000" dirty="0" err="1" smtClean="0"/>
              <a:t>privind</a:t>
            </a:r>
            <a:r>
              <a:rPr lang="en-US" sz="2000" dirty="0" smtClean="0"/>
              <a:t> </a:t>
            </a:r>
            <a:r>
              <a:rPr lang="en-US" sz="2000" dirty="0" err="1" smtClean="0"/>
              <a:t>tranzistorul</a:t>
            </a:r>
            <a:r>
              <a:rPr lang="en-US" sz="2000" dirty="0" smtClean="0"/>
              <a:t> ca un </a:t>
            </a:r>
            <a:r>
              <a:rPr lang="en-US" sz="2000" dirty="0" err="1" smtClean="0"/>
              <a:t>dispozitiv</a:t>
            </a:r>
            <a:r>
              <a:rPr lang="en-US" sz="2000" dirty="0" smtClean="0"/>
              <a:t> </a:t>
            </a:r>
            <a:r>
              <a:rPr lang="x-none" sz="2000" dirty="0" smtClean="0"/>
              <a:t>s</a:t>
            </a:r>
            <a:r>
              <a:rPr lang="en-US" sz="2000" dirty="0" err="1" smtClean="0"/>
              <a:t>emiconductor</a:t>
            </a:r>
            <a:r>
              <a:rPr lang="en-US" sz="2000" dirty="0" smtClean="0"/>
              <a:t> </a:t>
            </a:r>
            <a:r>
              <a:rPr lang="en-US" sz="2000" dirty="0" err="1" smtClean="0"/>
              <a:t>putem</a:t>
            </a:r>
            <a:r>
              <a:rPr lang="en-US" sz="2000" dirty="0" smtClean="0"/>
              <a:t> </a:t>
            </a:r>
            <a:r>
              <a:rPr lang="en-US" sz="2000" dirty="0" err="1" smtClean="0"/>
              <a:t>afirma</a:t>
            </a:r>
            <a:r>
              <a:rPr lang="en-US" sz="2000" dirty="0" smtClean="0"/>
              <a:t> c</a:t>
            </a:r>
            <a:r>
              <a:rPr lang="x-none" sz="2000" dirty="0" smtClean="0"/>
              <a:t>ă căderea de tensiune pe joncțiunile tranzistorului în regim de saturație nu este mai mare decît 0,4V pentru Si.</a:t>
            </a:r>
            <a:endParaRPr lang="en-US" sz="20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94" y="3486150"/>
            <a:ext cx="3733800" cy="208597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551" y="3533774"/>
            <a:ext cx="3648075" cy="1990725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820847" y="5718750"/>
            <a:ext cx="768940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Caracteristici</a:t>
            </a:r>
            <a:r>
              <a:rPr lang="en-US" dirty="0"/>
              <a:t> </a:t>
            </a:r>
            <a:r>
              <a:rPr lang="en-US" dirty="0" err="1"/>
              <a:t>ideale</a:t>
            </a:r>
            <a:r>
              <a:rPr lang="en-US" dirty="0"/>
              <a:t> </a:t>
            </a:r>
            <a:r>
              <a:rPr lang="en-US" dirty="0" err="1" smtClean="0"/>
              <a:t>aletranzistorului</a:t>
            </a:r>
            <a:r>
              <a:rPr lang="en-US" dirty="0" smtClean="0"/>
              <a:t> </a:t>
            </a:r>
            <a:r>
              <a:rPr lang="en-US" dirty="0" err="1"/>
              <a:t>pnp</a:t>
            </a:r>
            <a:endParaRPr lang="en-US" dirty="0"/>
          </a:p>
          <a:p>
            <a:r>
              <a:rPr lang="en-US" dirty="0"/>
              <a:t>a) </a:t>
            </a:r>
            <a:r>
              <a:rPr lang="en-US" dirty="0" err="1"/>
              <a:t>Caracteristica</a:t>
            </a:r>
            <a:r>
              <a:rPr lang="en-US" dirty="0"/>
              <a:t> </a:t>
            </a:r>
            <a:r>
              <a:rPr lang="en-US" dirty="0" err="1"/>
              <a:t>ideală</a:t>
            </a:r>
            <a:r>
              <a:rPr lang="en-US" dirty="0"/>
              <a:t> de </a:t>
            </a:r>
            <a:r>
              <a:rPr lang="en-US" dirty="0" err="1"/>
              <a:t>intrare</a:t>
            </a:r>
            <a:endParaRPr lang="en-US" dirty="0"/>
          </a:p>
          <a:p>
            <a:r>
              <a:rPr lang="en-US" dirty="0"/>
              <a:t>b) </a:t>
            </a:r>
            <a:r>
              <a:rPr lang="en-US" dirty="0" err="1"/>
              <a:t>Caracteristica</a:t>
            </a:r>
            <a:r>
              <a:rPr lang="en-US" dirty="0"/>
              <a:t> </a:t>
            </a:r>
            <a:r>
              <a:rPr lang="en-US" dirty="0" err="1"/>
              <a:t>ideală</a:t>
            </a:r>
            <a:r>
              <a:rPr lang="en-US" dirty="0"/>
              <a:t> de </a:t>
            </a:r>
            <a:r>
              <a:rPr lang="en-US" dirty="0" err="1"/>
              <a:t>ieşire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340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8250" y="274410"/>
            <a:ext cx="8245849" cy="646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4763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8642" y="99588"/>
            <a:ext cx="11245158" cy="66361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Regimul</a:t>
            </a: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activ</a:t>
            </a: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invers 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 T.B se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află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cest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regim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funcţionare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dacă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joncţiunea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CB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polarizată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direct,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iar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joncţiunea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EB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polarizată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invers.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cazul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TB de tip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pnp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rezultă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de-DE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de-DE" sz="2000" baseline="-25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EB</a:t>
            </a:r>
            <a:r>
              <a:rPr lang="de-DE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de-DE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&lt; 0 ; </a:t>
            </a:r>
            <a:r>
              <a:rPr lang="de-DE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de-DE" sz="2000" baseline="-25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CB</a:t>
            </a:r>
            <a:r>
              <a:rPr lang="de-DE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de-DE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&gt; 0 </a:t>
            </a:r>
            <a:endParaRPr lang="de-DE" sz="20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această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situaţie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din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punct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vedere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calitativ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fenomenele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vor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fi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asemănătoare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cele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descrise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la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funcţionarea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TB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RAN,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joncţiunile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CB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EB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schimbându-şi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rolurile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între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ele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Rezultă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prin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TB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circula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un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sens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opus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faţă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funcţionarea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RAN,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datorat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purtătorilor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sarcină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injectaţi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bază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prin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difuzie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din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colector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transportaţi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emitor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datorită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câmpului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electric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polarizează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invers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joncţiunea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EB. </a:t>
            </a:r>
            <a:endParaRPr lang="en-US" sz="20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Din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punct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vedere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cantitativ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însă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fenomenele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diferă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sensibil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Astfel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datorită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modului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dopare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specific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celor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două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joncţiuni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regiunea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colectorului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are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dopare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medie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curentul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ar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fi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mult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mic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faţă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cel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obţinut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la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funcţionarea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RAN,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aceleaşi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condiţii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polarizare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doilea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rând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datorită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modului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dopare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joncţiunea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EB nu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suportă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tensiuni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inverse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mari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majoritatea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TB au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străpungere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joncţiunii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EB de 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ordinal 5 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– 6V),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astfel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acest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regim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lucru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posibil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numai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cazul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funcţionării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tensiuni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alimentare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valori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mici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0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consecinţă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regimul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activ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invers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nu </a:t>
            </a:r>
            <a:r>
              <a:rPr lang="en-US" sz="2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utilizat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aplicaţii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practice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US" sz="20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Tranzistorul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un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dispozitiv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fost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gândit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construit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scopul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a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asigura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conducţie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controlată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unidirecţională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Din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acest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motiv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nu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funcţionarea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regimul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activ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invers a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constituit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preocuparea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proiectanţilor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Posibilitatea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existenţei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acestui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regim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lucru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o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consecinţă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structurii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constructive a TB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are o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semnificaţie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pur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teoretică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3660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Regimul</a:t>
            </a: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saturaţie</a:t>
            </a: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 TB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funcţionează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regim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saturaţie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dacă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ambele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joncţiuni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sunt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polarizate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direct.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cazul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TB de tip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pnp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rezultă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endParaRPr lang="en-US" sz="20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baseline="-25000" dirty="0" err="1" smtClean="0">
                <a:latin typeface="Times New Roman" pitchFamily="18" charset="0"/>
                <a:cs typeface="Times New Roman" pitchFamily="18" charset="0"/>
              </a:rPr>
              <a:t>EB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&lt; 0 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baseline="-25000" dirty="0" err="1" smtClean="0">
                <a:latin typeface="Times New Roman" pitchFamily="18" charset="0"/>
                <a:cs typeface="Times New Roman" pitchFamily="18" charset="0"/>
              </a:rPr>
              <a:t>CB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≤ 0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urmare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polarizării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directe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ambelor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joncţiuni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fi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favorizată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difuzia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acest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mod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bază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avea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loc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o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injecţie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masivă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purtători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majoritari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sarcină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goluri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cazul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faţă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atât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din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din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emitor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cât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din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colector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Aceşti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purtători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sarcină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sub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influenţa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câmpului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electric. </a:t>
            </a:r>
            <a:endParaRPr lang="en-US" sz="20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0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EC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 E</a:t>
            </a:r>
            <a:r>
              <a:rPr lang="en-US" sz="20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EB 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000" baseline="-25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BC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rezultă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între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colector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emitor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ca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urmare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polarizării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joncţiunilor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căderea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între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emitor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colector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endParaRPr lang="en-US" sz="20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baseline="-25000" dirty="0" err="1" smtClean="0">
                <a:latin typeface="Times New Roman" pitchFamily="18" charset="0"/>
                <a:cs typeface="Times New Roman" pitchFamily="18" charset="0"/>
              </a:rPr>
              <a:t>EC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baseline="-25000" dirty="0" err="1" smtClean="0">
                <a:latin typeface="Times New Roman" pitchFamily="18" charset="0"/>
                <a:cs typeface="Times New Roman" pitchFamily="18" charset="0"/>
              </a:rPr>
              <a:t>EB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baseline="-25000" dirty="0" err="1" smtClean="0">
                <a:latin typeface="Times New Roman" pitchFamily="18" charset="0"/>
                <a:cs typeface="Times New Roman" pitchFamily="18" charset="0"/>
              </a:rPr>
              <a:t>BC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câmpurile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electrice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E</a:t>
            </a:r>
            <a:r>
              <a:rPr lang="en-US" sz="20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EB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E</a:t>
            </a:r>
            <a:r>
              <a:rPr lang="en-US" sz="20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BC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vor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avea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sensuri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opuse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astfel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principiu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câmpul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000" baseline="-25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EC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poate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avea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orice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orientare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imprimând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purtătorilor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sarcină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din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bază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deplasări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corespunzătoare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Rezultă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printr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-un TB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funcţionează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acest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regim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lucru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curentul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baseline="-25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≈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baseline="-25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poate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avea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oricare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din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cele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două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sensuri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posibile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b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506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12191999" cy="6858000"/>
          </a:xfrm>
        </p:spPr>
        <p:txBody>
          <a:bodyPr>
            <a:normAutofit/>
          </a:bodyPr>
          <a:lstStyle/>
          <a:p>
            <a:r>
              <a:rPr lang="en-US" sz="2200" dirty="0" err="1"/>
              <a:t>Totuşi</a:t>
            </a:r>
            <a:r>
              <a:rPr lang="en-US" sz="2200" dirty="0"/>
              <a:t>, se </a:t>
            </a:r>
            <a:r>
              <a:rPr lang="en-US" sz="2200" dirty="0" err="1"/>
              <a:t>impun</a:t>
            </a:r>
            <a:r>
              <a:rPr lang="en-US" sz="2200" dirty="0"/>
              <a:t> </a:t>
            </a:r>
            <a:r>
              <a:rPr lang="en-US" sz="2200" dirty="0" err="1"/>
              <a:t>următoarele</a:t>
            </a:r>
            <a:r>
              <a:rPr lang="en-US" sz="2200" dirty="0"/>
              <a:t> </a:t>
            </a:r>
            <a:r>
              <a:rPr lang="en-US" sz="2200" dirty="0" err="1"/>
              <a:t>precizări</a:t>
            </a:r>
            <a:r>
              <a:rPr lang="en-US" sz="2200" dirty="0" smtClean="0"/>
              <a:t>:</a:t>
            </a:r>
          </a:p>
          <a:p>
            <a:r>
              <a:rPr lang="en-US" sz="2200" dirty="0" smtClean="0"/>
              <a:t> </a:t>
            </a:r>
            <a:r>
              <a:rPr lang="en-US" sz="2200" dirty="0" err="1" smtClean="0"/>
              <a:t>Tensiunea</a:t>
            </a:r>
            <a:r>
              <a:rPr lang="en-US" sz="2200" dirty="0" smtClean="0"/>
              <a:t> </a:t>
            </a:r>
            <a:r>
              <a:rPr lang="en-US" sz="2200" dirty="0" err="1" smtClean="0"/>
              <a:t>u</a:t>
            </a:r>
            <a:r>
              <a:rPr lang="en-US" sz="2200" baseline="-25000" dirty="0" err="1" smtClean="0"/>
              <a:t>EC</a:t>
            </a:r>
            <a:r>
              <a:rPr lang="en-US" sz="2200" dirty="0" smtClean="0"/>
              <a:t> ,are </a:t>
            </a:r>
            <a:r>
              <a:rPr lang="en-US" sz="2200" dirty="0"/>
              <a:t>o </a:t>
            </a:r>
            <a:r>
              <a:rPr lang="en-US" sz="2200" dirty="0" err="1"/>
              <a:t>valoare</a:t>
            </a:r>
            <a:r>
              <a:rPr lang="en-US" sz="2200" dirty="0"/>
              <a:t> </a:t>
            </a:r>
            <a:r>
              <a:rPr lang="en-US" sz="2200" dirty="0" err="1"/>
              <a:t>mică</a:t>
            </a:r>
            <a:r>
              <a:rPr lang="en-US" sz="2200" dirty="0"/>
              <a:t>, </a:t>
            </a:r>
            <a:r>
              <a:rPr lang="en-US" sz="2200" dirty="0" err="1"/>
              <a:t>astfel</a:t>
            </a:r>
            <a:r>
              <a:rPr lang="en-US" sz="2200" dirty="0"/>
              <a:t> </a:t>
            </a:r>
            <a:r>
              <a:rPr lang="en-US" sz="2200" dirty="0" err="1"/>
              <a:t>că</a:t>
            </a:r>
            <a:r>
              <a:rPr lang="en-US" sz="2200" dirty="0"/>
              <a:t> </a:t>
            </a:r>
            <a:r>
              <a:rPr lang="en-US" sz="2200" dirty="0" err="1"/>
              <a:t>valoarea</a:t>
            </a:r>
            <a:r>
              <a:rPr lang="en-US" sz="2200" dirty="0"/>
              <a:t> </a:t>
            </a:r>
            <a:r>
              <a:rPr lang="en-US" sz="2200" dirty="0" err="1"/>
              <a:t>curentului</a:t>
            </a:r>
            <a:r>
              <a:rPr lang="en-US" sz="2200" dirty="0"/>
              <a:t> </a:t>
            </a:r>
            <a:r>
              <a:rPr lang="en-US" sz="2200" dirty="0" err="1" smtClean="0"/>
              <a:t>prin</a:t>
            </a:r>
            <a:r>
              <a:rPr lang="en-US" sz="2200" dirty="0" smtClean="0"/>
              <a:t> </a:t>
            </a:r>
            <a:r>
              <a:rPr lang="en-US" sz="2200" dirty="0" err="1" smtClean="0"/>
              <a:t>tranzistor</a:t>
            </a:r>
            <a:r>
              <a:rPr lang="en-US" sz="2200" dirty="0" smtClean="0"/>
              <a:t> </a:t>
            </a:r>
            <a:r>
              <a:rPr lang="en-US" sz="2200" dirty="0" err="1"/>
              <a:t>va</a:t>
            </a:r>
            <a:r>
              <a:rPr lang="en-US" sz="2200" dirty="0"/>
              <a:t> fi </a:t>
            </a:r>
            <a:r>
              <a:rPr lang="en-US" sz="2200" dirty="0" err="1"/>
              <a:t>stabilită</a:t>
            </a:r>
            <a:r>
              <a:rPr lang="en-US" sz="2200" dirty="0"/>
              <a:t> de </a:t>
            </a:r>
            <a:r>
              <a:rPr lang="en-US" sz="2200" dirty="0" err="1"/>
              <a:t>rezistenţa</a:t>
            </a:r>
            <a:r>
              <a:rPr lang="en-US" sz="2200" dirty="0"/>
              <a:t> de </a:t>
            </a:r>
            <a:r>
              <a:rPr lang="en-US" sz="2200" dirty="0" err="1"/>
              <a:t>sarcină</a:t>
            </a:r>
            <a:r>
              <a:rPr lang="en-US" sz="2200" dirty="0"/>
              <a:t> </a:t>
            </a:r>
            <a:r>
              <a:rPr lang="en-US" sz="2200" dirty="0" err="1"/>
              <a:t>conectată</a:t>
            </a:r>
            <a:r>
              <a:rPr lang="en-US" sz="2200" dirty="0"/>
              <a:t> </a:t>
            </a:r>
            <a:r>
              <a:rPr lang="en-US" sz="2200" dirty="0" err="1"/>
              <a:t>în</a:t>
            </a:r>
            <a:r>
              <a:rPr lang="en-US" sz="2200" dirty="0"/>
              <a:t> </a:t>
            </a:r>
            <a:r>
              <a:rPr lang="en-US" sz="2200" dirty="0" err="1"/>
              <a:t>colector</a:t>
            </a:r>
            <a:r>
              <a:rPr lang="en-US" sz="2200" dirty="0"/>
              <a:t> (</a:t>
            </a:r>
            <a:r>
              <a:rPr lang="en-US" sz="2200" dirty="0" err="1"/>
              <a:t>şi</a:t>
            </a:r>
            <a:r>
              <a:rPr lang="en-US" sz="2200" dirty="0"/>
              <a:t>/</a:t>
            </a:r>
            <a:r>
              <a:rPr lang="en-US" sz="2200" dirty="0" err="1"/>
              <a:t>sau</a:t>
            </a:r>
            <a:r>
              <a:rPr lang="en-US" sz="2200" dirty="0"/>
              <a:t> </a:t>
            </a:r>
            <a:r>
              <a:rPr lang="en-US" sz="2200" dirty="0" err="1" smtClean="0"/>
              <a:t>în</a:t>
            </a:r>
            <a:r>
              <a:rPr lang="en-US" sz="2200" dirty="0" smtClean="0"/>
              <a:t> </a:t>
            </a:r>
            <a:r>
              <a:rPr lang="en-US" sz="2200" dirty="0" err="1" smtClean="0"/>
              <a:t>emitor</a:t>
            </a:r>
            <a:r>
              <a:rPr lang="en-US" sz="2200" dirty="0"/>
              <a:t>). Nu </a:t>
            </a:r>
            <a:r>
              <a:rPr lang="en-US" sz="2200" dirty="0" err="1"/>
              <a:t>toţi</a:t>
            </a:r>
            <a:r>
              <a:rPr lang="en-US" sz="2200" dirty="0"/>
              <a:t> </a:t>
            </a:r>
            <a:r>
              <a:rPr lang="en-US" sz="2200" dirty="0" err="1"/>
              <a:t>purtătorii</a:t>
            </a:r>
            <a:r>
              <a:rPr lang="en-US" sz="2200" dirty="0"/>
              <a:t> de </a:t>
            </a:r>
            <a:r>
              <a:rPr lang="en-US" sz="2200" dirty="0" err="1"/>
              <a:t>sarcină</a:t>
            </a:r>
            <a:r>
              <a:rPr lang="en-US" sz="2200" dirty="0"/>
              <a:t> din </a:t>
            </a:r>
            <a:r>
              <a:rPr lang="en-US" sz="2200" dirty="0" err="1"/>
              <a:t>bază</a:t>
            </a:r>
            <a:r>
              <a:rPr lang="en-US" sz="2200" dirty="0"/>
              <a:t> </a:t>
            </a:r>
            <a:r>
              <a:rPr lang="en-US" sz="2200" dirty="0" err="1"/>
              <a:t>vor</a:t>
            </a:r>
            <a:r>
              <a:rPr lang="en-US" sz="2200" dirty="0"/>
              <a:t> </a:t>
            </a:r>
            <a:r>
              <a:rPr lang="en-US" sz="2200" dirty="0" err="1"/>
              <a:t>participa</a:t>
            </a:r>
            <a:r>
              <a:rPr lang="en-US" sz="2200" dirty="0"/>
              <a:t> la </a:t>
            </a:r>
            <a:r>
              <a:rPr lang="en-US" sz="2200" dirty="0" err="1"/>
              <a:t>acest</a:t>
            </a:r>
            <a:r>
              <a:rPr lang="en-US" sz="2200" dirty="0"/>
              <a:t> </a:t>
            </a:r>
            <a:r>
              <a:rPr lang="en-US" sz="2200" dirty="0" err="1"/>
              <a:t>curent</a:t>
            </a:r>
            <a:r>
              <a:rPr lang="en-US" sz="2200" dirty="0"/>
              <a:t> (a nu </a:t>
            </a:r>
            <a:r>
              <a:rPr lang="en-US" sz="2200" dirty="0" smtClean="0"/>
              <a:t>se </a:t>
            </a:r>
            <a:r>
              <a:rPr lang="en-US" sz="2200" dirty="0" err="1" smtClean="0"/>
              <a:t>uita</a:t>
            </a:r>
            <a:r>
              <a:rPr lang="en-US" sz="2200" dirty="0" smtClean="0"/>
              <a:t> </a:t>
            </a:r>
            <a:r>
              <a:rPr lang="en-US" sz="2200" dirty="0" err="1"/>
              <a:t>faptul</a:t>
            </a:r>
            <a:r>
              <a:rPr lang="en-US" sz="2200" dirty="0"/>
              <a:t> </a:t>
            </a:r>
            <a:r>
              <a:rPr lang="en-US" sz="2200" dirty="0" err="1"/>
              <a:t>că</a:t>
            </a:r>
            <a:r>
              <a:rPr lang="en-US" sz="2200" dirty="0"/>
              <a:t> </a:t>
            </a:r>
            <a:r>
              <a:rPr lang="en-US" sz="2200" dirty="0" err="1"/>
              <a:t>faţă</a:t>
            </a:r>
            <a:r>
              <a:rPr lang="en-US" sz="2200" dirty="0"/>
              <a:t> de RAN </a:t>
            </a:r>
            <a:r>
              <a:rPr lang="en-US" sz="2200" dirty="0" err="1"/>
              <a:t>există</a:t>
            </a:r>
            <a:r>
              <a:rPr lang="en-US" sz="2200" dirty="0"/>
              <a:t> </a:t>
            </a:r>
            <a:r>
              <a:rPr lang="en-US" sz="2200" dirty="0" err="1"/>
              <a:t>mai</a:t>
            </a:r>
            <a:r>
              <a:rPr lang="en-US" sz="2200" dirty="0"/>
              <a:t> </a:t>
            </a:r>
            <a:r>
              <a:rPr lang="en-US" sz="2200" dirty="0" err="1"/>
              <a:t>mulţi</a:t>
            </a:r>
            <a:r>
              <a:rPr lang="en-US" sz="2200" dirty="0"/>
              <a:t> </a:t>
            </a:r>
            <a:r>
              <a:rPr lang="en-US" sz="2200" dirty="0" err="1"/>
              <a:t>purtători</a:t>
            </a:r>
            <a:r>
              <a:rPr lang="en-US" sz="2200" dirty="0"/>
              <a:t> </a:t>
            </a:r>
            <a:r>
              <a:rPr lang="en-US" sz="2200" dirty="0" err="1"/>
              <a:t>în</a:t>
            </a:r>
            <a:r>
              <a:rPr lang="en-US" sz="2200" dirty="0"/>
              <a:t> </a:t>
            </a:r>
            <a:r>
              <a:rPr lang="en-US" sz="2200" dirty="0" err="1"/>
              <a:t>bază</a:t>
            </a:r>
            <a:r>
              <a:rPr lang="en-US" sz="2200" dirty="0"/>
              <a:t>, </a:t>
            </a:r>
            <a:r>
              <a:rPr lang="en-US" sz="2200" dirty="0" err="1"/>
              <a:t>iar</a:t>
            </a:r>
            <a:r>
              <a:rPr lang="en-US" sz="2200" dirty="0"/>
              <a:t> </a:t>
            </a:r>
            <a:r>
              <a:rPr lang="en-US" sz="2200" dirty="0" err="1"/>
              <a:t>valoarea</a:t>
            </a:r>
            <a:r>
              <a:rPr lang="en-US" sz="2200" dirty="0"/>
              <a:t> </a:t>
            </a:r>
            <a:r>
              <a:rPr lang="en-US" sz="2200" dirty="0" err="1" smtClean="0"/>
              <a:t>curentului</a:t>
            </a:r>
            <a:r>
              <a:rPr lang="en-US" sz="2200" dirty="0" smtClean="0"/>
              <a:t> nu </a:t>
            </a:r>
            <a:r>
              <a:rPr lang="en-US" sz="2200" dirty="0" err="1"/>
              <a:t>creşte</a:t>
            </a:r>
            <a:r>
              <a:rPr lang="en-US" sz="2200" dirty="0"/>
              <a:t> </a:t>
            </a:r>
            <a:r>
              <a:rPr lang="en-US" sz="2200" dirty="0" err="1"/>
              <a:t>semnificativ</a:t>
            </a:r>
            <a:r>
              <a:rPr lang="en-US" sz="2200" dirty="0"/>
              <a:t>), </a:t>
            </a:r>
            <a:r>
              <a:rPr lang="en-US" sz="2200" dirty="0" err="1"/>
              <a:t>astfel</a:t>
            </a:r>
            <a:r>
              <a:rPr lang="en-US" sz="2200" dirty="0"/>
              <a:t> </a:t>
            </a:r>
            <a:r>
              <a:rPr lang="en-US" sz="2200" dirty="0" err="1"/>
              <a:t>că</a:t>
            </a:r>
            <a:r>
              <a:rPr lang="en-US" sz="2200" dirty="0"/>
              <a:t> </a:t>
            </a:r>
            <a:r>
              <a:rPr lang="en-US" sz="2200" dirty="0" err="1"/>
              <a:t>vor</a:t>
            </a:r>
            <a:r>
              <a:rPr lang="en-US" sz="2200" dirty="0"/>
              <a:t> </a:t>
            </a:r>
            <a:r>
              <a:rPr lang="en-US" sz="2200" dirty="0" err="1"/>
              <a:t>exista</a:t>
            </a:r>
            <a:r>
              <a:rPr lang="en-US" sz="2200" dirty="0"/>
              <a:t> </a:t>
            </a:r>
            <a:r>
              <a:rPr lang="en-US" sz="2200" dirty="0" err="1"/>
              <a:t>purtători</a:t>
            </a:r>
            <a:r>
              <a:rPr lang="en-US" sz="2200" dirty="0"/>
              <a:t> de </a:t>
            </a:r>
            <a:r>
              <a:rPr lang="en-US" sz="2200" dirty="0" err="1"/>
              <a:t>sarcină</a:t>
            </a:r>
            <a:r>
              <a:rPr lang="en-US" sz="2200" dirty="0"/>
              <a:t> </a:t>
            </a:r>
            <a:r>
              <a:rPr lang="en-US" sz="2200" dirty="0" err="1"/>
              <a:t>ce</a:t>
            </a:r>
            <a:r>
              <a:rPr lang="en-US" sz="2200" dirty="0"/>
              <a:t> </a:t>
            </a:r>
            <a:r>
              <a:rPr lang="en-US" sz="2200" dirty="0" err="1"/>
              <a:t>staţionează</a:t>
            </a:r>
            <a:r>
              <a:rPr lang="en-US" sz="2200" dirty="0"/>
              <a:t> </a:t>
            </a:r>
            <a:r>
              <a:rPr lang="en-US" sz="2200" dirty="0" err="1"/>
              <a:t>în</a:t>
            </a:r>
            <a:r>
              <a:rPr lang="en-US" sz="2200" dirty="0"/>
              <a:t> </a:t>
            </a:r>
            <a:r>
              <a:rPr lang="en-US" sz="2200" dirty="0" err="1" smtClean="0"/>
              <a:t>bază</a:t>
            </a:r>
            <a:r>
              <a:rPr lang="en-US" sz="2200" dirty="0" smtClean="0"/>
              <a:t> (</a:t>
            </a:r>
            <a:r>
              <a:rPr lang="en-US" sz="2200" dirty="0" err="1"/>
              <a:t>aşa</a:t>
            </a:r>
            <a:r>
              <a:rPr lang="en-US" sz="2200" dirty="0"/>
              <a:t> </a:t>
            </a:r>
            <a:r>
              <a:rPr lang="en-US" sz="2200" dirty="0" err="1"/>
              <a:t>numiţii</a:t>
            </a:r>
            <a:r>
              <a:rPr lang="en-US" sz="2200" dirty="0"/>
              <a:t> </a:t>
            </a:r>
            <a:r>
              <a:rPr lang="en-US" sz="2200" dirty="0" err="1"/>
              <a:t>purtători</a:t>
            </a:r>
            <a:r>
              <a:rPr lang="en-US" sz="2200" dirty="0"/>
              <a:t> </a:t>
            </a:r>
            <a:r>
              <a:rPr lang="en-US" sz="2200" dirty="0" err="1"/>
              <a:t>în</a:t>
            </a:r>
            <a:r>
              <a:rPr lang="en-US" sz="2200" dirty="0"/>
              <a:t> </a:t>
            </a:r>
            <a:r>
              <a:rPr lang="en-US" sz="2200" dirty="0" err="1"/>
              <a:t>exces</a:t>
            </a:r>
            <a:r>
              <a:rPr lang="en-US" sz="2200" dirty="0"/>
              <a:t> </a:t>
            </a:r>
            <a:r>
              <a:rPr lang="en-US" sz="2200" dirty="0" err="1"/>
              <a:t>sau</a:t>
            </a:r>
            <a:r>
              <a:rPr lang="en-US" sz="2200" dirty="0"/>
              <a:t> </a:t>
            </a:r>
            <a:r>
              <a:rPr lang="en-US" sz="2200" dirty="0" err="1"/>
              <a:t>sarcina</a:t>
            </a:r>
            <a:r>
              <a:rPr lang="en-US" sz="2200" dirty="0"/>
              <a:t> </a:t>
            </a:r>
            <a:r>
              <a:rPr lang="en-US" sz="2200" dirty="0" err="1"/>
              <a:t>stocată</a:t>
            </a:r>
            <a:r>
              <a:rPr lang="en-US" sz="2200" dirty="0"/>
              <a:t>). </a:t>
            </a:r>
            <a:r>
              <a:rPr lang="en-US" sz="2200" dirty="0" err="1"/>
              <a:t>Aceştia</a:t>
            </a:r>
            <a:r>
              <a:rPr lang="en-US" sz="2200" dirty="0"/>
              <a:t> </a:t>
            </a:r>
            <a:r>
              <a:rPr lang="en-US" sz="2200" dirty="0" err="1"/>
              <a:t>creează</a:t>
            </a:r>
            <a:r>
              <a:rPr lang="en-US" sz="2200" dirty="0"/>
              <a:t> </a:t>
            </a:r>
            <a:r>
              <a:rPr lang="en-US" sz="2200" dirty="0" err="1"/>
              <a:t>probleme</a:t>
            </a:r>
            <a:r>
              <a:rPr lang="en-US" sz="2200" dirty="0"/>
              <a:t> </a:t>
            </a:r>
            <a:r>
              <a:rPr lang="en-US" sz="2200" dirty="0" smtClean="0"/>
              <a:t>la </a:t>
            </a:r>
            <a:r>
              <a:rPr lang="en-US" sz="2200" dirty="0" err="1" smtClean="0"/>
              <a:t>blocarea</a:t>
            </a:r>
            <a:r>
              <a:rPr lang="en-US" sz="2200" dirty="0" smtClean="0"/>
              <a:t> </a:t>
            </a:r>
            <a:r>
              <a:rPr lang="en-US" sz="2200" dirty="0"/>
              <a:t>TB, </a:t>
            </a:r>
            <a:r>
              <a:rPr lang="en-US" sz="2200" dirty="0" err="1"/>
              <a:t>deoarece</a:t>
            </a:r>
            <a:r>
              <a:rPr lang="en-US" sz="2200" dirty="0"/>
              <a:t> </a:t>
            </a:r>
            <a:r>
              <a:rPr lang="en-US" sz="2200" dirty="0" err="1"/>
              <a:t>trebuie</a:t>
            </a:r>
            <a:r>
              <a:rPr lang="en-US" sz="2200" dirty="0"/>
              <a:t> </a:t>
            </a:r>
            <a:r>
              <a:rPr lang="en-US" sz="2200" dirty="0" err="1"/>
              <a:t>evacuaţi</a:t>
            </a:r>
            <a:r>
              <a:rPr lang="en-US" sz="2200" dirty="0"/>
              <a:t> din </a:t>
            </a:r>
            <a:r>
              <a:rPr lang="en-US" sz="2200" dirty="0" err="1"/>
              <a:t>bază</a:t>
            </a:r>
            <a:r>
              <a:rPr lang="en-US" sz="2200" dirty="0"/>
              <a:t>, </a:t>
            </a:r>
            <a:r>
              <a:rPr lang="en-US" sz="2200" dirty="0" err="1"/>
              <a:t>fenomen</a:t>
            </a:r>
            <a:r>
              <a:rPr lang="en-US" sz="2200" dirty="0"/>
              <a:t> </a:t>
            </a:r>
            <a:r>
              <a:rPr lang="en-US" sz="2200" dirty="0" err="1"/>
              <a:t>ce</a:t>
            </a:r>
            <a:r>
              <a:rPr lang="en-US" sz="2200" dirty="0"/>
              <a:t> nu se </a:t>
            </a:r>
            <a:r>
              <a:rPr lang="en-US" sz="2200" dirty="0" err="1" smtClean="0"/>
              <a:t>desfăşoară</a:t>
            </a:r>
            <a:r>
              <a:rPr lang="en-US" sz="2200" dirty="0" smtClean="0"/>
              <a:t> </a:t>
            </a:r>
            <a:r>
              <a:rPr lang="en-US" sz="2200" dirty="0" err="1" smtClean="0"/>
              <a:t>instantaneu</a:t>
            </a:r>
            <a:r>
              <a:rPr lang="en-US" sz="2200" dirty="0"/>
              <a:t>. </a:t>
            </a:r>
            <a:r>
              <a:rPr lang="en-US" sz="2200" dirty="0" err="1"/>
              <a:t>Rezultă</a:t>
            </a:r>
            <a:r>
              <a:rPr lang="en-US" sz="2200" dirty="0"/>
              <a:t> o </a:t>
            </a:r>
            <a:r>
              <a:rPr lang="en-US" sz="2200" dirty="0" err="1"/>
              <a:t>creştere</a:t>
            </a:r>
            <a:r>
              <a:rPr lang="en-US" sz="2200" dirty="0"/>
              <a:t> a </a:t>
            </a:r>
            <a:r>
              <a:rPr lang="en-US" sz="2200" dirty="0" err="1"/>
              <a:t>timpului</a:t>
            </a:r>
            <a:r>
              <a:rPr lang="en-US" sz="2200" dirty="0"/>
              <a:t> de </a:t>
            </a:r>
            <a:r>
              <a:rPr lang="en-US" sz="2200" dirty="0" err="1"/>
              <a:t>blocare</a:t>
            </a:r>
            <a:r>
              <a:rPr lang="en-US" sz="2200" dirty="0"/>
              <a:t>, </a:t>
            </a:r>
            <a:r>
              <a:rPr lang="en-US" sz="2200" dirty="0" err="1"/>
              <a:t>ceea</a:t>
            </a:r>
            <a:r>
              <a:rPr lang="en-US" sz="2200" dirty="0"/>
              <a:t> </a:t>
            </a:r>
            <a:r>
              <a:rPr lang="en-US" sz="2200" dirty="0" err="1"/>
              <a:t>ce</a:t>
            </a:r>
            <a:r>
              <a:rPr lang="en-US" sz="2200" dirty="0"/>
              <a:t> </a:t>
            </a:r>
            <a:r>
              <a:rPr lang="en-US" sz="2200" dirty="0" err="1"/>
              <a:t>este</a:t>
            </a:r>
            <a:r>
              <a:rPr lang="en-US" sz="2200" dirty="0"/>
              <a:t> </a:t>
            </a:r>
            <a:r>
              <a:rPr lang="en-US" sz="2200" dirty="0" err="1"/>
              <a:t>inacceptabil</a:t>
            </a:r>
            <a:r>
              <a:rPr lang="en-US" sz="2200" dirty="0"/>
              <a:t> </a:t>
            </a:r>
            <a:r>
              <a:rPr lang="en-US" sz="2200" dirty="0" err="1"/>
              <a:t>în</a:t>
            </a:r>
            <a:r>
              <a:rPr lang="en-US" sz="2200" dirty="0"/>
              <a:t> </a:t>
            </a:r>
            <a:r>
              <a:rPr lang="en-US" sz="2200" dirty="0" err="1" smtClean="0"/>
              <a:t>cele</a:t>
            </a:r>
            <a:r>
              <a:rPr lang="en-US" sz="2200" dirty="0" smtClean="0"/>
              <a:t>  </a:t>
            </a:r>
            <a:r>
              <a:rPr lang="en-US" sz="2200" dirty="0" err="1" smtClean="0"/>
              <a:t>mai</a:t>
            </a:r>
            <a:r>
              <a:rPr lang="en-US" sz="2200" dirty="0" smtClean="0"/>
              <a:t> </a:t>
            </a:r>
            <a:r>
              <a:rPr lang="en-US" sz="2200" dirty="0" err="1"/>
              <a:t>multe</a:t>
            </a:r>
            <a:r>
              <a:rPr lang="en-US" sz="2200" dirty="0"/>
              <a:t> </a:t>
            </a:r>
            <a:r>
              <a:rPr lang="en-US" sz="2200" dirty="0" err="1"/>
              <a:t>aplicaţii</a:t>
            </a:r>
            <a:r>
              <a:rPr lang="en-US" sz="2200" dirty="0" smtClean="0"/>
              <a:t>.</a:t>
            </a:r>
          </a:p>
          <a:p>
            <a:r>
              <a:rPr lang="en-US" sz="2200" dirty="0" err="1" smtClean="0"/>
              <a:t>Cea</a:t>
            </a:r>
            <a:r>
              <a:rPr lang="en-US" sz="2200" dirty="0" smtClean="0"/>
              <a:t> </a:t>
            </a:r>
            <a:r>
              <a:rPr lang="en-US" sz="2200" dirty="0" err="1"/>
              <a:t>mai</a:t>
            </a:r>
            <a:r>
              <a:rPr lang="en-US" sz="2200" dirty="0"/>
              <a:t> </a:t>
            </a:r>
            <a:r>
              <a:rPr lang="en-US" sz="2200" dirty="0" err="1"/>
              <a:t>simplă</a:t>
            </a:r>
            <a:r>
              <a:rPr lang="en-US" sz="2200" dirty="0"/>
              <a:t> </a:t>
            </a:r>
            <a:r>
              <a:rPr lang="en-US" sz="2200" dirty="0" err="1"/>
              <a:t>metodă</a:t>
            </a:r>
            <a:r>
              <a:rPr lang="en-US" sz="2200" dirty="0"/>
              <a:t> de a </a:t>
            </a:r>
            <a:r>
              <a:rPr lang="en-US" sz="2200" dirty="0" err="1"/>
              <a:t>micşora</a:t>
            </a:r>
            <a:r>
              <a:rPr lang="en-US" sz="2200" dirty="0"/>
              <a:t> </a:t>
            </a:r>
            <a:r>
              <a:rPr lang="en-US" sz="2200" dirty="0" err="1"/>
              <a:t>timpul</a:t>
            </a:r>
            <a:r>
              <a:rPr lang="en-US" sz="2200" dirty="0"/>
              <a:t> de </a:t>
            </a:r>
            <a:r>
              <a:rPr lang="en-US" sz="2200" dirty="0" err="1"/>
              <a:t>evacuare</a:t>
            </a:r>
            <a:r>
              <a:rPr lang="en-US" sz="2200" dirty="0"/>
              <a:t> a </a:t>
            </a:r>
            <a:r>
              <a:rPr lang="en-US" sz="2200" dirty="0" err="1"/>
              <a:t>sarcinii</a:t>
            </a:r>
            <a:r>
              <a:rPr lang="en-US" sz="2200" dirty="0"/>
              <a:t> </a:t>
            </a:r>
            <a:r>
              <a:rPr lang="en-US" sz="2200" dirty="0" err="1"/>
              <a:t>stocate</a:t>
            </a:r>
            <a:r>
              <a:rPr lang="en-US" sz="2200" dirty="0"/>
              <a:t> </a:t>
            </a:r>
            <a:r>
              <a:rPr lang="en-US" sz="2200" dirty="0" err="1"/>
              <a:t>în</a:t>
            </a:r>
            <a:r>
              <a:rPr lang="en-US" sz="2200" dirty="0"/>
              <a:t> </a:t>
            </a:r>
            <a:r>
              <a:rPr lang="en-US" sz="2200" dirty="0" err="1" smtClean="0"/>
              <a:t>bază</a:t>
            </a:r>
            <a:r>
              <a:rPr lang="en-US" sz="2200" dirty="0" smtClean="0"/>
              <a:t> </a:t>
            </a:r>
            <a:r>
              <a:rPr lang="en-US" sz="2200" dirty="0" err="1" smtClean="0"/>
              <a:t>este</a:t>
            </a:r>
            <a:r>
              <a:rPr lang="en-US" sz="2200" dirty="0" smtClean="0"/>
              <a:t> </a:t>
            </a:r>
            <a:r>
              <a:rPr lang="en-US" sz="2200" dirty="0"/>
              <a:t>de a </a:t>
            </a:r>
            <a:r>
              <a:rPr lang="en-US" sz="2200" dirty="0" err="1"/>
              <a:t>micşora</a:t>
            </a:r>
            <a:r>
              <a:rPr lang="en-US" sz="2200" dirty="0"/>
              <a:t> </a:t>
            </a:r>
            <a:r>
              <a:rPr lang="en-US" sz="2200" dirty="0" err="1"/>
              <a:t>numărul</a:t>
            </a:r>
            <a:r>
              <a:rPr lang="en-US" sz="2200" dirty="0"/>
              <a:t> de </a:t>
            </a:r>
            <a:r>
              <a:rPr lang="en-US" sz="2200" dirty="0" err="1"/>
              <a:t>purtători</a:t>
            </a:r>
            <a:r>
              <a:rPr lang="en-US" sz="2200" dirty="0"/>
              <a:t> </a:t>
            </a:r>
            <a:r>
              <a:rPr lang="en-US" sz="2200" dirty="0" err="1"/>
              <a:t>ce</a:t>
            </a:r>
            <a:r>
              <a:rPr lang="en-US" sz="2200" dirty="0"/>
              <a:t> </a:t>
            </a:r>
            <a:r>
              <a:rPr lang="en-US" sz="2200" dirty="0" err="1"/>
              <a:t>stagnează</a:t>
            </a:r>
            <a:r>
              <a:rPr lang="en-US" sz="2200" dirty="0"/>
              <a:t> </a:t>
            </a:r>
            <a:r>
              <a:rPr lang="en-US" sz="2200" dirty="0" err="1"/>
              <a:t>în</a:t>
            </a:r>
            <a:r>
              <a:rPr lang="en-US" sz="2200" dirty="0"/>
              <a:t> </a:t>
            </a:r>
            <a:r>
              <a:rPr lang="en-US" sz="2200" dirty="0" err="1"/>
              <a:t>bază</a:t>
            </a:r>
            <a:r>
              <a:rPr lang="en-US" sz="2200" dirty="0"/>
              <a:t>. </a:t>
            </a:r>
            <a:r>
              <a:rPr lang="en-US" sz="2200" dirty="0" err="1"/>
              <a:t>Acest</a:t>
            </a:r>
            <a:r>
              <a:rPr lang="en-US" sz="2200" dirty="0"/>
              <a:t> </a:t>
            </a:r>
            <a:r>
              <a:rPr lang="en-US" sz="2200" dirty="0" err="1"/>
              <a:t>lucru</a:t>
            </a:r>
            <a:r>
              <a:rPr lang="en-US" sz="2200" dirty="0"/>
              <a:t> </a:t>
            </a:r>
            <a:r>
              <a:rPr lang="en-US" sz="2200" dirty="0" err="1" smtClean="0"/>
              <a:t>este</a:t>
            </a:r>
            <a:r>
              <a:rPr lang="en-US" sz="2200" dirty="0" smtClean="0"/>
              <a:t> </a:t>
            </a:r>
            <a:r>
              <a:rPr lang="en-US" sz="2200" dirty="0" err="1" smtClean="0"/>
              <a:t>obtenabil</a:t>
            </a:r>
            <a:r>
              <a:rPr lang="en-US" sz="2200" dirty="0" smtClean="0"/>
              <a:t> </a:t>
            </a:r>
            <a:r>
              <a:rPr lang="en-US" sz="2200" dirty="0" err="1"/>
              <a:t>prin</a:t>
            </a:r>
            <a:r>
              <a:rPr lang="en-US" sz="2200" dirty="0"/>
              <a:t> </a:t>
            </a:r>
            <a:r>
              <a:rPr lang="en-US" sz="2200" dirty="0" err="1"/>
              <a:t>polarizarea</a:t>
            </a:r>
            <a:r>
              <a:rPr lang="en-US" sz="2200" dirty="0"/>
              <a:t> </a:t>
            </a:r>
            <a:r>
              <a:rPr lang="en-US" sz="2200" dirty="0" err="1"/>
              <a:t>joncţiunii</a:t>
            </a:r>
            <a:r>
              <a:rPr lang="en-US" sz="2200" dirty="0"/>
              <a:t> CB la </a:t>
            </a:r>
            <a:r>
              <a:rPr lang="en-US" sz="2200" dirty="0" err="1"/>
              <a:t>limita</a:t>
            </a:r>
            <a:r>
              <a:rPr lang="en-US" sz="2200" dirty="0"/>
              <a:t> </a:t>
            </a:r>
            <a:r>
              <a:rPr lang="en-US" sz="2200" dirty="0" err="1"/>
              <a:t>intrării</a:t>
            </a:r>
            <a:r>
              <a:rPr lang="en-US" sz="2200" dirty="0"/>
              <a:t> </a:t>
            </a:r>
            <a:r>
              <a:rPr lang="en-US" sz="2200" dirty="0" err="1"/>
              <a:t>în</a:t>
            </a:r>
            <a:r>
              <a:rPr lang="en-US" sz="2200" dirty="0"/>
              <a:t> </a:t>
            </a:r>
            <a:r>
              <a:rPr lang="en-US" sz="2200" dirty="0" err="1"/>
              <a:t>conducţie</a:t>
            </a:r>
            <a:r>
              <a:rPr lang="en-US" sz="2200" dirty="0"/>
              <a:t>, de </a:t>
            </a:r>
            <a:r>
              <a:rPr lang="en-US" sz="2200" dirty="0" err="1"/>
              <a:t>obicei</a:t>
            </a:r>
            <a:r>
              <a:rPr lang="en-US" sz="2200" dirty="0"/>
              <a:t> </a:t>
            </a:r>
            <a:r>
              <a:rPr lang="en-US" sz="2200" dirty="0" smtClean="0"/>
              <a:t>cu </a:t>
            </a:r>
            <a:r>
              <a:rPr lang="en-US" sz="2200" dirty="0" err="1" smtClean="0"/>
              <a:t>u</a:t>
            </a:r>
            <a:r>
              <a:rPr lang="en-US" sz="2200" baseline="-25000" dirty="0" err="1" smtClean="0"/>
              <a:t>BC</a:t>
            </a:r>
            <a:r>
              <a:rPr lang="en-US" sz="2200" dirty="0" smtClean="0"/>
              <a:t>=0 </a:t>
            </a:r>
            <a:r>
              <a:rPr lang="en-US" sz="2200" dirty="0" err="1" smtClean="0"/>
              <a:t>sau</a:t>
            </a:r>
            <a:r>
              <a:rPr lang="en-US" sz="2200" dirty="0" smtClean="0"/>
              <a:t> </a:t>
            </a:r>
            <a:r>
              <a:rPr lang="en-US" sz="2200" dirty="0" err="1"/>
              <a:t>chiar</a:t>
            </a:r>
            <a:r>
              <a:rPr lang="en-US" sz="2200" dirty="0"/>
              <a:t> </a:t>
            </a:r>
            <a:r>
              <a:rPr lang="en-US" sz="2200" dirty="0" err="1"/>
              <a:t>uşor</a:t>
            </a:r>
            <a:r>
              <a:rPr lang="en-US" sz="2200" dirty="0"/>
              <a:t> </a:t>
            </a:r>
            <a:r>
              <a:rPr lang="en-US" sz="2200" dirty="0" err="1"/>
              <a:t>pozitivă</a:t>
            </a:r>
            <a:r>
              <a:rPr lang="en-US" sz="2200" dirty="0"/>
              <a:t>, </a:t>
            </a:r>
            <a:r>
              <a:rPr lang="en-US" sz="2200" dirty="0" err="1"/>
              <a:t>ceea</a:t>
            </a:r>
            <a:r>
              <a:rPr lang="en-US" sz="2200" dirty="0"/>
              <a:t> </a:t>
            </a:r>
            <a:r>
              <a:rPr lang="en-US" sz="2200" dirty="0" err="1"/>
              <a:t>ce</a:t>
            </a:r>
            <a:r>
              <a:rPr lang="en-US" sz="2200" dirty="0"/>
              <a:t> </a:t>
            </a:r>
            <a:r>
              <a:rPr lang="en-US" sz="2200" dirty="0" err="1"/>
              <a:t>limitează</a:t>
            </a:r>
            <a:r>
              <a:rPr lang="en-US" sz="2200" dirty="0"/>
              <a:t> </a:t>
            </a:r>
            <a:r>
              <a:rPr lang="en-US" sz="2200" dirty="0" err="1"/>
              <a:t>substanţial</a:t>
            </a:r>
            <a:r>
              <a:rPr lang="en-US" sz="2200" dirty="0"/>
              <a:t> </a:t>
            </a:r>
            <a:r>
              <a:rPr lang="en-US" sz="2200" dirty="0" err="1"/>
              <a:t>difuzia</a:t>
            </a:r>
            <a:r>
              <a:rPr lang="en-US" sz="2200" dirty="0"/>
              <a:t> </a:t>
            </a:r>
            <a:r>
              <a:rPr lang="en-US" sz="2200" dirty="0" err="1"/>
              <a:t>purtătorilor</a:t>
            </a:r>
            <a:r>
              <a:rPr lang="en-US" sz="2200" dirty="0"/>
              <a:t> </a:t>
            </a:r>
            <a:r>
              <a:rPr lang="en-US" sz="2200" dirty="0" smtClean="0"/>
              <a:t>de </a:t>
            </a:r>
            <a:r>
              <a:rPr lang="en-US" sz="2200" dirty="0" err="1" smtClean="0"/>
              <a:t>sarcină</a:t>
            </a:r>
            <a:r>
              <a:rPr lang="en-US" sz="2200" dirty="0" smtClean="0"/>
              <a:t> </a:t>
            </a:r>
            <a:r>
              <a:rPr lang="en-US" sz="2200" dirty="0"/>
              <a:t>din </a:t>
            </a:r>
            <a:r>
              <a:rPr lang="en-US" sz="2200" dirty="0" err="1"/>
              <a:t>colector</a:t>
            </a:r>
            <a:r>
              <a:rPr lang="en-US" sz="2200" dirty="0"/>
              <a:t> </a:t>
            </a:r>
            <a:r>
              <a:rPr lang="en-US" sz="2200" dirty="0" err="1"/>
              <a:t>în</a:t>
            </a:r>
            <a:r>
              <a:rPr lang="en-US" sz="2200" dirty="0"/>
              <a:t> </a:t>
            </a:r>
            <a:r>
              <a:rPr lang="en-US" sz="2200" dirty="0" err="1"/>
              <a:t>bază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 </a:t>
            </a:r>
            <a:r>
              <a:rPr lang="en-US" sz="2200" dirty="0" err="1"/>
              <a:t>În</a:t>
            </a:r>
            <a:r>
              <a:rPr lang="en-US" sz="2200" dirty="0"/>
              <a:t> </a:t>
            </a:r>
            <a:r>
              <a:rPr lang="en-US" sz="2200" dirty="0" err="1"/>
              <a:t>aceste</a:t>
            </a:r>
            <a:r>
              <a:rPr lang="en-US" sz="2200" dirty="0"/>
              <a:t> </a:t>
            </a:r>
            <a:r>
              <a:rPr lang="en-US" sz="2200" dirty="0" err="1"/>
              <a:t>condiţii</a:t>
            </a:r>
            <a:r>
              <a:rPr lang="en-US" sz="2200" dirty="0"/>
              <a:t>, </a:t>
            </a:r>
            <a:r>
              <a:rPr lang="en-US" sz="2200" dirty="0" err="1"/>
              <a:t>este</a:t>
            </a:r>
            <a:r>
              <a:rPr lang="en-US" sz="2200" dirty="0"/>
              <a:t> evident </a:t>
            </a:r>
            <a:r>
              <a:rPr lang="en-US" sz="2200" dirty="0" err="1"/>
              <a:t>că</a:t>
            </a:r>
            <a:r>
              <a:rPr lang="en-US" sz="2200" dirty="0"/>
              <a:t> </a:t>
            </a:r>
            <a:r>
              <a:rPr lang="en-US" sz="2200" dirty="0" err="1"/>
              <a:t>purtătorii</a:t>
            </a:r>
            <a:r>
              <a:rPr lang="en-US" sz="2200" dirty="0"/>
              <a:t> de </a:t>
            </a:r>
            <a:r>
              <a:rPr lang="en-US" sz="2200" dirty="0" err="1"/>
              <a:t>sarcină</a:t>
            </a:r>
            <a:r>
              <a:rPr lang="en-US" sz="2200" dirty="0"/>
              <a:t> se </a:t>
            </a:r>
            <a:r>
              <a:rPr lang="en-US" sz="2200" dirty="0" err="1"/>
              <a:t>vor</a:t>
            </a:r>
            <a:r>
              <a:rPr lang="en-US" sz="2200" dirty="0"/>
              <a:t> </a:t>
            </a:r>
            <a:r>
              <a:rPr lang="en-US" sz="2200" dirty="0" err="1"/>
              <a:t>deplasa</a:t>
            </a:r>
            <a:r>
              <a:rPr lang="en-US" sz="2200" dirty="0"/>
              <a:t> </a:t>
            </a:r>
            <a:r>
              <a:rPr lang="en-US" sz="2200" dirty="0" err="1"/>
              <a:t>spre</a:t>
            </a:r>
            <a:r>
              <a:rPr lang="en-US" sz="2200" dirty="0"/>
              <a:t> </a:t>
            </a:r>
            <a:r>
              <a:rPr lang="en-US" sz="2200" dirty="0" err="1"/>
              <a:t>colector</a:t>
            </a:r>
            <a:r>
              <a:rPr lang="en-US" sz="2200" dirty="0"/>
              <a:t> (</a:t>
            </a:r>
            <a:r>
              <a:rPr lang="en-US" sz="2200" dirty="0" smtClean="0"/>
              <a:t>ca </a:t>
            </a:r>
            <a:r>
              <a:rPr lang="en-US" sz="2200" dirty="0" err="1" smtClean="0"/>
              <a:t>şi</a:t>
            </a:r>
            <a:r>
              <a:rPr lang="en-US" sz="2200" dirty="0" smtClean="0"/>
              <a:t> </a:t>
            </a:r>
            <a:r>
              <a:rPr lang="en-US" sz="2200" dirty="0"/>
              <a:t>la </a:t>
            </a:r>
            <a:r>
              <a:rPr lang="en-US" sz="2200" dirty="0" err="1"/>
              <a:t>funcţionarea</a:t>
            </a:r>
            <a:r>
              <a:rPr lang="en-US" sz="2200" dirty="0"/>
              <a:t> </a:t>
            </a:r>
            <a:r>
              <a:rPr lang="en-US" sz="2200" dirty="0" err="1"/>
              <a:t>în</a:t>
            </a:r>
            <a:r>
              <a:rPr lang="en-US" sz="2200" dirty="0"/>
              <a:t> RAN). </a:t>
            </a:r>
            <a:r>
              <a:rPr lang="en-US" sz="2200" dirty="0" err="1"/>
              <a:t>Sensul</a:t>
            </a:r>
            <a:r>
              <a:rPr lang="en-US" sz="2200" dirty="0"/>
              <a:t> </a:t>
            </a:r>
            <a:r>
              <a:rPr lang="en-US" sz="2200" dirty="0" err="1"/>
              <a:t>curentului</a:t>
            </a:r>
            <a:r>
              <a:rPr lang="en-US" sz="2200" dirty="0"/>
              <a:t> </a:t>
            </a:r>
            <a:r>
              <a:rPr lang="en-US" sz="2200" dirty="0" err="1"/>
              <a:t>va</a:t>
            </a:r>
            <a:r>
              <a:rPr lang="en-US" sz="2200" dirty="0"/>
              <a:t> fi </a:t>
            </a:r>
            <a:r>
              <a:rPr lang="en-US" sz="2200" dirty="0" err="1"/>
              <a:t>acelaşi</a:t>
            </a:r>
            <a:r>
              <a:rPr lang="en-US" sz="2200" dirty="0"/>
              <a:t>, </a:t>
            </a:r>
            <a:r>
              <a:rPr lang="en-US" sz="2200" dirty="0" err="1"/>
              <a:t>deoarece</a:t>
            </a:r>
            <a:r>
              <a:rPr lang="en-US" sz="2200" dirty="0"/>
              <a:t> </a:t>
            </a:r>
            <a:r>
              <a:rPr lang="en-US" sz="2200" dirty="0" err="1"/>
              <a:t>purtătorii</a:t>
            </a:r>
            <a:r>
              <a:rPr lang="en-US" sz="2200" dirty="0"/>
              <a:t> </a:t>
            </a:r>
            <a:r>
              <a:rPr lang="en-US" sz="2200" dirty="0" smtClean="0"/>
              <a:t>de </a:t>
            </a:r>
            <a:r>
              <a:rPr lang="en-US" sz="2200" dirty="0" err="1" smtClean="0"/>
              <a:t>sarcină</a:t>
            </a:r>
            <a:r>
              <a:rPr lang="en-US" sz="2200" dirty="0" smtClean="0"/>
              <a:t> </a:t>
            </a:r>
            <a:r>
              <a:rPr lang="en-US" sz="2200" dirty="0" err="1"/>
              <a:t>sunt</a:t>
            </a:r>
            <a:r>
              <a:rPr lang="en-US" sz="2200" dirty="0"/>
              <a:t> </a:t>
            </a:r>
            <a:r>
              <a:rPr lang="en-US" sz="2200" dirty="0" err="1"/>
              <a:t>golurile</a:t>
            </a:r>
            <a:r>
              <a:rPr lang="en-US" sz="2200" dirty="0"/>
              <a:t>, </a:t>
            </a:r>
            <a:r>
              <a:rPr lang="en-US" sz="2200" dirty="0" err="1"/>
              <a:t>adică</a:t>
            </a:r>
            <a:r>
              <a:rPr lang="en-US" sz="2200" dirty="0"/>
              <a:t> </a:t>
            </a:r>
            <a:r>
              <a:rPr lang="en-US" sz="2200" dirty="0" err="1"/>
              <a:t>sarcini</a:t>
            </a:r>
            <a:r>
              <a:rPr lang="en-US" sz="2200" dirty="0"/>
              <a:t> </a:t>
            </a:r>
            <a:r>
              <a:rPr lang="en-US" sz="2200" dirty="0" err="1"/>
              <a:t>pozitive</a:t>
            </a:r>
            <a:r>
              <a:rPr lang="en-US" sz="2200" dirty="0"/>
              <a:t>. </a:t>
            </a:r>
            <a:br>
              <a:rPr lang="en-US" sz="22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0410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12115800" cy="67681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Regimul</a:t>
            </a: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blocare</a:t>
            </a: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tăiere</a:t>
            </a: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endParaRPr lang="en-US" sz="2000" b="1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 TB “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funcţionează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”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regim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blocare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blocat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tăiat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dacă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ambele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joncţiuni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sunt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polarizate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invers.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cazul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TB de tip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pnp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rezultă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b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2000" baseline="-25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EB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&gt; 0 ;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2000" baseline="-25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CB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&gt; 0 </a:t>
            </a:r>
            <a:b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urmare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polarizării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inverse a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ambelor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joncţiuni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nu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avea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loc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difuzia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purtători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sarcină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bază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Fenomenele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sunt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asemănătoare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cele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specifice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unei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joncţiuni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pn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regim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polarizare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inversă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astfel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prin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structură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circula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un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neglijabil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cu (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cel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puţin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3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ordine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mărime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mic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decât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regimurile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conducţie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(RAN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saturaţie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endParaRPr lang="en-US" sz="2000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Putem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sintetiza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regimurile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funcţionare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ale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tranzistorului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bipolar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felul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următor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regimul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blocat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jE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jC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blocate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I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0, U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CE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sz="2000" baseline="-25000" dirty="0" err="1" smtClean="0">
                <a:latin typeface="Times New Roman" pitchFamily="18" charset="0"/>
                <a:cs typeface="Times New Roman" pitchFamily="18" charset="0"/>
              </a:rPr>
              <a:t>c</a:t>
            </a:r>
            <a:endParaRPr lang="en-US" sz="2000" baseline="-250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regimul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zona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activă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jE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conducţie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jC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blocată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I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≠0, U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CE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5 →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0,2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V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•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regimul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saturat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jE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jC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conducţie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		I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≠ 0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U</a:t>
            </a:r>
            <a:r>
              <a:rPr lang="en-US" sz="2000" baseline="-25000" dirty="0" smtClean="0">
                <a:latin typeface="Times New Roman" pitchFamily="18" charset="0"/>
                <a:cs typeface="Times New Roman" pitchFamily="18" charset="0"/>
              </a:rPr>
              <a:t>CE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= 0,1− 0,2V =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2000" baseline="-25000" dirty="0" err="1" smtClean="0">
                <a:latin typeface="Times New Roman" pitchFamily="18" charset="0"/>
                <a:cs typeface="Times New Roman" pitchFamily="18" charset="0"/>
              </a:rPr>
              <a:t>CEsat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000" b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6392" y="3245812"/>
            <a:ext cx="4505608" cy="3612188"/>
          </a:xfrm>
          <a:prstGeom prst="rect">
            <a:avLst/>
          </a:prstGeom>
        </p:spPr>
      </p:pic>
      <p:cxnSp>
        <p:nvCxnSpPr>
          <p:cNvPr id="4" name="Прямая соединительная линия 3"/>
          <p:cNvCxnSpPr/>
          <p:nvPr/>
        </p:nvCxnSpPr>
        <p:spPr>
          <a:xfrm>
            <a:off x="8049986" y="4465864"/>
            <a:ext cx="2326821" cy="1967593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0428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372" y="236763"/>
            <a:ext cx="11967480" cy="6047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079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Polarizarea</a:t>
            </a: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tranzistorului</a:t>
            </a: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bipolar </a:t>
            </a:r>
            <a:endParaRPr lang="ru-RU" sz="2000" b="1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Polarizarea</a:t>
            </a: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divizor</a:t>
            </a: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tensiune</a:t>
            </a: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bază</a:t>
            </a: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funcţiona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zona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activă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fi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folosit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într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-o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schemă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amplificare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exemplu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joncţiunile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tranzistorului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bipolar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trebuie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polarizate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continuu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astfel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încât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joncţiunea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emitoare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fie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polarizată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direct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iar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joncţiunea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colectoare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fie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polarizată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invers.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Polarizarea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 face de la 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singură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sursă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alimentare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existând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multe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scheme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folosite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acest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scop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Una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dintre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cele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utilizate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scheme de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polarizare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continuu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cea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divizor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baza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tranzistorului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Practic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problema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pune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felul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următor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cunoaştem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tipul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folosit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dorim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polarizarea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joncţiunilor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sale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astfel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încât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el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să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lucreze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într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-un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anumit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punct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static de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funcţionare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Evident, se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cunoaşte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alimentare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folosită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calcularea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valorilor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rezistenţelor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din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circuitul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polarizare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folosesc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o parte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ecuaţiile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legătură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dintre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curenţii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care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ies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din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care se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poate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neglija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influenţa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curentului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000" baseline="-25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CBo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mult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mic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decât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ceilalţi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curenţi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b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7481" y="3429000"/>
            <a:ext cx="1701303" cy="3426737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78463" y="3942453"/>
            <a:ext cx="9835082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Fracţiunea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din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emitor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care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contribuie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la</a:t>
            </a:r>
            <a:r>
              <a:rPr lang="ru-RU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formarea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colector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notată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l-GR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el-GR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l-GR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α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numeşte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factor </a:t>
            </a:r>
            <a:r>
              <a:rPr lang="en-US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</a:t>
            </a:r>
            <a:r>
              <a:rPr lang="ru-RU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valorile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foarte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apropiate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1: </a:t>
            </a:r>
            <a:r>
              <a:rPr lang="el-GR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α </a:t>
            </a:r>
            <a:r>
              <a:rPr lang="el-GR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≅ 0,97 - 0,99 . </a:t>
            </a:r>
            <a:r>
              <a:rPr lang="el-GR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l-GR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Curentul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dirty="0">
                <a:latin typeface="Times New Roman" pitchFamily="18" charset="0"/>
                <a:cs typeface="Times New Roman" pitchFamily="18" charset="0"/>
              </a:rPr>
              <a:t>α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i="1" baseline="-25000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împreună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curentul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purtători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minoritari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CBo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care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traversează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joncţiunea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colectoare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polarizată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invers,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vor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forma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curentul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colector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i="1" baseline="-25000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Astfel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pot fi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scrise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următoarele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relaţii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între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curenţii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măsurabili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                                                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Coeficientul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multiplicare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curentului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bază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notează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l-GR" dirty="0">
                <a:latin typeface="Times New Roman" pitchFamily="18" charset="0"/>
                <a:cs typeface="Times New Roman" pitchFamily="18" charset="0"/>
              </a:rPr>
              <a:t>β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x-none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numeşte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factor de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amplificare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statică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factor de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amplificare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curentului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continuu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supraunitar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	 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                               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aici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poate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vedea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tranzistorul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bipolar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un 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b="1" dirty="0"/>
          </a:p>
          <a:p>
            <a:r>
              <a:rPr lang="en-US" b="1" dirty="0" smtClean="0"/>
              <a:t>element </a:t>
            </a:r>
            <a:r>
              <a:rPr lang="en-US" b="1" dirty="0" err="1"/>
              <a:t>activ</a:t>
            </a:r>
            <a:r>
              <a:rPr lang="en-US" b="1" dirty="0"/>
              <a:t> </a:t>
            </a:r>
            <a:r>
              <a:rPr lang="en-US" b="1" dirty="0" err="1"/>
              <a:t>comandat</a:t>
            </a:r>
            <a:r>
              <a:rPr lang="en-US" b="1" dirty="0"/>
              <a:t> </a:t>
            </a:r>
            <a:r>
              <a:rPr lang="en-US" b="1" dirty="0" err="1"/>
              <a:t>în</a:t>
            </a:r>
            <a:r>
              <a:rPr lang="en-US" b="1" dirty="0"/>
              <a:t> </a:t>
            </a:r>
            <a:r>
              <a:rPr lang="en-US" b="1" dirty="0" err="1"/>
              <a:t>curent</a:t>
            </a:r>
            <a:r>
              <a:rPr lang="en-US" dirty="0"/>
              <a:t>. </a:t>
            </a:r>
            <a:r>
              <a:rPr lang="en-US" dirty="0" err="1"/>
              <a:t>Deoarece</a:t>
            </a:r>
            <a:r>
              <a:rPr lang="en-US" dirty="0"/>
              <a:t> </a:t>
            </a:r>
            <a:r>
              <a:rPr lang="en-US" dirty="0" err="1"/>
              <a:t>curentul</a:t>
            </a:r>
            <a:r>
              <a:rPr lang="en-US" dirty="0"/>
              <a:t> </a:t>
            </a:r>
            <a:r>
              <a:rPr lang="en-US" dirty="0" smtClean="0"/>
              <a:t>de</a:t>
            </a:r>
            <a:r>
              <a:rPr lang="x-none" dirty="0" smtClean="0"/>
              <a:t> </a:t>
            </a:r>
            <a:r>
              <a:rPr lang="en-US" dirty="0" err="1" smtClean="0"/>
              <a:t>purtători</a:t>
            </a:r>
            <a:r>
              <a:rPr lang="en-US" dirty="0" smtClean="0"/>
              <a:t> </a:t>
            </a:r>
            <a:r>
              <a:rPr lang="en-US" dirty="0" err="1"/>
              <a:t>minoritari</a:t>
            </a:r>
            <a:r>
              <a:rPr lang="en-US" dirty="0"/>
              <a:t> </a:t>
            </a:r>
            <a:r>
              <a:rPr lang="en-US" i="1" dirty="0" err="1"/>
              <a:t>I</a:t>
            </a:r>
            <a:r>
              <a:rPr lang="en-US" i="1" baseline="-25000" dirty="0" err="1"/>
              <a:t>CBo</a:t>
            </a:r>
            <a:r>
              <a:rPr lang="en-US" i="1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foarte</a:t>
            </a:r>
            <a:r>
              <a:rPr lang="en-US" dirty="0"/>
              <a:t> mic (sub 1µA),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practică</a:t>
            </a:r>
            <a:r>
              <a:rPr lang="en-US" dirty="0"/>
              <a:t> se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 smtClean="0"/>
              <a:t>folosicu</a:t>
            </a:r>
            <a:r>
              <a:rPr lang="en-US" dirty="0" smtClean="0"/>
              <a:t> </a:t>
            </a:r>
            <a:r>
              <a:rPr lang="en-US" dirty="0" err="1"/>
              <a:t>bună</a:t>
            </a:r>
            <a:r>
              <a:rPr lang="en-US" dirty="0"/>
              <a:t> </a:t>
            </a:r>
            <a:r>
              <a:rPr lang="en-US" dirty="0" err="1"/>
              <a:t>aproximaţie</a:t>
            </a:r>
            <a:r>
              <a:rPr lang="en-US" dirty="0"/>
              <a:t> </a:t>
            </a:r>
            <a:r>
              <a:rPr lang="en-US" dirty="0" err="1"/>
              <a:t>relaţia</a:t>
            </a:r>
            <a:r>
              <a:rPr lang="en-US" dirty="0"/>
              <a:t> </a:t>
            </a:r>
            <a:r>
              <a:rPr lang="en-US" i="1" dirty="0" smtClean="0"/>
              <a:t>I</a:t>
            </a:r>
            <a:r>
              <a:rPr lang="en-US" i="1" baseline="-25000" dirty="0" smtClean="0"/>
              <a:t>C</a:t>
            </a:r>
            <a:r>
              <a:rPr lang="en-US" i="1" dirty="0" smtClean="0"/>
              <a:t> </a:t>
            </a:r>
            <a:r>
              <a:rPr lang="en-US" dirty="0"/>
              <a:t>≅ </a:t>
            </a:r>
            <a:r>
              <a:rPr lang="el-GR" dirty="0"/>
              <a:t>β</a:t>
            </a:r>
            <a:r>
              <a:rPr lang="en-US" i="1" dirty="0" smtClean="0"/>
              <a:t>I</a:t>
            </a:r>
            <a:r>
              <a:rPr lang="en-US" i="1" baseline="-25000" dirty="0" smtClean="0"/>
              <a:t>B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1961" y="5117876"/>
            <a:ext cx="1080993" cy="328063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2502" y="5112138"/>
            <a:ext cx="1314686" cy="323101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7918" y="5682918"/>
            <a:ext cx="885447" cy="56397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1828" y="5682918"/>
            <a:ext cx="1904247" cy="36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445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08" y="22207"/>
            <a:ext cx="2715306" cy="376238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6273" y="168051"/>
            <a:ext cx="3166383" cy="357684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370" y="265556"/>
            <a:ext cx="4202567" cy="3479335"/>
          </a:xfrm>
          <a:prstGeom prst="rect">
            <a:avLst/>
          </a:prstGeom>
          <a:ln w="127000" cap="sq">
            <a:solidFill>
              <a:srgbClr val="FF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028" name="Picture 4" descr="untitle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860" y="4209135"/>
            <a:ext cx="1905000" cy="219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4. TRANZISTORUL BIPOLAR 4.1. GENERALITĂŢI PRIVIND TRANZISTORUL BIPOLAR  STRUCTURA ŞI SIMBOLUL TRANZISTORULUI BIPOLAR ÎNCAPSULAREA ŞI IDENTIFICAREA.  - ppt κατέβασμα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293" y="3914774"/>
            <a:ext cx="3837216" cy="2877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7948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85326" y="50834"/>
            <a:ext cx="3543300" cy="5267325"/>
          </a:xfrm>
          <a:prstGeom prst="rect">
            <a:avLst/>
          </a:prstGeom>
          <a:ln w="38100" cap="sq">
            <a:solidFill>
              <a:srgbClr val="FF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893" y="89827"/>
            <a:ext cx="1333500" cy="48577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94" y="597126"/>
            <a:ext cx="1943100" cy="43815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893" y="1035276"/>
            <a:ext cx="1162050" cy="4667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0394" y="1394233"/>
            <a:ext cx="8541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ecuaţiile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care le </a:t>
            </a:r>
            <a:r>
              <a:rPr lang="en-US" dirty="0" err="1"/>
              <a:t>scriem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aplicării</a:t>
            </a:r>
            <a:r>
              <a:rPr lang="en-US" dirty="0"/>
              <a:t> </a:t>
            </a:r>
            <a:r>
              <a:rPr lang="en-US" dirty="0" err="1"/>
              <a:t>legilor</a:t>
            </a:r>
            <a:r>
              <a:rPr lang="en-US" dirty="0"/>
              <a:t> </a:t>
            </a:r>
            <a:r>
              <a:rPr lang="en-US" dirty="0" err="1" smtClean="0"/>
              <a:t>lui</a:t>
            </a:r>
            <a:r>
              <a:rPr lang="ru-RU" dirty="0" smtClean="0"/>
              <a:t> </a:t>
            </a:r>
            <a:r>
              <a:rPr lang="en-US" dirty="0" smtClean="0"/>
              <a:t>Kirchhoff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circuitul</a:t>
            </a:r>
            <a:r>
              <a:rPr lang="en-US" dirty="0"/>
              <a:t> de </a:t>
            </a:r>
            <a:r>
              <a:rPr lang="en-US" dirty="0" err="1"/>
              <a:t>polarizare</a:t>
            </a:r>
            <a:r>
              <a:rPr lang="en-US" dirty="0"/>
              <a:t>:</a:t>
            </a: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4893" y="1782707"/>
            <a:ext cx="3476625" cy="438150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394" y="2218379"/>
            <a:ext cx="2305050" cy="428625"/>
          </a:xfrm>
          <a:prstGeom prst="rect">
            <a:avLst/>
          </a:prstGeom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394" y="2641960"/>
            <a:ext cx="1562100" cy="476250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394" y="3139263"/>
            <a:ext cx="2676525" cy="400050"/>
          </a:xfrm>
          <a:prstGeom prst="rect">
            <a:avLst/>
          </a:prstGeom>
        </p:spPr>
      </p:pic>
      <p:sp>
        <p:nvSpPr>
          <p:cNvPr id="18" name="Прямоугольник 17"/>
          <p:cNvSpPr/>
          <p:nvPr/>
        </p:nvSpPr>
        <p:spPr>
          <a:xfrm>
            <a:off x="12173" y="3605427"/>
            <a:ext cx="863992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Desigur</a:t>
            </a:r>
            <a:r>
              <a:rPr lang="en-US" dirty="0"/>
              <a:t>, pare </a:t>
            </a:r>
            <a:r>
              <a:rPr lang="en-US" dirty="0" err="1"/>
              <a:t>destul</a:t>
            </a:r>
            <a:r>
              <a:rPr lang="en-US" dirty="0"/>
              <a:t> de </a:t>
            </a:r>
            <a:r>
              <a:rPr lang="en-US" dirty="0" err="1"/>
              <a:t>complicată</a:t>
            </a:r>
            <a:r>
              <a:rPr lang="en-US" dirty="0"/>
              <a:t> </a:t>
            </a:r>
            <a:r>
              <a:rPr lang="en-US" dirty="0" err="1"/>
              <a:t>rezolvarea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de </a:t>
            </a:r>
            <a:r>
              <a:rPr lang="en-US" dirty="0" err="1" smtClean="0"/>
              <a:t>şapte</a:t>
            </a:r>
            <a:r>
              <a:rPr lang="ru-RU" dirty="0" smtClean="0"/>
              <a:t> </a:t>
            </a:r>
            <a:r>
              <a:rPr lang="en-US" dirty="0" err="1" smtClean="0"/>
              <a:t>ecuaţii</a:t>
            </a:r>
            <a:r>
              <a:rPr lang="en-US" dirty="0" smtClean="0"/>
              <a:t> </a:t>
            </a:r>
            <a:r>
              <a:rPr lang="en-US" dirty="0" err="1"/>
              <a:t>în</a:t>
            </a:r>
            <a:r>
              <a:rPr lang="en-US" dirty="0"/>
              <a:t> care s-</a:t>
            </a:r>
            <a:r>
              <a:rPr lang="en-US" dirty="0" err="1"/>
              <a:t>ar</a:t>
            </a:r>
            <a:r>
              <a:rPr lang="en-US" dirty="0"/>
              <a:t> </a:t>
            </a:r>
            <a:r>
              <a:rPr lang="en-US" dirty="0" err="1"/>
              <a:t>putea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avem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</a:t>
            </a:r>
            <a:r>
              <a:rPr lang="en-US" dirty="0"/>
              <a:t> </a:t>
            </a:r>
            <a:r>
              <a:rPr lang="en-US" dirty="0" err="1"/>
              <a:t>decât</a:t>
            </a:r>
            <a:r>
              <a:rPr lang="en-US" dirty="0"/>
              <a:t> </a:t>
            </a:r>
            <a:r>
              <a:rPr lang="en-US" dirty="0" err="1"/>
              <a:t>şapte</a:t>
            </a:r>
            <a:r>
              <a:rPr lang="en-US" dirty="0"/>
              <a:t> </a:t>
            </a:r>
            <a:r>
              <a:rPr lang="en-US" dirty="0" err="1"/>
              <a:t>necunoscute</a:t>
            </a:r>
            <a:r>
              <a:rPr lang="en-US" dirty="0"/>
              <a:t>. </a:t>
            </a:r>
            <a:r>
              <a:rPr lang="en-US" dirty="0" err="1" smtClean="0"/>
              <a:t>Practic</a:t>
            </a:r>
            <a:r>
              <a:rPr lang="ru-RU" dirty="0" smtClean="0"/>
              <a:t> </a:t>
            </a:r>
            <a:r>
              <a:rPr lang="en-US" dirty="0" err="1" smtClean="0"/>
              <a:t>însă</a:t>
            </a:r>
            <a:r>
              <a:rPr lang="en-US" dirty="0" smtClean="0"/>
              <a:t> </a:t>
            </a:r>
            <a:r>
              <a:rPr lang="en-US" dirty="0" err="1"/>
              <a:t>lucrurile</a:t>
            </a:r>
            <a:r>
              <a:rPr lang="en-US" dirty="0"/>
              <a:t> se pot </a:t>
            </a:r>
            <a:r>
              <a:rPr lang="en-US" dirty="0" err="1"/>
              <a:t>simplifica</a:t>
            </a:r>
            <a:r>
              <a:rPr lang="en-US" dirty="0"/>
              <a:t>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ştim</a:t>
            </a:r>
            <a:r>
              <a:rPr lang="en-US" dirty="0"/>
              <a:t> cam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domenii</a:t>
            </a:r>
            <a:r>
              <a:rPr lang="en-US" dirty="0"/>
              <a:t> de </a:t>
            </a:r>
            <a:r>
              <a:rPr lang="en-US" dirty="0" err="1"/>
              <a:t>valori</a:t>
            </a:r>
            <a:r>
              <a:rPr lang="en-US" dirty="0"/>
              <a:t> </a:t>
            </a:r>
            <a:r>
              <a:rPr lang="en-US" dirty="0" err="1" smtClean="0"/>
              <a:t>trebuie</a:t>
            </a:r>
            <a:r>
              <a:rPr lang="ru-RU" dirty="0" smtClean="0"/>
              <a:t> </a:t>
            </a:r>
            <a:r>
              <a:rPr lang="en-US" dirty="0" err="1" smtClean="0"/>
              <a:t>să</a:t>
            </a:r>
            <a:r>
              <a:rPr lang="en-US" dirty="0" smtClean="0"/>
              <a:t> </a:t>
            </a:r>
            <a:r>
              <a:rPr lang="en-US" dirty="0"/>
              <a:t>se </a:t>
            </a:r>
            <a:r>
              <a:rPr lang="en-US" dirty="0" err="1"/>
              <a:t>încadreze</a:t>
            </a:r>
            <a:r>
              <a:rPr lang="en-US" dirty="0"/>
              <a:t> </a:t>
            </a:r>
            <a:r>
              <a:rPr lang="en-US" dirty="0" err="1"/>
              <a:t>valorile</a:t>
            </a:r>
            <a:r>
              <a:rPr lang="en-US" dirty="0"/>
              <a:t> </a:t>
            </a:r>
            <a:r>
              <a:rPr lang="en-US" dirty="0" err="1"/>
              <a:t>rezistenţelor</a:t>
            </a:r>
            <a:r>
              <a:rPr lang="en-US" dirty="0"/>
              <a:t> din </a:t>
            </a:r>
            <a:r>
              <a:rPr lang="en-US" dirty="0" err="1"/>
              <a:t>circuitul</a:t>
            </a:r>
            <a:r>
              <a:rPr lang="en-US" dirty="0"/>
              <a:t> de </a:t>
            </a:r>
            <a:r>
              <a:rPr lang="en-US" dirty="0" err="1"/>
              <a:t>polarizare</a:t>
            </a:r>
            <a:r>
              <a:rPr lang="en-US" dirty="0"/>
              <a:t>. </a:t>
            </a:r>
            <a:r>
              <a:rPr lang="en-US" dirty="0" err="1"/>
              <a:t>Iată</a:t>
            </a:r>
            <a:r>
              <a:rPr lang="en-US" dirty="0"/>
              <a:t> </a:t>
            </a:r>
            <a:r>
              <a:rPr lang="en-US" dirty="0" smtClean="0"/>
              <a:t>care</a:t>
            </a:r>
            <a:r>
              <a:rPr lang="ru-RU" dirty="0" smtClean="0"/>
              <a:t>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/>
              <a:t>acestea</a:t>
            </a:r>
            <a:r>
              <a:rPr lang="en-US" dirty="0" smtClean="0"/>
              <a:t>:</a:t>
            </a:r>
            <a:endParaRPr lang="ru-RU" dirty="0" smtClean="0"/>
          </a:p>
          <a:p>
            <a:r>
              <a:rPr lang="pt-BR" i="1" dirty="0"/>
              <a:t>R</a:t>
            </a:r>
            <a:r>
              <a:rPr lang="pt-BR" dirty="0"/>
              <a:t>1, zeci – sute de kΩ </a:t>
            </a:r>
            <a:br>
              <a:rPr lang="pt-BR" dirty="0"/>
            </a:br>
            <a:r>
              <a:rPr lang="pt-BR" i="1" dirty="0"/>
              <a:t>R</a:t>
            </a:r>
            <a:r>
              <a:rPr lang="pt-BR" dirty="0"/>
              <a:t>2, kΩ –zeci de kΩ </a:t>
            </a:r>
            <a:br>
              <a:rPr lang="pt-BR" dirty="0"/>
            </a:br>
            <a:r>
              <a:rPr lang="en-US" i="1" dirty="0" err="1"/>
              <a:t>Rc</a:t>
            </a:r>
            <a:r>
              <a:rPr lang="en-US" i="1" dirty="0"/>
              <a:t> </a:t>
            </a:r>
            <a:r>
              <a:rPr lang="en-US" dirty="0"/>
              <a:t>&lt; 10k</a:t>
            </a:r>
            <a:r>
              <a:rPr lang="el-GR" dirty="0"/>
              <a:t>Ω </a:t>
            </a:r>
            <a:br>
              <a:rPr lang="el-GR" dirty="0"/>
            </a:br>
            <a:r>
              <a:rPr lang="pt-BR" i="1" dirty="0" smtClean="0"/>
              <a:t>R</a:t>
            </a:r>
            <a:r>
              <a:rPr lang="x-none" i="1" baseline="-25000" dirty="0" smtClean="0"/>
              <a:t>E</a:t>
            </a:r>
            <a:r>
              <a:rPr lang="pt-BR" dirty="0" smtClean="0"/>
              <a:t>≅1</a:t>
            </a:r>
            <a:r>
              <a:rPr lang="ru-RU" dirty="0" smtClean="0"/>
              <a:t>/</a:t>
            </a:r>
            <a:r>
              <a:rPr lang="pt-BR" dirty="0" smtClean="0"/>
              <a:t>10</a:t>
            </a:r>
            <a:r>
              <a:rPr lang="ru-RU" dirty="0" smtClean="0"/>
              <a:t> * </a:t>
            </a:r>
            <a:r>
              <a:rPr lang="en-GB" dirty="0" err="1" smtClean="0"/>
              <a:t>E</a:t>
            </a:r>
            <a:r>
              <a:rPr lang="en-GB" baseline="-25000" dirty="0" err="1" smtClean="0"/>
              <a:t>c</a:t>
            </a:r>
            <a:r>
              <a:rPr lang="en-GB" dirty="0" smtClean="0"/>
              <a:t>/I</a:t>
            </a:r>
            <a:r>
              <a:rPr lang="en-GB" baseline="-25000" dirty="0" smtClean="0"/>
              <a:t>C</a:t>
            </a:r>
            <a:r>
              <a:rPr lang="pt-BR" dirty="0" smtClean="0"/>
              <a:t>, </a:t>
            </a:r>
            <a:r>
              <a:rPr lang="pt-BR" dirty="0"/>
              <a:t>sute de Ω - kΩ </a:t>
            </a:r>
            <a:endParaRPr lang="en-US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66164" y="4635160"/>
            <a:ext cx="2311581" cy="223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813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2016" y="81480"/>
            <a:ext cx="11887200" cy="6776519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Valorile</a:t>
            </a:r>
            <a:r>
              <a:rPr lang="en-US" dirty="0"/>
              <a:t> </a:t>
            </a:r>
            <a:r>
              <a:rPr lang="en-US" dirty="0" err="1"/>
              <a:t>rezistenţelor</a:t>
            </a:r>
            <a:r>
              <a:rPr lang="en-US" dirty="0"/>
              <a:t> R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R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mari</a:t>
            </a:r>
            <a:r>
              <a:rPr lang="en-US" dirty="0"/>
              <a:t> </a:t>
            </a:r>
            <a:r>
              <a:rPr lang="en-US" dirty="0" err="1"/>
              <a:t>decât</a:t>
            </a:r>
            <a:r>
              <a:rPr lang="en-US" dirty="0"/>
              <a:t> ale </a:t>
            </a:r>
            <a:r>
              <a:rPr lang="en-US" dirty="0" err="1" smtClean="0"/>
              <a:t>celorlalte</a:t>
            </a:r>
            <a:r>
              <a:rPr lang="en-US" dirty="0" smtClean="0"/>
              <a:t> </a:t>
            </a:r>
            <a:r>
              <a:rPr lang="en-US" dirty="0" err="1" smtClean="0"/>
              <a:t>pentru</a:t>
            </a:r>
            <a:r>
              <a:rPr lang="en-US" dirty="0" smtClean="0"/>
              <a:t> </a:t>
            </a:r>
            <a:r>
              <a:rPr lang="en-US" dirty="0"/>
              <a:t>a </a:t>
            </a:r>
            <a:r>
              <a:rPr lang="en-US" dirty="0" err="1"/>
              <a:t>consuma</a:t>
            </a:r>
            <a:r>
              <a:rPr lang="en-US" dirty="0"/>
              <a:t> </a:t>
            </a:r>
            <a:r>
              <a:rPr lang="en-US" dirty="0" err="1"/>
              <a:t>cât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puţin</a:t>
            </a:r>
            <a:r>
              <a:rPr lang="en-US" dirty="0"/>
              <a:t> </a:t>
            </a:r>
            <a:r>
              <a:rPr lang="en-US" dirty="0" err="1"/>
              <a:t>curent</a:t>
            </a:r>
            <a:r>
              <a:rPr lang="en-US" dirty="0"/>
              <a:t> de la </a:t>
            </a:r>
            <a:r>
              <a:rPr lang="en-US" dirty="0" err="1"/>
              <a:t>sursa</a:t>
            </a:r>
            <a:r>
              <a:rPr lang="en-US" dirty="0"/>
              <a:t> de </a:t>
            </a:r>
            <a:r>
              <a:rPr lang="en-US" dirty="0" err="1"/>
              <a:t>alimentare</a:t>
            </a:r>
            <a:r>
              <a:rPr lang="en-US" dirty="0"/>
              <a:t>, </a:t>
            </a:r>
            <a:r>
              <a:rPr lang="en-US" dirty="0" err="1"/>
              <a:t>dar</a:t>
            </a:r>
            <a:r>
              <a:rPr lang="en-US" dirty="0"/>
              <a:t> </a:t>
            </a:r>
            <a:r>
              <a:rPr lang="en-US" dirty="0" err="1" smtClean="0"/>
              <a:t>totodată</a:t>
            </a:r>
            <a:r>
              <a:rPr lang="en-US" dirty="0" smtClean="0"/>
              <a:t> </a:t>
            </a:r>
            <a:r>
              <a:rPr lang="en-US" dirty="0" err="1" smtClean="0"/>
              <a:t>ele</a:t>
            </a:r>
            <a:r>
              <a:rPr lang="en-US" dirty="0" smtClean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asigure</a:t>
            </a:r>
            <a:r>
              <a:rPr lang="en-US" dirty="0"/>
              <a:t> </a:t>
            </a:r>
            <a:r>
              <a:rPr lang="en-US" dirty="0" err="1"/>
              <a:t>polarizarea</a:t>
            </a:r>
            <a:r>
              <a:rPr lang="en-US" dirty="0"/>
              <a:t> </a:t>
            </a:r>
            <a:r>
              <a:rPr lang="en-US" dirty="0" err="1"/>
              <a:t>bazei</a:t>
            </a:r>
            <a:r>
              <a:rPr lang="en-US" dirty="0"/>
              <a:t> </a:t>
            </a:r>
            <a:r>
              <a:rPr lang="en-US" dirty="0" err="1"/>
              <a:t>astfel</a:t>
            </a:r>
            <a:r>
              <a:rPr lang="en-US" dirty="0"/>
              <a:t> </a:t>
            </a:r>
            <a:r>
              <a:rPr lang="en-US" dirty="0" err="1"/>
              <a:t>încât</a:t>
            </a:r>
            <a:r>
              <a:rPr lang="en-US" dirty="0"/>
              <a:t> </a:t>
            </a:r>
            <a:r>
              <a:rPr lang="en-US" dirty="0" err="1"/>
              <a:t>joncţiunea</a:t>
            </a:r>
            <a:r>
              <a:rPr lang="en-US" dirty="0"/>
              <a:t> </a:t>
            </a:r>
            <a:r>
              <a:rPr lang="en-US" dirty="0" err="1"/>
              <a:t>emitor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smtClean="0"/>
              <a:t>fie </a:t>
            </a:r>
            <a:r>
              <a:rPr lang="en-US" dirty="0" err="1" smtClean="0"/>
              <a:t>în</a:t>
            </a:r>
            <a:r>
              <a:rPr lang="en-US" dirty="0" smtClean="0"/>
              <a:t> </a:t>
            </a:r>
            <a:r>
              <a:rPr lang="en-US" dirty="0"/>
              <a:t>stare de </a:t>
            </a:r>
            <a:r>
              <a:rPr lang="en-US" dirty="0" err="1"/>
              <a:t>conducţie</a:t>
            </a:r>
            <a:r>
              <a:rPr lang="en-US" dirty="0"/>
              <a:t> (</a:t>
            </a:r>
            <a:r>
              <a:rPr lang="en-US" dirty="0" err="1"/>
              <a:t>uzual</a:t>
            </a:r>
            <a:r>
              <a:rPr lang="en-US" dirty="0"/>
              <a:t> 0,65V </a:t>
            </a:r>
            <a:r>
              <a:rPr lang="en-US" dirty="0" err="1"/>
              <a:t>pentru</a:t>
            </a:r>
            <a:r>
              <a:rPr lang="en-US" dirty="0"/>
              <a:t> Si).</a:t>
            </a:r>
          </a:p>
          <a:p>
            <a:r>
              <a:rPr lang="en-US" dirty="0" err="1"/>
              <a:t>Valoarea</a:t>
            </a:r>
            <a:r>
              <a:rPr lang="en-US" dirty="0"/>
              <a:t> </a:t>
            </a:r>
            <a:r>
              <a:rPr lang="en-US" dirty="0" err="1"/>
              <a:t>rezistenţei</a:t>
            </a:r>
            <a:r>
              <a:rPr lang="en-US" dirty="0"/>
              <a:t> R</a:t>
            </a:r>
            <a:r>
              <a:rPr lang="en-US" baseline="-25000" dirty="0"/>
              <a:t>E</a:t>
            </a:r>
            <a:r>
              <a:rPr lang="en-US" dirty="0"/>
              <a:t> </a:t>
            </a:r>
            <a:r>
              <a:rPr lang="en-US" dirty="0" err="1"/>
              <a:t>trebuie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fie </a:t>
            </a:r>
            <a:r>
              <a:rPr lang="en-US" dirty="0" err="1"/>
              <a:t>cât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mică</a:t>
            </a:r>
            <a:r>
              <a:rPr lang="en-US" dirty="0"/>
              <a:t> </a:t>
            </a:r>
            <a:r>
              <a:rPr lang="en-US" dirty="0" err="1"/>
              <a:t>posibil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smtClean="0"/>
              <a:t>a </a:t>
            </a:r>
            <a:r>
              <a:rPr lang="en-US" dirty="0" err="1" smtClean="0"/>
              <a:t>consuma</a:t>
            </a:r>
            <a:r>
              <a:rPr lang="en-US" dirty="0" smtClean="0"/>
              <a:t> </a:t>
            </a:r>
            <a:r>
              <a:rPr lang="en-US" dirty="0" err="1"/>
              <a:t>cât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puţin</a:t>
            </a:r>
            <a:r>
              <a:rPr lang="en-US" dirty="0"/>
              <a:t>. </a:t>
            </a:r>
            <a:r>
              <a:rPr lang="en-US" dirty="0" err="1"/>
              <a:t>Teoretic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lipsească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emitorul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smtClean="0"/>
              <a:t>fie </a:t>
            </a:r>
            <a:r>
              <a:rPr lang="en-US" dirty="0" err="1" smtClean="0"/>
              <a:t>conectat</a:t>
            </a:r>
            <a:r>
              <a:rPr lang="en-US" dirty="0" smtClean="0"/>
              <a:t> </a:t>
            </a:r>
            <a:r>
              <a:rPr lang="en-US" dirty="0"/>
              <a:t>direct la </a:t>
            </a:r>
            <a:r>
              <a:rPr lang="en-US" dirty="0" err="1"/>
              <a:t>masă</a:t>
            </a:r>
            <a:r>
              <a:rPr lang="en-US" dirty="0"/>
              <a:t>. </a:t>
            </a:r>
            <a:r>
              <a:rPr lang="en-US" dirty="0" err="1"/>
              <a:t>Practic</a:t>
            </a:r>
            <a:r>
              <a:rPr lang="en-US" dirty="0"/>
              <a:t> </a:t>
            </a:r>
            <a:r>
              <a:rPr lang="en-US" dirty="0" err="1"/>
              <a:t>însă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necesară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 smtClean="0"/>
              <a:t>stabilizarea</a:t>
            </a:r>
            <a:r>
              <a:rPr lang="en-US" dirty="0" smtClean="0"/>
              <a:t> </a:t>
            </a:r>
            <a:r>
              <a:rPr lang="en-US" dirty="0" err="1" smtClean="0"/>
              <a:t>termică</a:t>
            </a:r>
            <a:r>
              <a:rPr lang="en-US" dirty="0" smtClean="0"/>
              <a:t> </a:t>
            </a:r>
            <a:r>
              <a:rPr lang="en-US" dirty="0"/>
              <a:t>a </a:t>
            </a:r>
            <a:r>
              <a:rPr lang="en-US" dirty="0" err="1"/>
              <a:t>punctului</a:t>
            </a:r>
            <a:r>
              <a:rPr lang="en-US" dirty="0"/>
              <a:t> static de </a:t>
            </a:r>
            <a:r>
              <a:rPr lang="en-US" dirty="0" err="1"/>
              <a:t>funcţionare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err="1" smtClean="0"/>
              <a:t>Valoarea</a:t>
            </a:r>
            <a:r>
              <a:rPr lang="en-US" dirty="0" smtClean="0"/>
              <a:t> </a:t>
            </a:r>
            <a:r>
              <a:rPr lang="en-US" dirty="0" err="1"/>
              <a:t>rezistenţei</a:t>
            </a:r>
            <a:r>
              <a:rPr lang="en-US" dirty="0"/>
              <a:t> din </a:t>
            </a:r>
            <a:r>
              <a:rPr lang="en-US" dirty="0" err="1"/>
              <a:t>colectorul</a:t>
            </a:r>
            <a:r>
              <a:rPr lang="en-US" dirty="0"/>
              <a:t> </a:t>
            </a:r>
            <a:r>
              <a:rPr lang="en-US" dirty="0" err="1"/>
              <a:t>tranzistorului</a:t>
            </a:r>
            <a:r>
              <a:rPr lang="en-US" dirty="0"/>
              <a:t>, </a:t>
            </a:r>
            <a:r>
              <a:rPr lang="en-US" dirty="0" err="1"/>
              <a:t>Rc</a:t>
            </a:r>
            <a:r>
              <a:rPr lang="en-US" dirty="0"/>
              <a:t>, </a:t>
            </a:r>
            <a:r>
              <a:rPr lang="en-US" dirty="0" err="1"/>
              <a:t>reprezintă</a:t>
            </a:r>
            <a:r>
              <a:rPr lang="en-US" dirty="0"/>
              <a:t> </a:t>
            </a:r>
            <a:r>
              <a:rPr lang="en-US" dirty="0" err="1" smtClean="0"/>
              <a:t>şi</a:t>
            </a:r>
            <a:r>
              <a:rPr lang="en-US" dirty="0" smtClean="0"/>
              <a:t> </a:t>
            </a:r>
            <a:r>
              <a:rPr lang="en-US" dirty="0" err="1" smtClean="0"/>
              <a:t>sarcina</a:t>
            </a:r>
            <a:r>
              <a:rPr lang="en-US" dirty="0" smtClean="0"/>
              <a:t> </a:t>
            </a:r>
            <a:r>
              <a:rPr lang="en-US" dirty="0" err="1"/>
              <a:t>tranzistorului</a:t>
            </a:r>
            <a:r>
              <a:rPr lang="en-US" dirty="0"/>
              <a:t> </a:t>
            </a:r>
            <a:r>
              <a:rPr lang="en-US" dirty="0" err="1"/>
              <a:t>atunci</a:t>
            </a:r>
            <a:r>
              <a:rPr lang="en-US" dirty="0"/>
              <a:t> </a:t>
            </a:r>
            <a:r>
              <a:rPr lang="en-US" dirty="0" err="1"/>
              <a:t>când</a:t>
            </a:r>
            <a:r>
              <a:rPr lang="en-US" dirty="0"/>
              <a:t> </a:t>
            </a:r>
            <a:r>
              <a:rPr lang="en-US" dirty="0" err="1"/>
              <a:t>acesta</a:t>
            </a:r>
            <a:r>
              <a:rPr lang="en-US" dirty="0"/>
              <a:t> </a:t>
            </a:r>
            <a:r>
              <a:rPr lang="en-US" dirty="0" err="1"/>
              <a:t>lucrează</a:t>
            </a:r>
            <a:r>
              <a:rPr lang="en-US" dirty="0"/>
              <a:t> ca element </a:t>
            </a:r>
            <a:r>
              <a:rPr lang="en-US" dirty="0" err="1"/>
              <a:t>activ</a:t>
            </a:r>
            <a:r>
              <a:rPr lang="en-US" dirty="0"/>
              <a:t> </a:t>
            </a:r>
            <a:r>
              <a:rPr lang="en-US" dirty="0" err="1" smtClean="0"/>
              <a:t>în</a:t>
            </a:r>
            <a:r>
              <a:rPr lang="en-US" dirty="0" smtClean="0"/>
              <a:t> </a:t>
            </a:r>
            <a:r>
              <a:rPr lang="en-US" dirty="0" err="1" smtClean="0"/>
              <a:t>circuitele</a:t>
            </a:r>
            <a:r>
              <a:rPr lang="en-US" dirty="0" smtClean="0"/>
              <a:t> </a:t>
            </a:r>
            <a:r>
              <a:rPr lang="en-US" dirty="0"/>
              <a:t>de </a:t>
            </a:r>
            <a:r>
              <a:rPr lang="en-US" dirty="0" err="1"/>
              <a:t>amplificare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prelucrare</a:t>
            </a:r>
            <a:r>
              <a:rPr lang="en-US" dirty="0"/>
              <a:t> de </a:t>
            </a:r>
            <a:r>
              <a:rPr lang="en-US" dirty="0" err="1"/>
              <a:t>semnale</a:t>
            </a:r>
            <a:r>
              <a:rPr lang="en-US" dirty="0"/>
              <a:t>. </a:t>
            </a:r>
            <a:r>
              <a:rPr lang="en-US" dirty="0" err="1"/>
              <a:t>Valoarea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maximă</a:t>
            </a:r>
            <a:r>
              <a:rPr lang="en-US" dirty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dirty="0" err="1" smtClean="0"/>
              <a:t>limitată</a:t>
            </a:r>
            <a:r>
              <a:rPr lang="en-US" dirty="0" smtClean="0"/>
              <a:t> </a:t>
            </a:r>
            <a:r>
              <a:rPr lang="en-US" dirty="0"/>
              <a:t>de </a:t>
            </a:r>
            <a:r>
              <a:rPr lang="en-US" dirty="0" err="1"/>
              <a:t>condiţia</a:t>
            </a:r>
            <a:r>
              <a:rPr lang="en-US" dirty="0"/>
              <a:t> de </a:t>
            </a:r>
            <a:r>
              <a:rPr lang="en-US" dirty="0" err="1"/>
              <a:t>conducţie</a:t>
            </a:r>
            <a:r>
              <a:rPr lang="en-US" dirty="0"/>
              <a:t> a </a:t>
            </a:r>
            <a:r>
              <a:rPr lang="en-US" dirty="0" err="1"/>
              <a:t>tranzistorului</a:t>
            </a:r>
            <a:r>
              <a:rPr lang="en-US" dirty="0"/>
              <a:t>. </a:t>
            </a:r>
            <a:r>
              <a:rPr lang="en-US" dirty="0" err="1"/>
              <a:t>Pentru</a:t>
            </a:r>
            <a:r>
              <a:rPr lang="en-US" dirty="0"/>
              <a:t> o </a:t>
            </a:r>
            <a:r>
              <a:rPr lang="en-US" dirty="0" err="1"/>
              <a:t>valoare</a:t>
            </a:r>
            <a:r>
              <a:rPr lang="en-US" dirty="0"/>
              <a:t> </a:t>
            </a:r>
            <a:r>
              <a:rPr lang="en-US" dirty="0" err="1" smtClean="0"/>
              <a:t>prea</a:t>
            </a:r>
            <a:r>
              <a:rPr lang="en-US" dirty="0" smtClean="0"/>
              <a:t> mare</a:t>
            </a:r>
            <a:r>
              <a:rPr lang="en-US" dirty="0"/>
              <a:t>, </a:t>
            </a:r>
            <a:r>
              <a:rPr lang="en-US" dirty="0" err="1"/>
              <a:t>căderea</a:t>
            </a:r>
            <a:r>
              <a:rPr lang="en-US" dirty="0"/>
              <a:t> de </a:t>
            </a:r>
            <a:r>
              <a:rPr lang="en-US" dirty="0" err="1"/>
              <a:t>tensiune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fi </a:t>
            </a:r>
            <a:r>
              <a:rPr lang="en-US" dirty="0" err="1"/>
              <a:t>atât</a:t>
            </a:r>
            <a:r>
              <a:rPr lang="en-US" dirty="0"/>
              <a:t> de mare la un </a:t>
            </a:r>
            <a:r>
              <a:rPr lang="en-US" dirty="0" err="1"/>
              <a:t>curent</a:t>
            </a:r>
            <a:r>
              <a:rPr lang="en-US" dirty="0"/>
              <a:t> de </a:t>
            </a:r>
            <a:r>
              <a:rPr lang="en-US" dirty="0" err="1" smtClean="0"/>
              <a:t>colector</a:t>
            </a:r>
            <a:r>
              <a:rPr lang="en-US" dirty="0" smtClean="0"/>
              <a:t> mic </a:t>
            </a:r>
            <a:r>
              <a:rPr lang="en-US" dirty="0" err="1"/>
              <a:t>încât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nu </a:t>
            </a:r>
            <a:r>
              <a:rPr lang="en-US" dirty="0" err="1"/>
              <a:t>permită</a:t>
            </a:r>
            <a:r>
              <a:rPr lang="en-US" dirty="0"/>
              <a:t> </a:t>
            </a:r>
            <a:r>
              <a:rPr lang="en-US" dirty="0" err="1"/>
              <a:t>trecerea</a:t>
            </a:r>
            <a:r>
              <a:rPr lang="en-US" dirty="0"/>
              <a:t> </a:t>
            </a:r>
            <a:r>
              <a:rPr lang="en-US" dirty="0" err="1"/>
              <a:t>tranzistorului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stare de </a:t>
            </a:r>
            <a:r>
              <a:rPr lang="en-US" dirty="0" err="1"/>
              <a:t>conducţie</a:t>
            </a:r>
            <a:r>
              <a:rPr lang="en-US" dirty="0"/>
              <a:t>.</a:t>
            </a:r>
          </a:p>
          <a:p>
            <a:r>
              <a:rPr lang="en-US" dirty="0"/>
              <a:t>De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ori</a:t>
            </a:r>
            <a:r>
              <a:rPr lang="en-US" dirty="0"/>
              <a:t>,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putea</a:t>
            </a:r>
            <a:r>
              <a:rPr lang="en-US" dirty="0"/>
              <a:t> </a:t>
            </a:r>
            <a:r>
              <a:rPr lang="en-US" dirty="0" err="1"/>
              <a:t>rezolva</a:t>
            </a:r>
            <a:r>
              <a:rPr lang="en-US" dirty="0"/>
              <a:t> </a:t>
            </a:r>
            <a:r>
              <a:rPr lang="en-US" dirty="0" err="1"/>
              <a:t>sistemul</a:t>
            </a:r>
            <a:r>
              <a:rPr lang="en-US" dirty="0"/>
              <a:t> de </a:t>
            </a:r>
            <a:r>
              <a:rPr lang="en-US" dirty="0" err="1"/>
              <a:t>ecuaţii</a:t>
            </a:r>
            <a:r>
              <a:rPr lang="en-US" dirty="0"/>
              <a:t> </a:t>
            </a:r>
            <a:r>
              <a:rPr lang="en-US" dirty="0" smtClean="0"/>
              <a:t>al </a:t>
            </a:r>
            <a:r>
              <a:rPr lang="en-US" dirty="0" err="1" smtClean="0"/>
              <a:t>circuitului</a:t>
            </a:r>
            <a:r>
              <a:rPr lang="en-US" dirty="0" smtClean="0"/>
              <a:t> </a:t>
            </a:r>
            <a:r>
              <a:rPr lang="en-US" dirty="0"/>
              <a:t>de </a:t>
            </a:r>
            <a:r>
              <a:rPr lang="en-US" dirty="0" err="1"/>
              <a:t>polarizare</a:t>
            </a:r>
            <a:r>
              <a:rPr lang="en-US" dirty="0"/>
              <a:t> </a:t>
            </a:r>
            <a:r>
              <a:rPr lang="en-US" dirty="0" err="1"/>
              <a:t>vom</a:t>
            </a:r>
            <a:r>
              <a:rPr lang="en-US" dirty="0"/>
              <a:t> fi </a:t>
            </a:r>
            <a:r>
              <a:rPr lang="en-US" dirty="0" err="1"/>
              <a:t>nevoiţi</a:t>
            </a:r>
            <a:r>
              <a:rPr lang="en-US" dirty="0"/>
              <a:t> ca </a:t>
            </a:r>
            <a:r>
              <a:rPr lang="en-US" dirty="0" err="1"/>
              <a:t>valoarea</a:t>
            </a:r>
            <a:r>
              <a:rPr lang="en-US" dirty="0"/>
              <a:t> </a:t>
            </a:r>
            <a:r>
              <a:rPr lang="en-US" dirty="0" err="1"/>
              <a:t>uneia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rezistenţe</a:t>
            </a:r>
            <a:r>
              <a:rPr lang="en-US" dirty="0"/>
              <a:t> </a:t>
            </a:r>
            <a:r>
              <a:rPr lang="en-US" dirty="0" err="1" smtClean="0"/>
              <a:t>să</a:t>
            </a:r>
            <a:r>
              <a:rPr lang="en-US" dirty="0" smtClean="0"/>
              <a:t> o </a:t>
            </a:r>
            <a:r>
              <a:rPr lang="en-US" dirty="0" err="1"/>
              <a:t>alegem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observaţiilor</a:t>
            </a:r>
            <a:r>
              <a:rPr lang="en-US" dirty="0"/>
              <a:t> de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sus</a:t>
            </a:r>
            <a:r>
              <a:rPr lang="en-US" dirty="0" smtClean="0"/>
              <a:t>.</a:t>
            </a:r>
          </a:p>
          <a:p>
            <a:r>
              <a:rPr lang="en-US" i="1" dirty="0" err="1"/>
              <a:t>Presupunem</a:t>
            </a:r>
            <a:r>
              <a:rPr lang="en-US" i="1" dirty="0"/>
              <a:t> </a:t>
            </a:r>
            <a:r>
              <a:rPr lang="en-US" i="1" dirty="0" err="1"/>
              <a:t>că</a:t>
            </a:r>
            <a:r>
              <a:rPr lang="en-US" i="1" dirty="0"/>
              <a:t> </a:t>
            </a:r>
            <a:r>
              <a:rPr lang="en-US" i="1" dirty="0" err="1"/>
              <a:t>avem</a:t>
            </a:r>
            <a:r>
              <a:rPr lang="en-US" i="1" dirty="0"/>
              <a:t> un </a:t>
            </a:r>
            <a:r>
              <a:rPr lang="en-US" i="1" dirty="0" err="1"/>
              <a:t>tranzistor</a:t>
            </a:r>
            <a:r>
              <a:rPr lang="en-US" i="1" dirty="0"/>
              <a:t> cu </a:t>
            </a:r>
            <a:r>
              <a:rPr lang="el-GR" dirty="0"/>
              <a:t>β </a:t>
            </a:r>
            <a:r>
              <a:rPr lang="el-GR" b="1" i="1" dirty="0"/>
              <a:t>= 100</a:t>
            </a:r>
            <a:r>
              <a:rPr lang="el-GR" i="1" dirty="0"/>
              <a:t>, </a:t>
            </a:r>
            <a:r>
              <a:rPr lang="en-US" i="1" dirty="0" err="1"/>
              <a:t>pe</a:t>
            </a:r>
            <a:r>
              <a:rPr lang="en-US" i="1" dirty="0"/>
              <a:t> </a:t>
            </a:r>
            <a:r>
              <a:rPr lang="en-US" i="1" dirty="0" smtClean="0"/>
              <a:t>care </a:t>
            </a:r>
            <a:r>
              <a:rPr lang="en-US" i="1" dirty="0" err="1" smtClean="0"/>
              <a:t>dorim</a:t>
            </a:r>
            <a:r>
              <a:rPr lang="en-US" i="1" dirty="0" smtClean="0"/>
              <a:t> </a:t>
            </a:r>
            <a:r>
              <a:rPr lang="en-US" i="1" dirty="0" err="1"/>
              <a:t>să</a:t>
            </a:r>
            <a:r>
              <a:rPr lang="en-US" i="1" dirty="0"/>
              <a:t>-l </a:t>
            </a:r>
            <a:r>
              <a:rPr lang="en-US" i="1" dirty="0" err="1"/>
              <a:t>polarizăm</a:t>
            </a:r>
            <a:r>
              <a:rPr lang="en-US" i="1" dirty="0"/>
              <a:t> </a:t>
            </a:r>
            <a:r>
              <a:rPr lang="en-US" i="1" dirty="0" err="1"/>
              <a:t>în</a:t>
            </a:r>
            <a:r>
              <a:rPr lang="en-US" i="1" dirty="0"/>
              <a:t> </a:t>
            </a:r>
            <a:r>
              <a:rPr lang="en-US" i="1" dirty="0" err="1"/>
              <a:t>curent</a:t>
            </a:r>
            <a:r>
              <a:rPr lang="en-US" i="1" dirty="0"/>
              <a:t> </a:t>
            </a:r>
            <a:r>
              <a:rPr lang="en-US" i="1" dirty="0" err="1"/>
              <a:t>continuu</a:t>
            </a:r>
            <a:r>
              <a:rPr lang="en-US" i="1" dirty="0"/>
              <a:t> </a:t>
            </a:r>
            <a:r>
              <a:rPr lang="en-US" i="1" dirty="0" err="1"/>
              <a:t>astfel</a:t>
            </a:r>
            <a:r>
              <a:rPr lang="en-US" i="1" dirty="0"/>
              <a:t> </a:t>
            </a:r>
            <a:r>
              <a:rPr lang="en-US" i="1" dirty="0" err="1"/>
              <a:t>încât</a:t>
            </a:r>
            <a:r>
              <a:rPr lang="en-US" i="1" dirty="0"/>
              <a:t> el </a:t>
            </a:r>
            <a:r>
              <a:rPr lang="en-US" i="1" dirty="0" err="1"/>
              <a:t>să</a:t>
            </a:r>
            <a:r>
              <a:rPr lang="en-US" i="1" dirty="0"/>
              <a:t> </a:t>
            </a:r>
            <a:r>
              <a:rPr lang="en-US" i="1" dirty="0" err="1"/>
              <a:t>lucreze</a:t>
            </a:r>
            <a:r>
              <a:rPr lang="en-US" i="1" dirty="0"/>
              <a:t> </a:t>
            </a:r>
            <a:r>
              <a:rPr lang="en-US" i="1" dirty="0" err="1"/>
              <a:t>în</a:t>
            </a:r>
            <a:r>
              <a:rPr lang="en-US" i="1" dirty="0"/>
              <a:t> </a:t>
            </a:r>
            <a:r>
              <a:rPr lang="en-US" i="1" dirty="0" smtClean="0"/>
              <a:t>zona </a:t>
            </a:r>
            <a:r>
              <a:rPr lang="en-US" i="1" dirty="0" err="1" smtClean="0"/>
              <a:t>activă</a:t>
            </a:r>
            <a:r>
              <a:rPr lang="en-US" i="1" dirty="0" smtClean="0"/>
              <a:t> </a:t>
            </a:r>
            <a:r>
              <a:rPr lang="en-US" i="1" dirty="0" err="1"/>
              <a:t>având</a:t>
            </a:r>
            <a:r>
              <a:rPr lang="en-US" i="1" dirty="0"/>
              <a:t> </a:t>
            </a:r>
            <a:r>
              <a:rPr lang="en-US" b="1" i="1" dirty="0"/>
              <a:t>IC = 2mA, UCE = 5V </a:t>
            </a:r>
            <a:r>
              <a:rPr lang="en-US" i="1" dirty="0" err="1"/>
              <a:t>şi</a:t>
            </a:r>
            <a:r>
              <a:rPr lang="en-US" i="1" dirty="0"/>
              <a:t> </a:t>
            </a:r>
            <a:r>
              <a:rPr lang="en-US" b="1" i="1" dirty="0"/>
              <a:t>UEB = 0,65V</a:t>
            </a:r>
            <a:r>
              <a:rPr lang="en-US" i="1" dirty="0"/>
              <a:t>. </a:t>
            </a:r>
            <a:r>
              <a:rPr lang="en-US" i="1" dirty="0" err="1"/>
              <a:t>Tensiunea</a:t>
            </a:r>
            <a:r>
              <a:rPr lang="en-US" i="1" dirty="0"/>
              <a:t> de </a:t>
            </a:r>
            <a:r>
              <a:rPr lang="en-US" i="1" dirty="0" err="1" smtClean="0"/>
              <a:t>alimentare</a:t>
            </a:r>
            <a:r>
              <a:rPr lang="en-US" i="1" dirty="0" smtClean="0"/>
              <a:t> </a:t>
            </a:r>
            <a:r>
              <a:rPr lang="en-US" i="1" dirty="0" err="1" smtClean="0"/>
              <a:t>este</a:t>
            </a:r>
            <a:r>
              <a:rPr lang="en-US" i="1" dirty="0" smtClean="0"/>
              <a:t> </a:t>
            </a:r>
            <a:r>
              <a:rPr lang="en-US" b="1" i="1" dirty="0"/>
              <a:t>E</a:t>
            </a:r>
            <a:r>
              <a:rPr lang="en-US" b="1" i="1" baseline="-25000" dirty="0"/>
              <a:t>C</a:t>
            </a:r>
            <a:r>
              <a:rPr lang="en-US" b="1" i="1" dirty="0"/>
              <a:t> = 10V</a:t>
            </a:r>
            <a:r>
              <a:rPr lang="en-US" i="1" dirty="0" smtClean="0"/>
              <a:t>. </a:t>
            </a:r>
            <a:r>
              <a:rPr lang="en-US" dirty="0" err="1" smtClean="0"/>
              <a:t>Neglijând</a:t>
            </a:r>
            <a:r>
              <a:rPr lang="en-US" dirty="0" smtClean="0"/>
              <a:t> </a:t>
            </a:r>
            <a:r>
              <a:rPr lang="en-US" dirty="0" err="1"/>
              <a:t>curentul</a:t>
            </a:r>
            <a:r>
              <a:rPr lang="en-US" dirty="0"/>
              <a:t> </a:t>
            </a:r>
            <a:r>
              <a:rPr lang="en-US" dirty="0" err="1"/>
              <a:t>rezidual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joncţiunea</a:t>
            </a:r>
            <a:r>
              <a:rPr lang="en-US" dirty="0"/>
              <a:t> </a:t>
            </a:r>
            <a:r>
              <a:rPr lang="en-US" dirty="0" err="1"/>
              <a:t>bază-colector</a:t>
            </a:r>
            <a:r>
              <a:rPr lang="en-US" dirty="0"/>
              <a:t>, </a:t>
            </a:r>
            <a:r>
              <a:rPr lang="en-US" dirty="0" smtClean="0"/>
              <a:t>din </a:t>
            </a:r>
            <a:r>
              <a:rPr lang="en-US" dirty="0" err="1" smtClean="0"/>
              <a:t>ecuaţia</a:t>
            </a:r>
            <a:r>
              <a:rPr lang="en-US" dirty="0" smtClean="0"/>
              <a:t>                    </a:t>
            </a:r>
            <a:r>
              <a:rPr lang="en-US" dirty="0" err="1" smtClean="0"/>
              <a:t>putem</a:t>
            </a:r>
            <a:r>
              <a:rPr lang="en-US" dirty="0" smtClean="0"/>
              <a:t> </a:t>
            </a:r>
            <a:r>
              <a:rPr lang="en-US" dirty="0" err="1"/>
              <a:t>calcula</a:t>
            </a:r>
            <a:r>
              <a:rPr lang="en-US" dirty="0"/>
              <a:t> </a:t>
            </a:r>
            <a:r>
              <a:rPr lang="en-US" dirty="0" err="1"/>
              <a:t>curentul</a:t>
            </a:r>
            <a:r>
              <a:rPr lang="en-US" dirty="0"/>
              <a:t> de </a:t>
            </a:r>
            <a:r>
              <a:rPr lang="en-US" dirty="0" err="1"/>
              <a:t>bază</a:t>
            </a:r>
            <a:r>
              <a:rPr lang="en-US" dirty="0"/>
              <a:t>: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9303" y="5893206"/>
            <a:ext cx="1272625" cy="399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064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114" y="112319"/>
            <a:ext cx="5534025" cy="85725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33114" y="1041645"/>
            <a:ext cx="89837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Cunoscând curentul de bază, </a:t>
            </a:r>
            <a:r>
              <a:rPr lang="pt-BR" dirty="0" smtClean="0"/>
              <a:t>calculăm </a:t>
            </a:r>
            <a:r>
              <a:rPr lang="pt-BR" dirty="0"/>
              <a:t>curentul de emitor:</a:t>
            </a:r>
            <a:endParaRPr lang="en-US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14" y="1410977"/>
            <a:ext cx="7028177" cy="442201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33114" y="1853178"/>
            <a:ext cx="68745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Rezistenţa de emitor o putem calcula din relaţia recomandată anterior:</a:t>
            </a:r>
            <a:endParaRPr lang="en-US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14" y="2178936"/>
            <a:ext cx="5305425" cy="971550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0" y="3097572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calculăm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valoarea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rezistenţei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din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colectorul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115" y="3461966"/>
            <a:ext cx="6666038" cy="653272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69410" y="4110300"/>
            <a:ext cx="92194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Potenţialul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bazei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faţă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masă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sz="105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05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105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putem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-l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calculăm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din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ecuaţia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114" y="4499904"/>
            <a:ext cx="5851227" cy="427208"/>
          </a:xfrm>
          <a:prstGeom prst="rect">
            <a:avLst/>
          </a:prstGeom>
        </p:spPr>
      </p:pic>
      <p:sp>
        <p:nvSpPr>
          <p:cNvPr id="15" name="Прямоугольник 14"/>
          <p:cNvSpPr/>
          <p:nvPr/>
        </p:nvSpPr>
        <p:spPr>
          <a:xfrm>
            <a:off x="133114" y="4968833"/>
            <a:ext cx="38179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Alegând pentru rezistenţa R</a:t>
            </a:r>
            <a:r>
              <a:rPr lang="pt-BR" baseline="-25000" dirty="0"/>
              <a:t>2</a:t>
            </a:r>
            <a:r>
              <a:rPr lang="pt-BR" dirty="0"/>
              <a:t> valoarea:</a:t>
            </a:r>
            <a:endParaRPr lang="en-US" dirty="0"/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10" y="5302218"/>
            <a:ext cx="1270504" cy="292601"/>
          </a:xfrm>
          <a:prstGeom prst="rect">
            <a:avLst/>
          </a:prstGeom>
        </p:spPr>
      </p:pic>
      <p:sp>
        <p:nvSpPr>
          <p:cNvPr id="17" name="Прямоугольник 16"/>
          <p:cNvSpPr/>
          <p:nvPr/>
        </p:nvSpPr>
        <p:spPr>
          <a:xfrm>
            <a:off x="0" y="5628221"/>
            <a:ext cx="38342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dirty="0"/>
              <a:t>se poate calcula valoarea curentului I</a:t>
            </a:r>
            <a:r>
              <a:rPr lang="it-IT" baseline="-25000" dirty="0"/>
              <a:t>2</a:t>
            </a:r>
            <a:r>
              <a:rPr lang="it-IT" dirty="0"/>
              <a:t>:</a:t>
            </a:r>
            <a:endParaRPr lang="en-US" dirty="0"/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57" y="5899449"/>
            <a:ext cx="3282779" cy="664612"/>
          </a:xfrm>
          <a:prstGeom prst="rect">
            <a:avLst/>
          </a:prstGeom>
        </p:spPr>
      </p:pic>
      <p:cxnSp>
        <p:nvCxnSpPr>
          <p:cNvPr id="20" name="Прямая соединительная линия 19"/>
          <p:cNvCxnSpPr/>
          <p:nvPr/>
        </p:nvCxnSpPr>
        <p:spPr>
          <a:xfrm>
            <a:off x="7641124" y="0"/>
            <a:ext cx="9054" cy="68580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Прямоугольник 21"/>
          <p:cNvSpPr/>
          <p:nvPr/>
        </p:nvSpPr>
        <p:spPr>
          <a:xfrm>
            <a:off x="7641124" y="33216"/>
            <a:ext cx="44724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 smtClean="0"/>
              <a:t>sfârşit</a:t>
            </a:r>
            <a:r>
              <a:rPr lang="ro-MO" dirty="0" smtClean="0"/>
              <a:t> </a:t>
            </a:r>
            <a:r>
              <a:rPr lang="en-US" dirty="0" err="1" smtClean="0"/>
              <a:t>poate</a:t>
            </a:r>
            <a:r>
              <a:rPr lang="en-US" dirty="0" smtClean="0"/>
              <a:t> </a:t>
            </a:r>
            <a:r>
              <a:rPr lang="en-US" dirty="0"/>
              <a:t>fi </a:t>
            </a:r>
            <a:r>
              <a:rPr lang="en-US" dirty="0" err="1"/>
              <a:t>calculată</a:t>
            </a:r>
            <a:r>
              <a:rPr lang="en-US" dirty="0"/>
              <a:t> </a:t>
            </a:r>
            <a:r>
              <a:rPr lang="en-US" dirty="0" err="1"/>
              <a:t>valoarea</a:t>
            </a:r>
            <a:r>
              <a:rPr lang="en-US" dirty="0"/>
              <a:t> </a:t>
            </a:r>
            <a:r>
              <a:rPr lang="en-US" dirty="0" err="1"/>
              <a:t>rezistenţei</a:t>
            </a:r>
            <a:endParaRPr lang="en-US" dirty="0"/>
          </a:p>
          <a:p>
            <a:r>
              <a:rPr lang="en-US" dirty="0"/>
              <a:t>R1:</a:t>
            </a:r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 rotWithShape="1">
          <a:blip r:embed="rId9"/>
          <a:srcRect r="58539" b="-40"/>
          <a:stretch/>
        </p:blipFill>
        <p:spPr>
          <a:xfrm>
            <a:off x="7757998" y="672149"/>
            <a:ext cx="2856902" cy="650794"/>
          </a:xfrm>
          <a:prstGeom prst="rect">
            <a:avLst/>
          </a:prstGeom>
        </p:spPr>
      </p:pic>
      <p:pic>
        <p:nvPicPr>
          <p:cNvPr id="24" name="Рисунок 23"/>
          <p:cNvPicPr>
            <a:picLocks noChangeAspect="1"/>
          </p:cNvPicPr>
          <p:nvPr/>
        </p:nvPicPr>
        <p:blipFill rotWithShape="1">
          <a:blip r:embed="rId9"/>
          <a:srcRect l="38884" b="-939"/>
          <a:stretch/>
        </p:blipFill>
        <p:spPr>
          <a:xfrm>
            <a:off x="7835080" y="1367685"/>
            <a:ext cx="3871047" cy="603592"/>
          </a:xfrm>
          <a:prstGeom prst="rect">
            <a:avLst/>
          </a:prstGeom>
        </p:spPr>
      </p:pic>
      <p:sp>
        <p:nvSpPr>
          <p:cNvPr id="25" name="Прямоугольник 24"/>
          <p:cNvSpPr/>
          <p:nvPr/>
        </p:nvSpPr>
        <p:spPr>
          <a:xfrm>
            <a:off x="7650178" y="2102737"/>
            <a:ext cx="454182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Având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vedere</a:t>
            </a:r>
            <a:r>
              <a:rPr lang="en-US" dirty="0"/>
              <a:t> </a:t>
            </a:r>
            <a:r>
              <a:rPr lang="en-US" dirty="0" err="1"/>
              <a:t>valorile</a:t>
            </a:r>
            <a:r>
              <a:rPr lang="en-US" dirty="0"/>
              <a:t> </a:t>
            </a:r>
            <a:r>
              <a:rPr lang="en-US" dirty="0" err="1"/>
              <a:t>standardizate</a:t>
            </a:r>
            <a:r>
              <a:rPr lang="en-US" dirty="0"/>
              <a:t> ale </a:t>
            </a:r>
            <a:r>
              <a:rPr lang="en-US" dirty="0" err="1"/>
              <a:t>rezistenţelor</a:t>
            </a:r>
            <a:r>
              <a:rPr lang="en-US" dirty="0"/>
              <a:t> de </a:t>
            </a:r>
            <a:r>
              <a:rPr lang="en-US" dirty="0" err="1"/>
              <a:t>uz</a:t>
            </a:r>
            <a:r>
              <a:rPr lang="en-US" dirty="0"/>
              <a:t> general, </a:t>
            </a:r>
            <a:r>
              <a:rPr lang="en-US" dirty="0" err="1" smtClean="0"/>
              <a:t>vom</a:t>
            </a:r>
            <a:r>
              <a:rPr lang="en-US" dirty="0" smtClean="0"/>
              <a:t> </a:t>
            </a:r>
            <a:r>
              <a:rPr lang="en-US" dirty="0" err="1" smtClean="0"/>
              <a:t>alege</a:t>
            </a:r>
            <a:r>
              <a:rPr lang="en-US" dirty="0" smtClean="0"/>
              <a:t> </a:t>
            </a:r>
            <a:r>
              <a:rPr lang="en-US" dirty="0" err="1"/>
              <a:t>următoarele</a:t>
            </a:r>
            <a:r>
              <a:rPr lang="en-US" dirty="0"/>
              <a:t> </a:t>
            </a:r>
            <a:r>
              <a:rPr lang="en-US" dirty="0" err="1"/>
              <a:t>valori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patru</a:t>
            </a:r>
            <a:r>
              <a:rPr lang="en-US" dirty="0"/>
              <a:t> </a:t>
            </a:r>
            <a:r>
              <a:rPr lang="en-US" dirty="0" err="1"/>
              <a:t>rezistenţe</a:t>
            </a:r>
            <a:r>
              <a:rPr lang="en-US" dirty="0"/>
              <a:t> de </a:t>
            </a:r>
            <a:r>
              <a:rPr lang="en-US" dirty="0" err="1"/>
              <a:t>polarizare</a:t>
            </a:r>
            <a:r>
              <a:rPr lang="en-US" dirty="0"/>
              <a:t> </a:t>
            </a:r>
            <a:r>
              <a:rPr lang="en-US" dirty="0" smtClean="0"/>
              <a:t>ale </a:t>
            </a:r>
            <a:r>
              <a:rPr lang="en-US" dirty="0" err="1" smtClean="0"/>
              <a:t>tranzistorului</a:t>
            </a:r>
            <a:r>
              <a:rPr lang="en-US" dirty="0"/>
              <a:t>: </a:t>
            </a:r>
            <a:r>
              <a:rPr lang="en-US" b="1" dirty="0"/>
              <a:t>R</a:t>
            </a:r>
            <a:r>
              <a:rPr lang="en-US" b="1" baseline="-25000" dirty="0"/>
              <a:t>C</a:t>
            </a:r>
            <a:r>
              <a:rPr lang="en-US" b="1" dirty="0"/>
              <a:t> = 2k</a:t>
            </a:r>
            <a:r>
              <a:rPr lang="el-GR" b="1" dirty="0"/>
              <a:t>Ω, </a:t>
            </a:r>
            <a:r>
              <a:rPr lang="en-US" b="1" dirty="0"/>
              <a:t>R</a:t>
            </a:r>
            <a:r>
              <a:rPr lang="en-US" b="1" baseline="-25000" dirty="0"/>
              <a:t>E</a:t>
            </a:r>
            <a:r>
              <a:rPr lang="en-US" b="1" dirty="0"/>
              <a:t> = 500</a:t>
            </a:r>
            <a:r>
              <a:rPr lang="el-GR" b="1" dirty="0"/>
              <a:t>Ω, </a:t>
            </a:r>
            <a:r>
              <a:rPr lang="en-US" b="1" dirty="0"/>
              <a:t>R</a:t>
            </a:r>
            <a:r>
              <a:rPr lang="en-US" b="1" baseline="-25000" dirty="0"/>
              <a:t>1</a:t>
            </a:r>
            <a:r>
              <a:rPr lang="en-US" b="1" dirty="0"/>
              <a:t> = 47k</a:t>
            </a:r>
            <a:r>
              <a:rPr lang="el-GR" b="1" dirty="0"/>
              <a:t>Ω </a:t>
            </a:r>
            <a:r>
              <a:rPr lang="en-US" b="1" dirty="0" err="1"/>
              <a:t>şi</a:t>
            </a:r>
            <a:r>
              <a:rPr lang="en-US" b="1" dirty="0"/>
              <a:t> R</a:t>
            </a:r>
            <a:r>
              <a:rPr lang="en-US" b="1" baseline="-25000" dirty="0"/>
              <a:t>2</a:t>
            </a:r>
            <a:r>
              <a:rPr lang="en-US" b="1" dirty="0"/>
              <a:t> = 10k</a:t>
            </a:r>
            <a:r>
              <a:rPr lang="el-GR" b="1" dirty="0"/>
              <a:t>Ω.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43756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404" y="0"/>
            <a:ext cx="3292963" cy="466578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0" y="0"/>
            <a:ext cx="8644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Ecuaţia</a:t>
            </a:r>
            <a:endParaRPr lang="en-US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4157367" y="0"/>
            <a:ext cx="34395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poate</a:t>
            </a:r>
            <a:r>
              <a:rPr lang="en-US" dirty="0"/>
              <a:t> fi </a:t>
            </a:r>
            <a:r>
              <a:rPr lang="en-US" dirty="0" err="1"/>
              <a:t>rescrisă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modul</a:t>
            </a:r>
            <a:r>
              <a:rPr lang="en-US" dirty="0"/>
              <a:t> </a:t>
            </a:r>
            <a:r>
              <a:rPr lang="en-US" dirty="0" err="1"/>
              <a:t>următor</a:t>
            </a:r>
            <a:r>
              <a:rPr lang="en-US" dirty="0"/>
              <a:t>: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040" y="466578"/>
            <a:ext cx="2854619" cy="673397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0" y="1139975"/>
            <a:ext cx="1205016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în</a:t>
            </a:r>
            <a:r>
              <a:rPr lang="en-US" dirty="0"/>
              <a:t> care </a:t>
            </a:r>
            <a:r>
              <a:rPr lang="en-US" dirty="0" err="1"/>
              <a:t>mărimile</a:t>
            </a:r>
            <a:r>
              <a:rPr lang="en-US" dirty="0"/>
              <a:t> </a:t>
            </a:r>
            <a:r>
              <a:rPr lang="en-US" dirty="0" err="1"/>
              <a:t>variabile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I</a:t>
            </a:r>
            <a:r>
              <a:rPr lang="en-US" baseline="-25000" dirty="0"/>
              <a:t>C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U</a:t>
            </a:r>
            <a:r>
              <a:rPr lang="en-US" baseline="-25000" dirty="0"/>
              <a:t>CE</a:t>
            </a:r>
            <a:r>
              <a:rPr lang="en-US" dirty="0"/>
              <a:t>, </a:t>
            </a:r>
            <a:r>
              <a:rPr lang="en-US" dirty="0" err="1"/>
              <a:t>celelalte</a:t>
            </a:r>
            <a:r>
              <a:rPr lang="en-US" dirty="0"/>
              <a:t> </a:t>
            </a:r>
            <a:r>
              <a:rPr lang="en-US" dirty="0" err="1"/>
              <a:t>fiind</a:t>
            </a:r>
            <a:r>
              <a:rPr lang="en-US" dirty="0"/>
              <a:t> </a:t>
            </a:r>
            <a:r>
              <a:rPr lang="en-US" dirty="0" err="1"/>
              <a:t>constante</a:t>
            </a:r>
            <a:r>
              <a:rPr lang="en-US" dirty="0"/>
              <a:t>. </a:t>
            </a:r>
            <a:r>
              <a:rPr lang="en-US" dirty="0" err="1" smtClean="0"/>
              <a:t>Ea</a:t>
            </a:r>
            <a:r>
              <a:rPr lang="en-US" dirty="0" smtClean="0"/>
              <a:t> </a:t>
            </a:r>
            <a:r>
              <a:rPr lang="en-US" dirty="0" err="1" smtClean="0"/>
              <a:t>reprezintă</a:t>
            </a:r>
            <a:r>
              <a:rPr lang="en-US" dirty="0" smtClean="0"/>
              <a:t> </a:t>
            </a:r>
            <a:r>
              <a:rPr lang="en-US" dirty="0" err="1"/>
              <a:t>ecuaţia</a:t>
            </a:r>
            <a:r>
              <a:rPr lang="en-US" dirty="0"/>
              <a:t> </a:t>
            </a:r>
            <a:r>
              <a:rPr lang="en-US" dirty="0" err="1"/>
              <a:t>dreptei</a:t>
            </a:r>
            <a:r>
              <a:rPr lang="en-US" dirty="0"/>
              <a:t> de </a:t>
            </a:r>
            <a:r>
              <a:rPr lang="en-US" dirty="0" err="1"/>
              <a:t>sarcină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curent</a:t>
            </a:r>
            <a:r>
              <a:rPr lang="en-US" dirty="0"/>
              <a:t> </a:t>
            </a:r>
            <a:r>
              <a:rPr lang="en-US" dirty="0" err="1"/>
              <a:t>continuu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 smtClean="0"/>
              <a:t>determina</a:t>
            </a:r>
            <a:r>
              <a:rPr lang="en-US" dirty="0" smtClean="0"/>
              <a:t> </a:t>
            </a:r>
            <a:r>
              <a:rPr lang="en-US" dirty="0" err="1" smtClean="0"/>
              <a:t>poziţia</a:t>
            </a:r>
            <a:r>
              <a:rPr lang="en-US" dirty="0" smtClean="0"/>
              <a:t> </a:t>
            </a:r>
            <a:r>
              <a:rPr lang="en-US" dirty="0" err="1"/>
              <a:t>punctului</a:t>
            </a:r>
            <a:r>
              <a:rPr lang="en-US" dirty="0"/>
              <a:t> static de </a:t>
            </a:r>
            <a:r>
              <a:rPr lang="en-US" dirty="0" err="1" smtClean="0"/>
              <a:t>funcţionare</a:t>
            </a:r>
            <a:r>
              <a:rPr lang="en-US" dirty="0" smtClean="0"/>
              <a:t>. </a:t>
            </a:r>
            <a:r>
              <a:rPr lang="en-US" dirty="0"/>
              <a:t>Din </a:t>
            </a:r>
            <a:r>
              <a:rPr lang="en-US" dirty="0" err="1" smtClean="0"/>
              <a:t>figura</a:t>
            </a:r>
            <a:r>
              <a:rPr lang="en-US" dirty="0" smtClean="0"/>
              <a:t> de </a:t>
            </a:r>
            <a:r>
              <a:rPr lang="en-US" dirty="0" err="1" smtClean="0"/>
              <a:t>mai</a:t>
            </a:r>
            <a:r>
              <a:rPr lang="en-US" dirty="0" smtClean="0"/>
              <a:t> </a:t>
            </a:r>
            <a:r>
              <a:rPr lang="en-US" dirty="0" err="1" smtClean="0"/>
              <a:t>jos</a:t>
            </a:r>
            <a:r>
              <a:rPr lang="en-US" dirty="0" smtClean="0"/>
              <a:t> se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observa</a:t>
            </a:r>
            <a:r>
              <a:rPr lang="en-US" dirty="0"/>
              <a:t> </a:t>
            </a:r>
            <a:r>
              <a:rPr lang="en-US" dirty="0" err="1"/>
              <a:t>că</a:t>
            </a:r>
            <a:r>
              <a:rPr lang="en-US" dirty="0"/>
              <a:t> </a:t>
            </a:r>
            <a:r>
              <a:rPr lang="en-US" dirty="0" err="1"/>
              <a:t>dacă</a:t>
            </a:r>
            <a:r>
              <a:rPr lang="en-US" dirty="0"/>
              <a:t> </a:t>
            </a:r>
            <a:r>
              <a:rPr lang="en-US" dirty="0" err="1"/>
              <a:t>tensiunea</a:t>
            </a:r>
            <a:r>
              <a:rPr lang="en-US" dirty="0"/>
              <a:t> de </a:t>
            </a:r>
            <a:r>
              <a:rPr lang="en-US" dirty="0" err="1"/>
              <a:t>alimentare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 smtClean="0"/>
              <a:t>valorile</a:t>
            </a:r>
            <a:r>
              <a:rPr lang="en-US" dirty="0" smtClean="0"/>
              <a:t> </a:t>
            </a:r>
            <a:r>
              <a:rPr lang="en-US" dirty="0" err="1" smtClean="0"/>
              <a:t>rezistenţelor</a:t>
            </a:r>
            <a:r>
              <a:rPr lang="en-US" dirty="0" smtClean="0"/>
              <a:t> </a:t>
            </a:r>
            <a:r>
              <a:rPr lang="en-US" dirty="0"/>
              <a:t>de </a:t>
            </a:r>
            <a:r>
              <a:rPr lang="en-US" dirty="0" err="1"/>
              <a:t>polarizare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constante</a:t>
            </a:r>
            <a:r>
              <a:rPr lang="en-US" dirty="0"/>
              <a:t>, </a:t>
            </a:r>
            <a:r>
              <a:rPr lang="en-US" dirty="0" err="1"/>
              <a:t>poziţia</a:t>
            </a:r>
            <a:r>
              <a:rPr lang="en-US" dirty="0"/>
              <a:t> </a:t>
            </a:r>
            <a:r>
              <a:rPr lang="en-US" dirty="0" err="1"/>
              <a:t>punctului</a:t>
            </a:r>
            <a:r>
              <a:rPr lang="en-US" dirty="0"/>
              <a:t> static </a:t>
            </a:r>
            <a:r>
              <a:rPr lang="en-US" dirty="0" smtClean="0"/>
              <a:t>de </a:t>
            </a:r>
            <a:r>
              <a:rPr lang="en-US" dirty="0" err="1" smtClean="0"/>
              <a:t>funcţionare</a:t>
            </a:r>
            <a:r>
              <a:rPr lang="en-US" dirty="0" smtClean="0"/>
              <a:t> </a:t>
            </a:r>
            <a:r>
              <a:rPr lang="en-US" dirty="0" err="1"/>
              <a:t>poate</a:t>
            </a:r>
            <a:r>
              <a:rPr lang="en-US" dirty="0"/>
              <a:t> fi </a:t>
            </a:r>
            <a:r>
              <a:rPr lang="en-US" dirty="0" err="1"/>
              <a:t>schimbată</a:t>
            </a:r>
            <a:r>
              <a:rPr lang="en-US" dirty="0"/>
              <a:t> </a:t>
            </a:r>
            <a:r>
              <a:rPr lang="en-US" dirty="0" err="1"/>
              <a:t>modificând</a:t>
            </a:r>
            <a:r>
              <a:rPr lang="en-US" dirty="0"/>
              <a:t> </a:t>
            </a:r>
            <a:r>
              <a:rPr lang="en-US" dirty="0" err="1"/>
              <a:t>mărimea</a:t>
            </a:r>
            <a:r>
              <a:rPr lang="en-US" dirty="0"/>
              <a:t> </a:t>
            </a:r>
            <a:r>
              <a:rPr lang="en-US" dirty="0" err="1"/>
              <a:t>curentului</a:t>
            </a:r>
            <a:r>
              <a:rPr lang="en-US" dirty="0"/>
              <a:t> de </a:t>
            </a:r>
            <a:r>
              <a:rPr lang="en-US" dirty="0" err="1"/>
              <a:t>bază</a:t>
            </a:r>
            <a:r>
              <a:rPr lang="en-US" dirty="0" smtClean="0"/>
              <a:t>. </a:t>
            </a:r>
            <a:r>
              <a:rPr lang="en-US" dirty="0" err="1" smtClean="0"/>
              <a:t>Aşadar</a:t>
            </a:r>
            <a:r>
              <a:rPr lang="en-US" dirty="0"/>
              <a:t>, </a:t>
            </a:r>
            <a:r>
              <a:rPr lang="en-US" dirty="0" err="1"/>
              <a:t>punctul</a:t>
            </a:r>
            <a:r>
              <a:rPr lang="en-US" dirty="0"/>
              <a:t> static de </a:t>
            </a:r>
            <a:r>
              <a:rPr lang="en-US" dirty="0" err="1"/>
              <a:t>funcţionare</a:t>
            </a:r>
            <a:r>
              <a:rPr lang="en-US" dirty="0"/>
              <a:t> al </a:t>
            </a:r>
            <a:r>
              <a:rPr lang="en-US" dirty="0" err="1"/>
              <a:t>tranzistorului</a:t>
            </a:r>
            <a:r>
              <a:rPr lang="en-US" dirty="0"/>
              <a:t> se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defini</a:t>
            </a:r>
            <a:r>
              <a:rPr lang="en-US" dirty="0"/>
              <a:t> </a:t>
            </a:r>
            <a:r>
              <a:rPr lang="en-US" dirty="0" smtClean="0"/>
              <a:t>ca </a:t>
            </a:r>
            <a:r>
              <a:rPr lang="en-US" dirty="0" err="1" smtClean="0"/>
              <a:t>fiind</a:t>
            </a:r>
            <a:r>
              <a:rPr lang="en-US" dirty="0" smtClean="0"/>
              <a:t> </a:t>
            </a:r>
            <a:r>
              <a:rPr lang="en-US" dirty="0" err="1"/>
              <a:t>intersecţia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dreapta</a:t>
            </a:r>
            <a:r>
              <a:rPr lang="en-US" dirty="0"/>
              <a:t> de </a:t>
            </a:r>
            <a:r>
              <a:rPr lang="en-US" dirty="0" err="1"/>
              <a:t>sarcină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curent</a:t>
            </a:r>
            <a:r>
              <a:rPr lang="en-US" dirty="0"/>
              <a:t> </a:t>
            </a:r>
            <a:r>
              <a:rPr lang="en-US" dirty="0" err="1"/>
              <a:t>continuu</a:t>
            </a:r>
            <a:r>
              <a:rPr lang="en-US" dirty="0"/>
              <a:t> </a:t>
            </a:r>
            <a:r>
              <a:rPr lang="en-US" dirty="0" err="1" smtClean="0"/>
              <a:t>şi</a:t>
            </a:r>
            <a:r>
              <a:rPr lang="en-US" dirty="0" smtClean="0"/>
              <a:t>  </a:t>
            </a:r>
            <a:r>
              <a:rPr lang="en-US" dirty="0" err="1" smtClean="0"/>
              <a:t>caracteristica</a:t>
            </a:r>
            <a:r>
              <a:rPr lang="en-US" dirty="0" smtClean="0"/>
              <a:t> </a:t>
            </a:r>
            <a:r>
              <a:rPr lang="en-US" dirty="0"/>
              <a:t>de </a:t>
            </a:r>
            <a:r>
              <a:rPr lang="en-US" dirty="0" err="1"/>
              <a:t>ieşire</a:t>
            </a:r>
            <a:r>
              <a:rPr lang="en-US" dirty="0"/>
              <a:t> </a:t>
            </a:r>
            <a:r>
              <a:rPr lang="en-US" dirty="0" err="1"/>
              <a:t>corespunzătoare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curent</a:t>
            </a:r>
            <a:r>
              <a:rPr lang="en-US" dirty="0"/>
              <a:t> de </a:t>
            </a:r>
            <a:r>
              <a:rPr lang="en-US" dirty="0" err="1"/>
              <a:t>bază</a:t>
            </a:r>
            <a:r>
              <a:rPr lang="en-US" dirty="0"/>
              <a:t> </a:t>
            </a:r>
            <a:r>
              <a:rPr lang="en-US" dirty="0" err="1"/>
              <a:t>prestabilit</a:t>
            </a:r>
            <a:r>
              <a:rPr lang="en-US" dirty="0"/>
              <a:t>.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9150" y="2784270"/>
            <a:ext cx="5949872" cy="384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677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Stabilizarea</a:t>
            </a: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termică</a:t>
            </a: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punctului</a:t>
            </a: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static de </a:t>
            </a:r>
            <a:r>
              <a:rPr lang="en-US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funcţionare</a:t>
            </a: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220848"/>
            <a:ext cx="1176045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Conductibilitatea</a:t>
            </a:r>
            <a:r>
              <a:rPr lang="en-US" dirty="0"/>
              <a:t> </a:t>
            </a:r>
            <a:r>
              <a:rPr lang="en-US" dirty="0" err="1"/>
              <a:t>electrică</a:t>
            </a:r>
            <a:r>
              <a:rPr lang="en-US" dirty="0"/>
              <a:t> a </a:t>
            </a:r>
            <a:r>
              <a:rPr lang="en-US" dirty="0" err="1"/>
              <a:t>materialelor</a:t>
            </a:r>
            <a:r>
              <a:rPr lang="en-US" dirty="0"/>
              <a:t> </a:t>
            </a:r>
            <a:r>
              <a:rPr lang="en-US" dirty="0" err="1"/>
              <a:t>semiconductoare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 smtClean="0"/>
              <a:t>puternic</a:t>
            </a:r>
            <a:r>
              <a:rPr lang="en-US" dirty="0" smtClean="0"/>
              <a:t> </a:t>
            </a:r>
            <a:r>
              <a:rPr lang="en-US" dirty="0" err="1" smtClean="0"/>
              <a:t>dependentă</a:t>
            </a:r>
            <a:r>
              <a:rPr lang="en-US" dirty="0" smtClean="0"/>
              <a:t> </a:t>
            </a:r>
            <a:r>
              <a:rPr lang="en-US" dirty="0"/>
              <a:t>de </a:t>
            </a:r>
            <a:r>
              <a:rPr lang="en-US" dirty="0" err="1"/>
              <a:t>temperatura</a:t>
            </a:r>
            <a:r>
              <a:rPr lang="en-US" dirty="0"/>
              <a:t> </a:t>
            </a:r>
            <a:r>
              <a:rPr lang="en-US" dirty="0" err="1"/>
              <a:t>mediului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care </a:t>
            </a:r>
            <a:r>
              <a:rPr lang="en-US" dirty="0" err="1"/>
              <a:t>acestea</a:t>
            </a:r>
            <a:r>
              <a:rPr lang="en-US" dirty="0"/>
              <a:t> </a:t>
            </a:r>
            <a:r>
              <a:rPr lang="en-US" dirty="0" err="1"/>
              <a:t>lucrează</a:t>
            </a:r>
            <a:r>
              <a:rPr lang="en-US" dirty="0"/>
              <a:t>. O </a:t>
            </a:r>
            <a:r>
              <a:rPr lang="en-US" dirty="0" err="1"/>
              <a:t>variaţie</a:t>
            </a:r>
            <a:r>
              <a:rPr lang="en-US" dirty="0"/>
              <a:t> </a:t>
            </a:r>
            <a:r>
              <a:rPr lang="en-US" dirty="0" smtClean="0"/>
              <a:t>de </a:t>
            </a:r>
            <a:r>
              <a:rPr lang="en-US" dirty="0" err="1" smtClean="0"/>
              <a:t>temperatură</a:t>
            </a:r>
            <a:r>
              <a:rPr lang="en-US" dirty="0" smtClean="0"/>
              <a:t> </a:t>
            </a:r>
            <a:r>
              <a:rPr lang="en-US" dirty="0" err="1"/>
              <a:t>determină</a:t>
            </a:r>
            <a:r>
              <a:rPr lang="en-US" dirty="0"/>
              <a:t> o </a:t>
            </a:r>
            <a:r>
              <a:rPr lang="en-US" dirty="0" err="1"/>
              <a:t>variaţie</a:t>
            </a:r>
            <a:r>
              <a:rPr lang="en-US" dirty="0"/>
              <a:t> </a:t>
            </a:r>
            <a:r>
              <a:rPr lang="en-US" dirty="0" err="1"/>
              <a:t>relativă</a:t>
            </a:r>
            <a:r>
              <a:rPr lang="en-US" dirty="0"/>
              <a:t> </a:t>
            </a:r>
            <a:r>
              <a:rPr lang="en-US" dirty="0" err="1"/>
              <a:t>mult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mare a </a:t>
            </a:r>
            <a:r>
              <a:rPr lang="en-US" dirty="0" err="1"/>
              <a:t>densităţii</a:t>
            </a:r>
            <a:r>
              <a:rPr lang="en-US" dirty="0"/>
              <a:t> </a:t>
            </a:r>
            <a:r>
              <a:rPr lang="en-US" dirty="0" smtClean="0"/>
              <a:t>de </a:t>
            </a:r>
            <a:r>
              <a:rPr lang="en-US" dirty="0" err="1" smtClean="0"/>
              <a:t>purtători</a:t>
            </a:r>
            <a:r>
              <a:rPr lang="en-US" dirty="0" smtClean="0"/>
              <a:t> </a:t>
            </a:r>
            <a:r>
              <a:rPr lang="en-US" dirty="0" err="1"/>
              <a:t>minoritari</a:t>
            </a:r>
            <a:r>
              <a:rPr lang="en-US" dirty="0"/>
              <a:t> </a:t>
            </a:r>
            <a:r>
              <a:rPr lang="en-US" dirty="0" err="1"/>
              <a:t>decât</a:t>
            </a:r>
            <a:r>
              <a:rPr lang="en-US" dirty="0"/>
              <a:t> </a:t>
            </a:r>
            <a:r>
              <a:rPr lang="en-US" dirty="0" err="1"/>
              <a:t>variaţia</a:t>
            </a:r>
            <a:r>
              <a:rPr lang="en-US" dirty="0"/>
              <a:t> </a:t>
            </a:r>
            <a:r>
              <a:rPr lang="en-US" dirty="0" err="1"/>
              <a:t>relativă</a:t>
            </a:r>
            <a:r>
              <a:rPr lang="en-US" dirty="0"/>
              <a:t> a </a:t>
            </a:r>
            <a:r>
              <a:rPr lang="en-US" dirty="0" err="1"/>
              <a:t>densităţii</a:t>
            </a:r>
            <a:r>
              <a:rPr lang="en-US" dirty="0"/>
              <a:t> de </a:t>
            </a:r>
            <a:r>
              <a:rPr lang="en-US" dirty="0" err="1"/>
              <a:t>purtători</a:t>
            </a:r>
            <a:r>
              <a:rPr lang="en-US" dirty="0"/>
              <a:t> </a:t>
            </a:r>
            <a:r>
              <a:rPr lang="en-US" dirty="0" err="1"/>
              <a:t>majoritari</a:t>
            </a:r>
            <a:r>
              <a:rPr lang="en-US" dirty="0" smtClean="0"/>
              <a:t>. De </a:t>
            </a:r>
            <a:r>
              <a:rPr lang="en-US" dirty="0" err="1"/>
              <a:t>aceea</a:t>
            </a:r>
            <a:r>
              <a:rPr lang="en-US" dirty="0"/>
              <a:t>,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cazul</a:t>
            </a:r>
            <a:r>
              <a:rPr lang="en-US" dirty="0"/>
              <a:t> </a:t>
            </a:r>
            <a:r>
              <a:rPr lang="en-US" dirty="0" err="1"/>
              <a:t>tranzistorului</a:t>
            </a:r>
            <a:r>
              <a:rPr lang="en-US" dirty="0"/>
              <a:t> bipolar, o </a:t>
            </a:r>
            <a:r>
              <a:rPr lang="en-US" dirty="0" err="1"/>
              <a:t>creştere</a:t>
            </a:r>
            <a:r>
              <a:rPr lang="en-US" dirty="0"/>
              <a:t> a </a:t>
            </a:r>
            <a:r>
              <a:rPr lang="en-US" dirty="0" err="1"/>
              <a:t>temperaturii</a:t>
            </a:r>
            <a:r>
              <a:rPr lang="en-US" dirty="0"/>
              <a:t> </a:t>
            </a:r>
            <a:r>
              <a:rPr lang="en-US" dirty="0" err="1" smtClean="0"/>
              <a:t>va</a:t>
            </a:r>
            <a:r>
              <a:rPr lang="en-US" dirty="0" smtClean="0"/>
              <a:t> </a:t>
            </a:r>
            <a:r>
              <a:rPr lang="en-US" dirty="0" err="1" smtClean="0"/>
              <a:t>determina</a:t>
            </a:r>
            <a:r>
              <a:rPr lang="en-US" dirty="0" smtClean="0"/>
              <a:t> </a:t>
            </a:r>
            <a:r>
              <a:rPr lang="en-US" dirty="0"/>
              <a:t>o </a:t>
            </a:r>
            <a:r>
              <a:rPr lang="en-US" dirty="0" err="1"/>
              <a:t>creştere</a:t>
            </a:r>
            <a:r>
              <a:rPr lang="en-US" dirty="0"/>
              <a:t> </a:t>
            </a:r>
            <a:r>
              <a:rPr lang="en-US" dirty="0" err="1"/>
              <a:t>relativă</a:t>
            </a:r>
            <a:r>
              <a:rPr lang="en-US" dirty="0"/>
              <a:t> </a:t>
            </a:r>
            <a:r>
              <a:rPr lang="en-US" dirty="0" err="1"/>
              <a:t>semnificativă</a:t>
            </a:r>
            <a:r>
              <a:rPr lang="en-US" dirty="0"/>
              <a:t> a </a:t>
            </a:r>
            <a:r>
              <a:rPr lang="en-US" dirty="0" err="1">
                <a:solidFill>
                  <a:srgbClr val="FF0000"/>
                </a:solidFill>
              </a:rPr>
              <a:t>curentului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rezidual</a:t>
            </a:r>
            <a:r>
              <a:rPr lang="en-US" dirty="0">
                <a:solidFill>
                  <a:srgbClr val="FF0000"/>
                </a:solidFill>
              </a:rPr>
              <a:t> (</a:t>
            </a:r>
            <a:r>
              <a:rPr lang="en-US" dirty="0" err="1">
                <a:solidFill>
                  <a:srgbClr val="FF0000"/>
                </a:solidFill>
              </a:rPr>
              <a:t>curent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de </a:t>
            </a:r>
            <a:r>
              <a:rPr lang="en-US" dirty="0" err="1" smtClean="0">
                <a:solidFill>
                  <a:srgbClr val="FF0000"/>
                </a:solidFill>
              </a:rPr>
              <a:t>purtători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minoritari</a:t>
            </a:r>
            <a:r>
              <a:rPr lang="en-US" dirty="0">
                <a:solidFill>
                  <a:srgbClr val="FF0000"/>
                </a:solidFill>
              </a:rPr>
              <a:t>)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joncţiunea</a:t>
            </a:r>
            <a:r>
              <a:rPr lang="en-US" dirty="0"/>
              <a:t> </a:t>
            </a:r>
            <a:r>
              <a:rPr lang="en-US" dirty="0" err="1"/>
              <a:t>bază</a:t>
            </a:r>
            <a:r>
              <a:rPr lang="en-US" dirty="0"/>
              <a:t> </a:t>
            </a:r>
            <a:r>
              <a:rPr lang="en-US" dirty="0" err="1"/>
              <a:t>colector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baseline="-25000" dirty="0" err="1"/>
              <a:t>CBo</a:t>
            </a:r>
            <a:r>
              <a:rPr lang="en-US" dirty="0"/>
              <a:t>. </a:t>
            </a:r>
            <a:r>
              <a:rPr lang="en-US" dirty="0" err="1" smtClean="0"/>
              <a:t>Aceasta</a:t>
            </a:r>
            <a:r>
              <a:rPr lang="en-US" dirty="0" smtClean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determina</a:t>
            </a:r>
            <a:r>
              <a:rPr lang="en-US" dirty="0"/>
              <a:t> </a:t>
            </a:r>
            <a:r>
              <a:rPr lang="en-US" dirty="0" err="1"/>
              <a:t>creşterea</a:t>
            </a:r>
            <a:r>
              <a:rPr lang="en-US" dirty="0"/>
              <a:t> </a:t>
            </a:r>
            <a:r>
              <a:rPr lang="en-US" dirty="0" err="1"/>
              <a:t>curentului</a:t>
            </a:r>
            <a:r>
              <a:rPr lang="en-US" dirty="0"/>
              <a:t> de </a:t>
            </a:r>
            <a:r>
              <a:rPr lang="en-US" dirty="0" err="1"/>
              <a:t>colector</a:t>
            </a:r>
            <a:r>
              <a:rPr lang="en-US" dirty="0"/>
              <a:t> care, la </a:t>
            </a:r>
            <a:r>
              <a:rPr lang="en-US" dirty="0" err="1"/>
              <a:t>rândul</a:t>
            </a:r>
            <a:r>
              <a:rPr lang="en-US" dirty="0"/>
              <a:t> </a:t>
            </a:r>
            <a:r>
              <a:rPr lang="en-US" dirty="0" err="1" smtClean="0"/>
              <a:t>ei</a:t>
            </a:r>
            <a:r>
              <a:rPr lang="en-US" dirty="0" smtClean="0"/>
              <a:t> </a:t>
            </a:r>
            <a:r>
              <a:rPr lang="en-US" dirty="0" err="1" smtClean="0"/>
              <a:t>va</a:t>
            </a:r>
            <a:r>
              <a:rPr lang="en-US" dirty="0" smtClean="0"/>
              <a:t> </a:t>
            </a:r>
            <a:r>
              <a:rPr lang="en-US" dirty="0" err="1"/>
              <a:t>determina</a:t>
            </a:r>
            <a:r>
              <a:rPr lang="en-US" dirty="0"/>
              <a:t> o </a:t>
            </a:r>
            <a:r>
              <a:rPr lang="en-US" dirty="0" err="1"/>
              <a:t>creştere</a:t>
            </a:r>
            <a:r>
              <a:rPr lang="en-US" dirty="0"/>
              <a:t> </a:t>
            </a:r>
            <a:r>
              <a:rPr lang="en-US" dirty="0" err="1"/>
              <a:t>suplimentară</a:t>
            </a:r>
            <a:r>
              <a:rPr lang="en-US" dirty="0"/>
              <a:t> a </a:t>
            </a:r>
            <a:r>
              <a:rPr lang="en-US" dirty="0" err="1"/>
              <a:t>temperaturii</a:t>
            </a:r>
            <a:r>
              <a:rPr lang="en-US" dirty="0"/>
              <a:t> </a:t>
            </a:r>
            <a:r>
              <a:rPr lang="en-US" dirty="0" err="1"/>
              <a:t>joncţiunii</a:t>
            </a:r>
            <a:r>
              <a:rPr lang="en-US" dirty="0"/>
              <a:t>, </a:t>
            </a:r>
            <a:r>
              <a:rPr lang="en-US" dirty="0" err="1"/>
              <a:t>după</a:t>
            </a:r>
            <a:r>
              <a:rPr lang="en-US" dirty="0"/>
              <a:t> </a:t>
            </a:r>
            <a:r>
              <a:rPr lang="en-US" dirty="0" smtClean="0"/>
              <a:t>care </a:t>
            </a:r>
            <a:r>
              <a:rPr lang="en-US" dirty="0" err="1" smtClean="0"/>
              <a:t>fenomenul</a:t>
            </a:r>
            <a:r>
              <a:rPr lang="en-US" dirty="0" smtClean="0"/>
              <a:t> </a:t>
            </a:r>
            <a:r>
              <a:rPr lang="en-US" dirty="0"/>
              <a:t>se </a:t>
            </a:r>
            <a:r>
              <a:rPr lang="en-US" dirty="0" err="1"/>
              <a:t>repetă</a:t>
            </a:r>
            <a:r>
              <a:rPr lang="en-US" dirty="0"/>
              <a:t> ca o </a:t>
            </a:r>
            <a:r>
              <a:rPr lang="en-US" dirty="0" err="1"/>
              <a:t>reacţie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lanţ</a:t>
            </a:r>
            <a:r>
              <a:rPr lang="en-US" dirty="0"/>
              <a:t>, </a:t>
            </a:r>
            <a:r>
              <a:rPr lang="en-US" dirty="0" err="1"/>
              <a:t>rezultând</a:t>
            </a:r>
            <a:r>
              <a:rPr lang="en-US" dirty="0"/>
              <a:t> </a:t>
            </a:r>
            <a:r>
              <a:rPr lang="en-US" dirty="0" err="1"/>
              <a:t>fenomenul</a:t>
            </a:r>
            <a:r>
              <a:rPr lang="en-US" dirty="0"/>
              <a:t> de </a:t>
            </a:r>
            <a:r>
              <a:rPr lang="en-US" dirty="0" err="1" smtClean="0"/>
              <a:t>ambalare</a:t>
            </a:r>
            <a:r>
              <a:rPr lang="en-US" dirty="0" smtClean="0"/>
              <a:t> </a:t>
            </a:r>
            <a:r>
              <a:rPr lang="en-US" dirty="0" err="1" smtClean="0"/>
              <a:t>termică</a:t>
            </a:r>
            <a:r>
              <a:rPr lang="en-US" dirty="0"/>
              <a:t>. </a:t>
            </a:r>
            <a:r>
              <a:rPr lang="en-US" dirty="0" err="1"/>
              <a:t>Procesul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fi </a:t>
            </a:r>
            <a:r>
              <a:rPr lang="en-US" dirty="0" err="1"/>
              <a:t>sintetizat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următoarea</a:t>
            </a:r>
            <a:r>
              <a:rPr lang="en-US" dirty="0"/>
              <a:t> </a:t>
            </a:r>
            <a:r>
              <a:rPr lang="en-US" dirty="0" err="1"/>
              <a:t>diagramă</a:t>
            </a:r>
            <a:r>
              <a:rPr lang="en-US" dirty="0"/>
              <a:t>: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72" y="2252173"/>
            <a:ext cx="4686206" cy="367066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05624" y="2619239"/>
            <a:ext cx="1208637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stabilizarea</a:t>
            </a:r>
            <a:r>
              <a:rPr lang="en-US" dirty="0"/>
              <a:t> </a:t>
            </a:r>
            <a:r>
              <a:rPr lang="en-US" dirty="0" err="1"/>
              <a:t>termică</a:t>
            </a:r>
            <a:r>
              <a:rPr lang="en-US" dirty="0"/>
              <a:t> a </a:t>
            </a:r>
            <a:r>
              <a:rPr lang="en-US" dirty="0" err="1"/>
              <a:t>punctului</a:t>
            </a:r>
            <a:r>
              <a:rPr lang="en-US" dirty="0"/>
              <a:t> static de </a:t>
            </a:r>
            <a:r>
              <a:rPr lang="en-US" dirty="0" err="1"/>
              <a:t>funcţionare</a:t>
            </a:r>
            <a:r>
              <a:rPr lang="en-US" dirty="0"/>
              <a:t> </a:t>
            </a:r>
            <a:r>
              <a:rPr lang="en-US" dirty="0" err="1" smtClean="0"/>
              <a:t>prezenţa</a:t>
            </a:r>
            <a:r>
              <a:rPr lang="en-US" dirty="0" smtClean="0"/>
              <a:t> </a:t>
            </a:r>
            <a:r>
              <a:rPr lang="en-US" dirty="0" err="1" smtClean="0"/>
              <a:t>rezistenţelor</a:t>
            </a:r>
            <a:r>
              <a:rPr lang="en-US" dirty="0" smtClean="0"/>
              <a:t> </a:t>
            </a:r>
            <a:r>
              <a:rPr lang="en-US" dirty="0"/>
              <a:t>R</a:t>
            </a:r>
            <a:r>
              <a:rPr lang="en-US" baseline="-25000" dirty="0"/>
              <a:t>E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R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circuitul</a:t>
            </a:r>
            <a:r>
              <a:rPr lang="en-US" dirty="0"/>
              <a:t> de </a:t>
            </a:r>
            <a:r>
              <a:rPr lang="en-US" dirty="0" err="1"/>
              <a:t>polarizare</a:t>
            </a:r>
            <a:r>
              <a:rPr lang="en-US" dirty="0"/>
              <a:t> </a:t>
            </a:r>
            <a:r>
              <a:rPr lang="en-US" dirty="0" smtClean="0"/>
              <a:t>a </a:t>
            </a:r>
            <a:r>
              <a:rPr lang="en-US" dirty="0" err="1" smtClean="0"/>
              <a:t>tranzistorului</a:t>
            </a:r>
            <a:r>
              <a:rPr lang="en-US" dirty="0" smtClean="0"/>
              <a:t> </a:t>
            </a:r>
            <a:r>
              <a:rPr lang="en-US" dirty="0" err="1" smtClean="0"/>
              <a:t>este</a:t>
            </a:r>
            <a:r>
              <a:rPr lang="en-US" dirty="0" smtClean="0"/>
              <a:t> </a:t>
            </a:r>
            <a:r>
              <a:rPr lang="en-US" dirty="0" err="1" smtClean="0"/>
              <a:t>obligatorie</a:t>
            </a:r>
            <a:r>
              <a:rPr lang="en-US" dirty="0"/>
              <a:t>. </a:t>
            </a:r>
            <a:r>
              <a:rPr lang="en-US" dirty="0" err="1" smtClean="0"/>
              <a:t>Prezenţa</a:t>
            </a:r>
            <a:r>
              <a:rPr lang="en-US" dirty="0" smtClean="0"/>
              <a:t> </a:t>
            </a:r>
            <a:r>
              <a:rPr lang="en-US" dirty="0" err="1"/>
              <a:t>divizorului</a:t>
            </a:r>
            <a:r>
              <a:rPr lang="en-US" dirty="0"/>
              <a:t> de </a:t>
            </a:r>
            <a:r>
              <a:rPr lang="en-US" dirty="0" err="1"/>
              <a:t>tensiune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tranzistorului</a:t>
            </a:r>
            <a:r>
              <a:rPr lang="en-US" dirty="0"/>
              <a:t> </a:t>
            </a:r>
            <a:r>
              <a:rPr lang="en-US" dirty="0" err="1"/>
              <a:t>asigură</a:t>
            </a:r>
            <a:r>
              <a:rPr lang="en-US" dirty="0"/>
              <a:t> </a:t>
            </a:r>
            <a:r>
              <a:rPr lang="en-US" dirty="0" smtClean="0"/>
              <a:t>un  </a:t>
            </a:r>
            <a:r>
              <a:rPr lang="en-US" dirty="0" err="1" smtClean="0"/>
              <a:t>potenţial</a:t>
            </a:r>
            <a:r>
              <a:rPr lang="en-US" dirty="0" smtClean="0"/>
              <a:t> </a:t>
            </a:r>
            <a:r>
              <a:rPr lang="en-US" dirty="0" err="1"/>
              <a:t>relativ</a:t>
            </a:r>
            <a:r>
              <a:rPr lang="en-US" dirty="0"/>
              <a:t> constant al </a:t>
            </a:r>
            <a:r>
              <a:rPr lang="en-US" dirty="0" err="1"/>
              <a:t>bazei</a:t>
            </a:r>
            <a:r>
              <a:rPr lang="en-US" dirty="0"/>
              <a:t> </a:t>
            </a:r>
            <a:r>
              <a:rPr lang="en-US" dirty="0" err="1"/>
              <a:t>acestuia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raport</a:t>
            </a:r>
            <a:r>
              <a:rPr lang="en-US" dirty="0"/>
              <a:t> cu masa, </a:t>
            </a:r>
            <a:r>
              <a:rPr lang="en-US" dirty="0" err="1" smtClean="0"/>
              <a:t>rezistenţele</a:t>
            </a:r>
            <a:r>
              <a:rPr lang="en-US" dirty="0" smtClean="0"/>
              <a:t> </a:t>
            </a:r>
            <a:r>
              <a:rPr lang="en-US" dirty="0" err="1" smtClean="0"/>
              <a:t>fiind</a:t>
            </a:r>
            <a:r>
              <a:rPr lang="en-US" dirty="0" smtClean="0"/>
              <a:t> </a:t>
            </a:r>
            <a:r>
              <a:rPr lang="en-US" dirty="0" err="1"/>
              <a:t>mult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puţin</a:t>
            </a:r>
            <a:r>
              <a:rPr lang="en-US" dirty="0"/>
              <a:t> </a:t>
            </a:r>
            <a:r>
              <a:rPr lang="en-US" dirty="0" err="1"/>
              <a:t>sensibile</a:t>
            </a:r>
            <a:r>
              <a:rPr lang="en-US" dirty="0"/>
              <a:t> la </a:t>
            </a:r>
            <a:r>
              <a:rPr lang="en-US" dirty="0" err="1"/>
              <a:t>variaţiile</a:t>
            </a:r>
            <a:r>
              <a:rPr lang="en-US" dirty="0"/>
              <a:t> de </a:t>
            </a:r>
            <a:r>
              <a:rPr lang="en-US" dirty="0" err="1"/>
              <a:t>temperatură</a:t>
            </a:r>
            <a:r>
              <a:rPr lang="en-US" dirty="0"/>
              <a:t> </a:t>
            </a:r>
            <a:r>
              <a:rPr lang="en-US" dirty="0" err="1"/>
              <a:t>decât</a:t>
            </a:r>
            <a:endParaRPr lang="en-US" dirty="0"/>
          </a:p>
          <a:p>
            <a:r>
              <a:rPr lang="en-US" dirty="0" err="1"/>
              <a:t>semiconductorii</a:t>
            </a:r>
            <a:r>
              <a:rPr lang="en-US" dirty="0"/>
              <a:t>. </a:t>
            </a:r>
            <a:r>
              <a:rPr lang="en-US" dirty="0" err="1"/>
              <a:t>Neglijând</a:t>
            </a:r>
            <a:r>
              <a:rPr lang="en-US" dirty="0"/>
              <a:t> </a:t>
            </a:r>
            <a:r>
              <a:rPr lang="en-US" dirty="0" err="1"/>
              <a:t>contribuţia</a:t>
            </a:r>
            <a:r>
              <a:rPr lang="en-US" dirty="0"/>
              <a:t> </a:t>
            </a:r>
            <a:r>
              <a:rPr lang="en-US" dirty="0" err="1"/>
              <a:t>curentului</a:t>
            </a:r>
            <a:r>
              <a:rPr lang="en-US" dirty="0"/>
              <a:t> de </a:t>
            </a:r>
            <a:r>
              <a:rPr lang="en-US" dirty="0" err="1"/>
              <a:t>bază</a:t>
            </a:r>
            <a:r>
              <a:rPr lang="en-US" dirty="0"/>
              <a:t>, </a:t>
            </a:r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dirty="0" err="1"/>
              <a:t>avea</a:t>
            </a:r>
            <a:r>
              <a:rPr lang="en-US" dirty="0"/>
              <a:t> I</a:t>
            </a:r>
            <a:r>
              <a:rPr lang="en-US" baseline="-25000" dirty="0"/>
              <a:t>C</a:t>
            </a:r>
            <a:r>
              <a:rPr lang="en-US" dirty="0"/>
              <a:t> = I</a:t>
            </a:r>
            <a:r>
              <a:rPr lang="en-US" baseline="-25000" dirty="0"/>
              <a:t>E</a:t>
            </a:r>
            <a:r>
              <a:rPr lang="en-US" dirty="0" smtClean="0"/>
              <a:t>.  </a:t>
            </a:r>
            <a:r>
              <a:rPr lang="en-US" dirty="0" err="1" smtClean="0"/>
              <a:t>Aceasta</a:t>
            </a:r>
            <a:r>
              <a:rPr lang="en-US" dirty="0" smtClean="0"/>
              <a:t> </a:t>
            </a:r>
            <a:r>
              <a:rPr lang="en-US" dirty="0" err="1"/>
              <a:t>însemnă</a:t>
            </a:r>
            <a:r>
              <a:rPr lang="en-US" dirty="0"/>
              <a:t> </a:t>
            </a:r>
            <a:r>
              <a:rPr lang="en-US" dirty="0" err="1"/>
              <a:t>că</a:t>
            </a:r>
            <a:r>
              <a:rPr lang="en-US" dirty="0"/>
              <a:t> o </a:t>
            </a:r>
            <a:r>
              <a:rPr lang="en-US" dirty="0" err="1"/>
              <a:t>creştere</a:t>
            </a:r>
            <a:r>
              <a:rPr lang="en-US" dirty="0"/>
              <a:t> a </a:t>
            </a:r>
            <a:r>
              <a:rPr lang="en-US" dirty="0" err="1"/>
              <a:t>curentului</a:t>
            </a:r>
            <a:r>
              <a:rPr lang="en-US" dirty="0"/>
              <a:t> de </a:t>
            </a:r>
            <a:r>
              <a:rPr lang="en-US" dirty="0" err="1"/>
              <a:t>colector</a:t>
            </a:r>
            <a:r>
              <a:rPr lang="en-US" dirty="0"/>
              <a:t>, </a:t>
            </a:r>
            <a:r>
              <a:rPr lang="en-US" dirty="0" err="1"/>
              <a:t>datorată</a:t>
            </a:r>
            <a:r>
              <a:rPr lang="en-US" dirty="0"/>
              <a:t> </a:t>
            </a:r>
            <a:r>
              <a:rPr lang="en-US" dirty="0" err="1" smtClean="0"/>
              <a:t>creşterii</a:t>
            </a:r>
            <a:r>
              <a:rPr lang="en-US" dirty="0" smtClean="0"/>
              <a:t> </a:t>
            </a:r>
            <a:r>
              <a:rPr lang="en-US" dirty="0" err="1" smtClean="0"/>
              <a:t>temperaturii</a:t>
            </a:r>
            <a:r>
              <a:rPr lang="en-US" dirty="0"/>
              <a:t>,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determina</a:t>
            </a:r>
            <a:r>
              <a:rPr lang="en-US" dirty="0"/>
              <a:t> o </a:t>
            </a:r>
            <a:r>
              <a:rPr lang="en-US" dirty="0" err="1"/>
              <a:t>creştere</a:t>
            </a:r>
            <a:r>
              <a:rPr lang="en-US" dirty="0"/>
              <a:t> </a:t>
            </a:r>
            <a:r>
              <a:rPr lang="en-US" dirty="0" err="1"/>
              <a:t>asemănătoare</a:t>
            </a:r>
            <a:r>
              <a:rPr lang="en-US" dirty="0"/>
              <a:t> a </a:t>
            </a:r>
            <a:r>
              <a:rPr lang="en-US" dirty="0" err="1"/>
              <a:t>curentului</a:t>
            </a:r>
            <a:r>
              <a:rPr lang="en-US" dirty="0"/>
              <a:t> de </a:t>
            </a:r>
            <a:r>
              <a:rPr lang="en-US" dirty="0" err="1"/>
              <a:t>emitor</a:t>
            </a:r>
            <a:r>
              <a:rPr lang="en-US" dirty="0"/>
              <a:t> </a:t>
            </a:r>
            <a:r>
              <a:rPr lang="en-US" dirty="0" err="1" smtClean="0"/>
              <a:t>şi</a:t>
            </a:r>
            <a:r>
              <a:rPr lang="en-US" dirty="0" smtClean="0"/>
              <a:t> implicit </a:t>
            </a:r>
            <a:r>
              <a:rPr lang="en-US" dirty="0"/>
              <a:t>o </a:t>
            </a:r>
            <a:r>
              <a:rPr lang="en-US" dirty="0" err="1"/>
              <a:t>creştere</a:t>
            </a:r>
            <a:r>
              <a:rPr lang="en-US" dirty="0"/>
              <a:t> a </a:t>
            </a:r>
            <a:r>
              <a:rPr lang="en-US" dirty="0" err="1"/>
              <a:t>căderii</a:t>
            </a:r>
            <a:r>
              <a:rPr lang="en-US" dirty="0"/>
              <a:t> de </a:t>
            </a:r>
            <a:r>
              <a:rPr lang="en-US" dirty="0" err="1"/>
              <a:t>tensiune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rezistenţa</a:t>
            </a:r>
            <a:r>
              <a:rPr lang="en-US" dirty="0"/>
              <a:t> R</a:t>
            </a:r>
            <a:r>
              <a:rPr lang="en-US" baseline="-25000" dirty="0"/>
              <a:t>E</a:t>
            </a:r>
            <a:r>
              <a:rPr lang="en-US" dirty="0"/>
              <a:t>. </a:t>
            </a:r>
            <a:r>
              <a:rPr lang="en-US" dirty="0" err="1" smtClean="0"/>
              <a:t>Deoarece</a:t>
            </a:r>
            <a:r>
              <a:rPr lang="en-US" dirty="0" smtClean="0"/>
              <a:t> </a:t>
            </a:r>
            <a:r>
              <a:rPr lang="en-US" dirty="0" err="1" smtClean="0"/>
              <a:t>potenţialul</a:t>
            </a:r>
            <a:r>
              <a:rPr lang="en-US" dirty="0" smtClean="0"/>
              <a:t> </a:t>
            </a:r>
            <a:r>
              <a:rPr lang="en-US" dirty="0" err="1"/>
              <a:t>bazei</a:t>
            </a:r>
            <a:r>
              <a:rPr lang="en-US" dirty="0"/>
              <a:t> </a:t>
            </a:r>
            <a:r>
              <a:rPr lang="en-US" dirty="0" err="1"/>
              <a:t>faţă</a:t>
            </a:r>
            <a:r>
              <a:rPr lang="en-US" dirty="0"/>
              <a:t> de </a:t>
            </a:r>
            <a:r>
              <a:rPr lang="en-US" dirty="0" err="1"/>
              <a:t>masă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constant, </a:t>
            </a:r>
            <a:r>
              <a:rPr lang="en-US" dirty="0" err="1"/>
              <a:t>tensiunea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joncţiunea</a:t>
            </a:r>
            <a:r>
              <a:rPr lang="en-US" dirty="0"/>
              <a:t> </a:t>
            </a:r>
            <a:r>
              <a:rPr lang="en-US" dirty="0" err="1" smtClean="0"/>
              <a:t>emitor</a:t>
            </a:r>
            <a:r>
              <a:rPr lang="en-US" dirty="0" smtClean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trebui</a:t>
            </a:r>
            <a:r>
              <a:rPr lang="en-US" dirty="0"/>
              <a:t>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scadă</a:t>
            </a:r>
            <a:r>
              <a:rPr lang="en-US" dirty="0"/>
              <a:t>. </a:t>
            </a:r>
            <a:r>
              <a:rPr lang="en-US" dirty="0" err="1"/>
              <a:t>Scăderea</a:t>
            </a:r>
            <a:r>
              <a:rPr lang="en-US" dirty="0"/>
              <a:t> </a:t>
            </a:r>
            <a:r>
              <a:rPr lang="en-US" dirty="0" err="1"/>
              <a:t>lui</a:t>
            </a:r>
            <a:r>
              <a:rPr lang="en-US" dirty="0"/>
              <a:t> </a:t>
            </a:r>
            <a:r>
              <a:rPr lang="en-US" i="1" dirty="0"/>
              <a:t>U</a:t>
            </a:r>
            <a:r>
              <a:rPr lang="en-US" i="1" baseline="-25000" dirty="0"/>
              <a:t>BE</a:t>
            </a:r>
            <a:r>
              <a:rPr lang="en-US" i="1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determina</a:t>
            </a:r>
            <a:r>
              <a:rPr lang="en-US" dirty="0"/>
              <a:t> </a:t>
            </a:r>
            <a:r>
              <a:rPr lang="en-US" dirty="0" err="1"/>
              <a:t>scăderea</a:t>
            </a:r>
            <a:r>
              <a:rPr lang="en-US" dirty="0"/>
              <a:t> </a:t>
            </a:r>
            <a:r>
              <a:rPr lang="en-US" dirty="0" err="1"/>
              <a:t>curentului</a:t>
            </a:r>
            <a:r>
              <a:rPr lang="en-US" dirty="0"/>
              <a:t> </a:t>
            </a:r>
            <a:r>
              <a:rPr lang="en-US" dirty="0" smtClean="0"/>
              <a:t>de </a:t>
            </a:r>
            <a:r>
              <a:rPr lang="en-US" dirty="0" err="1" smtClean="0"/>
              <a:t>emitor</a:t>
            </a:r>
            <a:r>
              <a:rPr lang="en-US" dirty="0"/>
              <a:t>, </a:t>
            </a:r>
            <a:r>
              <a:rPr lang="en-US" dirty="0" err="1"/>
              <a:t>deci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a </a:t>
            </a:r>
            <a:r>
              <a:rPr lang="en-US" dirty="0" err="1"/>
              <a:t>celui</a:t>
            </a:r>
            <a:r>
              <a:rPr lang="en-US" dirty="0"/>
              <a:t> de </a:t>
            </a:r>
            <a:r>
              <a:rPr lang="en-US" dirty="0" err="1"/>
              <a:t>colector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fenomenul</a:t>
            </a:r>
            <a:r>
              <a:rPr lang="en-US" dirty="0"/>
              <a:t> se </a:t>
            </a:r>
            <a:r>
              <a:rPr lang="en-US" dirty="0" err="1"/>
              <a:t>atenuează</a:t>
            </a:r>
            <a:r>
              <a:rPr lang="en-US" dirty="0"/>
              <a:t>. </a:t>
            </a:r>
            <a:r>
              <a:rPr lang="en-US" dirty="0" err="1"/>
              <a:t>Procesul</a:t>
            </a:r>
            <a:r>
              <a:rPr lang="en-US" dirty="0"/>
              <a:t> </a:t>
            </a:r>
            <a:r>
              <a:rPr lang="en-US" dirty="0" err="1" smtClean="0"/>
              <a:t>poate</a:t>
            </a:r>
            <a:r>
              <a:rPr lang="en-US" dirty="0" smtClean="0"/>
              <a:t> fi </a:t>
            </a:r>
            <a:r>
              <a:rPr lang="en-US" dirty="0" err="1"/>
              <a:t>sintetizat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următoarea</a:t>
            </a:r>
            <a:r>
              <a:rPr lang="en-US" dirty="0"/>
              <a:t> </a:t>
            </a:r>
            <a:r>
              <a:rPr lang="en-US" dirty="0" err="1"/>
              <a:t>diagramă</a:t>
            </a:r>
            <a:r>
              <a:rPr lang="en-US" dirty="0"/>
              <a:t>: 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72" y="4871412"/>
            <a:ext cx="6306777" cy="35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534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61257" y="179614"/>
            <a:ext cx="11781064" cy="5997349"/>
          </a:xfrm>
        </p:spPr>
        <p:txBody>
          <a:bodyPr>
            <a:normAutofit/>
          </a:bodyPr>
          <a:lstStyle/>
          <a:p>
            <a:r>
              <a:rPr lang="it-IT" b="1" dirty="0"/>
              <a:t>Reprezentarea circuitelor liniare prin parametri de </a:t>
            </a:r>
            <a:r>
              <a:rPr lang="it-IT" b="1" dirty="0" smtClean="0"/>
              <a:t>cuadripoli</a:t>
            </a:r>
          </a:p>
          <a:p>
            <a:pPr marL="0" indent="0">
              <a:buNone/>
            </a:pPr>
            <a:r>
              <a:rPr lang="en-US" sz="2000" dirty="0" err="1" smtClean="0"/>
              <a:t>metoda</a:t>
            </a:r>
            <a:r>
              <a:rPr lang="en-US" sz="2000" dirty="0" smtClean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folosită</a:t>
            </a:r>
            <a:r>
              <a:rPr lang="en-US" sz="2000" dirty="0"/>
              <a:t> </a:t>
            </a:r>
            <a:r>
              <a:rPr lang="en-US" sz="2000" dirty="0" err="1"/>
              <a:t>în</a:t>
            </a:r>
            <a:r>
              <a:rPr lang="en-US" sz="2000" dirty="0"/>
              <a:t> </a:t>
            </a:r>
            <a:r>
              <a:rPr lang="en-US" sz="2000" dirty="0" err="1"/>
              <a:t>teoria</a:t>
            </a:r>
            <a:r>
              <a:rPr lang="en-US" sz="2000" dirty="0"/>
              <a:t> </a:t>
            </a:r>
            <a:r>
              <a:rPr lang="en-US" sz="2000" dirty="0" err="1"/>
              <a:t>circuitelor</a:t>
            </a:r>
            <a:r>
              <a:rPr lang="en-US" sz="2000" dirty="0"/>
              <a:t> </a:t>
            </a:r>
            <a:r>
              <a:rPr lang="en-US" sz="2000" dirty="0" err="1"/>
              <a:t>liniare</a:t>
            </a:r>
            <a:r>
              <a:rPr lang="en-US" sz="2000" dirty="0"/>
              <a:t>, </a:t>
            </a:r>
            <a:r>
              <a:rPr lang="en-US" sz="2000" dirty="0" err="1"/>
              <a:t>pentru</a:t>
            </a:r>
            <a:r>
              <a:rPr lang="en-US" sz="2000" dirty="0"/>
              <a:t> </a:t>
            </a:r>
            <a:r>
              <a:rPr lang="en-US" sz="2000" dirty="0" err="1"/>
              <a:t>simplificarea</a:t>
            </a:r>
            <a:r>
              <a:rPr lang="en-US" sz="2000" dirty="0"/>
              <a:t> </a:t>
            </a:r>
            <a:r>
              <a:rPr lang="en-US" sz="2000" dirty="0" err="1"/>
              <a:t>calculelor</a:t>
            </a:r>
            <a:r>
              <a:rPr lang="en-US" sz="2000" dirty="0"/>
              <a:t> </a:t>
            </a:r>
            <a:r>
              <a:rPr lang="en-US" sz="2000" dirty="0" err="1"/>
              <a:t>unui</a:t>
            </a:r>
            <a:r>
              <a:rPr lang="en-US" sz="2000" dirty="0"/>
              <a:t> </a:t>
            </a:r>
            <a:r>
              <a:rPr lang="en-US" sz="2000" dirty="0" smtClean="0"/>
              <a:t>circuit complex</a:t>
            </a:r>
            <a:r>
              <a:rPr lang="en-US" sz="2000" dirty="0"/>
              <a:t>, </a:t>
            </a:r>
            <a:r>
              <a:rPr lang="en-US" sz="2000" dirty="0" err="1"/>
              <a:t>atunci</a:t>
            </a:r>
            <a:r>
              <a:rPr lang="en-US" sz="2000" dirty="0"/>
              <a:t> </a:t>
            </a:r>
            <a:r>
              <a:rPr lang="en-US" sz="2000" dirty="0" err="1"/>
              <a:t>cînd</a:t>
            </a:r>
            <a:r>
              <a:rPr lang="en-US" sz="2000" dirty="0"/>
              <a:t> </a:t>
            </a:r>
            <a:r>
              <a:rPr lang="en-US" sz="2000" dirty="0" err="1"/>
              <a:t>sînt</a:t>
            </a:r>
            <a:r>
              <a:rPr lang="en-US" sz="2000" dirty="0"/>
              <a:t> </a:t>
            </a:r>
            <a:r>
              <a:rPr lang="en-US" sz="2000" dirty="0" err="1"/>
              <a:t>cunoscute</a:t>
            </a:r>
            <a:r>
              <a:rPr lang="en-US" sz="2000" dirty="0"/>
              <a:t> </a:t>
            </a:r>
            <a:r>
              <a:rPr lang="en-US" sz="2000" dirty="0" err="1"/>
              <a:t>modele</a:t>
            </a:r>
            <a:r>
              <a:rPr lang="en-US" sz="2000" dirty="0"/>
              <a:t> ale </a:t>
            </a:r>
            <a:r>
              <a:rPr lang="en-US" sz="2000" dirty="0" err="1"/>
              <a:t>părţilor</a:t>
            </a:r>
            <a:r>
              <a:rPr lang="en-US" sz="2000" dirty="0"/>
              <a:t> sale, </a:t>
            </a:r>
            <a:r>
              <a:rPr lang="en-US" sz="2000" dirty="0" err="1"/>
              <a:t>iar</a:t>
            </a:r>
            <a:r>
              <a:rPr lang="en-US" sz="2000" dirty="0"/>
              <a:t> </a:t>
            </a:r>
            <a:r>
              <a:rPr lang="en-US" sz="2000" dirty="0" err="1"/>
              <a:t>mărimile</a:t>
            </a:r>
            <a:r>
              <a:rPr lang="en-US" sz="2000" dirty="0"/>
              <a:t> interne ale </a:t>
            </a:r>
            <a:r>
              <a:rPr lang="en-US" sz="2000" dirty="0" err="1"/>
              <a:t>acestor</a:t>
            </a:r>
            <a:r>
              <a:rPr lang="en-US" sz="2000" dirty="0"/>
              <a:t> </a:t>
            </a:r>
            <a:r>
              <a:rPr lang="en-US" sz="2000" dirty="0" err="1" smtClean="0"/>
              <a:t>părţi</a:t>
            </a:r>
            <a:r>
              <a:rPr lang="en-US" sz="2000" dirty="0" smtClean="0"/>
              <a:t> nu </a:t>
            </a:r>
            <a:r>
              <a:rPr lang="en-US" sz="2000" dirty="0" err="1"/>
              <a:t>interesează</a:t>
            </a:r>
            <a:r>
              <a:rPr lang="en-US" sz="2000" dirty="0"/>
              <a:t> </a:t>
            </a:r>
            <a:r>
              <a:rPr lang="en-US" sz="2000" dirty="0" err="1"/>
              <a:t>în</a:t>
            </a:r>
            <a:r>
              <a:rPr lang="en-US" sz="2000" dirty="0"/>
              <a:t> </a:t>
            </a:r>
            <a:r>
              <a:rPr lang="en-US" sz="2000" dirty="0" err="1"/>
              <a:t>calculele</a:t>
            </a:r>
            <a:r>
              <a:rPr lang="en-US" sz="2000" dirty="0"/>
              <a:t> </a:t>
            </a:r>
            <a:r>
              <a:rPr lang="en-US" sz="2000" dirty="0" err="1"/>
              <a:t>ulterioare</a:t>
            </a:r>
            <a:r>
              <a:rPr lang="en-US" sz="2000" dirty="0"/>
              <a:t>. </a:t>
            </a:r>
            <a:r>
              <a:rPr lang="en-US" sz="2000" dirty="0" err="1"/>
              <a:t>Circuitul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văzut</a:t>
            </a:r>
            <a:r>
              <a:rPr lang="en-US" sz="2000" dirty="0"/>
              <a:t> ca o cutie </a:t>
            </a:r>
            <a:r>
              <a:rPr lang="en-US" sz="2000" dirty="0" err="1"/>
              <a:t>neagră</a:t>
            </a:r>
            <a:r>
              <a:rPr lang="en-US" sz="2000" dirty="0"/>
              <a:t>, al </a:t>
            </a:r>
            <a:r>
              <a:rPr lang="en-US" sz="2000" dirty="0" err="1"/>
              <a:t>cărei</a:t>
            </a:r>
            <a:r>
              <a:rPr lang="en-US" sz="2000" dirty="0"/>
              <a:t> model </a:t>
            </a:r>
            <a:r>
              <a:rPr lang="en-US" sz="2000" dirty="0" err="1" smtClean="0"/>
              <a:t>foloseşte</a:t>
            </a:r>
            <a:r>
              <a:rPr lang="en-US" sz="2000" dirty="0" smtClean="0"/>
              <a:t> </a:t>
            </a:r>
            <a:r>
              <a:rPr lang="en-US" sz="2000" dirty="0" err="1" smtClean="0"/>
              <a:t>numai</a:t>
            </a:r>
            <a:r>
              <a:rPr lang="en-US" sz="2000" dirty="0" smtClean="0"/>
              <a:t> </a:t>
            </a:r>
            <a:r>
              <a:rPr lang="en-US" sz="2000" dirty="0" err="1"/>
              <a:t>mărimile</a:t>
            </a:r>
            <a:r>
              <a:rPr lang="en-US" sz="2000" dirty="0"/>
              <a:t> </a:t>
            </a:r>
            <a:r>
              <a:rPr lang="en-US" sz="2000" dirty="0" err="1"/>
              <a:t>măsurabile</a:t>
            </a:r>
            <a:r>
              <a:rPr lang="en-US" sz="2000" dirty="0"/>
              <a:t> la borne. </a:t>
            </a:r>
            <a:r>
              <a:rPr lang="en-US" sz="2000" dirty="0" err="1"/>
              <a:t>Această</a:t>
            </a:r>
            <a:r>
              <a:rPr lang="en-US" sz="2000" dirty="0"/>
              <a:t> </a:t>
            </a:r>
            <a:r>
              <a:rPr lang="en-US" sz="2000" dirty="0" err="1"/>
              <a:t>abordare</a:t>
            </a:r>
            <a:r>
              <a:rPr lang="en-US" sz="2000" dirty="0"/>
              <a:t> are </a:t>
            </a:r>
            <a:r>
              <a:rPr lang="en-US" sz="2000" dirty="0" err="1"/>
              <a:t>două</a:t>
            </a:r>
            <a:r>
              <a:rPr lang="en-US" sz="2000" dirty="0"/>
              <a:t> </a:t>
            </a:r>
            <a:r>
              <a:rPr lang="en-US" sz="2000" dirty="0" err="1"/>
              <a:t>avantaje</a:t>
            </a:r>
            <a:r>
              <a:rPr lang="en-US" sz="2000" dirty="0"/>
              <a:t>:</a:t>
            </a:r>
            <a:br>
              <a:rPr lang="en-US" sz="2000" dirty="0"/>
            </a:br>
            <a:r>
              <a:rPr lang="en-US" sz="2000" dirty="0"/>
              <a:t>- </a:t>
            </a:r>
            <a:r>
              <a:rPr lang="en-US" sz="2000" dirty="0" err="1"/>
              <a:t>modelul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simplu</a:t>
            </a:r>
            <a:r>
              <a:rPr lang="en-US" sz="2000" dirty="0"/>
              <a:t>, </a:t>
            </a:r>
            <a:r>
              <a:rPr lang="en-US" sz="2000" dirty="0" err="1"/>
              <a:t>ceea</a:t>
            </a:r>
            <a:r>
              <a:rPr lang="en-US" sz="2000" dirty="0"/>
              <a:t> </a:t>
            </a:r>
            <a:r>
              <a:rPr lang="en-US" sz="2000" dirty="0" err="1"/>
              <a:t>ce</a:t>
            </a:r>
            <a:r>
              <a:rPr lang="en-US" sz="2000" dirty="0"/>
              <a:t> reduce </a:t>
            </a:r>
            <a:r>
              <a:rPr lang="en-US" sz="2000" dirty="0" err="1"/>
              <a:t>calculele</a:t>
            </a:r>
            <a:r>
              <a:rPr lang="en-US" sz="2000" dirty="0"/>
              <a:t> </a:t>
            </a:r>
            <a:r>
              <a:rPr lang="en-US" sz="2000" dirty="0" err="1"/>
              <a:t>atunci</a:t>
            </a:r>
            <a:r>
              <a:rPr lang="en-US" sz="2000" dirty="0"/>
              <a:t> </a:t>
            </a:r>
            <a:r>
              <a:rPr lang="en-US" sz="2000" dirty="0" err="1"/>
              <a:t>cînd</a:t>
            </a:r>
            <a:r>
              <a:rPr lang="en-US" sz="2000" dirty="0"/>
              <a:t> el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folosit</a:t>
            </a:r>
            <a:r>
              <a:rPr lang="en-US" sz="2000" dirty="0"/>
              <a:t> </a:t>
            </a:r>
            <a:r>
              <a:rPr lang="en-US" sz="2000" dirty="0" err="1"/>
              <a:t>în</a:t>
            </a:r>
            <a:r>
              <a:rPr lang="en-US" sz="2000" dirty="0"/>
              <a:t> </a:t>
            </a:r>
            <a:r>
              <a:rPr lang="en-US" sz="2000" dirty="0" err="1"/>
              <a:t>modelarea</a:t>
            </a:r>
            <a:r>
              <a:rPr lang="en-US" sz="2000" dirty="0"/>
              <a:t> </a:t>
            </a:r>
            <a:r>
              <a:rPr lang="en-US" sz="2000" dirty="0" err="1" smtClean="0"/>
              <a:t>unui</a:t>
            </a:r>
            <a:r>
              <a:rPr lang="en-US" sz="2000" dirty="0" smtClean="0"/>
              <a:t> circuit </a:t>
            </a:r>
            <a:r>
              <a:rPr lang="en-US" sz="2000" dirty="0" err="1"/>
              <a:t>mai</a:t>
            </a:r>
            <a:r>
              <a:rPr lang="en-US" sz="2000" dirty="0"/>
              <a:t> </a:t>
            </a:r>
            <a:r>
              <a:rPr lang="en-US" sz="2000" dirty="0" err="1"/>
              <a:t>cuprinzător</a:t>
            </a:r>
            <a:r>
              <a:rPr lang="en-US" sz="2000" dirty="0"/>
              <a:t> (</a:t>
            </a:r>
            <a:r>
              <a:rPr lang="en-US" sz="2000" dirty="0" err="1"/>
              <a:t>spre</a:t>
            </a:r>
            <a:r>
              <a:rPr lang="en-US" sz="2000" dirty="0"/>
              <a:t> </a:t>
            </a:r>
            <a:r>
              <a:rPr lang="en-US" sz="2000" dirty="0" err="1"/>
              <a:t>exemplu</a:t>
            </a:r>
            <a:r>
              <a:rPr lang="en-US" sz="2000" dirty="0"/>
              <a:t>, </a:t>
            </a:r>
            <a:r>
              <a:rPr lang="en-US" sz="2000" dirty="0" err="1"/>
              <a:t>atunci</a:t>
            </a:r>
            <a:r>
              <a:rPr lang="en-US" sz="2000" dirty="0"/>
              <a:t> </a:t>
            </a:r>
            <a:r>
              <a:rPr lang="en-US" sz="2000" dirty="0" err="1"/>
              <a:t>cînd</a:t>
            </a:r>
            <a:r>
              <a:rPr lang="en-US" sz="2000" dirty="0"/>
              <a:t> </a:t>
            </a:r>
            <a:r>
              <a:rPr lang="en-US" sz="2000" dirty="0" err="1"/>
              <a:t>mai</a:t>
            </a:r>
            <a:r>
              <a:rPr lang="en-US" sz="2000" dirty="0"/>
              <a:t> </a:t>
            </a:r>
            <a:r>
              <a:rPr lang="en-US" sz="2000" dirty="0" err="1"/>
              <a:t>multe</a:t>
            </a:r>
            <a:r>
              <a:rPr lang="en-US" sz="2000" dirty="0"/>
              <a:t> </a:t>
            </a:r>
            <a:r>
              <a:rPr lang="en-US" sz="2000" dirty="0" err="1"/>
              <a:t>circuite</a:t>
            </a:r>
            <a:r>
              <a:rPr lang="en-US" sz="2000" dirty="0"/>
              <a:t> </a:t>
            </a:r>
            <a:r>
              <a:rPr lang="en-US" sz="2000" dirty="0" err="1"/>
              <a:t>sînt</a:t>
            </a:r>
            <a:r>
              <a:rPr lang="en-US" sz="2000" dirty="0"/>
              <a:t> </a:t>
            </a:r>
            <a:r>
              <a:rPr lang="en-US" sz="2000" dirty="0" err="1"/>
              <a:t>conectate</a:t>
            </a:r>
            <a:r>
              <a:rPr lang="en-US" sz="2000" dirty="0"/>
              <a:t> </a:t>
            </a:r>
            <a:r>
              <a:rPr lang="en-US" sz="2000" dirty="0" err="1"/>
              <a:t>în</a:t>
            </a:r>
            <a:r>
              <a:rPr lang="en-US" sz="2000" dirty="0"/>
              <a:t> </a:t>
            </a:r>
            <a:r>
              <a:rPr lang="en-US" sz="2000" dirty="0" err="1"/>
              <a:t>cascadă</a:t>
            </a:r>
            <a:r>
              <a:rPr lang="en-US" sz="2000" dirty="0"/>
              <a:t>);</a:t>
            </a:r>
            <a:br>
              <a:rPr lang="en-US" sz="2000" dirty="0"/>
            </a:br>
            <a:r>
              <a:rPr lang="en-US" sz="2000" dirty="0"/>
              <a:t>- </a:t>
            </a:r>
            <a:r>
              <a:rPr lang="en-US" sz="2000" dirty="0" err="1"/>
              <a:t>modelul</a:t>
            </a:r>
            <a:r>
              <a:rPr lang="en-US" sz="2000" dirty="0"/>
              <a:t> </a:t>
            </a:r>
            <a:r>
              <a:rPr lang="en-US" sz="2000" dirty="0" err="1"/>
              <a:t>poate</a:t>
            </a:r>
            <a:r>
              <a:rPr lang="en-US" sz="2000" dirty="0"/>
              <a:t> fi </a:t>
            </a:r>
            <a:r>
              <a:rPr lang="en-US" sz="2000" dirty="0" err="1"/>
              <a:t>dedus</a:t>
            </a:r>
            <a:r>
              <a:rPr lang="en-US" sz="2000" dirty="0"/>
              <a:t> experimental, </a:t>
            </a:r>
            <a:r>
              <a:rPr lang="en-US" sz="2000" dirty="0" err="1"/>
              <a:t>simplu</a:t>
            </a:r>
            <a:r>
              <a:rPr lang="en-US" sz="2000" dirty="0"/>
              <a:t>, </a:t>
            </a:r>
            <a:r>
              <a:rPr lang="en-US" sz="2000" dirty="0" err="1"/>
              <a:t>pe</a:t>
            </a:r>
            <a:r>
              <a:rPr lang="en-US" sz="2000" dirty="0"/>
              <a:t> </a:t>
            </a:r>
            <a:r>
              <a:rPr lang="en-US" sz="2000" dirty="0" err="1"/>
              <a:t>baza</a:t>
            </a:r>
            <a:r>
              <a:rPr lang="en-US" sz="2000" dirty="0"/>
              <a:t> </a:t>
            </a:r>
            <a:r>
              <a:rPr lang="en-US" sz="2000" dirty="0" err="1"/>
              <a:t>mărimilor</a:t>
            </a:r>
            <a:r>
              <a:rPr lang="en-US" sz="2000" dirty="0"/>
              <a:t> </a:t>
            </a:r>
            <a:r>
              <a:rPr lang="en-US" sz="2000" dirty="0" err="1"/>
              <a:t>măsurate</a:t>
            </a:r>
            <a:r>
              <a:rPr lang="en-US" sz="2000" dirty="0"/>
              <a:t> la borne</a:t>
            </a:r>
            <a:r>
              <a:rPr lang="en-US" sz="2000" dirty="0" smtClean="0"/>
              <a:t>. </a:t>
            </a:r>
            <a:br>
              <a:rPr lang="en-US" sz="2000" dirty="0" smtClean="0"/>
            </a:br>
            <a:r>
              <a:rPr lang="en-US" sz="2000" dirty="0" err="1" smtClean="0"/>
              <a:t>Circuitul</a:t>
            </a:r>
            <a:r>
              <a:rPr lang="en-US" sz="2000" dirty="0" smtClean="0"/>
              <a:t> </a:t>
            </a:r>
            <a:r>
              <a:rPr lang="en-US" sz="2000" dirty="0"/>
              <a:t>cu </a:t>
            </a:r>
            <a:r>
              <a:rPr lang="en-US" sz="2000" dirty="0" err="1"/>
              <a:t>patru</a:t>
            </a:r>
            <a:r>
              <a:rPr lang="en-US" sz="2000" dirty="0"/>
              <a:t> borne </a:t>
            </a:r>
            <a:r>
              <a:rPr lang="en-US" sz="2000" dirty="0" err="1"/>
              <a:t>exterioare</a:t>
            </a:r>
            <a:r>
              <a:rPr lang="en-US" sz="2000" dirty="0"/>
              <a:t> se </a:t>
            </a:r>
            <a:r>
              <a:rPr lang="en-US" sz="2000" dirty="0" err="1"/>
              <a:t>numeşte</a:t>
            </a:r>
            <a:r>
              <a:rPr lang="en-US" sz="2000" dirty="0"/>
              <a:t> </a:t>
            </a:r>
            <a:r>
              <a:rPr lang="en-US" sz="2000" dirty="0" err="1"/>
              <a:t>cuadripol</a:t>
            </a:r>
            <a:r>
              <a:rPr lang="en-US" sz="2000" dirty="0"/>
              <a:t>. De </a:t>
            </a:r>
            <a:r>
              <a:rPr lang="en-US" sz="2000" dirty="0" err="1"/>
              <a:t>regulă</a:t>
            </a:r>
            <a:r>
              <a:rPr lang="en-US" sz="2000" dirty="0"/>
              <a:t>, el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văzut</a:t>
            </a:r>
            <a:r>
              <a:rPr lang="en-US" sz="2000" dirty="0"/>
              <a:t> ca un </a:t>
            </a:r>
            <a:r>
              <a:rPr lang="en-US" sz="2000" dirty="0" err="1"/>
              <a:t>diport</a:t>
            </a:r>
            <a:r>
              <a:rPr lang="en-US" sz="2000" dirty="0"/>
              <a:t>, </a:t>
            </a:r>
            <a:r>
              <a:rPr lang="en-US" sz="2000" dirty="0" err="1" smtClean="0"/>
              <a:t>adică</a:t>
            </a:r>
            <a:r>
              <a:rPr lang="en-US" sz="2000" dirty="0" smtClean="0"/>
              <a:t> un </a:t>
            </a:r>
            <a:r>
              <a:rPr lang="en-US" sz="2000" dirty="0"/>
              <a:t>circuit cu </a:t>
            </a:r>
            <a:r>
              <a:rPr lang="en-US" sz="2000" dirty="0" err="1"/>
              <a:t>două</a:t>
            </a:r>
            <a:r>
              <a:rPr lang="en-US" sz="2000" dirty="0"/>
              <a:t> </a:t>
            </a:r>
            <a:r>
              <a:rPr lang="en-US" sz="2000" dirty="0" err="1"/>
              <a:t>perechi</a:t>
            </a:r>
            <a:r>
              <a:rPr lang="en-US" sz="2000" dirty="0"/>
              <a:t> de borne (la </a:t>
            </a:r>
            <a:r>
              <a:rPr lang="en-US" sz="2000" dirty="0" err="1"/>
              <a:t>fiecare</a:t>
            </a:r>
            <a:r>
              <a:rPr lang="en-US" sz="2000" dirty="0"/>
              <a:t> </a:t>
            </a:r>
            <a:r>
              <a:rPr lang="en-US" sz="2000" dirty="0" err="1"/>
              <a:t>pereche</a:t>
            </a:r>
            <a:r>
              <a:rPr lang="en-US" sz="2000" dirty="0"/>
              <a:t>, </a:t>
            </a:r>
            <a:r>
              <a:rPr lang="en-US" sz="2000" dirty="0" err="1"/>
              <a:t>curentul</a:t>
            </a:r>
            <a:r>
              <a:rPr lang="en-US" sz="2000" dirty="0"/>
              <a:t> de </a:t>
            </a:r>
            <a:r>
              <a:rPr lang="en-US" sz="2000" dirty="0" err="1"/>
              <a:t>intrare</a:t>
            </a:r>
            <a:r>
              <a:rPr lang="en-US" sz="2000" dirty="0"/>
              <a:t> </a:t>
            </a:r>
            <a:r>
              <a:rPr lang="en-US" sz="2000" dirty="0" err="1"/>
              <a:t>printr</a:t>
            </a:r>
            <a:r>
              <a:rPr lang="en-US" sz="2000" dirty="0"/>
              <a:t>-o </a:t>
            </a:r>
            <a:r>
              <a:rPr lang="en-US" sz="2000" dirty="0" err="1"/>
              <a:t>bornă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 smtClean="0"/>
              <a:t>egal</a:t>
            </a:r>
            <a:r>
              <a:rPr lang="en-US" sz="2000" dirty="0" smtClean="0"/>
              <a:t> cu </a:t>
            </a:r>
            <a:r>
              <a:rPr lang="en-US" sz="2000" dirty="0" err="1"/>
              <a:t>cel</a:t>
            </a:r>
            <a:r>
              <a:rPr lang="en-US" sz="2000" dirty="0"/>
              <a:t> de </a:t>
            </a:r>
            <a:r>
              <a:rPr lang="en-US" sz="2000" dirty="0" err="1"/>
              <a:t>ieşire</a:t>
            </a:r>
            <a:r>
              <a:rPr lang="en-US" sz="2000" dirty="0"/>
              <a:t> </a:t>
            </a:r>
            <a:r>
              <a:rPr lang="en-US" sz="2000" dirty="0" err="1"/>
              <a:t>prin</a:t>
            </a:r>
            <a:r>
              <a:rPr lang="en-US" sz="2000" dirty="0"/>
              <a:t> </a:t>
            </a:r>
            <a:r>
              <a:rPr lang="en-US" sz="2000" dirty="0" err="1"/>
              <a:t>cealaltă</a:t>
            </a:r>
            <a:r>
              <a:rPr lang="en-US" sz="2000" dirty="0"/>
              <a:t> </a:t>
            </a:r>
            <a:r>
              <a:rPr lang="en-US" sz="2000" dirty="0" err="1"/>
              <a:t>bornă</a:t>
            </a:r>
            <a:r>
              <a:rPr lang="en-US" sz="2000" dirty="0"/>
              <a:t>). </a:t>
            </a:r>
            <a:r>
              <a:rPr lang="en-US" sz="2000" dirty="0" err="1"/>
              <a:t>Mărimile</a:t>
            </a:r>
            <a:r>
              <a:rPr lang="en-US" sz="2000" dirty="0"/>
              <a:t> </a:t>
            </a:r>
            <a:r>
              <a:rPr lang="en-US" sz="2000" dirty="0" err="1"/>
              <a:t>variabile</a:t>
            </a:r>
            <a:r>
              <a:rPr lang="en-US" sz="2000" dirty="0"/>
              <a:t> </a:t>
            </a:r>
            <a:r>
              <a:rPr lang="en-US" sz="2000" dirty="0" err="1"/>
              <a:t>sînt</a:t>
            </a:r>
            <a:r>
              <a:rPr lang="en-US" sz="2000" dirty="0"/>
              <a:t> </a:t>
            </a:r>
            <a:r>
              <a:rPr lang="en-US" sz="2000" dirty="0" err="1"/>
              <a:t>două</a:t>
            </a:r>
            <a:r>
              <a:rPr lang="en-US" sz="2000" dirty="0"/>
              <a:t> </a:t>
            </a:r>
            <a:r>
              <a:rPr lang="en-US" sz="2000" dirty="0" err="1"/>
              <a:t>tensiuni</a:t>
            </a:r>
            <a:r>
              <a:rPr lang="en-US" sz="2000" dirty="0"/>
              <a:t> </a:t>
            </a:r>
            <a:r>
              <a:rPr lang="en-US" sz="2000" dirty="0" err="1"/>
              <a:t>şi</a:t>
            </a:r>
            <a:r>
              <a:rPr lang="en-US" sz="2000" dirty="0"/>
              <a:t> </a:t>
            </a:r>
            <a:r>
              <a:rPr lang="en-US" sz="2000" dirty="0" err="1"/>
              <a:t>doi</a:t>
            </a:r>
            <a:r>
              <a:rPr lang="en-US" sz="2000" dirty="0"/>
              <a:t> </a:t>
            </a:r>
            <a:r>
              <a:rPr lang="en-US" sz="2000" dirty="0" err="1" smtClean="0"/>
              <a:t>curenţi</a:t>
            </a:r>
            <a:r>
              <a:rPr lang="en-US" sz="2000" dirty="0" smtClean="0"/>
              <a:t>. </a:t>
            </a:r>
            <a:r>
              <a:rPr lang="en-US" sz="2000" dirty="0" err="1"/>
              <a:t>Aceste</a:t>
            </a:r>
            <a:r>
              <a:rPr lang="en-US" sz="2000" dirty="0"/>
              <a:t> </a:t>
            </a:r>
            <a:r>
              <a:rPr lang="en-US" sz="2000" dirty="0" err="1"/>
              <a:t>mărimi</a:t>
            </a:r>
            <a:r>
              <a:rPr lang="en-US" sz="2000" dirty="0"/>
              <a:t> pot fi </a:t>
            </a:r>
            <a:r>
              <a:rPr lang="en-US" sz="2000" dirty="0" err="1"/>
              <a:t>reprezentate</a:t>
            </a:r>
            <a:r>
              <a:rPr lang="en-US" sz="2000" dirty="0"/>
              <a:t> </a:t>
            </a:r>
            <a:r>
              <a:rPr lang="en-US" sz="2000" dirty="0" err="1"/>
              <a:t>prin</a:t>
            </a:r>
            <a:r>
              <a:rPr lang="en-US" sz="2000" dirty="0"/>
              <a:t> </a:t>
            </a:r>
            <a:r>
              <a:rPr lang="en-US" sz="2000" dirty="0" err="1"/>
              <a:t>valorile</a:t>
            </a:r>
            <a:r>
              <a:rPr lang="en-US" sz="2000" dirty="0"/>
              <a:t> </a:t>
            </a:r>
            <a:r>
              <a:rPr lang="en-US" sz="2000" dirty="0" err="1"/>
              <a:t>instantanee</a:t>
            </a:r>
            <a:r>
              <a:rPr lang="en-US" sz="2000" dirty="0"/>
              <a:t>, </a:t>
            </a:r>
            <a:r>
              <a:rPr lang="en-US" sz="2000" dirty="0" err="1"/>
              <a:t>valorile</a:t>
            </a:r>
            <a:r>
              <a:rPr lang="en-US" sz="2000" dirty="0"/>
              <a:t> </a:t>
            </a:r>
            <a:r>
              <a:rPr lang="en-US" sz="2000" dirty="0" err="1"/>
              <a:t>efective</a:t>
            </a:r>
            <a:r>
              <a:rPr lang="en-US" sz="2000" dirty="0"/>
              <a:t> </a:t>
            </a:r>
            <a:r>
              <a:rPr lang="en-US" sz="2000" dirty="0" err="1"/>
              <a:t>sau</a:t>
            </a:r>
            <a:r>
              <a:rPr lang="en-US" sz="2000" dirty="0"/>
              <a:t> </a:t>
            </a:r>
            <a:r>
              <a:rPr lang="en-US" sz="2000" dirty="0" err="1"/>
              <a:t>valorile</a:t>
            </a:r>
            <a:r>
              <a:rPr lang="en-US" sz="2000" dirty="0"/>
              <a:t> de </a:t>
            </a:r>
            <a:r>
              <a:rPr lang="en-US" sz="2000" dirty="0" err="1"/>
              <a:t>vîrf</a:t>
            </a:r>
            <a:r>
              <a:rPr lang="en-US" sz="2000" dirty="0"/>
              <a:t> </a:t>
            </a:r>
            <a:r>
              <a:rPr lang="en-US" dirty="0"/>
              <a:t/>
            </a:r>
            <a:br>
              <a:rPr lang="en-US" dirty="0"/>
            </a:br>
            <a:r>
              <a:rPr lang="it-IT" dirty="0" smtClean="0"/>
              <a:t> </a:t>
            </a:r>
            <a:r>
              <a:rPr lang="it-IT" dirty="0"/>
              <a:t/>
            </a:r>
            <a:br>
              <a:rPr lang="it-IT" dirty="0"/>
            </a:br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519" y="3905391"/>
            <a:ext cx="5610225" cy="14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3685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35802" y="81480"/>
            <a:ext cx="11959628" cy="6699565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 err="1"/>
              <a:t>Funcţionarea</a:t>
            </a:r>
            <a:r>
              <a:rPr lang="en-US" sz="2000" dirty="0"/>
              <a:t> </a:t>
            </a:r>
            <a:r>
              <a:rPr lang="en-US" sz="2000" dirty="0" err="1"/>
              <a:t>circuitului</a:t>
            </a:r>
            <a:r>
              <a:rPr lang="en-US" sz="2000" dirty="0"/>
              <a:t> </a:t>
            </a:r>
            <a:r>
              <a:rPr lang="en-US" sz="2000" dirty="0" err="1"/>
              <a:t>poate</a:t>
            </a:r>
            <a:r>
              <a:rPr lang="en-US" sz="2000" dirty="0"/>
              <a:t> fi </a:t>
            </a:r>
            <a:r>
              <a:rPr lang="en-US" sz="2000" dirty="0" err="1"/>
              <a:t>descrisă</a:t>
            </a:r>
            <a:r>
              <a:rPr lang="en-US" sz="2000" dirty="0"/>
              <a:t> </a:t>
            </a:r>
            <a:r>
              <a:rPr lang="en-US" sz="2000" dirty="0" err="1"/>
              <a:t>prin</a:t>
            </a:r>
            <a:r>
              <a:rPr lang="en-US" sz="2000" dirty="0"/>
              <a:t> </a:t>
            </a:r>
            <a:r>
              <a:rPr lang="en-US" sz="2000" dirty="0" err="1"/>
              <a:t>două</a:t>
            </a:r>
            <a:r>
              <a:rPr lang="en-US" sz="2000" dirty="0"/>
              <a:t> </a:t>
            </a:r>
            <a:r>
              <a:rPr lang="en-US" sz="2000" dirty="0" err="1"/>
              <a:t>ecuaţii</a:t>
            </a:r>
            <a:r>
              <a:rPr lang="en-US" sz="2000" dirty="0"/>
              <a:t>, care </a:t>
            </a:r>
            <a:r>
              <a:rPr lang="en-US" sz="2000" dirty="0" err="1"/>
              <a:t>leagă</a:t>
            </a:r>
            <a:r>
              <a:rPr lang="en-US" sz="2000" dirty="0"/>
              <a:t> </a:t>
            </a:r>
            <a:r>
              <a:rPr lang="en-US" sz="2000" dirty="0" err="1"/>
              <a:t>cele</a:t>
            </a:r>
            <a:r>
              <a:rPr lang="en-US" sz="2000" dirty="0"/>
              <a:t> </a:t>
            </a:r>
            <a:r>
              <a:rPr lang="en-US" sz="2000" dirty="0" err="1"/>
              <a:t>patru</a:t>
            </a:r>
            <a:r>
              <a:rPr lang="en-US" sz="2000" dirty="0"/>
              <a:t> </a:t>
            </a:r>
            <a:r>
              <a:rPr lang="en-US" sz="2000" dirty="0" err="1"/>
              <a:t>mărimi</a:t>
            </a:r>
            <a:r>
              <a:rPr lang="en-US" sz="2000" dirty="0"/>
              <a:t>. </a:t>
            </a:r>
            <a:r>
              <a:rPr lang="en-US" sz="2000" dirty="0" err="1" smtClean="0"/>
              <a:t>Două</a:t>
            </a:r>
            <a:r>
              <a:rPr lang="en-US" sz="2000" dirty="0" smtClean="0"/>
              <a:t> </a:t>
            </a:r>
            <a:r>
              <a:rPr lang="en-US" sz="2000" dirty="0" err="1" smtClean="0"/>
              <a:t>dintre</a:t>
            </a:r>
            <a:r>
              <a:rPr lang="en-US" sz="2000" dirty="0" smtClean="0"/>
              <a:t> </a:t>
            </a:r>
            <a:r>
              <a:rPr lang="en-US" sz="2000" dirty="0" err="1"/>
              <a:t>acestea</a:t>
            </a:r>
            <a:r>
              <a:rPr lang="en-US" sz="2000" dirty="0"/>
              <a:t> </a:t>
            </a:r>
            <a:r>
              <a:rPr lang="en-US" sz="2000" dirty="0" err="1"/>
              <a:t>sînt</a:t>
            </a:r>
            <a:r>
              <a:rPr lang="en-US" sz="2000" dirty="0"/>
              <a:t> considerate </a:t>
            </a:r>
            <a:r>
              <a:rPr lang="en-US" sz="2000" dirty="0" err="1"/>
              <a:t>variabile</a:t>
            </a:r>
            <a:r>
              <a:rPr lang="en-US" sz="2000" dirty="0"/>
              <a:t> </a:t>
            </a:r>
            <a:r>
              <a:rPr lang="en-US" sz="2000" dirty="0" err="1"/>
              <a:t>independente</a:t>
            </a:r>
            <a:r>
              <a:rPr lang="en-US" sz="2000" dirty="0"/>
              <a:t>, </a:t>
            </a:r>
            <a:r>
              <a:rPr lang="en-US" sz="2000" dirty="0" err="1"/>
              <a:t>în</a:t>
            </a:r>
            <a:r>
              <a:rPr lang="en-US" sz="2000" dirty="0"/>
              <a:t> </a:t>
            </a:r>
            <a:r>
              <a:rPr lang="en-US" sz="2000" dirty="0" err="1"/>
              <a:t>timp</a:t>
            </a:r>
            <a:r>
              <a:rPr lang="en-US" sz="2000" dirty="0"/>
              <a:t> </a:t>
            </a:r>
            <a:r>
              <a:rPr lang="en-US" sz="2000" dirty="0" err="1"/>
              <a:t>ce</a:t>
            </a:r>
            <a:r>
              <a:rPr lang="en-US" sz="2000" dirty="0"/>
              <a:t> </a:t>
            </a:r>
            <a:r>
              <a:rPr lang="en-US" sz="2000" dirty="0" err="1"/>
              <a:t>celelalte</a:t>
            </a:r>
            <a:r>
              <a:rPr lang="en-US" sz="2000" dirty="0"/>
              <a:t> </a:t>
            </a:r>
            <a:r>
              <a:rPr lang="en-US" sz="2000" dirty="0" err="1"/>
              <a:t>două</a:t>
            </a:r>
            <a:r>
              <a:rPr lang="en-US" sz="2000" dirty="0"/>
              <a:t> </a:t>
            </a:r>
            <a:r>
              <a:rPr lang="en-US" sz="2000" dirty="0" err="1"/>
              <a:t>sînt</a:t>
            </a:r>
            <a:r>
              <a:rPr lang="en-US" sz="2000" dirty="0"/>
              <a:t> </a:t>
            </a:r>
            <a:r>
              <a:rPr lang="en-US" sz="2000" dirty="0" err="1" smtClean="0"/>
              <a:t>variabilele</a:t>
            </a:r>
            <a:r>
              <a:rPr lang="en-US" sz="2000" dirty="0" smtClean="0"/>
              <a:t> </a:t>
            </a:r>
            <a:r>
              <a:rPr lang="en-US" sz="2000" dirty="0" err="1" smtClean="0"/>
              <a:t>dependente</a:t>
            </a:r>
            <a:r>
              <a:rPr lang="en-US" sz="2000" dirty="0"/>
              <a:t>. </a:t>
            </a:r>
            <a:r>
              <a:rPr lang="en-US" sz="2000" dirty="0" err="1"/>
              <a:t>Există</a:t>
            </a:r>
            <a:r>
              <a:rPr lang="en-US" sz="2000" dirty="0"/>
              <a:t> </a:t>
            </a:r>
            <a:r>
              <a:rPr lang="en-US" sz="2000" dirty="0" err="1"/>
              <a:t>şase</a:t>
            </a:r>
            <a:r>
              <a:rPr lang="en-US" sz="2000" dirty="0"/>
              <a:t> </a:t>
            </a:r>
            <a:r>
              <a:rPr lang="en-US" sz="2000" dirty="0" err="1"/>
              <a:t>moduri</a:t>
            </a:r>
            <a:r>
              <a:rPr lang="en-US" sz="2000" dirty="0"/>
              <a:t> de a </a:t>
            </a:r>
            <a:r>
              <a:rPr lang="en-US" sz="2000" dirty="0" err="1"/>
              <a:t>alege</a:t>
            </a:r>
            <a:r>
              <a:rPr lang="en-US" sz="2000" dirty="0"/>
              <a:t> </a:t>
            </a:r>
            <a:r>
              <a:rPr lang="en-US" sz="2000" dirty="0" err="1"/>
              <a:t>variabilele</a:t>
            </a:r>
            <a:r>
              <a:rPr lang="en-US" sz="2000" dirty="0"/>
              <a:t>, </a:t>
            </a:r>
            <a:r>
              <a:rPr lang="en-US" sz="2000" dirty="0" err="1"/>
              <a:t>dintre</a:t>
            </a:r>
            <a:r>
              <a:rPr lang="en-US" sz="2000" dirty="0"/>
              <a:t> care </a:t>
            </a:r>
            <a:r>
              <a:rPr lang="en-US" sz="2000" dirty="0" err="1"/>
              <a:t>numai</a:t>
            </a:r>
            <a:r>
              <a:rPr lang="en-US" sz="2000" dirty="0"/>
              <a:t> </a:t>
            </a:r>
            <a:r>
              <a:rPr lang="en-US" sz="2000" dirty="0" err="1"/>
              <a:t>patru</a:t>
            </a:r>
            <a:r>
              <a:rPr lang="en-US" sz="2000" dirty="0"/>
              <a:t> </a:t>
            </a:r>
            <a:r>
              <a:rPr lang="en-US" sz="2000" dirty="0" err="1"/>
              <a:t>sînt</a:t>
            </a:r>
            <a:r>
              <a:rPr lang="en-US" sz="2000" dirty="0"/>
              <a:t> </a:t>
            </a:r>
            <a:r>
              <a:rPr lang="en-US" sz="2000" dirty="0" err="1"/>
              <a:t>avantajoase</a:t>
            </a:r>
            <a:r>
              <a:rPr lang="en-US" sz="2000" dirty="0"/>
              <a:t>: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893" y="1186146"/>
            <a:ext cx="5022881" cy="3456924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5999430" y="1186146"/>
            <a:ext cx="560711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patru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modele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prezentate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descriu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acelaşi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circuit,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sînt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echivalente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sensul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există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relaţii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trecere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la un set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parametri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la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altul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care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exprimă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aceleaşi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relaţii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funcţionale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Folosirea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unuia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altuia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dintre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modele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doar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o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problemă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comoditate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scrierii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ecuaţiilor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circuit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nici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un model nu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superior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inferior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celorlalte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26893" y="4676092"/>
            <a:ext cx="113150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Valorile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parametrilor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pot fi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deduse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din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măsurările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la borne,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concordanţă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ecuaţiile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388" y="5200048"/>
            <a:ext cx="11830050" cy="1095375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5999430" y="3798928"/>
            <a:ext cx="549092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Spre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exemplu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impedanţa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sz="11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11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calculează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prin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raportul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dintre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11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1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măsurate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portul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gol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5872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69410" y="0"/>
            <a:ext cx="118540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Modelele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folosesc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descrierea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oricărui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circuit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liniar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Totuşi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circuitul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modelat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are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caracter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activ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permiţînd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propagarea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într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-o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direcţie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preferenţială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atunci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din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porturi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are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semnificaţia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(fie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acesta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portul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1)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iar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celălalt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port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privit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acest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caz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parametrii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circuitului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sînt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denumiţi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respectiv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impedanţa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impedanţa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transfer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invers (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la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la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impedanţa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transfer direct (de la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impedanţa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Un circuit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echivalent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modelat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prin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ecuaţiile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(0.1),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din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figura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0.2. 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observă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prezenţa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două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generatoare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comandate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56" y="1795517"/>
            <a:ext cx="5630266" cy="1581799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5996412" y="2176987"/>
            <a:ext cx="61955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Similar cu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modelul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Z, se pot introduce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ecuaţiile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definire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parametrilor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celelalte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cazuri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circuitele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echivalente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478" y="3377316"/>
            <a:ext cx="9067848" cy="3211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9349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513"/>
            <a:ext cx="7010400" cy="19812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98" y="2065699"/>
            <a:ext cx="7010400" cy="207645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142149"/>
            <a:ext cx="7191375" cy="2171700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7111498" y="84499"/>
            <a:ext cx="4938663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Simbolurile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folosite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introducerea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noţiunilor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legate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cuadripoli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notate cu majuscule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corespund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valori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constante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ale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mărimilor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Totuşi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acest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tip de model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aplicabil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oricărui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circuit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liniar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particular,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sînt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interesante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următoarele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cazuri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particulare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regimul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permanent sinusoidal,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care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mărimile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considerate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sînt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fie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valorile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efective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amplitudinile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semnalelor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la borne.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Notaţiile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păstrează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regimul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micilor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abateri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periodice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faţă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valorile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din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regimul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static,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care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mărimile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considerate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sînt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amplitudinile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abaterilor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acest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caz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uzual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simbolurile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parametrilor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cuadripol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indicii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mărimilor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variabile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fie notate cu minuscule.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321186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it-IT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Regimul dinamic al tranzistorului bipolar </a:t>
            </a:r>
            <a:endParaRPr lang="it-IT" sz="2000" b="1" dirty="0" smtClean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Am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văzut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tranzistorul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bipolar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poate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fi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privit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ca un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cuadrupol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conexiunea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emitor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comun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multe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aplicaţii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practice, la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intrarea</a:t>
            </a:r>
            <a:r>
              <a:rPr lang="x-none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cuadrupolului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aplică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un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variabil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timp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particular el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poate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fi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x-none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sinusoidal),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tranzistorul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fiind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polarizat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deja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continuu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într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-un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punct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funcţionare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static.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Astfel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peste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potenţialele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statice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(fixe) 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vor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suprapune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potenţialele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datorate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câmpului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variabil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determinat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semnalul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Tranzistorul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fi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supus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simultan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la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două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regimuri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</a:t>
            </a:r>
            <a:b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funcţionare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regimul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static,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care l-am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analizat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anterior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regimul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dinamic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Analiza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regimului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dinamic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o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problemă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complexă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Ea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poate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 </a:t>
            </a:r>
            <a:r>
              <a:rPr lang="en-US" sz="2000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însă</a:t>
            </a:r>
            <a:r>
              <a:rPr lang="en-US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simplificată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dacă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facem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următoarele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presupuneri</a:t>
            </a:r>
            <a: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br>
              <a:rPr 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r>
              <a:rPr lang="it-IT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it-IT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72016" y="2406207"/>
            <a:ext cx="1201998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toată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durată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aplicării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semnalului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variabil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la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punctul</a:t>
            </a:r>
            <a:r>
              <a:rPr lang="en-US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funcţionare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nu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părăseşte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porţiunea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caracteristică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transfer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corespunzătoare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zonei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active de </a:t>
            </a:r>
            <a:r>
              <a:rPr lang="en-US" i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funcţionare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această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porţiune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caracteristica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transfer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liniară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Deci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modelul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care-l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vom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prezenta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continuare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liniar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tip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npn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conexiune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emitor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comun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privit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ca un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cuadrupol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5904" y="2860271"/>
            <a:ext cx="4399937" cy="2195825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72015" y="3822013"/>
            <a:ext cx="742388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Presupunem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el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fost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polarizat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continuu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într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-un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punct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static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funcţionare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aflat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zona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activă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caracterizat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valorile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.: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105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BEo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05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Bo</a:t>
            </a:r>
            <a:r>
              <a:rPr lang="en-US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1050" i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CEo</a:t>
            </a:r>
            <a:r>
              <a:rPr lang="en-US" sz="1050" i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050" i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Presupunem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asemenea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la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cuadrupolului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apare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la un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moment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o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variaţie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dintre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baza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emitorul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∆</a:t>
            </a:r>
            <a:r>
              <a:rPr lang="en-US" b="1" i="1" dirty="0" err="1">
                <a:latin typeface="Times New Roman" pitchFamily="18" charset="0"/>
                <a:cs typeface="Times New Roman" pitchFamily="18" charset="0"/>
              </a:rPr>
              <a:t>ube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datorată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semnalului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aplicat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Sensul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săgeţii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ne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indică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faptul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la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momentul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considerat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potenţialul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variabil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al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bazei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mare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decât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cel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emitorului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Creşterea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potenţial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adaugă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potenţialului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static al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bazei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ceea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determină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o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creştere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curentului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bază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valoarea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∆</a:t>
            </a: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ib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Creşterea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curentului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bază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determina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creşterea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curentului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colector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valoarea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∆</a:t>
            </a:r>
            <a:r>
              <a:rPr lang="en-US" b="1" i="1" dirty="0" err="1">
                <a:latin typeface="Times New Roman" pitchFamily="18" charset="0"/>
                <a:cs typeface="Times New Roman" pitchFamily="18" charset="0"/>
              </a:rPr>
              <a:t>ic</a:t>
            </a: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variaţia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corespunzătoare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∆</a:t>
            </a:r>
            <a:r>
              <a:rPr lang="en-US" b="1" i="1" dirty="0" err="1">
                <a:latin typeface="Times New Roman" pitchFamily="18" charset="0"/>
                <a:cs typeface="Times New Roman" pitchFamily="18" charset="0"/>
              </a:rPr>
              <a:t>uce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a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tensiunii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colector-emitor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7705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119505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Vom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considera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ca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cazul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definirii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parametrilor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statici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drept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variabile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independente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bază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colector-emitor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astfel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încât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vom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avea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funcţiile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04" y="646331"/>
            <a:ext cx="2092482" cy="47249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92" y="1118827"/>
            <a:ext cx="1857093" cy="457672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0" y="1580492"/>
            <a:ext cx="38227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Diferenţiind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două</a:t>
            </a:r>
            <a:r>
              <a:rPr lang="en-US" dirty="0"/>
              <a:t> </a:t>
            </a:r>
            <a:r>
              <a:rPr lang="en-US" dirty="0" err="1"/>
              <a:t>funcţii</a:t>
            </a:r>
            <a:r>
              <a:rPr lang="en-US" dirty="0"/>
              <a:t> </a:t>
            </a:r>
            <a:r>
              <a:rPr lang="en-US" dirty="0" err="1"/>
              <a:t>obţinem</a:t>
            </a:r>
            <a:r>
              <a:rPr lang="en-US" dirty="0"/>
              <a:t>: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8" y="1949824"/>
            <a:ext cx="3485301" cy="795034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204" y="2744858"/>
            <a:ext cx="3205946" cy="849368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63658" y="3594226"/>
            <a:ext cx="119593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ecuaţiilor</a:t>
            </a:r>
            <a:r>
              <a:rPr lang="en-US" dirty="0"/>
              <a:t> </a:t>
            </a:r>
            <a:r>
              <a:rPr lang="en-US" dirty="0" smtClean="0"/>
              <a:t>de </a:t>
            </a:r>
            <a:r>
              <a:rPr lang="en-US" dirty="0" err="1" smtClean="0"/>
              <a:t>mai</a:t>
            </a:r>
            <a:r>
              <a:rPr lang="en-US" dirty="0" smtClean="0"/>
              <a:t> </a:t>
            </a:r>
            <a:r>
              <a:rPr lang="en-US" dirty="0" err="1" smtClean="0"/>
              <a:t>sus</a:t>
            </a:r>
            <a:r>
              <a:rPr lang="en-US" dirty="0" smtClean="0"/>
              <a:t> se </a:t>
            </a:r>
            <a:r>
              <a:rPr lang="en-US" dirty="0" err="1"/>
              <a:t>definesc</a:t>
            </a:r>
            <a:r>
              <a:rPr lang="en-US" dirty="0"/>
              <a:t> </a:t>
            </a:r>
            <a:r>
              <a:rPr lang="en-US" dirty="0" err="1"/>
              <a:t>parametrii</a:t>
            </a:r>
            <a:r>
              <a:rPr lang="en-US" dirty="0"/>
              <a:t> h,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parametrii</a:t>
            </a:r>
            <a:r>
              <a:rPr lang="en-US" dirty="0" smtClean="0"/>
              <a:t> </a:t>
            </a:r>
            <a:r>
              <a:rPr lang="en-US" dirty="0" err="1"/>
              <a:t>hibrizi</a:t>
            </a:r>
            <a:r>
              <a:rPr lang="en-US" dirty="0"/>
              <a:t>,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regimul</a:t>
            </a:r>
            <a:r>
              <a:rPr lang="en-US" dirty="0"/>
              <a:t> </a:t>
            </a:r>
            <a:r>
              <a:rPr lang="en-US" dirty="0" err="1"/>
              <a:t>dinamic</a:t>
            </a:r>
            <a:r>
              <a:rPr lang="en-US" dirty="0"/>
              <a:t> al </a:t>
            </a:r>
            <a:r>
              <a:rPr lang="en-US" dirty="0" err="1"/>
              <a:t>tranzistorului</a:t>
            </a:r>
            <a:r>
              <a:rPr lang="en-US" dirty="0"/>
              <a:t> bipolar: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755" y="4066722"/>
            <a:ext cx="2046775" cy="90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9361" y="4066723"/>
            <a:ext cx="1933884" cy="90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4228" y="4048614"/>
            <a:ext cx="1736719" cy="90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7770" y="4066722"/>
            <a:ext cx="1995653" cy="900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Прямоугольник 14"/>
          <p:cNvSpPr/>
          <p:nvPr/>
        </p:nvSpPr>
        <p:spPr>
          <a:xfrm>
            <a:off x="63658" y="5069886"/>
            <a:ext cx="51655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Folosind</a:t>
            </a:r>
            <a:r>
              <a:rPr lang="en-US" dirty="0"/>
              <a:t> </a:t>
            </a:r>
            <a:r>
              <a:rPr lang="en-US" dirty="0" err="1"/>
              <a:t>aceşti</a:t>
            </a:r>
            <a:r>
              <a:rPr lang="en-US" dirty="0"/>
              <a:t> </a:t>
            </a:r>
            <a:r>
              <a:rPr lang="en-US" dirty="0" err="1"/>
              <a:t>parametrii</a:t>
            </a:r>
            <a:r>
              <a:rPr lang="en-US" dirty="0"/>
              <a:t>, </a:t>
            </a:r>
            <a:r>
              <a:rPr lang="en-US" dirty="0" err="1"/>
              <a:t>ecuaţiile</a:t>
            </a:r>
            <a:r>
              <a:rPr lang="en-US" dirty="0"/>
              <a:t> </a:t>
            </a:r>
            <a:r>
              <a:rPr lang="en-US" dirty="0" err="1" smtClean="0"/>
              <a:t>anterioare</a:t>
            </a:r>
            <a:r>
              <a:rPr lang="en-US" dirty="0" smtClean="0"/>
              <a:t> </a:t>
            </a:r>
            <a:r>
              <a:rPr lang="en-US" dirty="0" err="1"/>
              <a:t>devin</a:t>
            </a:r>
            <a:r>
              <a:rPr lang="en-US" dirty="0"/>
              <a:t>:</a:t>
            </a: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755" y="5468276"/>
            <a:ext cx="3419475" cy="504825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3673" y="5973101"/>
            <a:ext cx="3248025" cy="495300"/>
          </a:xfrm>
          <a:prstGeom prst="rect">
            <a:avLst/>
          </a:prstGeom>
        </p:spPr>
      </p:pic>
      <p:sp>
        <p:nvSpPr>
          <p:cNvPr id="18" name="Прямоугольник 17"/>
          <p:cNvSpPr/>
          <p:nvPr/>
        </p:nvSpPr>
        <p:spPr>
          <a:xfrm>
            <a:off x="4555933" y="5711580"/>
            <a:ext cx="67518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două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ecuaţii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reprezintă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aplicarea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legilor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Kirchhoff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intrarea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respectiv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ieşirea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cuadrupolului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tranzistor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Pornind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la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fi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construită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schema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electrică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echivalentă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6193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5139" y="96233"/>
            <a:ext cx="8077200" cy="304800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81482" y="3221793"/>
            <a:ext cx="1211051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Analizând</a:t>
            </a:r>
            <a:r>
              <a:rPr lang="en-US" dirty="0"/>
              <a:t> </a:t>
            </a:r>
            <a:r>
              <a:rPr lang="en-US" dirty="0" err="1"/>
              <a:t>acestă</a:t>
            </a:r>
            <a:r>
              <a:rPr lang="en-US" dirty="0"/>
              <a:t> </a:t>
            </a:r>
            <a:r>
              <a:rPr lang="en-US" dirty="0" err="1"/>
              <a:t>schemă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cunoscând</a:t>
            </a:r>
            <a:r>
              <a:rPr lang="en-US" dirty="0"/>
              <a:t> </a:t>
            </a:r>
            <a:r>
              <a:rPr lang="en-US" dirty="0" err="1"/>
              <a:t>relaţiile</a:t>
            </a:r>
            <a:r>
              <a:rPr lang="en-US" dirty="0"/>
              <a:t> de </a:t>
            </a:r>
            <a:r>
              <a:rPr lang="en-US" dirty="0" err="1"/>
              <a:t>definiţie</a:t>
            </a:r>
            <a:r>
              <a:rPr lang="en-US" dirty="0"/>
              <a:t> </a:t>
            </a:r>
            <a:r>
              <a:rPr lang="en-US" dirty="0" smtClean="0"/>
              <a:t>a </a:t>
            </a:r>
            <a:r>
              <a:rPr lang="en-US" dirty="0" err="1"/>
              <a:t>parametrilor</a:t>
            </a:r>
            <a:r>
              <a:rPr lang="en-US" dirty="0"/>
              <a:t> </a:t>
            </a:r>
            <a:r>
              <a:rPr lang="en-US" dirty="0" err="1"/>
              <a:t>hibrizi</a:t>
            </a:r>
            <a:r>
              <a:rPr lang="en-US" dirty="0"/>
              <a:t>, se pot </a:t>
            </a:r>
            <a:r>
              <a:rPr lang="en-US" dirty="0" err="1"/>
              <a:t>stabili</a:t>
            </a:r>
            <a:r>
              <a:rPr lang="en-US" dirty="0"/>
              <a:t> </a:t>
            </a:r>
            <a:r>
              <a:rPr lang="en-US" dirty="0" err="1"/>
              <a:t>semnificaţiile</a:t>
            </a:r>
            <a:r>
              <a:rPr lang="en-US" dirty="0"/>
              <a:t> </a:t>
            </a:r>
            <a:r>
              <a:rPr lang="en-US" dirty="0" err="1"/>
              <a:t>fizice</a:t>
            </a:r>
            <a:r>
              <a:rPr lang="en-US" dirty="0"/>
              <a:t> ale </a:t>
            </a:r>
            <a:r>
              <a:rPr lang="en-US" dirty="0" err="1"/>
              <a:t>acestora</a:t>
            </a:r>
            <a:r>
              <a:rPr lang="en-US" dirty="0"/>
              <a:t>.</a:t>
            </a:r>
          </a:p>
          <a:p>
            <a:r>
              <a:rPr lang="en-US" dirty="0"/>
              <a:t>Le </a:t>
            </a:r>
            <a:r>
              <a:rPr lang="en-US" dirty="0" err="1"/>
              <a:t>menţionăm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continuare</a:t>
            </a:r>
            <a:r>
              <a:rPr lang="en-US" dirty="0"/>
              <a:t>, </a:t>
            </a:r>
            <a:r>
              <a:rPr lang="en-US" dirty="0" err="1"/>
              <a:t>împreună</a:t>
            </a:r>
            <a:r>
              <a:rPr lang="en-US" dirty="0"/>
              <a:t> cu </a:t>
            </a:r>
            <a:r>
              <a:rPr lang="en-US" dirty="0" err="1"/>
              <a:t>ordinele</a:t>
            </a:r>
            <a:r>
              <a:rPr lang="en-US" dirty="0"/>
              <a:t> </a:t>
            </a:r>
            <a:r>
              <a:rPr lang="en-US" dirty="0" err="1"/>
              <a:t>lor</a:t>
            </a:r>
            <a:r>
              <a:rPr lang="en-US" dirty="0"/>
              <a:t> de </a:t>
            </a:r>
            <a:r>
              <a:rPr lang="en-US" dirty="0" err="1"/>
              <a:t>mărime</a:t>
            </a:r>
            <a:r>
              <a:rPr lang="en-US" dirty="0" smtClean="0"/>
              <a:t>:</a:t>
            </a:r>
          </a:p>
          <a:p>
            <a:r>
              <a:rPr lang="en-US" i="1" dirty="0"/>
              <a:t>h11 </a:t>
            </a:r>
            <a:r>
              <a:rPr lang="en-US" dirty="0"/>
              <a:t>– </a:t>
            </a:r>
            <a:r>
              <a:rPr lang="en-US" b="1" dirty="0" err="1"/>
              <a:t>impedanţa</a:t>
            </a:r>
            <a:r>
              <a:rPr lang="en-US" b="1" dirty="0"/>
              <a:t> de </a:t>
            </a:r>
            <a:r>
              <a:rPr lang="en-US" b="1" dirty="0" err="1"/>
              <a:t>intrare</a:t>
            </a:r>
            <a:r>
              <a:rPr lang="en-US" b="1" dirty="0"/>
              <a:t> </a:t>
            </a:r>
            <a:r>
              <a:rPr lang="en-US" dirty="0"/>
              <a:t>cu </a:t>
            </a:r>
            <a:r>
              <a:rPr lang="en-US" dirty="0" err="1"/>
              <a:t>ieşirea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scurtcircuit</a:t>
            </a:r>
            <a:r>
              <a:rPr lang="en-US" dirty="0"/>
              <a:t>, </a:t>
            </a:r>
            <a:r>
              <a:rPr lang="en-US" i="1" dirty="0" err="1"/>
              <a:t>sute</a:t>
            </a:r>
            <a:r>
              <a:rPr lang="en-US" i="1" dirty="0"/>
              <a:t> </a:t>
            </a:r>
            <a:r>
              <a:rPr lang="el-GR" dirty="0"/>
              <a:t>Ω </a:t>
            </a:r>
            <a:r>
              <a:rPr lang="el-GR" i="1" dirty="0"/>
              <a:t>- </a:t>
            </a:r>
            <a:r>
              <a:rPr lang="en-US" i="1" dirty="0"/>
              <a:t>k</a:t>
            </a:r>
            <a:r>
              <a:rPr lang="el-GR" dirty="0"/>
              <a:t>Ω</a:t>
            </a:r>
            <a:br>
              <a:rPr lang="el-GR" dirty="0"/>
            </a:br>
            <a:r>
              <a:rPr lang="en-US" i="1" dirty="0"/>
              <a:t>h12 </a:t>
            </a:r>
            <a:r>
              <a:rPr lang="en-US" dirty="0"/>
              <a:t>– </a:t>
            </a:r>
            <a:r>
              <a:rPr lang="en-US" b="1" dirty="0" err="1"/>
              <a:t>factorul</a:t>
            </a:r>
            <a:r>
              <a:rPr lang="en-US" b="1" dirty="0"/>
              <a:t> de transfer invers </a:t>
            </a:r>
            <a:r>
              <a:rPr lang="en-US" b="1" dirty="0" err="1"/>
              <a:t>în</a:t>
            </a:r>
            <a:r>
              <a:rPr lang="en-US" b="1" dirty="0"/>
              <a:t> </a:t>
            </a:r>
            <a:r>
              <a:rPr lang="en-US" b="1" dirty="0" err="1"/>
              <a:t>tensiune</a:t>
            </a:r>
            <a:r>
              <a:rPr lang="en-US" b="1" dirty="0"/>
              <a:t> </a:t>
            </a:r>
            <a:r>
              <a:rPr lang="en-US" dirty="0"/>
              <a:t>cu </a:t>
            </a:r>
            <a:r>
              <a:rPr lang="en-US" dirty="0" err="1"/>
              <a:t>intrarea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gol</a:t>
            </a:r>
            <a:r>
              <a:rPr lang="en-US" dirty="0"/>
              <a:t>, </a:t>
            </a:r>
            <a:r>
              <a:rPr lang="en-US" i="1" dirty="0"/>
              <a:t>10</a:t>
            </a:r>
            <a:r>
              <a:rPr lang="en-US" i="1" baseline="30000" dirty="0"/>
              <a:t>-3</a:t>
            </a:r>
            <a:r>
              <a:rPr lang="en-US" i="1" dirty="0"/>
              <a:t> </a:t>
            </a:r>
            <a:r>
              <a:rPr lang="en-US" i="1" dirty="0" smtClean="0"/>
              <a:t>– 10</a:t>
            </a:r>
            <a:r>
              <a:rPr lang="en-US" i="1" baseline="30000" dirty="0" smtClean="0"/>
              <a:t>-4</a:t>
            </a:r>
            <a:r>
              <a:rPr lang="en-US" i="1" dirty="0"/>
              <a:t/>
            </a:r>
            <a:br>
              <a:rPr lang="en-US" i="1" dirty="0"/>
            </a:br>
            <a:r>
              <a:rPr lang="en-US" i="1" dirty="0"/>
              <a:t>h21 </a:t>
            </a:r>
            <a:r>
              <a:rPr lang="en-US" dirty="0"/>
              <a:t>– </a:t>
            </a:r>
            <a:r>
              <a:rPr lang="en-US" b="1" dirty="0" err="1"/>
              <a:t>factorul</a:t>
            </a:r>
            <a:r>
              <a:rPr lang="en-US" b="1" dirty="0"/>
              <a:t> de </a:t>
            </a:r>
            <a:r>
              <a:rPr lang="en-US" b="1" dirty="0" err="1"/>
              <a:t>amplificare</a:t>
            </a:r>
            <a:r>
              <a:rPr lang="en-US" b="1" dirty="0"/>
              <a:t> </a:t>
            </a:r>
            <a:r>
              <a:rPr lang="en-US" b="1" dirty="0" err="1"/>
              <a:t>dinamic</a:t>
            </a:r>
            <a:r>
              <a:rPr lang="en-US" b="1" dirty="0"/>
              <a:t> </a:t>
            </a:r>
            <a:r>
              <a:rPr lang="en-US" b="1" dirty="0" err="1"/>
              <a:t>în</a:t>
            </a:r>
            <a:r>
              <a:rPr lang="en-US" b="1" dirty="0"/>
              <a:t> </a:t>
            </a:r>
            <a:r>
              <a:rPr lang="en-US" b="1" dirty="0" err="1"/>
              <a:t>curent</a:t>
            </a:r>
            <a:r>
              <a:rPr lang="en-US" b="1" dirty="0"/>
              <a:t> </a:t>
            </a:r>
            <a:r>
              <a:rPr lang="en-US" dirty="0"/>
              <a:t>cu </a:t>
            </a:r>
            <a:r>
              <a:rPr lang="en-US" dirty="0" err="1"/>
              <a:t>ieşirea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scurt</a:t>
            </a:r>
            <a:r>
              <a:rPr lang="en-US" dirty="0"/>
              <a:t>, </a:t>
            </a:r>
            <a:r>
              <a:rPr lang="en-US" i="1" dirty="0" smtClean="0"/>
              <a:t>10</a:t>
            </a:r>
            <a:r>
              <a:rPr lang="en-US" i="1" baseline="30000" dirty="0" smtClean="0"/>
              <a:t>1</a:t>
            </a:r>
            <a:r>
              <a:rPr lang="en-US" i="1" dirty="0" smtClean="0"/>
              <a:t> – </a:t>
            </a:r>
            <a:r>
              <a:rPr lang="en-US" i="1" dirty="0"/>
              <a:t>10</a:t>
            </a:r>
            <a:r>
              <a:rPr lang="en-US" i="1" baseline="30000" dirty="0"/>
              <a:t>2</a:t>
            </a:r>
            <a:r>
              <a:rPr lang="en-US" i="1" dirty="0"/>
              <a:t/>
            </a:r>
            <a:br>
              <a:rPr lang="en-US" i="1" dirty="0"/>
            </a:br>
            <a:r>
              <a:rPr lang="en-US" i="1" dirty="0"/>
              <a:t>h22 </a:t>
            </a:r>
            <a:r>
              <a:rPr lang="en-US" dirty="0"/>
              <a:t>– </a:t>
            </a:r>
            <a:r>
              <a:rPr lang="en-US" b="1" dirty="0" err="1"/>
              <a:t>admitanţa</a:t>
            </a:r>
            <a:r>
              <a:rPr lang="en-US" b="1" dirty="0"/>
              <a:t> de </a:t>
            </a:r>
            <a:r>
              <a:rPr lang="en-US" b="1" dirty="0" err="1"/>
              <a:t>ieşire</a:t>
            </a:r>
            <a:r>
              <a:rPr lang="en-US" b="1" dirty="0"/>
              <a:t> </a:t>
            </a:r>
            <a:r>
              <a:rPr lang="en-US" dirty="0"/>
              <a:t>cu </a:t>
            </a:r>
            <a:r>
              <a:rPr lang="en-US" dirty="0" err="1"/>
              <a:t>intrarea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gol</a:t>
            </a:r>
            <a:r>
              <a:rPr lang="en-US" dirty="0"/>
              <a:t>, </a:t>
            </a:r>
            <a:r>
              <a:rPr lang="en-US" i="1" dirty="0" smtClean="0"/>
              <a:t>h</a:t>
            </a:r>
            <a:r>
              <a:rPr lang="en-US" baseline="-25000" dirty="0" smtClean="0"/>
              <a:t>22</a:t>
            </a:r>
            <a:r>
              <a:rPr lang="en-US" baseline="30000" dirty="0" smtClean="0"/>
              <a:t>-1</a:t>
            </a:r>
            <a:r>
              <a:rPr lang="en-US" dirty="0" smtClean="0"/>
              <a:t> </a:t>
            </a:r>
            <a:r>
              <a:rPr lang="en-US" dirty="0"/>
              <a:t>≈10</a:t>
            </a:r>
            <a:r>
              <a:rPr lang="en-US" baseline="30000" dirty="0"/>
              <a:t>5</a:t>
            </a:r>
            <a:r>
              <a:rPr lang="el-GR" dirty="0"/>
              <a:t>Ω </a:t>
            </a:r>
            <a:endParaRPr lang="en-GB" dirty="0" smtClean="0"/>
          </a:p>
          <a:p>
            <a:endParaRPr lang="en-GB" dirty="0"/>
          </a:p>
          <a:p>
            <a:r>
              <a:rPr lang="en-US" dirty="0" err="1"/>
              <a:t>parametrii</a:t>
            </a:r>
            <a:r>
              <a:rPr lang="en-US" dirty="0"/>
              <a:t> </a:t>
            </a:r>
            <a:r>
              <a:rPr lang="en-US" b="1" i="1" dirty="0"/>
              <a:t>h </a:t>
            </a:r>
            <a:r>
              <a:rPr lang="en-US" dirty="0" err="1" smtClean="0"/>
              <a:t>sunt</a:t>
            </a:r>
            <a:r>
              <a:rPr lang="en-US" dirty="0" smtClean="0"/>
              <a:t> </a:t>
            </a:r>
            <a:r>
              <a:rPr lang="en-US" dirty="0" err="1" smtClean="0"/>
              <a:t>mărimi</a:t>
            </a:r>
            <a:r>
              <a:rPr lang="en-US" dirty="0" smtClean="0"/>
              <a:t> </a:t>
            </a:r>
            <a:r>
              <a:rPr lang="en-US" dirty="0" err="1"/>
              <a:t>caracteristice</a:t>
            </a:r>
            <a:r>
              <a:rPr lang="en-US" dirty="0"/>
              <a:t> </a:t>
            </a:r>
            <a:r>
              <a:rPr lang="en-US" dirty="0" err="1"/>
              <a:t>fiecărui</a:t>
            </a:r>
            <a:r>
              <a:rPr lang="en-US" dirty="0"/>
              <a:t> tip de </a:t>
            </a:r>
            <a:r>
              <a:rPr lang="en-US" dirty="0" err="1"/>
              <a:t>tranzistor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că</a:t>
            </a:r>
            <a:r>
              <a:rPr lang="en-US" dirty="0"/>
              <a:t> </a:t>
            </a:r>
            <a:r>
              <a:rPr lang="en-US" dirty="0" err="1"/>
              <a:t>ei</a:t>
            </a:r>
            <a:r>
              <a:rPr lang="en-US" dirty="0"/>
              <a:t>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precizaţi</a:t>
            </a:r>
            <a:r>
              <a:rPr lang="en-US" dirty="0"/>
              <a:t> </a:t>
            </a:r>
            <a:r>
              <a:rPr lang="en-US" dirty="0" err="1" smtClean="0"/>
              <a:t>în</a:t>
            </a:r>
            <a:r>
              <a:rPr lang="en-US" dirty="0" smtClean="0"/>
              <a:t> </a:t>
            </a:r>
            <a:r>
              <a:rPr lang="en-US" dirty="0" err="1" smtClean="0"/>
              <a:t>cataloage</a:t>
            </a:r>
            <a:r>
              <a:rPr lang="en-US" dirty="0" smtClean="0"/>
              <a:t> </a:t>
            </a:r>
            <a:r>
              <a:rPr lang="en-US" dirty="0"/>
              <a:t>de </a:t>
            </a:r>
            <a:r>
              <a:rPr lang="en-US" dirty="0" err="1"/>
              <a:t>către</a:t>
            </a:r>
            <a:r>
              <a:rPr lang="en-US" dirty="0"/>
              <a:t> </a:t>
            </a:r>
            <a:r>
              <a:rPr lang="en-US" dirty="0" err="1"/>
              <a:t>firmele</a:t>
            </a:r>
            <a:r>
              <a:rPr lang="en-US" dirty="0"/>
              <a:t> </a:t>
            </a:r>
            <a:r>
              <a:rPr lang="en-US" dirty="0" err="1"/>
              <a:t>producătoare</a:t>
            </a:r>
            <a:r>
              <a:rPr lang="en-US" dirty="0"/>
              <a:t>. </a:t>
            </a:r>
            <a:r>
              <a:rPr lang="en-US" dirty="0" err="1"/>
              <a:t>Cunoscând</a:t>
            </a:r>
            <a:r>
              <a:rPr lang="en-US" dirty="0"/>
              <a:t> </a:t>
            </a:r>
            <a:r>
              <a:rPr lang="en-US" dirty="0" err="1"/>
              <a:t>valorile</a:t>
            </a:r>
            <a:r>
              <a:rPr lang="en-US" dirty="0"/>
              <a:t> </a:t>
            </a:r>
            <a:r>
              <a:rPr lang="en-US" dirty="0" err="1"/>
              <a:t>lor</a:t>
            </a:r>
            <a:r>
              <a:rPr lang="en-US" dirty="0"/>
              <a:t> concrete</a:t>
            </a:r>
            <a:r>
              <a:rPr lang="en-US" dirty="0" smtClean="0"/>
              <a:t>, </a:t>
            </a:r>
            <a:r>
              <a:rPr lang="en-US" dirty="0" err="1" smtClean="0"/>
              <a:t>pentru</a:t>
            </a:r>
            <a:r>
              <a:rPr lang="en-US" dirty="0" smtClean="0"/>
              <a:t> </a:t>
            </a:r>
            <a:r>
              <a:rPr lang="en-US" dirty="0" err="1"/>
              <a:t>analizarea</a:t>
            </a:r>
            <a:r>
              <a:rPr lang="en-US" dirty="0"/>
              <a:t> </a:t>
            </a:r>
            <a:r>
              <a:rPr lang="en-US" dirty="0" err="1"/>
              <a:t>regimului</a:t>
            </a:r>
            <a:r>
              <a:rPr lang="en-US" dirty="0"/>
              <a:t> </a:t>
            </a:r>
            <a:r>
              <a:rPr lang="en-US" dirty="0" err="1"/>
              <a:t>dinamic</a:t>
            </a:r>
            <a:r>
              <a:rPr lang="en-US" dirty="0"/>
              <a:t> al </a:t>
            </a:r>
            <a:r>
              <a:rPr lang="en-US" dirty="0" err="1"/>
              <a:t>unui</a:t>
            </a:r>
            <a:r>
              <a:rPr lang="en-US" dirty="0"/>
              <a:t> circuit care </a:t>
            </a:r>
            <a:r>
              <a:rPr lang="en-US" dirty="0" err="1"/>
              <a:t>conţine</a:t>
            </a:r>
            <a:r>
              <a:rPr lang="en-US" dirty="0"/>
              <a:t> un </a:t>
            </a:r>
            <a:r>
              <a:rPr lang="en-US" dirty="0" err="1" smtClean="0"/>
              <a:t>tranzistor</a:t>
            </a:r>
            <a:r>
              <a:rPr lang="x-none" dirty="0" smtClean="0"/>
              <a:t> </a:t>
            </a:r>
            <a:r>
              <a:rPr lang="en-US" dirty="0" err="1" smtClean="0"/>
              <a:t>noi</a:t>
            </a:r>
            <a:r>
              <a:rPr lang="en-US" dirty="0" smtClean="0"/>
              <a:t> </a:t>
            </a:r>
            <a:r>
              <a:rPr lang="en-US" dirty="0" err="1"/>
              <a:t>îl</a:t>
            </a:r>
            <a:r>
              <a:rPr lang="en-US" dirty="0"/>
              <a:t> </a:t>
            </a:r>
            <a:r>
              <a:rPr lang="en-US" dirty="0" err="1"/>
              <a:t>putem</a:t>
            </a:r>
            <a:r>
              <a:rPr lang="en-US" dirty="0"/>
              <a:t> </a:t>
            </a:r>
            <a:r>
              <a:rPr lang="en-US" dirty="0" err="1"/>
              <a:t>înlocui</a:t>
            </a:r>
            <a:r>
              <a:rPr lang="en-US" dirty="0"/>
              <a:t> cu schema </a:t>
            </a:r>
            <a:r>
              <a:rPr lang="en-US" dirty="0" err="1" smtClean="0"/>
              <a:t>prezentat</a:t>
            </a:r>
            <a:r>
              <a:rPr lang="x-none" dirty="0" smtClean="0"/>
              <a:t>ă </a:t>
            </a:r>
            <a:r>
              <a:rPr lang="en-US" dirty="0" err="1" smtClean="0"/>
              <a:t>rezultând</a:t>
            </a:r>
            <a:r>
              <a:rPr lang="en-US" dirty="0" smtClean="0"/>
              <a:t> </a:t>
            </a:r>
            <a:r>
              <a:rPr lang="en-US" dirty="0"/>
              <a:t>o </a:t>
            </a:r>
            <a:r>
              <a:rPr lang="en-US" dirty="0" err="1"/>
              <a:t>schemă</a:t>
            </a:r>
            <a:r>
              <a:rPr lang="en-US" dirty="0"/>
              <a:t> </a:t>
            </a:r>
            <a:r>
              <a:rPr lang="en-US" dirty="0" err="1"/>
              <a:t>echivalentă</a:t>
            </a:r>
            <a:r>
              <a:rPr lang="en-US" dirty="0"/>
              <a:t> </a:t>
            </a:r>
            <a:r>
              <a:rPr lang="en-US" dirty="0" smtClean="0"/>
              <a:t>a</a:t>
            </a:r>
            <a:r>
              <a:rPr lang="x-none" dirty="0" smtClean="0"/>
              <a:t> </a:t>
            </a:r>
            <a:r>
              <a:rPr lang="en-US" dirty="0" err="1" smtClean="0"/>
              <a:t>întregului</a:t>
            </a:r>
            <a:r>
              <a:rPr lang="en-US" dirty="0" smtClean="0"/>
              <a:t> </a:t>
            </a:r>
            <a:r>
              <a:rPr lang="en-US" dirty="0"/>
              <a:t>circuit. </a:t>
            </a:r>
            <a:r>
              <a:rPr lang="en-US" dirty="0" err="1"/>
              <a:t>Această</a:t>
            </a:r>
            <a:r>
              <a:rPr lang="en-US" dirty="0"/>
              <a:t> </a:t>
            </a:r>
            <a:r>
              <a:rPr lang="en-US" dirty="0" err="1"/>
              <a:t>schemă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conţine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</a:t>
            </a:r>
            <a:r>
              <a:rPr lang="en-US" dirty="0" err="1"/>
              <a:t>elemente</a:t>
            </a:r>
            <a:r>
              <a:rPr lang="en-US" dirty="0"/>
              <a:t> de </a:t>
            </a:r>
            <a:r>
              <a:rPr lang="en-US" dirty="0" smtClean="0"/>
              <a:t>circuit</a:t>
            </a:r>
            <a:r>
              <a:rPr lang="x-none" dirty="0" smtClean="0"/>
              <a:t> </a:t>
            </a:r>
            <a:r>
              <a:rPr lang="en-US" dirty="0" smtClean="0"/>
              <a:t>simple </a:t>
            </a:r>
            <a:r>
              <a:rPr lang="en-US" dirty="0"/>
              <a:t>(</a:t>
            </a:r>
            <a:r>
              <a:rPr lang="en-US" dirty="0" err="1"/>
              <a:t>surse</a:t>
            </a:r>
            <a:r>
              <a:rPr lang="en-US" dirty="0"/>
              <a:t> de </a:t>
            </a:r>
            <a:r>
              <a:rPr lang="en-US" dirty="0" err="1"/>
              <a:t>curent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tensiune</a:t>
            </a:r>
            <a:r>
              <a:rPr lang="en-US" dirty="0"/>
              <a:t>, </a:t>
            </a:r>
            <a:r>
              <a:rPr lang="en-US" dirty="0" err="1"/>
              <a:t>rezistenţe</a:t>
            </a:r>
            <a:r>
              <a:rPr lang="en-US" dirty="0"/>
              <a:t>, </a:t>
            </a:r>
            <a:r>
              <a:rPr lang="en-US" dirty="0" err="1"/>
              <a:t>condensatori</a:t>
            </a:r>
            <a:r>
              <a:rPr lang="en-US" dirty="0"/>
              <a:t>, </a:t>
            </a:r>
            <a:r>
              <a:rPr lang="en-US" dirty="0" err="1"/>
              <a:t>bobine</a:t>
            </a:r>
            <a:r>
              <a:rPr lang="en-US" dirty="0"/>
              <a:t>) a </a:t>
            </a:r>
            <a:r>
              <a:rPr lang="en-US" dirty="0" err="1" smtClean="0"/>
              <a:t>căror</a:t>
            </a:r>
            <a:r>
              <a:rPr lang="x-none" dirty="0" smtClean="0"/>
              <a:t> </a:t>
            </a:r>
            <a:r>
              <a:rPr lang="en-US" dirty="0" err="1" smtClean="0"/>
              <a:t>comportare</a:t>
            </a:r>
            <a:r>
              <a:rPr lang="en-US" dirty="0" smtClean="0"/>
              <a:t> </a:t>
            </a:r>
            <a:r>
              <a:rPr lang="en-US" dirty="0"/>
              <a:t>o </a:t>
            </a:r>
            <a:r>
              <a:rPr lang="en-US" dirty="0" err="1"/>
              <a:t>cunoaştem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putem</a:t>
            </a:r>
            <a:r>
              <a:rPr lang="en-US" dirty="0"/>
              <a:t> face </a:t>
            </a:r>
            <a:r>
              <a:rPr lang="en-US" dirty="0" err="1"/>
              <a:t>analiza</a:t>
            </a:r>
            <a:r>
              <a:rPr lang="en-US" dirty="0"/>
              <a:t> </a:t>
            </a:r>
            <a:r>
              <a:rPr lang="en-US" dirty="0" err="1"/>
              <a:t>teoretică</a:t>
            </a:r>
            <a:r>
              <a:rPr lang="en-US" dirty="0"/>
              <a:t> a </a:t>
            </a:r>
            <a:r>
              <a:rPr lang="en-US" dirty="0" err="1" smtClean="0"/>
              <a:t>comportării</a:t>
            </a:r>
            <a:r>
              <a:rPr lang="x-none" dirty="0" smtClean="0"/>
              <a:t> </a:t>
            </a:r>
            <a:r>
              <a:rPr lang="en-US" dirty="0" err="1" smtClean="0"/>
              <a:t>circuitului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159592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479" y="97970"/>
            <a:ext cx="12042321" cy="6760029"/>
          </a:xfrm>
        </p:spPr>
        <p:txBody>
          <a:bodyPr/>
          <a:lstStyle/>
          <a:p>
            <a:pPr marL="0" indent="0">
              <a:buNone/>
            </a:pPr>
            <a:r>
              <a:rPr lang="it-IT" sz="2400" b="1" dirty="0"/>
              <a:t>Alte tipuri de tranzistori </a:t>
            </a:r>
            <a:r>
              <a:rPr lang="it-IT" sz="2400" b="1" dirty="0" smtClean="0"/>
              <a:t>bipolari</a:t>
            </a:r>
            <a:r>
              <a:rPr lang="x-none" sz="2400" b="1" dirty="0" smtClean="0"/>
              <a:t>   </a:t>
            </a:r>
            <a:r>
              <a:rPr lang="en-US" sz="2400" b="1" i="1" dirty="0" err="1" smtClean="0"/>
              <a:t>Tiristorul</a:t>
            </a:r>
            <a:r>
              <a:rPr lang="en-US" sz="2400" b="1" i="1" dirty="0" smtClean="0"/>
              <a:t> </a:t>
            </a:r>
            <a:r>
              <a:rPr lang="en-US" sz="2400" dirty="0"/>
              <a:t>(</a:t>
            </a:r>
            <a:r>
              <a:rPr lang="en-US" sz="2400" b="1" dirty="0"/>
              <a:t>SCR </a:t>
            </a:r>
            <a:r>
              <a:rPr lang="en-US" sz="2400" dirty="0"/>
              <a:t>– </a:t>
            </a:r>
            <a:r>
              <a:rPr lang="en-US" sz="2400" b="1" dirty="0"/>
              <a:t>S</a:t>
            </a:r>
            <a:r>
              <a:rPr lang="en-US" sz="2400" dirty="0"/>
              <a:t>ilicon </a:t>
            </a:r>
            <a:r>
              <a:rPr lang="en-US" sz="2400" b="1" dirty="0"/>
              <a:t>C</a:t>
            </a:r>
            <a:r>
              <a:rPr lang="en-US" sz="2400" dirty="0"/>
              <a:t>ontrolled </a:t>
            </a:r>
            <a:r>
              <a:rPr lang="en-US" sz="2400" b="1" dirty="0"/>
              <a:t>R</a:t>
            </a:r>
            <a:r>
              <a:rPr lang="en-US" sz="2400" dirty="0"/>
              <a:t>ectifier</a:t>
            </a:r>
            <a:r>
              <a:rPr lang="en-US" sz="2400" dirty="0" smtClean="0"/>
              <a:t>)</a:t>
            </a:r>
            <a:r>
              <a:rPr lang="x-none" sz="2400" dirty="0" smtClean="0"/>
              <a:t> </a:t>
            </a:r>
            <a:r>
              <a:rPr lang="en-US" sz="2400" dirty="0" err="1" smtClean="0"/>
              <a:t>Tiristorul</a:t>
            </a:r>
            <a:r>
              <a:rPr lang="en-US" sz="2400" dirty="0" smtClean="0"/>
              <a:t> </a:t>
            </a:r>
            <a:r>
              <a:rPr lang="en-US" sz="2400" dirty="0" err="1"/>
              <a:t>este</a:t>
            </a:r>
            <a:r>
              <a:rPr lang="en-US" sz="2400" dirty="0"/>
              <a:t> un </a:t>
            </a:r>
            <a:r>
              <a:rPr lang="en-US" sz="2400" dirty="0" err="1"/>
              <a:t>dispozitiv</a:t>
            </a:r>
            <a:r>
              <a:rPr lang="en-US" sz="2400" dirty="0"/>
              <a:t> </a:t>
            </a:r>
            <a:r>
              <a:rPr lang="en-US" sz="2400" dirty="0" err="1"/>
              <a:t>multijoncţiune</a:t>
            </a:r>
            <a:r>
              <a:rPr lang="en-US" sz="2400" dirty="0"/>
              <a:t> </a:t>
            </a:r>
            <a:endParaRPr lang="x-none" sz="2400" dirty="0" smtClean="0"/>
          </a:p>
          <a:p>
            <a:pPr marL="0" indent="0">
              <a:buNone/>
            </a:pPr>
            <a:r>
              <a:rPr lang="en-US" sz="2400" b="1" dirty="0" err="1"/>
              <a:t>două</a:t>
            </a:r>
            <a:r>
              <a:rPr lang="en-US" sz="2400" b="1" dirty="0"/>
              <a:t> </a:t>
            </a:r>
            <a:r>
              <a:rPr lang="en-US" sz="2400" b="1" dirty="0" err="1" smtClean="0"/>
              <a:t>structuri</a:t>
            </a:r>
            <a:r>
              <a:rPr lang="x-none" sz="2400" b="1" dirty="0" smtClean="0"/>
              <a:t> </a:t>
            </a:r>
            <a:r>
              <a:rPr lang="en-US" sz="2400" b="1" dirty="0" err="1" smtClean="0"/>
              <a:t>complementare</a:t>
            </a:r>
            <a:r>
              <a:rPr lang="en-US" sz="2400" b="1" dirty="0" smtClean="0"/>
              <a:t> </a:t>
            </a:r>
            <a:r>
              <a:rPr lang="en-US" sz="2400" b="1" dirty="0"/>
              <a:t>de tip </a:t>
            </a:r>
            <a:r>
              <a:rPr lang="en-US" sz="2400" b="1" dirty="0" err="1"/>
              <a:t>tranzistor</a:t>
            </a:r>
            <a:r>
              <a:rPr lang="en-US" sz="2400" b="1" dirty="0"/>
              <a:t>, </a:t>
            </a:r>
            <a:r>
              <a:rPr lang="en-US" sz="2400" dirty="0" err="1"/>
              <a:t>suprapuse</a:t>
            </a:r>
            <a:r>
              <a:rPr lang="en-US" sz="2400" dirty="0"/>
              <a:t> </a:t>
            </a:r>
            <a:r>
              <a:rPr lang="en-US" sz="2400" dirty="0" err="1"/>
              <a:t>astfel</a:t>
            </a:r>
            <a:r>
              <a:rPr lang="en-US" sz="2400" dirty="0"/>
              <a:t> </a:t>
            </a:r>
            <a:r>
              <a:rPr lang="en-US" sz="2400" dirty="0" err="1"/>
              <a:t>încât</a:t>
            </a:r>
            <a:r>
              <a:rPr lang="en-US" sz="2400" dirty="0"/>
              <a:t> </a:t>
            </a:r>
            <a:r>
              <a:rPr lang="en-US" sz="2400" dirty="0" err="1"/>
              <a:t>joncţiunile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 err="1"/>
              <a:t>colectoare</a:t>
            </a:r>
            <a:r>
              <a:rPr lang="en-US" sz="2400" dirty="0"/>
              <a:t> </a:t>
            </a:r>
            <a:r>
              <a:rPr lang="en-US" sz="2400" dirty="0" err="1"/>
              <a:t>să</a:t>
            </a:r>
            <a:r>
              <a:rPr lang="en-US" sz="2400" dirty="0"/>
              <a:t> fie </a:t>
            </a:r>
            <a:r>
              <a:rPr lang="en-US" sz="2400" dirty="0" err="1"/>
              <a:t>comune</a:t>
            </a:r>
            <a:r>
              <a:rPr lang="en-US" sz="2400" dirty="0"/>
              <a:t>. El are </a:t>
            </a:r>
            <a:r>
              <a:rPr lang="en-US" sz="2400" dirty="0" err="1"/>
              <a:t>trei</a:t>
            </a:r>
            <a:r>
              <a:rPr lang="en-US" sz="2400" dirty="0"/>
              <a:t> </a:t>
            </a:r>
            <a:r>
              <a:rPr lang="en-US" sz="2400" dirty="0" err="1"/>
              <a:t>terminale</a:t>
            </a:r>
            <a:r>
              <a:rPr lang="en-US" sz="2400" dirty="0"/>
              <a:t> </a:t>
            </a:r>
            <a:r>
              <a:rPr lang="en-US" sz="2400" dirty="0" err="1"/>
              <a:t>numite</a:t>
            </a:r>
            <a:r>
              <a:rPr lang="en-US" sz="2400" dirty="0"/>
              <a:t> </a:t>
            </a:r>
            <a:r>
              <a:rPr lang="en-US" sz="2400" dirty="0" err="1"/>
              <a:t>anod</a:t>
            </a:r>
            <a:r>
              <a:rPr lang="en-US" sz="2400" dirty="0"/>
              <a:t>, </a:t>
            </a:r>
            <a:r>
              <a:rPr lang="en-US" sz="2400" dirty="0" err="1"/>
              <a:t>catod</a:t>
            </a:r>
            <a:r>
              <a:rPr lang="en-US" sz="2400" dirty="0"/>
              <a:t> </a:t>
            </a:r>
            <a:r>
              <a:rPr lang="en-US" sz="2400" dirty="0" err="1"/>
              <a:t>şi</a:t>
            </a:r>
            <a:r>
              <a:rPr lang="en-US" sz="2400" dirty="0"/>
              <a:t> </a:t>
            </a:r>
            <a:r>
              <a:rPr lang="en-US" sz="2400" dirty="0" err="1"/>
              <a:t>poartă</a:t>
            </a:r>
            <a:r>
              <a:rPr lang="en-US" sz="2400" dirty="0" smtClean="0"/>
              <a:t>.</a:t>
            </a:r>
            <a:r>
              <a:rPr lang="x-none" sz="2400" dirty="0" smtClean="0"/>
              <a:t> </a:t>
            </a:r>
            <a:r>
              <a:rPr lang="en-US" sz="2400" dirty="0" err="1" smtClean="0"/>
              <a:t>Poarta</a:t>
            </a:r>
            <a:r>
              <a:rPr lang="en-US" sz="2400" dirty="0" smtClean="0"/>
              <a:t>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elementul</a:t>
            </a:r>
            <a:r>
              <a:rPr lang="en-US" sz="2400" dirty="0"/>
              <a:t> de control al </a:t>
            </a:r>
            <a:r>
              <a:rPr lang="en-US" sz="2400" dirty="0" err="1"/>
              <a:t>funcţionării</a:t>
            </a:r>
            <a:r>
              <a:rPr lang="en-US" sz="2400" dirty="0"/>
              <a:t> </a:t>
            </a:r>
            <a:r>
              <a:rPr lang="en-US" sz="2400" dirty="0" err="1"/>
              <a:t>tiristorului</a:t>
            </a:r>
            <a:r>
              <a:rPr lang="en-US" sz="2400" dirty="0"/>
              <a:t>. </a:t>
            </a:r>
            <a:r>
              <a:rPr lang="en-US" sz="2400" dirty="0" err="1"/>
              <a:t>Ea</a:t>
            </a:r>
            <a:r>
              <a:rPr lang="en-US" sz="2400" dirty="0"/>
              <a:t> </a:t>
            </a:r>
            <a:r>
              <a:rPr lang="en-US" sz="2400" dirty="0" err="1"/>
              <a:t>poate</a:t>
            </a:r>
            <a:r>
              <a:rPr lang="en-US" sz="2400" dirty="0"/>
              <a:t> </a:t>
            </a:r>
            <a:r>
              <a:rPr lang="en-US" sz="2400" dirty="0" smtClean="0"/>
              <a:t>fi</a:t>
            </a:r>
            <a:r>
              <a:rPr lang="x-none" sz="2400" dirty="0" smtClean="0"/>
              <a:t> </a:t>
            </a:r>
            <a:r>
              <a:rPr lang="en-US" sz="2400" dirty="0" err="1" smtClean="0"/>
              <a:t>polarizată</a:t>
            </a:r>
            <a:r>
              <a:rPr lang="en-US" sz="2400" dirty="0" smtClean="0"/>
              <a:t> </a:t>
            </a:r>
            <a:r>
              <a:rPr lang="en-US" sz="2400" dirty="0" err="1"/>
              <a:t>sau</a:t>
            </a:r>
            <a:r>
              <a:rPr lang="en-US" sz="2400" dirty="0"/>
              <a:t> nu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it-IT" dirty="0" smtClean="0"/>
              <a:t> </a:t>
            </a:r>
            <a:r>
              <a:rPr lang="it-IT" dirty="0"/>
              <a:t/>
            </a:r>
            <a:br>
              <a:rPr lang="it-IT" dirty="0"/>
            </a:br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2594"/>
            <a:ext cx="7486650" cy="296227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6650" y="2222789"/>
            <a:ext cx="4492632" cy="3363199"/>
          </a:xfrm>
          <a:prstGeom prst="rect">
            <a:avLst/>
          </a:prstGeom>
        </p:spPr>
      </p:pic>
      <p:pic>
        <p:nvPicPr>
          <p:cNvPr id="1026" name="Picture 2" descr="Tiristor - Wikipedi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4761" y="4499709"/>
            <a:ext cx="4271122" cy="2064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Дуга 5"/>
          <p:cNvSpPr/>
          <p:nvPr/>
        </p:nvSpPr>
        <p:spPr>
          <a:xfrm rot="5057425">
            <a:off x="7245783" y="3753060"/>
            <a:ext cx="1373918" cy="1184017"/>
          </a:xfrm>
          <a:prstGeom prst="arc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037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188384"/>
            <a:ext cx="12192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anodul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polarizat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pozitiv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faţă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catod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iar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poarta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nepolarizată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joncţiunile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emitoare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sunt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polarizate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direct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iar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joncţiunea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colectoare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polarizată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invers.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Fiind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polarizată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invers,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joncţiunea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colectoare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prezenta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o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rezistenţă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mare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trecerii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purtătorilor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sarcină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astfel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încât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valori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mici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ale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dintre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anod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catod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105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prin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structura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semiconductoare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fi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foarte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mic.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măsură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creşte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polarizare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105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creşte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inversă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joncţiunea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colectoare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la o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anumită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valoare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acesteia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începe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multiplicarea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x-none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avalanşă</a:t>
            </a:r>
            <a:r>
              <a:rPr lang="en-US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purtătorilor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sarcină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Aceasta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are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drept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consecinţe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scăderea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rezistenţei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joncţiunii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colectoare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creşterea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bruscă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între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anod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catod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Pentru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această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creştere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nu fie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necontrolată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ducă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la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distrugerea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structurii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circuitul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polarizare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tiristorului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trebuie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conectată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rezistenţă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limitare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curentului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la care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începe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multiplicarea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avalanşă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purtătorilor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sarcină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numeşte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tensiune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străpungere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i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1050" b="1" i="1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poartă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aplică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un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potenţial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pozitiv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faţă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catod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scopul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generării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poartă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tiristorul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începe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conducă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la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tensiuni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atât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mici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cât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potenţialul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pozitiv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al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porţii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mare.</a:t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Curentul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poartă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mult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mic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decât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dintre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anod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catod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astfel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încât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cu un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mic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fi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controlată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apariţia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unui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mare.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poate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deci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concluziona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tiristorul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un </a:t>
            </a:r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dispozitiv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comandat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curent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995051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5880" y="69251"/>
            <a:ext cx="9168604" cy="6788749"/>
          </a:xfrm>
          <a:prstGeom prst="rect">
            <a:avLst/>
          </a:prstGeom>
        </p:spPr>
      </p:pic>
      <p:cxnSp>
        <p:nvCxnSpPr>
          <p:cNvPr id="3" name="Прямая соединительная линия 2"/>
          <p:cNvCxnSpPr/>
          <p:nvPr/>
        </p:nvCxnSpPr>
        <p:spPr>
          <a:xfrm>
            <a:off x="8090807" y="800100"/>
            <a:ext cx="40821" cy="576398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7874453" y="5347607"/>
            <a:ext cx="236764" cy="121647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5629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2428" y="0"/>
            <a:ext cx="12119572" cy="6858000"/>
          </a:xfrm>
        </p:spPr>
        <p:txBody>
          <a:bodyPr/>
          <a:lstStyle/>
          <a:p>
            <a:r>
              <a:rPr lang="en-US" b="1" i="1" dirty="0" err="1" smtClean="0"/>
              <a:t>Triacul</a:t>
            </a:r>
            <a:r>
              <a:rPr lang="x-none" b="1" i="1" dirty="0" smtClean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multe</a:t>
            </a:r>
            <a:r>
              <a:rPr lang="en-US" dirty="0"/>
              <a:t> </a:t>
            </a:r>
            <a:r>
              <a:rPr lang="en-US" dirty="0" err="1"/>
              <a:t>aplicaţii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nevoie</a:t>
            </a:r>
            <a:r>
              <a:rPr lang="en-US" dirty="0"/>
              <a:t> de </a:t>
            </a:r>
            <a:r>
              <a:rPr lang="en-US" dirty="0" err="1"/>
              <a:t>comanda</a:t>
            </a:r>
            <a:r>
              <a:rPr lang="en-US" dirty="0"/>
              <a:t> </a:t>
            </a:r>
            <a:r>
              <a:rPr lang="en-US" dirty="0" err="1"/>
              <a:t>bilaterală</a:t>
            </a:r>
            <a:r>
              <a:rPr lang="en-US" dirty="0"/>
              <a:t> a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semnal</a:t>
            </a:r>
            <a:r>
              <a:rPr lang="en-US" dirty="0"/>
              <a:t> </a:t>
            </a:r>
            <a:r>
              <a:rPr lang="en-US" dirty="0" err="1"/>
              <a:t>alternativ</a:t>
            </a:r>
            <a:r>
              <a:rPr lang="en-US" dirty="0" smtClean="0"/>
              <a:t>,</a:t>
            </a:r>
            <a:r>
              <a:rPr lang="x-none" dirty="0" smtClean="0"/>
              <a:t> </a:t>
            </a:r>
            <a:r>
              <a:rPr lang="en-US" dirty="0" err="1" smtClean="0"/>
              <a:t>atât</a:t>
            </a:r>
            <a:r>
              <a:rPr lang="en-US" dirty="0" smtClean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alternanţa</a:t>
            </a:r>
            <a:r>
              <a:rPr lang="en-US" dirty="0"/>
              <a:t> </a:t>
            </a:r>
            <a:r>
              <a:rPr lang="en-US" dirty="0" err="1"/>
              <a:t>pozitivă</a:t>
            </a:r>
            <a:r>
              <a:rPr lang="en-US" dirty="0"/>
              <a:t> </a:t>
            </a:r>
            <a:r>
              <a:rPr lang="en-US" dirty="0" err="1"/>
              <a:t>cât</a:t>
            </a:r>
            <a:r>
              <a:rPr lang="en-US" dirty="0"/>
              <a:t> </a:t>
            </a:r>
            <a:r>
              <a:rPr lang="en-US" dirty="0" err="1"/>
              <a:t>şi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alternanţa</a:t>
            </a:r>
            <a:r>
              <a:rPr lang="en-US" dirty="0"/>
              <a:t> </a:t>
            </a:r>
            <a:r>
              <a:rPr lang="en-US" dirty="0" err="1"/>
              <a:t>negativă</a:t>
            </a:r>
            <a:r>
              <a:rPr lang="en-US" dirty="0"/>
              <a:t>.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aceasta</a:t>
            </a:r>
            <a:r>
              <a:rPr lang="en-US" dirty="0"/>
              <a:t> </a:t>
            </a:r>
            <a:r>
              <a:rPr lang="en-US" dirty="0" err="1" smtClean="0"/>
              <a:t>este</a:t>
            </a:r>
            <a:r>
              <a:rPr lang="x-none" dirty="0" smtClean="0"/>
              <a:t> </a:t>
            </a:r>
            <a:r>
              <a:rPr lang="en-US" dirty="0" err="1" smtClean="0"/>
              <a:t>nevoie</a:t>
            </a:r>
            <a:r>
              <a:rPr lang="en-US" dirty="0" smtClean="0"/>
              <a:t> </a:t>
            </a:r>
            <a:r>
              <a:rPr lang="en-US" dirty="0"/>
              <a:t>de un </a:t>
            </a:r>
            <a:r>
              <a:rPr lang="en-US" dirty="0" err="1"/>
              <a:t>dispozitiv</a:t>
            </a:r>
            <a:r>
              <a:rPr lang="en-US" dirty="0"/>
              <a:t> </a:t>
            </a:r>
            <a:r>
              <a:rPr lang="en-US" dirty="0" err="1"/>
              <a:t>asemănător</a:t>
            </a:r>
            <a:r>
              <a:rPr lang="en-US" dirty="0"/>
              <a:t> </a:t>
            </a:r>
            <a:r>
              <a:rPr lang="en-US" dirty="0" err="1"/>
              <a:t>tiristorului</a:t>
            </a:r>
            <a:r>
              <a:rPr lang="en-US" dirty="0"/>
              <a:t> </a:t>
            </a:r>
            <a:r>
              <a:rPr lang="en-US" dirty="0" err="1"/>
              <a:t>dar</a:t>
            </a:r>
            <a:r>
              <a:rPr lang="en-US" dirty="0"/>
              <a:t> care </a:t>
            </a:r>
            <a:r>
              <a:rPr lang="en-US" dirty="0" err="1"/>
              <a:t>să</a:t>
            </a:r>
            <a:r>
              <a:rPr lang="en-US" dirty="0"/>
              <a:t> </a:t>
            </a:r>
            <a:r>
              <a:rPr lang="en-US" dirty="0" err="1"/>
              <a:t>poată</a:t>
            </a:r>
            <a:r>
              <a:rPr lang="en-US" dirty="0"/>
              <a:t> intra </a:t>
            </a:r>
            <a:r>
              <a:rPr lang="en-US" dirty="0" err="1"/>
              <a:t>în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conducţie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ambele</a:t>
            </a:r>
            <a:r>
              <a:rPr lang="en-US" dirty="0"/>
              <a:t> </a:t>
            </a:r>
            <a:r>
              <a:rPr lang="en-US" dirty="0" err="1"/>
              <a:t>sensuri</a:t>
            </a:r>
            <a:r>
              <a:rPr lang="en-US" dirty="0"/>
              <a:t>. </a:t>
            </a:r>
            <a:r>
              <a:rPr lang="en-US" dirty="0" err="1"/>
              <a:t>Acesta</a:t>
            </a:r>
            <a:r>
              <a:rPr lang="en-US" dirty="0"/>
              <a:t> </a:t>
            </a:r>
            <a:r>
              <a:rPr lang="en-US" dirty="0" err="1"/>
              <a:t>poate</a:t>
            </a:r>
            <a:r>
              <a:rPr lang="en-US" dirty="0"/>
              <a:t> fi </a:t>
            </a:r>
            <a:r>
              <a:rPr lang="en-US" dirty="0" err="1"/>
              <a:t>realizat</a:t>
            </a:r>
            <a:r>
              <a:rPr lang="en-US" dirty="0"/>
              <a:t> din </a:t>
            </a:r>
            <a:r>
              <a:rPr lang="en-US" dirty="0" err="1"/>
              <a:t>două</a:t>
            </a:r>
            <a:r>
              <a:rPr lang="en-US" dirty="0"/>
              <a:t> </a:t>
            </a:r>
            <a:r>
              <a:rPr lang="en-US" dirty="0" err="1"/>
              <a:t>structuri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antiparalele</a:t>
            </a:r>
            <a:r>
              <a:rPr lang="en-US" dirty="0"/>
              <a:t> de tip </a:t>
            </a:r>
            <a:r>
              <a:rPr lang="en-US" dirty="0" err="1"/>
              <a:t>tiristor</a:t>
            </a:r>
            <a:r>
              <a:rPr lang="en-US" dirty="0"/>
              <a:t>. Un </a:t>
            </a:r>
            <a:r>
              <a:rPr lang="en-US" dirty="0" err="1"/>
              <a:t>astfel</a:t>
            </a:r>
            <a:r>
              <a:rPr lang="en-US" dirty="0"/>
              <a:t> de </a:t>
            </a:r>
            <a:r>
              <a:rPr lang="en-US" dirty="0" err="1"/>
              <a:t>dispozitiv</a:t>
            </a:r>
            <a:r>
              <a:rPr lang="en-US" dirty="0"/>
              <a:t> se </a:t>
            </a:r>
            <a:r>
              <a:rPr lang="en-US" dirty="0" err="1"/>
              <a:t>numeşte</a:t>
            </a:r>
            <a:r>
              <a:rPr lang="en-US" dirty="0"/>
              <a:t> </a:t>
            </a:r>
            <a:r>
              <a:rPr lang="en-US" b="1" dirty="0" err="1"/>
              <a:t>triac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03" y="1964225"/>
            <a:ext cx="6930427" cy="3257301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429" y="2211841"/>
            <a:ext cx="4922728" cy="3895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9874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2428" y="0"/>
            <a:ext cx="12119572" cy="6858000"/>
          </a:xfrm>
        </p:spPr>
        <p:txBody>
          <a:bodyPr/>
          <a:lstStyle/>
          <a:p>
            <a:r>
              <a:rPr lang="en-US" b="1" i="1" dirty="0" err="1"/>
              <a:t>Tranzistorul</a:t>
            </a:r>
            <a:r>
              <a:rPr lang="en-US" b="1" i="1" dirty="0"/>
              <a:t> </a:t>
            </a:r>
            <a:r>
              <a:rPr lang="en-US" b="1" i="1" dirty="0" err="1"/>
              <a:t>Schottky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5700" y="0"/>
            <a:ext cx="4686300" cy="3562350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141836" y="433513"/>
            <a:ext cx="736386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Timpul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necesar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trecerii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dintr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-o stare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alta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numeşte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timp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comutaţie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dorit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ca el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să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fie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cât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mic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posibil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Cu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cât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polarizare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directă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joncţiunii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bază-colector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regim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saturaţie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mică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 cu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atât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numărul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purtători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sarcină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care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trebuie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redistribuiţi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este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mai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mic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timpul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comutaţie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micşora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Micşorarea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tensiunii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polarizare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directă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joncţiunii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bază-colector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poate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face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dacă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între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bază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şi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colector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</a:t>
            </a:r>
            <a:r>
              <a:rPr lang="x-none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realizează</a:t>
            </a: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 </a:t>
            </a:r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structură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semiconductoare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de tip </a:t>
            </a:r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diodă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Schottky</a:t>
            </a:r>
            <a:r>
              <a:rPr 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Prezenţa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diodei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Schottky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nu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permite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creşterea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tensiunii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de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polarizare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directă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joncţiunii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bază-colector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regim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saturaţie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peste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latin typeface="Times New Roman" pitchFamily="18" charset="0"/>
                <a:cs typeface="Times New Roman" pitchFamily="18" charset="0"/>
              </a:rPr>
              <a:t>0,35V,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astfel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încât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timpul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comutaţie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din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starea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saturaţie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în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starea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de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blocare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micşora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considerabil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iar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viteza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comutaţie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creşte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0343" y="3475759"/>
            <a:ext cx="4524375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4688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176963"/>
          </a:xfrm>
        </p:spPr>
        <p:txBody>
          <a:bodyPr/>
          <a:lstStyle/>
          <a:p>
            <a:r>
              <a:rPr lang="en-US" sz="2000" b="1" i="1" dirty="0" err="1"/>
              <a:t>Fototranzistorul</a:t>
            </a:r>
            <a:r>
              <a:rPr lang="en-US" sz="2000" b="1" i="1" dirty="0"/>
              <a:t/>
            </a:r>
            <a:br>
              <a:rPr lang="en-US" sz="2000" b="1" i="1" dirty="0"/>
            </a:br>
            <a:r>
              <a:rPr lang="en-US" sz="2000" dirty="0" err="1"/>
              <a:t>Principiul</a:t>
            </a:r>
            <a:r>
              <a:rPr lang="en-US" sz="2000" dirty="0"/>
              <a:t> de </a:t>
            </a:r>
            <a:r>
              <a:rPr lang="en-US" sz="2000" dirty="0" err="1"/>
              <a:t>funcţionare</a:t>
            </a:r>
            <a:r>
              <a:rPr lang="en-US" sz="2000" dirty="0"/>
              <a:t> a </a:t>
            </a:r>
            <a:r>
              <a:rPr lang="en-US" sz="2000" dirty="0" err="1"/>
              <a:t>unui</a:t>
            </a:r>
            <a:r>
              <a:rPr lang="en-US" sz="2000" dirty="0"/>
              <a:t> </a:t>
            </a:r>
            <a:r>
              <a:rPr lang="en-US" sz="2000" dirty="0" err="1"/>
              <a:t>fototranzistor</a:t>
            </a:r>
            <a:r>
              <a:rPr lang="en-US" sz="2000" dirty="0"/>
              <a:t> se </a:t>
            </a:r>
            <a:r>
              <a:rPr lang="en-US" sz="2000" dirty="0" err="1"/>
              <a:t>bazează</a:t>
            </a:r>
            <a:r>
              <a:rPr lang="en-US" sz="2000" dirty="0"/>
              <a:t> </a:t>
            </a:r>
            <a:r>
              <a:rPr lang="en-US" sz="2000" dirty="0" err="1"/>
              <a:t>pe</a:t>
            </a:r>
            <a:r>
              <a:rPr lang="en-US" sz="2000" dirty="0"/>
              <a:t> </a:t>
            </a:r>
            <a:r>
              <a:rPr lang="en-US" sz="2000" i="1" dirty="0" err="1" smtClean="0"/>
              <a:t>efectul</a:t>
            </a:r>
            <a:r>
              <a:rPr lang="x-none" sz="2000" i="1" dirty="0" smtClean="0"/>
              <a:t> </a:t>
            </a:r>
            <a:r>
              <a:rPr lang="en-US" sz="2000" i="1" dirty="0" err="1" smtClean="0"/>
              <a:t>fotoelectric</a:t>
            </a:r>
            <a:r>
              <a:rPr lang="en-US" sz="2000" i="1" dirty="0" smtClean="0"/>
              <a:t> </a:t>
            </a:r>
            <a:r>
              <a:rPr lang="en-US" sz="2000" i="1" dirty="0"/>
              <a:t>intern</a:t>
            </a:r>
            <a:r>
              <a:rPr lang="en-US" sz="2000" dirty="0"/>
              <a:t>: </a:t>
            </a:r>
            <a:r>
              <a:rPr lang="en-US" sz="2000" dirty="0" err="1"/>
              <a:t>generarea</a:t>
            </a:r>
            <a:r>
              <a:rPr lang="en-US" sz="2000" dirty="0"/>
              <a:t> de </a:t>
            </a:r>
            <a:r>
              <a:rPr lang="en-US" sz="2000" dirty="0" err="1"/>
              <a:t>perechi</a:t>
            </a:r>
            <a:r>
              <a:rPr lang="en-US" sz="2000" dirty="0"/>
              <a:t> electron-</a:t>
            </a:r>
            <a:r>
              <a:rPr lang="en-US" sz="2000" dirty="0" err="1"/>
              <a:t>gol</a:t>
            </a:r>
            <a:r>
              <a:rPr lang="en-US" sz="2000" dirty="0"/>
              <a:t> </a:t>
            </a:r>
            <a:r>
              <a:rPr lang="en-US" sz="2000" dirty="0" err="1"/>
              <a:t>într</a:t>
            </a:r>
            <a:r>
              <a:rPr lang="en-US" sz="2000" dirty="0"/>
              <a:t>-un </a:t>
            </a:r>
            <a:r>
              <a:rPr lang="en-US" sz="2000" dirty="0" smtClean="0"/>
              <a:t>semiconductor</a:t>
            </a:r>
            <a:r>
              <a:rPr lang="x-none" sz="2000" dirty="0" smtClean="0"/>
              <a:t> </a:t>
            </a:r>
            <a:r>
              <a:rPr lang="en-US" sz="2000" dirty="0" smtClean="0"/>
              <a:t>sub </a:t>
            </a:r>
            <a:r>
              <a:rPr lang="en-US" sz="2000" dirty="0" err="1"/>
              <a:t>acţiunea</a:t>
            </a:r>
            <a:r>
              <a:rPr lang="en-US" sz="2000" dirty="0"/>
              <a:t> </a:t>
            </a:r>
            <a:r>
              <a:rPr lang="en-US" sz="2000" dirty="0" err="1"/>
              <a:t>unei</a:t>
            </a:r>
            <a:r>
              <a:rPr lang="en-US" sz="2000" dirty="0"/>
              <a:t> </a:t>
            </a:r>
            <a:r>
              <a:rPr lang="en-US" sz="2000" dirty="0" err="1"/>
              <a:t>radiaţiei</a:t>
            </a:r>
            <a:r>
              <a:rPr lang="en-US" sz="2000" dirty="0"/>
              <a:t> </a:t>
            </a:r>
            <a:r>
              <a:rPr lang="en-US" sz="2000" dirty="0" err="1"/>
              <a:t>electromagnetice</a:t>
            </a:r>
            <a:r>
              <a:rPr lang="en-US" sz="2000" dirty="0"/>
              <a:t> cu </a:t>
            </a:r>
            <a:r>
              <a:rPr lang="en-US" sz="2000" dirty="0" err="1"/>
              <a:t>lungimea</a:t>
            </a:r>
            <a:r>
              <a:rPr lang="en-US" sz="2000" dirty="0"/>
              <a:t> de </a:t>
            </a:r>
            <a:r>
              <a:rPr lang="en-US" sz="2000" dirty="0" err="1"/>
              <a:t>undă</a:t>
            </a:r>
            <a:r>
              <a:rPr lang="en-US" sz="2000" dirty="0"/>
              <a:t> </a:t>
            </a:r>
            <a:r>
              <a:rPr lang="en-US" sz="2000" dirty="0" err="1"/>
              <a:t>în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 err="1"/>
              <a:t>domeniul</a:t>
            </a:r>
            <a:r>
              <a:rPr lang="en-US" sz="2000" dirty="0"/>
              <a:t> </a:t>
            </a:r>
            <a:r>
              <a:rPr lang="en-US" sz="2000" dirty="0" err="1"/>
              <a:t>vizibil</a:t>
            </a:r>
            <a:r>
              <a:rPr lang="en-US" sz="2000" dirty="0"/>
              <a:t> </a:t>
            </a:r>
            <a:r>
              <a:rPr lang="en-US" sz="2000" dirty="0" err="1"/>
              <a:t>sau</a:t>
            </a:r>
            <a:r>
              <a:rPr lang="en-US" sz="2000" dirty="0"/>
              <a:t> ultraviolet. </a:t>
            </a:r>
            <a:r>
              <a:rPr lang="en-US" sz="2000" dirty="0" err="1"/>
              <a:t>Dacă</a:t>
            </a:r>
            <a:r>
              <a:rPr lang="en-US" sz="2000" dirty="0"/>
              <a:t> </a:t>
            </a:r>
            <a:r>
              <a:rPr lang="en-US" sz="2000" dirty="0" err="1"/>
              <a:t>semiconductorul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supus</a:t>
            </a:r>
            <a:r>
              <a:rPr lang="en-US" sz="2000" dirty="0"/>
              <a:t> </a:t>
            </a:r>
            <a:r>
              <a:rPr lang="en-US" sz="2000" dirty="0" err="1" smtClean="0"/>
              <a:t>unei</a:t>
            </a:r>
            <a:r>
              <a:rPr lang="x-none" sz="2000" dirty="0" smtClean="0"/>
              <a:t> </a:t>
            </a:r>
            <a:r>
              <a:rPr lang="en-US" sz="2000" dirty="0" err="1" smtClean="0"/>
              <a:t>diferenţe</a:t>
            </a:r>
            <a:r>
              <a:rPr lang="en-US" sz="2000" dirty="0" smtClean="0"/>
              <a:t> </a:t>
            </a:r>
            <a:r>
              <a:rPr lang="en-US" sz="2000" dirty="0"/>
              <a:t>de </a:t>
            </a:r>
            <a:r>
              <a:rPr lang="en-US" sz="2000" dirty="0" err="1"/>
              <a:t>potenţial</a:t>
            </a:r>
            <a:r>
              <a:rPr lang="en-US" sz="2000" dirty="0"/>
              <a:t>, </a:t>
            </a:r>
            <a:r>
              <a:rPr lang="en-US" sz="2000" dirty="0" err="1"/>
              <a:t>atunci</a:t>
            </a:r>
            <a:r>
              <a:rPr lang="en-US" sz="2000" dirty="0"/>
              <a:t> el </a:t>
            </a:r>
            <a:r>
              <a:rPr lang="en-US" sz="2000" dirty="0" err="1"/>
              <a:t>va</a:t>
            </a:r>
            <a:r>
              <a:rPr lang="en-US" sz="2000" dirty="0"/>
              <a:t> fi </a:t>
            </a:r>
            <a:r>
              <a:rPr lang="en-US" sz="2000" dirty="0" err="1"/>
              <a:t>parcurs</a:t>
            </a:r>
            <a:r>
              <a:rPr lang="en-US" sz="2000" dirty="0"/>
              <a:t> de un </a:t>
            </a:r>
            <a:r>
              <a:rPr lang="en-US" sz="2000" dirty="0" err="1"/>
              <a:t>curent</a:t>
            </a:r>
            <a:r>
              <a:rPr lang="en-US" sz="2000" dirty="0"/>
              <a:t> a </a:t>
            </a:r>
            <a:r>
              <a:rPr lang="en-US" sz="2000" dirty="0" err="1"/>
              <a:t>cărui</a:t>
            </a:r>
            <a:r>
              <a:rPr lang="en-US" sz="2000" dirty="0"/>
              <a:t> </a:t>
            </a:r>
            <a:r>
              <a:rPr lang="en-US" sz="2000" dirty="0" err="1"/>
              <a:t>intensitate</a:t>
            </a:r>
            <a:r>
              <a:rPr lang="en-US" sz="2000" dirty="0"/>
              <a:t> </a:t>
            </a:r>
            <a:r>
              <a:rPr lang="en-US" sz="2000" dirty="0" err="1"/>
              <a:t>va</a:t>
            </a:r>
            <a:r>
              <a:rPr lang="en-US" sz="2000" dirty="0"/>
              <a:t> </a:t>
            </a:r>
            <a:r>
              <a:rPr lang="en-US" sz="2000" dirty="0" err="1"/>
              <a:t>depinde</a:t>
            </a:r>
            <a:r>
              <a:rPr lang="en-US" sz="2000" dirty="0"/>
              <a:t> de </a:t>
            </a:r>
            <a:r>
              <a:rPr lang="en-US" sz="2000" dirty="0" err="1"/>
              <a:t>mărimea</a:t>
            </a:r>
            <a:r>
              <a:rPr lang="en-US" sz="2000" dirty="0"/>
              <a:t> </a:t>
            </a:r>
            <a:r>
              <a:rPr lang="en-US" sz="2000" dirty="0" err="1"/>
              <a:t>fluxului</a:t>
            </a:r>
            <a:r>
              <a:rPr lang="en-US" sz="2000" dirty="0"/>
              <a:t> </a:t>
            </a:r>
            <a:r>
              <a:rPr lang="en-US" sz="2000" dirty="0" err="1"/>
              <a:t>luminos</a:t>
            </a:r>
            <a:r>
              <a:rPr lang="en-US" sz="2000" dirty="0"/>
              <a:t> incident. </a:t>
            </a:r>
            <a:r>
              <a:rPr lang="en-US" sz="2000" dirty="0" err="1"/>
              <a:t>Intensitatea</a:t>
            </a:r>
            <a:r>
              <a:rPr lang="en-US" sz="2000" dirty="0"/>
              <a:t> </a:t>
            </a:r>
            <a:r>
              <a:rPr lang="en-US" sz="2000" dirty="0" err="1"/>
              <a:t>lui</a:t>
            </a:r>
            <a:r>
              <a:rPr lang="en-US" sz="2000" dirty="0"/>
              <a:t> </a:t>
            </a:r>
            <a:r>
              <a:rPr lang="en-US" sz="2000" dirty="0" err="1"/>
              <a:t>poate</a:t>
            </a:r>
            <a:r>
              <a:rPr lang="en-US" sz="2000" dirty="0"/>
              <a:t> fi</a:t>
            </a:r>
            <a:br>
              <a:rPr lang="en-US" sz="2000" dirty="0"/>
            </a:br>
            <a:r>
              <a:rPr lang="en-US" sz="2000" dirty="0" err="1"/>
              <a:t>mărită</a:t>
            </a:r>
            <a:r>
              <a:rPr lang="en-US" sz="2000" dirty="0"/>
              <a:t> </a:t>
            </a:r>
            <a:r>
              <a:rPr lang="en-US" sz="2000" dirty="0" err="1"/>
              <a:t>prin</a:t>
            </a:r>
            <a:r>
              <a:rPr lang="en-US" sz="2000" dirty="0"/>
              <a:t> </a:t>
            </a:r>
            <a:r>
              <a:rPr lang="en-US" sz="2000" dirty="0" err="1"/>
              <a:t>utilizarea</a:t>
            </a:r>
            <a:r>
              <a:rPr lang="en-US" sz="2000" dirty="0"/>
              <a:t> </a:t>
            </a:r>
            <a:r>
              <a:rPr lang="en-US" sz="2000" dirty="0" err="1"/>
              <a:t>proprietăţii</a:t>
            </a:r>
            <a:r>
              <a:rPr lang="en-US" sz="2000" dirty="0"/>
              <a:t> </a:t>
            </a:r>
            <a:r>
              <a:rPr lang="en-US" sz="2000" dirty="0" err="1"/>
              <a:t>structurii</a:t>
            </a:r>
            <a:r>
              <a:rPr lang="en-US" sz="2000" dirty="0"/>
              <a:t> de </a:t>
            </a:r>
            <a:r>
              <a:rPr lang="en-US" sz="2000" dirty="0" err="1"/>
              <a:t>tranzistor</a:t>
            </a:r>
            <a:r>
              <a:rPr lang="en-US" sz="2000" dirty="0"/>
              <a:t> de a </a:t>
            </a:r>
            <a:r>
              <a:rPr lang="en-US" sz="2000" dirty="0" err="1" smtClean="0"/>
              <a:t>amplifica</a:t>
            </a:r>
            <a:r>
              <a:rPr lang="x-none" sz="2000" dirty="0" smtClean="0"/>
              <a:t> </a:t>
            </a:r>
            <a:r>
              <a:rPr lang="en-US" sz="2000" dirty="0" err="1" smtClean="0"/>
              <a:t>curentul</a:t>
            </a:r>
            <a:r>
              <a:rPr lang="en-US" sz="2000" dirty="0"/>
              <a:t>. </a:t>
            </a:r>
            <a:r>
              <a:rPr lang="en-US" sz="2000" dirty="0" err="1"/>
              <a:t>Fototranzistorul</a:t>
            </a:r>
            <a:r>
              <a:rPr lang="en-US" sz="2000" dirty="0"/>
              <a:t> </a:t>
            </a:r>
            <a:r>
              <a:rPr lang="en-US" sz="2000" dirty="0" err="1" smtClean="0"/>
              <a:t>este</a:t>
            </a:r>
            <a:r>
              <a:rPr lang="en-US" sz="2000" dirty="0" smtClean="0"/>
              <a:t> </a:t>
            </a:r>
            <a:r>
              <a:rPr lang="en-US" sz="2000" dirty="0"/>
              <a:t>un </a:t>
            </a:r>
            <a:r>
              <a:rPr lang="en-US" sz="2000" dirty="0" err="1"/>
              <a:t>tranzistor</a:t>
            </a:r>
            <a:r>
              <a:rPr lang="en-US" sz="2000" dirty="0"/>
              <a:t> cu </a:t>
            </a:r>
            <a:r>
              <a:rPr lang="en-US" sz="2000" dirty="0" err="1"/>
              <a:t>regiunea</a:t>
            </a:r>
            <a:r>
              <a:rPr lang="en-US" sz="2000" dirty="0"/>
              <a:t> </a:t>
            </a:r>
            <a:r>
              <a:rPr lang="en-US" sz="2000" dirty="0" err="1" smtClean="0"/>
              <a:t>joncţiunii</a:t>
            </a:r>
            <a:r>
              <a:rPr lang="x-none" sz="2000" dirty="0" smtClean="0"/>
              <a:t> </a:t>
            </a:r>
            <a:r>
              <a:rPr lang="en-US" sz="2000" dirty="0" err="1" smtClean="0"/>
              <a:t>emitor-bază</a:t>
            </a:r>
            <a:r>
              <a:rPr lang="en-US" sz="2000" dirty="0" smtClean="0"/>
              <a:t> </a:t>
            </a:r>
            <a:r>
              <a:rPr lang="en-US" sz="2000" dirty="0" err="1"/>
              <a:t>expusă</a:t>
            </a:r>
            <a:r>
              <a:rPr lang="en-US" sz="2000" dirty="0"/>
              <a:t> </a:t>
            </a:r>
            <a:r>
              <a:rPr lang="en-US" sz="2000" dirty="0" err="1"/>
              <a:t>iluminării</a:t>
            </a:r>
            <a:r>
              <a:rPr lang="en-US" sz="2000" dirty="0"/>
              <a:t>, </a:t>
            </a:r>
            <a:r>
              <a:rPr lang="en-US" sz="2000" dirty="0" err="1"/>
              <a:t>astfel</a:t>
            </a:r>
            <a:r>
              <a:rPr lang="en-US" sz="2000" dirty="0"/>
              <a:t> </a:t>
            </a:r>
            <a:r>
              <a:rPr lang="en-US" sz="2000" dirty="0" err="1"/>
              <a:t>încât</a:t>
            </a:r>
            <a:r>
              <a:rPr lang="en-US" sz="2000" dirty="0"/>
              <a:t> </a:t>
            </a:r>
            <a:r>
              <a:rPr lang="en-US" sz="2000" dirty="0" err="1"/>
              <a:t>rolul</a:t>
            </a:r>
            <a:r>
              <a:rPr lang="en-US" sz="2000" dirty="0"/>
              <a:t> </a:t>
            </a:r>
            <a:r>
              <a:rPr lang="en-US" sz="2000" dirty="0" err="1"/>
              <a:t>diferenţei</a:t>
            </a:r>
            <a:r>
              <a:rPr lang="en-US" sz="2000" dirty="0"/>
              <a:t> de </a:t>
            </a:r>
            <a:r>
              <a:rPr lang="en-US" sz="2000" dirty="0" err="1"/>
              <a:t>potenţial</a:t>
            </a:r>
            <a:r>
              <a:rPr lang="en-US" sz="2000" dirty="0"/>
              <a:t> </a:t>
            </a:r>
            <a:r>
              <a:rPr lang="en-US" sz="2000" dirty="0" err="1"/>
              <a:t>dintre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 err="1"/>
              <a:t>bază</a:t>
            </a:r>
            <a:r>
              <a:rPr lang="en-US" sz="2000" dirty="0"/>
              <a:t> </a:t>
            </a:r>
            <a:r>
              <a:rPr lang="en-US" sz="2000" dirty="0" err="1"/>
              <a:t>şi</a:t>
            </a:r>
            <a:r>
              <a:rPr lang="en-US" sz="2000" dirty="0"/>
              <a:t> </a:t>
            </a:r>
            <a:r>
              <a:rPr lang="en-US" sz="2000" dirty="0" err="1"/>
              <a:t>emitor</a:t>
            </a:r>
            <a:r>
              <a:rPr lang="en-US" sz="2000" dirty="0"/>
              <a:t> </a:t>
            </a:r>
            <a:r>
              <a:rPr lang="en-US" sz="2000" dirty="0" err="1"/>
              <a:t>este</a:t>
            </a:r>
            <a:r>
              <a:rPr lang="en-US" sz="2000" dirty="0"/>
              <a:t> </a:t>
            </a:r>
            <a:r>
              <a:rPr lang="en-US" sz="2000" dirty="0" err="1"/>
              <a:t>jucat</a:t>
            </a:r>
            <a:r>
              <a:rPr lang="en-US" sz="2000" dirty="0"/>
              <a:t> de </a:t>
            </a:r>
            <a:r>
              <a:rPr lang="en-US" sz="2000" dirty="0" err="1"/>
              <a:t>fluxul</a:t>
            </a:r>
            <a:r>
              <a:rPr lang="en-US" sz="2000" dirty="0"/>
              <a:t> </a:t>
            </a:r>
            <a:r>
              <a:rPr lang="en-US" sz="2000" dirty="0" err="1"/>
              <a:t>luminos</a:t>
            </a:r>
            <a:r>
              <a:rPr lang="en-US" sz="2000" dirty="0"/>
              <a:t> incident </a:t>
            </a:r>
            <a:r>
              <a:rPr lang="en-US" sz="2000" dirty="0" err="1"/>
              <a:t>pe</a:t>
            </a:r>
            <a:r>
              <a:rPr lang="en-US" sz="2000" dirty="0"/>
              <a:t> </a:t>
            </a:r>
            <a:r>
              <a:rPr lang="en-US" sz="2000" dirty="0" err="1"/>
              <a:t>joncţiunea</a:t>
            </a:r>
            <a:r>
              <a:rPr lang="en-US" sz="2000" dirty="0"/>
              <a:t> </a:t>
            </a:r>
            <a:r>
              <a:rPr lang="en-US" sz="2000" dirty="0" err="1"/>
              <a:t>emitoare</a:t>
            </a:r>
            <a:r>
              <a:rPr lang="en-US" sz="2000" dirty="0" smtClean="0"/>
              <a:t>.</a:t>
            </a:r>
            <a:r>
              <a:rPr lang="x-none" sz="2000" dirty="0" smtClean="0"/>
              <a:t> </a:t>
            </a:r>
            <a:r>
              <a:rPr lang="en-US" sz="2000" dirty="0" err="1" smtClean="0"/>
              <a:t>Generarea</a:t>
            </a:r>
            <a:r>
              <a:rPr lang="en-US" sz="2000" dirty="0" smtClean="0"/>
              <a:t> </a:t>
            </a:r>
            <a:r>
              <a:rPr lang="en-US" sz="2000" dirty="0"/>
              <a:t>de </a:t>
            </a:r>
            <a:r>
              <a:rPr lang="en-US" sz="2000" dirty="0" err="1"/>
              <a:t>perechi</a:t>
            </a:r>
            <a:r>
              <a:rPr lang="en-US" sz="2000" dirty="0"/>
              <a:t> electron-</a:t>
            </a:r>
            <a:r>
              <a:rPr lang="en-US" sz="2000" dirty="0" err="1"/>
              <a:t>gol</a:t>
            </a:r>
            <a:r>
              <a:rPr lang="en-US" sz="2000" dirty="0"/>
              <a:t> </a:t>
            </a:r>
            <a:r>
              <a:rPr lang="en-US" sz="2000" dirty="0" err="1"/>
              <a:t>contribuie</a:t>
            </a:r>
            <a:r>
              <a:rPr lang="en-US" sz="2000" dirty="0"/>
              <a:t> la </a:t>
            </a:r>
            <a:r>
              <a:rPr lang="en-US" sz="2000" dirty="0" err="1"/>
              <a:t>micşorarea</a:t>
            </a:r>
            <a:r>
              <a:rPr lang="en-US" sz="2000" dirty="0"/>
              <a:t> </a:t>
            </a:r>
            <a:r>
              <a:rPr lang="en-US" sz="2000" dirty="0" err="1"/>
              <a:t>barierei</a:t>
            </a:r>
            <a:r>
              <a:rPr lang="en-US" sz="2000" dirty="0"/>
              <a:t> </a:t>
            </a:r>
            <a:r>
              <a:rPr lang="en-US" sz="2000" dirty="0" smtClean="0"/>
              <a:t>de</a:t>
            </a:r>
            <a:r>
              <a:rPr lang="x-none" sz="2000" dirty="0" smtClean="0"/>
              <a:t> </a:t>
            </a:r>
            <a:r>
              <a:rPr lang="en-US" sz="2000" dirty="0" err="1" smtClean="0"/>
              <a:t>potenţial</a:t>
            </a:r>
            <a:r>
              <a:rPr lang="en-US" sz="2000" dirty="0" smtClean="0"/>
              <a:t> </a:t>
            </a:r>
            <a:r>
              <a:rPr lang="en-US" sz="2000" dirty="0"/>
              <a:t>a </a:t>
            </a:r>
            <a:r>
              <a:rPr lang="en-US" sz="2000" dirty="0" err="1"/>
              <a:t>joncţiunii</a:t>
            </a:r>
            <a:r>
              <a:rPr lang="en-US" sz="2000" dirty="0"/>
              <a:t> </a:t>
            </a:r>
            <a:r>
              <a:rPr lang="en-US" sz="2000" dirty="0" err="1"/>
              <a:t>şi</a:t>
            </a:r>
            <a:r>
              <a:rPr lang="en-US" sz="2000" dirty="0"/>
              <a:t> </a:t>
            </a:r>
            <a:r>
              <a:rPr lang="en-US" sz="2000" dirty="0" err="1"/>
              <a:t>deschiderea</a:t>
            </a:r>
            <a:r>
              <a:rPr lang="en-US" sz="2000" dirty="0"/>
              <a:t> </a:t>
            </a:r>
            <a:r>
              <a:rPr lang="en-US" sz="2000" dirty="0" err="1"/>
              <a:t>ei</a:t>
            </a:r>
            <a:r>
              <a:rPr lang="en-US" sz="2000" dirty="0"/>
              <a:t> </a:t>
            </a:r>
            <a:r>
              <a:rPr lang="en-US" sz="2000" dirty="0" err="1"/>
              <a:t>mai</a:t>
            </a:r>
            <a:r>
              <a:rPr lang="en-US" sz="2000" dirty="0"/>
              <a:t> </a:t>
            </a:r>
            <a:r>
              <a:rPr lang="en-US" sz="2000" dirty="0" err="1"/>
              <a:t>mult</a:t>
            </a:r>
            <a:r>
              <a:rPr lang="en-US" sz="2000" dirty="0"/>
              <a:t> </a:t>
            </a:r>
            <a:r>
              <a:rPr lang="en-US" sz="2000" dirty="0" err="1"/>
              <a:t>sau</a:t>
            </a:r>
            <a:r>
              <a:rPr lang="en-US" sz="2000" dirty="0"/>
              <a:t> </a:t>
            </a:r>
            <a:r>
              <a:rPr lang="en-US" sz="2000" dirty="0" err="1"/>
              <a:t>mai</a:t>
            </a:r>
            <a:r>
              <a:rPr lang="en-US" sz="2000" dirty="0"/>
              <a:t> </a:t>
            </a:r>
            <a:r>
              <a:rPr lang="en-US" sz="2000" dirty="0" err="1"/>
              <a:t>puţin</a:t>
            </a:r>
            <a:r>
              <a:rPr lang="en-US" sz="2000" dirty="0"/>
              <a:t>, </a:t>
            </a:r>
            <a:r>
              <a:rPr lang="en-US" sz="2000" dirty="0" err="1"/>
              <a:t>în</a:t>
            </a:r>
            <a:r>
              <a:rPr lang="en-US" sz="2000" dirty="0"/>
              <a:t> </a:t>
            </a:r>
            <a:r>
              <a:rPr lang="en-US" sz="2000" dirty="0" err="1"/>
              <a:t>funcţie</a:t>
            </a:r>
            <a:r>
              <a:rPr lang="en-US" sz="2000" dirty="0"/>
              <a:t> de</a:t>
            </a:r>
            <a:br>
              <a:rPr lang="en-US" sz="2000" dirty="0"/>
            </a:br>
            <a:r>
              <a:rPr lang="en-US" sz="2000" dirty="0" err="1"/>
              <a:t>numărul</a:t>
            </a:r>
            <a:r>
              <a:rPr lang="en-US" sz="2000" dirty="0"/>
              <a:t> de </a:t>
            </a:r>
            <a:r>
              <a:rPr lang="en-US" sz="2000" dirty="0" err="1"/>
              <a:t>fotoni</a:t>
            </a:r>
            <a:r>
              <a:rPr lang="en-US" sz="2000" dirty="0"/>
              <a:t> </a:t>
            </a:r>
            <a:r>
              <a:rPr lang="en-US" sz="2000" dirty="0" err="1"/>
              <a:t>incidenţi</a:t>
            </a:r>
            <a:r>
              <a:rPr lang="en-US" sz="2000" dirty="0"/>
              <a:t>. </a:t>
            </a:r>
            <a:r>
              <a:rPr lang="en-US" sz="2000" dirty="0" err="1"/>
              <a:t>Terminalul</a:t>
            </a:r>
            <a:r>
              <a:rPr lang="en-US" sz="2000" dirty="0"/>
              <a:t> </a:t>
            </a:r>
            <a:r>
              <a:rPr lang="en-US" sz="2000" dirty="0" err="1"/>
              <a:t>bazei</a:t>
            </a:r>
            <a:r>
              <a:rPr lang="en-US" sz="2000" dirty="0"/>
              <a:t> </a:t>
            </a:r>
            <a:r>
              <a:rPr lang="en-US" sz="2000" dirty="0" err="1"/>
              <a:t>poate</a:t>
            </a:r>
            <a:r>
              <a:rPr lang="en-US" sz="2000" dirty="0"/>
              <a:t> </a:t>
            </a:r>
            <a:r>
              <a:rPr lang="en-US" sz="2000" dirty="0" err="1"/>
              <a:t>lipsi</a:t>
            </a:r>
            <a:r>
              <a:rPr lang="en-US" sz="2000" dirty="0"/>
              <a:t> </a:t>
            </a:r>
            <a:r>
              <a:rPr lang="en-US" sz="2000" dirty="0" err="1"/>
              <a:t>sau</a:t>
            </a:r>
            <a:r>
              <a:rPr lang="en-US" sz="2000" dirty="0"/>
              <a:t>, </a:t>
            </a:r>
            <a:r>
              <a:rPr lang="en-US" sz="2000" dirty="0" err="1"/>
              <a:t>dacă</a:t>
            </a:r>
            <a:r>
              <a:rPr lang="en-US" sz="2000" dirty="0"/>
              <a:t> </a:t>
            </a:r>
            <a:r>
              <a:rPr lang="en-US" sz="2000" dirty="0" err="1"/>
              <a:t>există</a:t>
            </a:r>
            <a:r>
              <a:rPr lang="en-US" sz="2000" dirty="0"/>
              <a:t>, </a:t>
            </a:r>
            <a:r>
              <a:rPr lang="en-US" sz="2000" dirty="0" smtClean="0"/>
              <a:t>el</a:t>
            </a:r>
            <a:r>
              <a:rPr lang="x-none" sz="2000" dirty="0" smtClean="0"/>
              <a:t> </a:t>
            </a:r>
            <a:r>
              <a:rPr lang="en-US" sz="2000" dirty="0" err="1" smtClean="0"/>
              <a:t>permite</a:t>
            </a:r>
            <a:r>
              <a:rPr lang="en-US" sz="2000" dirty="0" smtClean="0"/>
              <a:t> </a:t>
            </a:r>
            <a:r>
              <a:rPr lang="en-US" sz="2000" dirty="0"/>
              <a:t>un control </a:t>
            </a:r>
            <a:r>
              <a:rPr lang="en-US" sz="2000" dirty="0" err="1"/>
              <a:t>suplimentar</a:t>
            </a:r>
            <a:r>
              <a:rPr lang="en-US" sz="2000" dirty="0"/>
              <a:t> al </a:t>
            </a:r>
            <a:r>
              <a:rPr lang="en-US" sz="2000" dirty="0" err="1"/>
              <a:t>curentului</a:t>
            </a:r>
            <a:r>
              <a:rPr lang="en-US" sz="2000" dirty="0"/>
              <a:t> de </a:t>
            </a:r>
            <a:r>
              <a:rPr lang="en-US" sz="2000" dirty="0" err="1"/>
              <a:t>colector</a:t>
            </a:r>
            <a:r>
              <a:rPr lang="en-US" sz="2000" dirty="0"/>
              <a:t> </a:t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endParaRPr lang="en-US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76" y="3088481"/>
            <a:ext cx="7757735" cy="3664105"/>
          </a:xfrm>
          <a:prstGeom prst="rect">
            <a:avLst/>
          </a:prstGeom>
        </p:spPr>
      </p:pic>
      <p:pic>
        <p:nvPicPr>
          <p:cNvPr id="2050" name="Picture 2" descr="Фототранзисторы. Устройство и работа. Применение и особенности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1839" y="3262313"/>
            <a:ext cx="1665061" cy="990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Фототранзистор. Принцип работы и схема включения | joyta.ru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0446" y="3088481"/>
            <a:ext cx="2057400" cy="274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74603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Фототранзисторы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87" y="0"/>
            <a:ext cx="7730598" cy="4532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1.5 Фототранзистор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022" y="4597573"/>
            <a:ext cx="4676775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2389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6905</TotalTime>
  <Words>3323</Words>
  <Application>Microsoft Office PowerPoint</Application>
  <PresentationFormat>Произвольный</PresentationFormat>
  <Paragraphs>160</Paragraphs>
  <Slides>43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43</vt:i4>
      </vt:variant>
    </vt:vector>
  </HeadingPairs>
  <TitlesOfParts>
    <vt:vector size="44" baseType="lpstr">
      <vt:lpstr>Office Theme</vt:lpstr>
      <vt:lpstr>Circuite și Dispozitive Electronice  Tema 4 – Tranzistoare bipolare. Tipuri. Caracteristici. Conexiuni. Utilizare. </vt:lpstr>
      <vt:lpstr>Презентация PowerPoint</vt:lpstr>
      <vt:lpstr>Презентация PowerPoint</vt:lpstr>
      <vt:lpstr>Informatii generale</vt:lpstr>
      <vt:lpstr>Презентация PowerPoint</vt:lpstr>
      <vt:lpstr>Clasificarea tranzistoarelor</vt:lpstr>
      <vt:lpstr>Clasificarea tranzistoarelor</vt:lpstr>
      <vt:lpstr>Clasificarea tranzistoarelor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Circuite și Dispozitive Electronice  L.1 – Introducere</dc:title>
  <dc:creator>Пользователь Windows</dc:creator>
  <cp:lastModifiedBy>Asus</cp:lastModifiedBy>
  <cp:revision>257</cp:revision>
  <dcterms:created xsi:type="dcterms:W3CDTF">2020-08-28T11:28:42Z</dcterms:created>
  <dcterms:modified xsi:type="dcterms:W3CDTF">2021-10-26T06:50:41Z</dcterms:modified>
</cp:coreProperties>
</file>