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handoutMasterIdLst>
    <p:handoutMasterId r:id="rId31"/>
  </p:handoutMasterIdLst>
  <p:sldIdLst>
    <p:sldId id="256" r:id="rId2"/>
    <p:sldId id="297" r:id="rId3"/>
    <p:sldId id="298" r:id="rId4"/>
    <p:sldId id="299" r:id="rId5"/>
    <p:sldId id="300" r:id="rId6"/>
    <p:sldId id="275" r:id="rId7"/>
    <p:sldId id="309" r:id="rId8"/>
    <p:sldId id="310" r:id="rId9"/>
    <p:sldId id="311" r:id="rId10"/>
    <p:sldId id="313" r:id="rId11"/>
    <p:sldId id="312" r:id="rId12"/>
    <p:sldId id="314" r:id="rId13"/>
    <p:sldId id="315" r:id="rId14"/>
    <p:sldId id="316" r:id="rId15"/>
    <p:sldId id="317" r:id="rId16"/>
    <p:sldId id="318" r:id="rId17"/>
    <p:sldId id="327" r:id="rId18"/>
    <p:sldId id="319" r:id="rId19"/>
    <p:sldId id="321" r:id="rId20"/>
    <p:sldId id="322" r:id="rId21"/>
    <p:sldId id="328" r:id="rId22"/>
    <p:sldId id="323" r:id="rId23"/>
    <p:sldId id="324" r:id="rId24"/>
    <p:sldId id="325" r:id="rId25"/>
    <p:sldId id="326" r:id="rId26"/>
    <p:sldId id="306" r:id="rId27"/>
    <p:sldId id="308" r:id="rId28"/>
    <p:sldId id="32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98" autoAdjust="0"/>
    <p:restoredTop sz="95253" autoAdjust="0"/>
  </p:normalViewPr>
  <p:slideViewPr>
    <p:cSldViewPr snapToGrid="0">
      <p:cViewPr varScale="1">
        <p:scale>
          <a:sx n="111" d="100"/>
          <a:sy n="111" d="100"/>
        </p:scale>
        <p:origin x="-618"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36314A2-56B9-42B7-9120-49F66225A8CA}" type="datetimeFigureOut">
              <a:rPr lang="en-US" smtClean="0"/>
              <a:t>12/3/2024</a:t>
            </a:fld>
            <a:endParaRPr lang="en-US"/>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151AAD4-D295-42BD-9964-9085EBBDE011}" type="slidenum">
              <a:rPr lang="en-US" smtClean="0"/>
              <a:t>‹#›</a:t>
            </a:fld>
            <a:endParaRPr lang="en-US"/>
          </a:p>
        </p:txBody>
      </p:sp>
    </p:spTree>
    <p:extLst>
      <p:ext uri="{BB962C8B-B14F-4D97-AF65-F5344CB8AC3E}">
        <p14:creationId xmlns:p14="http://schemas.microsoft.com/office/powerpoint/2010/main" val="38725541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27F67-3A50-4297-B8B6-693DA88AA5E4}" type="datetimeFigureOut">
              <a:rPr lang="en-US" smtClean="0"/>
              <a:t>12/3/2024</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8DB0D-707A-4B4F-9F6C-74B60B20FB92}" type="slidenum">
              <a:rPr lang="en-US" smtClean="0"/>
              <a:t>‹#›</a:t>
            </a:fld>
            <a:endParaRPr lang="en-US"/>
          </a:p>
        </p:txBody>
      </p:sp>
    </p:spTree>
    <p:extLst>
      <p:ext uri="{BB962C8B-B14F-4D97-AF65-F5344CB8AC3E}">
        <p14:creationId xmlns:p14="http://schemas.microsoft.com/office/powerpoint/2010/main" val="1570655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10"/>
          </p:nvPr>
        </p:nvSpPr>
        <p:spPr/>
        <p:txBody>
          <a:bodyPr/>
          <a:lstStyle/>
          <a:p>
            <a:fld id="{6858DB0D-707A-4B4F-9F6C-74B60B20FB92}" type="slidenum">
              <a:rPr lang="en-US" smtClean="0"/>
              <a:t>6</a:t>
            </a:fld>
            <a:endParaRPr lang="en-US"/>
          </a:p>
        </p:txBody>
      </p:sp>
    </p:spTree>
    <p:extLst>
      <p:ext uri="{BB962C8B-B14F-4D97-AF65-F5344CB8AC3E}">
        <p14:creationId xmlns:p14="http://schemas.microsoft.com/office/powerpoint/2010/main" val="3919547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153801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646196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D7CAE28-B5DB-416C-BBE2-FF443ED9C5B5}"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90635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D7CAE28-B5DB-416C-BBE2-FF443ED9C5B5}"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301116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D7CAE28-B5DB-416C-BBE2-FF443ED9C5B5}" type="datetimeFigureOut">
              <a:rPr lang="en-US" smtClean="0"/>
              <a:t>12/3/2024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2052972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D7CAE28-B5DB-416C-BBE2-FF443ED9C5B5}" type="datetimeFigureOut">
              <a:rPr lang="en-US" smtClean="0"/>
              <a:t>12/3/2024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282048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7CAE28-B5DB-416C-BBE2-FF443ED9C5B5}" type="datetimeFigureOut">
              <a:rPr lang="en-US" smtClean="0"/>
              <a:t>12/3/2024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148447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D7CAE28-B5DB-416C-BBE2-FF443ED9C5B5}"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4178827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D7CAE28-B5DB-416C-BBE2-FF443ED9C5B5}"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3696069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134420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D7CAE28-B5DB-416C-BBE2-FF443ED9C5B5}"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BC0902-DFCD-4542-83AB-0F1E2C26E220}" type="slidenum">
              <a:rPr lang="en-US" smtClean="0"/>
              <a:t>‹#›</a:t>
            </a:fld>
            <a:endParaRPr lang="en-US"/>
          </a:p>
        </p:txBody>
      </p:sp>
    </p:spTree>
    <p:extLst>
      <p:ext uri="{BB962C8B-B14F-4D97-AF65-F5344CB8AC3E}">
        <p14:creationId xmlns:p14="http://schemas.microsoft.com/office/powerpoint/2010/main" val="218976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7CAE28-B5DB-416C-BBE2-FF443ED9C5B5}" type="datetimeFigureOut">
              <a:rPr lang="en-US" smtClean="0"/>
              <a:t>12/3/2024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C0902-DFCD-4542-83AB-0F1E2C26E220}" type="slidenum">
              <a:rPr lang="en-US" smtClean="0"/>
              <a:t>‹#›</a:t>
            </a:fld>
            <a:endParaRPr lang="en-US"/>
          </a:p>
        </p:txBody>
      </p:sp>
    </p:spTree>
    <p:extLst>
      <p:ext uri="{BB962C8B-B14F-4D97-AF65-F5344CB8AC3E}">
        <p14:creationId xmlns:p14="http://schemas.microsoft.com/office/powerpoint/2010/main" val="14515823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a:xfrm>
            <a:off x="434565" y="280656"/>
            <a:ext cx="11633703" cy="1522265"/>
          </a:xfrm>
        </p:spPr>
        <p:txBody>
          <a:bodyPr anchor="t">
            <a:normAutofit/>
          </a:bodyPr>
          <a:lstStyle/>
          <a:p>
            <a:r>
              <a:rPr lang="x-none" sz="5400" b="1" dirty="0" smtClean="0">
                <a:latin typeface="Times New Roman" panose="02020603050405020304" pitchFamily="18" charset="0"/>
                <a:cs typeface="Times New Roman" panose="02020603050405020304" pitchFamily="18" charset="0"/>
              </a:rPr>
              <a:t>Circuite și Dispozitive Electronice </a:t>
            </a:r>
            <a:br>
              <a:rPr lang="x-none" sz="5400" b="1" dirty="0" smtClean="0">
                <a:latin typeface="Times New Roman" panose="02020603050405020304" pitchFamily="18" charset="0"/>
                <a:cs typeface="Times New Roman" panose="02020603050405020304" pitchFamily="18" charset="0"/>
              </a:rPr>
            </a:br>
            <a:r>
              <a:rPr lang="en-US" sz="3200" dirty="0" err="1" smtClean="0">
                <a:latin typeface="Times New Roman" panose="02020603050405020304" pitchFamily="18" charset="0"/>
                <a:cs typeface="Times New Roman" panose="02020603050405020304" pitchFamily="18" charset="0"/>
              </a:rPr>
              <a:t>Amplificatorul</a:t>
            </a:r>
            <a:r>
              <a:rPr lang="en-US" sz="3200" dirty="0" smtClean="0">
                <a:latin typeface="Times New Roman" panose="02020603050405020304" pitchFamily="18" charset="0"/>
                <a:cs typeface="Times New Roman" panose="02020603050405020304" pitchFamily="18" charset="0"/>
              </a:rPr>
              <a:t> de </a:t>
            </a:r>
            <a:r>
              <a:rPr lang="en-US" sz="3200" dirty="0" err="1" smtClean="0">
                <a:latin typeface="Times New Roman" panose="02020603050405020304" pitchFamily="18" charset="0"/>
                <a:cs typeface="Times New Roman" panose="02020603050405020304" pitchFamily="18" charset="0"/>
              </a:rPr>
              <a:t>semnal</a:t>
            </a:r>
            <a:r>
              <a:rPr lang="en-US" sz="3200" dirty="0" smtClean="0">
                <a:latin typeface="Times New Roman" panose="02020603050405020304" pitchFamily="18" charset="0"/>
                <a:cs typeface="Times New Roman" panose="02020603050405020304" pitchFamily="18" charset="0"/>
              </a:rPr>
              <a:t> mic </a:t>
            </a:r>
            <a:r>
              <a:rPr lang="x-none" sz="3200" dirty="0" smtClean="0">
                <a:latin typeface="Times New Roman" panose="02020603050405020304" pitchFamily="18" charset="0"/>
                <a:cs typeface="Times New Roman" panose="02020603050405020304" pitchFamily="18" charset="0"/>
              </a:rPr>
              <a:t>î</a:t>
            </a:r>
            <a:r>
              <a:rPr lang="en-US" sz="3200" dirty="0" smtClean="0">
                <a:latin typeface="Times New Roman" panose="02020603050405020304" pitchFamily="18" charset="0"/>
                <a:cs typeface="Times New Roman" panose="02020603050405020304" pitchFamily="18" charset="0"/>
              </a:rPr>
              <a:t>n </a:t>
            </a:r>
            <a:r>
              <a:rPr lang="en-US" sz="3200" dirty="0" err="1" smtClean="0">
                <a:latin typeface="Times New Roman" panose="02020603050405020304" pitchFamily="18" charset="0"/>
                <a:cs typeface="Times New Roman" panose="02020603050405020304" pitchFamily="18" charset="0"/>
              </a:rPr>
              <a:t>conexiune</a:t>
            </a:r>
            <a:r>
              <a:rPr lang="en-US" sz="3200" dirty="0" smtClean="0">
                <a:latin typeface="Times New Roman" panose="02020603050405020304" pitchFamily="18" charset="0"/>
                <a:cs typeface="Times New Roman" panose="02020603050405020304" pitchFamily="18" charset="0"/>
              </a:rPr>
              <a:t> cu </a:t>
            </a:r>
            <a:r>
              <a:rPr lang="x-none" sz="3200" dirty="0" smtClean="0">
                <a:latin typeface="Times New Roman" panose="02020603050405020304" pitchFamily="18" charset="0"/>
                <a:cs typeface="Times New Roman" panose="02020603050405020304" pitchFamily="18" charset="0"/>
              </a:rPr>
              <a:t>Emitor comun</a:t>
            </a:r>
            <a:r>
              <a:rPr lang="it-IT" sz="3200" dirty="0" smtClean="0">
                <a:latin typeface="Times New Roman" panose="02020603050405020304" pitchFamily="18" charset="0"/>
                <a:cs typeface="Times New Roman" panose="02020603050405020304" pitchFamily="18" charset="0"/>
              </a:rPr>
              <a:t>.</a:t>
            </a:r>
            <a:endParaRPr lang="en-US" sz="5400" dirty="0">
              <a:latin typeface="Times New Roman" panose="02020603050405020304" pitchFamily="18" charset="0"/>
              <a:cs typeface="Times New Roman" panose="02020603050405020304" pitchFamily="18" charset="0"/>
            </a:endParaRPr>
          </a:p>
        </p:txBody>
      </p:sp>
      <p:sp>
        <p:nvSpPr>
          <p:cNvPr id="5" name="Подзаголовок 4"/>
          <p:cNvSpPr>
            <a:spLocks noGrp="1"/>
          </p:cNvSpPr>
          <p:nvPr>
            <p:ph type="subTitle" idx="1"/>
          </p:nvPr>
        </p:nvSpPr>
        <p:spPr>
          <a:xfrm>
            <a:off x="1406305" y="6047715"/>
            <a:ext cx="9144000" cy="495678"/>
          </a:xfrm>
        </p:spPr>
        <p:txBody>
          <a:bodyPr/>
          <a:lstStyle/>
          <a:p>
            <a:r>
              <a:rPr lang="en-US" dirty="0" smtClean="0"/>
              <a:t>Conf. </a:t>
            </a:r>
            <a:r>
              <a:rPr lang="en-US" dirty="0" err="1" smtClean="0"/>
              <a:t>univ.</a:t>
            </a:r>
            <a:r>
              <a:rPr lang="en-US" dirty="0" smtClean="0"/>
              <a:t> dr. </a:t>
            </a:r>
            <a:r>
              <a:rPr lang="en-US" dirty="0" err="1" smtClean="0"/>
              <a:t>Cretu</a:t>
            </a:r>
            <a:r>
              <a:rPr lang="en-US" dirty="0" smtClean="0"/>
              <a:t> </a:t>
            </a:r>
            <a:r>
              <a:rPr lang="en-US" dirty="0" err="1" smtClean="0"/>
              <a:t>Vasilii</a:t>
            </a:r>
            <a:endParaRPr lang="en-US" dirty="0"/>
          </a:p>
        </p:txBody>
      </p:sp>
      <p:sp>
        <p:nvSpPr>
          <p:cNvPr id="3" name="TextBox 2"/>
          <p:cNvSpPr txBox="1"/>
          <p:nvPr/>
        </p:nvSpPr>
        <p:spPr>
          <a:xfrm>
            <a:off x="560717" y="2061713"/>
            <a:ext cx="10998679" cy="3416320"/>
          </a:xfrm>
          <a:prstGeom prst="rect">
            <a:avLst/>
          </a:prstGeom>
          <a:noFill/>
        </p:spPr>
        <p:txBody>
          <a:bodyPr wrap="square" rtlCol="0">
            <a:spAutoFit/>
          </a:bodyPr>
          <a:lstStyle/>
          <a:p>
            <a:r>
              <a:rPr lang="x-none" dirty="0" smtClean="0"/>
              <a:t>Amplificatorul electronic</a:t>
            </a:r>
          </a:p>
          <a:p>
            <a:r>
              <a:rPr lang="x-none" dirty="0" smtClean="0"/>
              <a:t>Clasificarea amplificatoarelor</a:t>
            </a:r>
          </a:p>
          <a:p>
            <a:r>
              <a:rPr lang="x-none" dirty="0" smtClean="0"/>
              <a:t>Parametrii Amplificatoarelor</a:t>
            </a:r>
          </a:p>
          <a:p>
            <a:r>
              <a:rPr lang="x-none" dirty="0" smtClean="0"/>
              <a:t>Amplificatoare de curent continuu</a:t>
            </a:r>
          </a:p>
          <a:p>
            <a:r>
              <a:rPr lang="x-none" dirty="0" smtClean="0"/>
              <a:t>Clas</a:t>
            </a:r>
            <a:r>
              <a:rPr lang="en-US" dirty="0" err="1" smtClean="0"/>
              <a:t>ele</a:t>
            </a:r>
            <a:r>
              <a:rPr lang="x-none" dirty="0" smtClean="0"/>
              <a:t> de funcționare</a:t>
            </a:r>
          </a:p>
          <a:p>
            <a:r>
              <a:rPr lang="x-none" dirty="0" smtClean="0"/>
              <a:t>Amplificatorul de semnal mic în conexiune cu Emitor comun</a:t>
            </a:r>
          </a:p>
          <a:p>
            <a:r>
              <a:rPr lang="x-none" dirty="0" smtClean="0"/>
              <a:t>Conexiunea repetor </a:t>
            </a:r>
            <a:r>
              <a:rPr lang="x-none" smtClean="0"/>
              <a:t>pe Emitor</a:t>
            </a:r>
            <a:endParaRPr lang="ro-MO" smtClean="0"/>
          </a:p>
          <a:p>
            <a:r>
              <a:rPr lang="en-US" b="1">
                <a:latin typeface="Times New Roman" pitchFamily="18" charset="0"/>
                <a:cs typeface="Times New Roman" pitchFamily="18" charset="0"/>
              </a:rPr>
              <a:t>Reacţia la amplificatoare </a:t>
            </a:r>
            <a:endParaRPr lang="ro-MO" b="1" smtClean="0">
              <a:latin typeface="Times New Roman" pitchFamily="18" charset="0"/>
              <a:cs typeface="Times New Roman" pitchFamily="18" charset="0"/>
            </a:endParaRPr>
          </a:p>
          <a:p>
            <a:r>
              <a:rPr lang="en-US" b="1">
                <a:latin typeface="Times New Roman" panose="02020603050405020304" pitchFamily="18" charset="0"/>
                <a:cs typeface="Times New Roman" panose="02020603050405020304" pitchFamily="18" charset="0"/>
              </a:rPr>
              <a:t>Influenţa reacţiei negative asupra parametrilor amplificatorului</a:t>
            </a:r>
            <a:endParaRPr lang="en-US">
              <a:latin typeface="Times New Roman" panose="02020603050405020304" pitchFamily="18" charset="0"/>
              <a:cs typeface="Times New Roman" panose="02020603050405020304" pitchFamily="18" charset="0"/>
            </a:endParaRPr>
          </a:p>
          <a:p>
            <a:endParaRPr lang="en-US" smtClean="0"/>
          </a:p>
          <a:p>
            <a:endParaRPr lang="en-US"/>
          </a:p>
          <a:p>
            <a:endParaRPr lang="ru-RU" dirty="0"/>
          </a:p>
        </p:txBody>
      </p:sp>
    </p:spTree>
    <p:extLst>
      <p:ext uri="{BB962C8B-B14F-4D97-AF65-F5344CB8AC3E}">
        <p14:creationId xmlns:p14="http://schemas.microsoft.com/office/powerpoint/2010/main" val="2699953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66718"/>
            <a:ext cx="4829355" cy="609660"/>
          </a:xfrm>
        </p:spPr>
        <p:txBody>
          <a:bodyPr>
            <a:normAutofit fontScale="90000"/>
          </a:bodyPr>
          <a:lstStyle/>
          <a:p>
            <a:r>
              <a:rPr lang="x-none" sz="3600" b="1" dirty="0" smtClean="0">
                <a:latin typeface="Times New Roman" panose="02020603050405020304" pitchFamily="18" charset="0"/>
                <a:cs typeface="Times New Roman" panose="02020603050405020304" pitchFamily="18" charset="0"/>
              </a:rPr>
              <a:t>Literatura recomandata </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 y="776378"/>
            <a:ext cx="12192000" cy="5917720"/>
          </a:xfrm>
        </p:spPr>
        <p:txBody>
          <a:bodyPr>
            <a:normAutofit/>
          </a:bodyPr>
          <a:lstStyle/>
          <a:p>
            <a:r>
              <a:rPr lang="ro-RO" dirty="0"/>
              <a:t>S.D. Anghel, </a:t>
            </a:r>
            <a:r>
              <a:rPr lang="ro-RO" b="1" i="1" dirty="0"/>
              <a:t>Bazele electronicii analogice și digitale, </a:t>
            </a:r>
            <a:r>
              <a:rPr lang="ro-RO" dirty="0"/>
              <a:t>Presa Universitară Clujeană, </a:t>
            </a:r>
            <a:r>
              <a:rPr lang="ro-RO" dirty="0" smtClean="0"/>
              <a:t>2007</a:t>
            </a:r>
            <a:endParaRPr lang="en-US" dirty="0" smtClean="0"/>
          </a:p>
          <a:p>
            <a:r>
              <a:rPr lang="ro-RO" dirty="0" smtClean="0"/>
              <a:t>Tony R</a:t>
            </a:r>
            <a:r>
              <a:rPr lang="ro-RO" i="1" dirty="0" smtClean="0"/>
              <a:t>. </a:t>
            </a:r>
            <a:r>
              <a:rPr lang="ro-RO" dirty="0" smtClean="0"/>
              <a:t>Kuphaldt, </a:t>
            </a:r>
            <a:r>
              <a:rPr lang="en-US" b="1" i="1" dirty="0" err="1" smtClean="0"/>
              <a:t>Introducere</a:t>
            </a:r>
            <a:r>
              <a:rPr lang="en-US" b="1" i="1" dirty="0" smtClean="0"/>
              <a:t> </a:t>
            </a:r>
            <a:r>
              <a:rPr lang="en-US" b="1" i="1" dirty="0" err="1" smtClean="0"/>
              <a:t>în</a:t>
            </a:r>
            <a:r>
              <a:rPr lang="en-US" b="1" i="1" dirty="0" smtClean="0"/>
              <a:t> </a:t>
            </a:r>
            <a:r>
              <a:rPr lang="en-US" b="1" i="1" dirty="0" err="1" smtClean="0"/>
              <a:t>circuite</a:t>
            </a:r>
            <a:r>
              <a:rPr lang="en-US" b="1" i="1" dirty="0" smtClean="0"/>
              <a:t> </a:t>
            </a:r>
            <a:r>
              <a:rPr lang="en-US" b="1" i="1" dirty="0" err="1" smtClean="0"/>
              <a:t>electrice</a:t>
            </a:r>
            <a:r>
              <a:rPr lang="en-US" b="1" i="1" dirty="0" smtClean="0"/>
              <a:t> </a:t>
            </a:r>
            <a:r>
              <a:rPr lang="en-US" b="1" i="1" dirty="0" err="1" smtClean="0"/>
              <a:t>şi</a:t>
            </a:r>
            <a:r>
              <a:rPr lang="x-none" b="1" i="1" dirty="0" smtClean="0"/>
              <a:t> </a:t>
            </a:r>
            <a:r>
              <a:rPr lang="en-US" b="1" i="1" dirty="0" err="1" smtClean="0"/>
              <a:t>electronice</a:t>
            </a:r>
            <a:r>
              <a:rPr lang="x-none" dirty="0" smtClean="0"/>
              <a:t>, </a:t>
            </a:r>
            <a:r>
              <a:rPr lang="ro-RO" dirty="0" smtClean="0"/>
              <a:t>Vol. 3 – Electronică analogică, www.circuiteelectrice.ro (Accesibilă pe ELSE)</a:t>
            </a:r>
            <a:endParaRPr lang="en-US" dirty="0" smtClean="0"/>
          </a:p>
          <a:p>
            <a:r>
              <a:rPr lang="ro-RO" dirty="0" smtClean="0"/>
              <a:t>D. Dascalu, A. Rusu, M. Profirescu, I. Costea, </a:t>
            </a:r>
            <a:r>
              <a:rPr lang="ro-RO" b="1" i="1" dirty="0" smtClean="0"/>
              <a:t>Dispozitive și Circuite Electronice</a:t>
            </a:r>
            <a:r>
              <a:rPr lang="ro-RO" dirty="0" smtClean="0"/>
              <a:t>, Editura didactică și pedagogică, București – 1982, (Accesibilă pe ELSE)</a:t>
            </a:r>
            <a:endParaRPr lang="en-US" dirty="0" smtClean="0"/>
          </a:p>
          <a:p>
            <a:r>
              <a:rPr lang="ro-RO" dirty="0" smtClean="0"/>
              <a:t>Ecaterina-Liliana Miron, Mihai Miron, Gheorghe Pana, </a:t>
            </a:r>
            <a:r>
              <a:rPr lang="ro-RO" b="1" i="1" dirty="0" smtClean="0"/>
              <a:t>Electronica Partea I</a:t>
            </a:r>
            <a:r>
              <a:rPr lang="ro-RO" dirty="0" smtClean="0"/>
              <a:t>, Editura Academiei forțelor aeriene „Henri Coandă” 2008, </a:t>
            </a:r>
            <a:r>
              <a:rPr lang="ro-RO" dirty="0"/>
              <a:t>(Accesibilă pe ELSE</a:t>
            </a:r>
            <a:r>
              <a:rPr lang="ro-RO" dirty="0" smtClean="0"/>
              <a:t>)</a:t>
            </a:r>
            <a:endParaRPr lang="en-US" dirty="0" smtClean="0"/>
          </a:p>
          <a:p>
            <a:r>
              <a:rPr lang="ru-RU" dirty="0" smtClean="0"/>
              <a:t>П. </a:t>
            </a:r>
            <a:r>
              <a:rPr lang="ru-RU" dirty="0" err="1" smtClean="0"/>
              <a:t>Хоровиц</a:t>
            </a:r>
            <a:r>
              <a:rPr lang="ru-RU" dirty="0" smtClean="0"/>
              <a:t>, У. Хилл, Искусство </a:t>
            </a:r>
            <a:r>
              <a:rPr lang="ru-RU" dirty="0" err="1" smtClean="0"/>
              <a:t>схемотехники</a:t>
            </a:r>
            <a:r>
              <a:rPr lang="ru-RU" dirty="0" smtClean="0"/>
              <a:t>, </a:t>
            </a:r>
            <a:r>
              <a:rPr lang="en-US" dirty="0" smtClean="0"/>
              <a:t>The art of Electronics, (</a:t>
            </a:r>
            <a:r>
              <a:rPr lang="en-US" dirty="0" err="1" smtClean="0"/>
              <a:t>traducere</a:t>
            </a:r>
            <a:r>
              <a:rPr lang="en-US" dirty="0" smtClean="0"/>
              <a:t> din </a:t>
            </a:r>
            <a:r>
              <a:rPr lang="en-US" dirty="0" err="1" smtClean="0"/>
              <a:t>englez</a:t>
            </a:r>
            <a:r>
              <a:rPr lang="x-none" dirty="0"/>
              <a:t>ă</a:t>
            </a:r>
            <a:r>
              <a:rPr lang="en-US" dirty="0" smtClean="0"/>
              <a:t>)</a:t>
            </a:r>
            <a:r>
              <a:rPr lang="x-none" dirty="0" smtClean="0"/>
              <a:t>, Cambridge University Press, </a:t>
            </a:r>
            <a:r>
              <a:rPr lang="ro-RO" dirty="0"/>
              <a:t>(Accesibilă pe ELSE)</a:t>
            </a:r>
            <a:endParaRPr lang="en-US" dirty="0"/>
          </a:p>
          <a:p>
            <a:endParaRPr lang="ro-RO" dirty="0">
              <a:solidFill>
                <a:srgbClr val="FF0000"/>
              </a:solidFill>
            </a:endParaRPr>
          </a:p>
        </p:txBody>
      </p:sp>
    </p:spTree>
    <p:extLst>
      <p:ext uri="{BB962C8B-B14F-4D97-AF65-F5344CB8AC3E}">
        <p14:creationId xmlns:p14="http://schemas.microsoft.com/office/powerpoint/2010/main" val="39797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20770" y="258792"/>
            <a:ext cx="11964838" cy="6504317"/>
          </a:xfrm>
        </p:spPr>
        <p:txBody>
          <a:bodyPr>
            <a:normAutofit fontScale="92500"/>
          </a:bodyPr>
          <a:lstStyle/>
          <a:p>
            <a:pPr marL="0" indent="0">
              <a:buNone/>
            </a:pPr>
            <a:r>
              <a:rPr lang="en-US" b="1" dirty="0" err="1">
                <a:latin typeface="Times New Roman" panose="02020603050405020304" pitchFamily="18" charset="0"/>
                <a:cs typeface="Times New Roman" panose="02020603050405020304" pitchFamily="18" charset="0"/>
              </a:rPr>
              <a:t>Scopul</a:t>
            </a:r>
            <a:r>
              <a:rPr lang="en-US" b="1" dirty="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prelegerii</a:t>
            </a:r>
            <a:r>
              <a:rPr lang="en-US" b="1" dirty="0" smtClean="0">
                <a:latin typeface="Times New Roman" panose="02020603050405020304" pitchFamily="18" charset="0"/>
                <a:cs typeface="Times New Roman" panose="02020603050405020304" pitchFamily="18" charset="0"/>
              </a:rPr>
              <a:t>:</a:t>
            </a:r>
            <a:endParaRPr lang="x-none" b="1" dirty="0" smtClean="0">
              <a:latin typeface="Times New Roman" panose="02020603050405020304" pitchFamily="18" charset="0"/>
              <a:cs typeface="Times New Roman" panose="02020603050405020304" pitchFamily="18" charset="0"/>
            </a:endParaRPr>
          </a:p>
          <a:p>
            <a:pPr marL="0" indent="0">
              <a:buNone/>
            </a:pPr>
            <a:r>
              <a:rPr lang="vi-VN">
                <a:latin typeface="Times New Roman" pitchFamily="18" charset="0"/>
                <a:cs typeface="Times New Roman" pitchFamily="18" charset="0"/>
              </a:rPr>
              <a:t>de a oferi </a:t>
            </a:r>
            <a:r>
              <a:rPr lang="vi-VN" smtClean="0">
                <a:latin typeface="Times New Roman" pitchFamily="18" charset="0"/>
                <a:cs typeface="Times New Roman" pitchFamily="18" charset="0"/>
              </a:rPr>
              <a:t>o </a:t>
            </a:r>
            <a:r>
              <a:rPr lang="vi-VN">
                <a:latin typeface="Times New Roman" pitchFamily="18" charset="0"/>
                <a:cs typeface="Times New Roman" pitchFamily="18" charset="0"/>
              </a:rPr>
              <a:t>înțelegere aprofundată a conceptului de reacție negativă în amplificatoare și a impactului său asupra performanțelor acestora. </a:t>
            </a:r>
            <a:r>
              <a:rPr lang="ro-MO" smtClean="0">
                <a:latin typeface="Times New Roman" pitchFamily="18" charset="0"/>
                <a:cs typeface="Times New Roman" pitchFamily="18" charset="0"/>
              </a:rPr>
              <a:t>Se</a:t>
            </a:r>
            <a:r>
              <a:rPr lang="vi-VN" smtClean="0">
                <a:latin typeface="Times New Roman" pitchFamily="18" charset="0"/>
                <a:cs typeface="Times New Roman" pitchFamily="18" charset="0"/>
              </a:rPr>
              <a:t> </a:t>
            </a:r>
            <a:r>
              <a:rPr lang="vi-VN">
                <a:latin typeface="Times New Roman" pitchFamily="18" charset="0"/>
                <a:cs typeface="Times New Roman" pitchFamily="18" charset="0"/>
              </a:rPr>
              <a:t>va explora modul în care reacția negativă influențează parametrii cheie ai amplificatorului, cum ar fi câștigul, banda de frecvență, stabilitatea și impedanțele de intrare și ieșire</a:t>
            </a:r>
            <a:r>
              <a:rPr lang="vi-VN" smtClean="0">
                <a:latin typeface="Times New Roman" pitchFamily="18" charset="0"/>
                <a:cs typeface="Times New Roman" pitchFamily="18" charset="0"/>
              </a:rPr>
              <a:t>.</a:t>
            </a:r>
            <a:endParaRPr lang="en-US" b="1" dirty="0" smtClean="0">
              <a:solidFill>
                <a:srgbClr val="FF0000"/>
              </a:solidFill>
              <a:latin typeface="Times New Roman" panose="02020603050405020304" pitchFamily="18" charset="0"/>
              <a:cs typeface="Times New Roman" panose="02020603050405020304" pitchFamily="18" charset="0"/>
            </a:endParaRPr>
          </a:p>
          <a:p>
            <a:pPr marL="0" indent="0">
              <a:buNone/>
            </a:pPr>
            <a:r>
              <a:rPr lang="x-none" b="1" dirty="0" smtClean="0"/>
              <a:t>Rezultatele așteptate:</a:t>
            </a:r>
          </a:p>
          <a:p>
            <a:r>
              <a:rPr lang="vi-VN" b="1">
                <a:latin typeface="+mj-lt"/>
              </a:rPr>
              <a:t>Definiască</a:t>
            </a:r>
            <a:r>
              <a:rPr lang="vi-VN">
                <a:latin typeface="+mj-lt"/>
              </a:rPr>
              <a:t> reacția negativă și să explice principiul de funcționare. </a:t>
            </a:r>
            <a:endParaRPr lang="ro-MO" smtClean="0">
              <a:latin typeface="+mj-lt"/>
            </a:endParaRPr>
          </a:p>
          <a:p>
            <a:r>
              <a:rPr lang="vi-VN" b="1" smtClean="0">
                <a:latin typeface="+mj-lt"/>
              </a:rPr>
              <a:t>Identifice</a:t>
            </a:r>
            <a:r>
              <a:rPr lang="vi-VN" smtClean="0">
                <a:latin typeface="+mj-lt"/>
              </a:rPr>
              <a:t> </a:t>
            </a:r>
            <a:r>
              <a:rPr lang="vi-VN">
                <a:latin typeface="+mj-lt"/>
              </a:rPr>
              <a:t>tipurile de reacție negativă (de tensiune, de curent). </a:t>
            </a:r>
            <a:endParaRPr lang="ro-MO" smtClean="0">
              <a:latin typeface="+mj-lt"/>
            </a:endParaRPr>
          </a:p>
          <a:p>
            <a:r>
              <a:rPr lang="vi-VN" b="1" smtClean="0">
                <a:latin typeface="+mj-lt"/>
              </a:rPr>
              <a:t>Analizeze</a:t>
            </a:r>
            <a:r>
              <a:rPr lang="vi-VN" smtClean="0">
                <a:latin typeface="+mj-lt"/>
              </a:rPr>
              <a:t> </a:t>
            </a:r>
            <a:r>
              <a:rPr lang="vi-VN">
                <a:latin typeface="+mj-lt"/>
              </a:rPr>
              <a:t>modul în care reacția negativă influențează câștigul, banda de frecvență și stabilitatea unui amplificator. </a:t>
            </a:r>
            <a:endParaRPr lang="ro-MO" smtClean="0">
              <a:latin typeface="+mj-lt"/>
            </a:endParaRPr>
          </a:p>
          <a:p>
            <a:r>
              <a:rPr lang="vi-VN" b="1" smtClean="0">
                <a:latin typeface="+mj-lt"/>
              </a:rPr>
              <a:t>Explice</a:t>
            </a:r>
            <a:r>
              <a:rPr lang="vi-VN" smtClean="0">
                <a:latin typeface="+mj-lt"/>
              </a:rPr>
              <a:t> </a:t>
            </a:r>
            <a:r>
              <a:rPr lang="vi-VN">
                <a:latin typeface="+mj-lt"/>
              </a:rPr>
              <a:t>cum reacția negativă modifică impedanțele de intrare și ieșire ale unui amplificator. </a:t>
            </a:r>
            <a:endParaRPr lang="ro-MO" smtClean="0">
              <a:latin typeface="+mj-lt"/>
            </a:endParaRPr>
          </a:p>
          <a:p>
            <a:r>
              <a:rPr lang="vi-VN" b="1" smtClean="0">
                <a:latin typeface="+mj-lt"/>
              </a:rPr>
              <a:t>Compare</a:t>
            </a:r>
            <a:r>
              <a:rPr lang="vi-VN" smtClean="0">
                <a:latin typeface="+mj-lt"/>
              </a:rPr>
              <a:t> </a:t>
            </a:r>
            <a:r>
              <a:rPr lang="vi-VN">
                <a:latin typeface="+mj-lt"/>
              </a:rPr>
              <a:t>avantajele și dezavantajele utilizării reacției negative în amplificatoare. </a:t>
            </a:r>
            <a:endParaRPr lang="ro-MO" smtClean="0">
              <a:latin typeface="+mj-lt"/>
            </a:endParaRPr>
          </a:p>
          <a:p>
            <a:r>
              <a:rPr lang="vi-VN" b="1" smtClean="0">
                <a:latin typeface="+mj-lt"/>
              </a:rPr>
              <a:t>Aplica</a:t>
            </a:r>
            <a:r>
              <a:rPr lang="vi-VN" smtClean="0">
                <a:latin typeface="+mj-lt"/>
              </a:rPr>
              <a:t> </a:t>
            </a:r>
            <a:r>
              <a:rPr lang="vi-VN">
                <a:latin typeface="+mj-lt"/>
              </a:rPr>
              <a:t>cunoștințele dobândite pentru a analiza și proiecta circuite amplificatoare cu reacție negativă.</a:t>
            </a:r>
            <a:endParaRPr lang="ru-RU" dirty="0">
              <a:solidFill>
                <a:srgbClr val="FF0000"/>
              </a:solidFill>
              <a:latin typeface="+mj-lt"/>
            </a:endParaRPr>
          </a:p>
        </p:txBody>
      </p:sp>
    </p:spTree>
    <p:extLst>
      <p:ext uri="{BB962C8B-B14F-4D97-AF65-F5344CB8AC3E}">
        <p14:creationId xmlns:p14="http://schemas.microsoft.com/office/powerpoint/2010/main" val="297652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2758" y="80455"/>
            <a:ext cx="8495582" cy="575154"/>
          </a:xfrm>
        </p:spPr>
        <p:txBody>
          <a:bodyPr>
            <a:normAutofit/>
          </a:bodyPr>
          <a:lstStyle/>
          <a:p>
            <a:r>
              <a:rPr lang="x-none" sz="3200" b="1" dirty="0" smtClean="0">
                <a:latin typeface="Times New Roman" panose="02020603050405020304" pitchFamily="18" charset="0"/>
                <a:cs typeface="Times New Roman" panose="02020603050405020304" pitchFamily="18" charset="0"/>
              </a:rPr>
              <a:t>Recapitularea cunoștințelor tranzistori bipolari</a:t>
            </a:r>
            <a:endParaRPr lang="ru-RU" sz="3200" b="1" dirty="0">
              <a:latin typeface="Times New Roman" panose="02020603050405020304" pitchFamily="18" charset="0"/>
              <a:cs typeface="Times New Roman" panose="02020603050405020304" pitchFamily="18" charset="0"/>
            </a:endParaRPr>
          </a:p>
        </p:txBody>
      </p:sp>
      <p:sp>
        <p:nvSpPr>
          <p:cNvPr id="3" name="Прямоугольник 2"/>
          <p:cNvSpPr/>
          <p:nvPr/>
        </p:nvSpPr>
        <p:spPr>
          <a:xfrm>
            <a:off x="219342" y="588071"/>
            <a:ext cx="11821682" cy="923330"/>
          </a:xfrm>
          <a:prstGeom prst="rect">
            <a:avLst/>
          </a:prstGeom>
        </p:spPr>
        <p:txBody>
          <a:bodyPr wrap="square">
            <a:spAutoFit/>
          </a:bodyPr>
          <a:lstStyle/>
          <a:p>
            <a:r>
              <a:rPr lang="en-US" b="1">
                <a:solidFill>
                  <a:srgbClr val="000000"/>
                </a:solidFill>
                <a:latin typeface="Times New Roman" pitchFamily="18" charset="0"/>
                <a:cs typeface="Times New Roman" pitchFamily="18" charset="0"/>
              </a:rPr>
              <a:t>Amplificatorul electronic </a:t>
            </a:r>
            <a:r>
              <a:rPr lang="en-US">
                <a:solidFill>
                  <a:srgbClr val="000000"/>
                </a:solidFill>
                <a:latin typeface="Times New Roman" pitchFamily="18" charset="0"/>
                <a:cs typeface="Times New Roman" pitchFamily="18" charset="0"/>
              </a:rPr>
              <a:t>– este un cuadripol (circuit electronic prevăzut cu o poartă</a:t>
            </a:r>
            <a:r>
              <a:rPr lang="x-none">
                <a:solidFill>
                  <a:srgbClr val="000000"/>
                </a:solidFill>
                <a:latin typeface="Times New Roman" pitchFamily="18" charset="0"/>
                <a:cs typeface="Times New Roman" pitchFamily="18" charset="0"/>
              </a:rPr>
              <a:t> </a:t>
            </a:r>
            <a:r>
              <a:rPr lang="en-US">
                <a:solidFill>
                  <a:srgbClr val="000000"/>
                </a:solidFill>
                <a:latin typeface="Times New Roman" pitchFamily="18" charset="0"/>
                <a:cs typeface="Times New Roman" pitchFamily="18" charset="0"/>
              </a:rPr>
              <a:t>de intrare şi o poartă de ieşire), care are rolul de a dezvolta în circuitul de ieşire o</a:t>
            </a:r>
            <a:r>
              <a:rPr lang="x-none">
                <a:solidFill>
                  <a:srgbClr val="000000"/>
                </a:solidFill>
                <a:latin typeface="Times New Roman" pitchFamily="18" charset="0"/>
                <a:cs typeface="Times New Roman" pitchFamily="18" charset="0"/>
              </a:rPr>
              <a:t> </a:t>
            </a:r>
            <a:r>
              <a:rPr lang="en-US">
                <a:solidFill>
                  <a:srgbClr val="000000"/>
                </a:solidFill>
                <a:latin typeface="Times New Roman" pitchFamily="18" charset="0"/>
                <a:cs typeface="Times New Roman" pitchFamily="18" charset="0"/>
              </a:rPr>
              <a:t>putere mai mare decât cea din circuitul de intrare, fără a distorsiona (modifica) forma</a:t>
            </a:r>
            <a:r>
              <a:rPr lang="x-none">
                <a:solidFill>
                  <a:srgbClr val="000000"/>
                </a:solidFill>
                <a:latin typeface="Times New Roman" pitchFamily="18" charset="0"/>
                <a:cs typeface="Times New Roman" pitchFamily="18" charset="0"/>
              </a:rPr>
              <a:t> </a:t>
            </a:r>
            <a:r>
              <a:rPr lang="en-US">
                <a:solidFill>
                  <a:srgbClr val="000000"/>
                </a:solidFill>
                <a:latin typeface="Times New Roman" pitchFamily="18" charset="0"/>
                <a:cs typeface="Times New Roman" pitchFamily="18" charset="0"/>
              </a:rPr>
              <a:t>semnalului amplificat.</a:t>
            </a:r>
            <a:r>
              <a:rPr lang="en-US">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4" name="Прямоугольник 3"/>
          <p:cNvSpPr/>
          <p:nvPr/>
        </p:nvSpPr>
        <p:spPr>
          <a:xfrm>
            <a:off x="695586" y="1511401"/>
            <a:ext cx="3981283" cy="369332"/>
          </a:xfrm>
          <a:prstGeom prst="rect">
            <a:avLst/>
          </a:prstGeom>
        </p:spPr>
        <p:txBody>
          <a:bodyPr wrap="none">
            <a:spAutoFit/>
          </a:bodyPr>
          <a:lstStyle/>
          <a:p>
            <a:r>
              <a:rPr lang="en-US" b="1">
                <a:solidFill>
                  <a:srgbClr val="000000"/>
                </a:solidFill>
                <a:latin typeface="Cambria" panose="02040503050406030204" pitchFamily="18" charset="0"/>
              </a:rPr>
              <a:t>PARAMETRII AMPLIFICATOARELOR</a:t>
            </a:r>
            <a:r>
              <a:rPr lang="en-US"/>
              <a:t> </a:t>
            </a:r>
            <a:endParaRPr lang="en-US" dirty="0"/>
          </a:p>
        </p:txBody>
      </p:sp>
      <p:sp>
        <p:nvSpPr>
          <p:cNvPr id="5" name="Прямоугольник 4"/>
          <p:cNvSpPr/>
          <p:nvPr/>
        </p:nvSpPr>
        <p:spPr>
          <a:xfrm>
            <a:off x="219342" y="2342398"/>
            <a:ext cx="6096000" cy="923330"/>
          </a:xfrm>
          <a:prstGeom prst="rect">
            <a:avLst/>
          </a:prstGeom>
        </p:spPr>
        <p:txBody>
          <a:bodyPr>
            <a:spAutoFit/>
          </a:bodyPr>
          <a:lstStyle/>
          <a:p>
            <a:pPr marL="285750" indent="-285750">
              <a:buFont typeface="Arial" pitchFamily="34" charset="0"/>
              <a:buChar char="•"/>
            </a:pPr>
            <a:r>
              <a:rPr lang="en-US" smtClean="0">
                <a:solidFill>
                  <a:srgbClr val="000000"/>
                </a:solidFill>
                <a:latin typeface="Times New Roman" pitchFamily="18" charset="0"/>
                <a:cs typeface="Times New Roman" pitchFamily="18" charset="0"/>
              </a:rPr>
              <a:t>amplificare </a:t>
            </a:r>
            <a:r>
              <a:rPr lang="en-US">
                <a:solidFill>
                  <a:srgbClr val="000000"/>
                </a:solidFill>
                <a:latin typeface="Times New Roman" pitchFamily="18" charset="0"/>
                <a:cs typeface="Times New Roman" pitchFamily="18" charset="0"/>
              </a:rPr>
              <a:t>în tensiune</a:t>
            </a:r>
            <a:endParaRPr lang="x-none">
              <a:solidFill>
                <a:srgbClr val="000000"/>
              </a:solidFill>
              <a:latin typeface="Times New Roman" pitchFamily="18" charset="0"/>
              <a:cs typeface="Times New Roman" pitchFamily="18" charset="0"/>
            </a:endParaRPr>
          </a:p>
          <a:p>
            <a:pPr marL="285750" indent="-285750">
              <a:buFont typeface="Arial" pitchFamily="34" charset="0"/>
              <a:buChar char="•"/>
            </a:pPr>
            <a:endParaRPr lang="ro-MO" smtClean="0">
              <a:solidFill>
                <a:srgbClr val="000000"/>
              </a:solidFill>
              <a:latin typeface="Times New Roman" pitchFamily="18" charset="0"/>
              <a:cs typeface="Times New Roman" pitchFamily="18" charset="0"/>
            </a:endParaRPr>
          </a:p>
          <a:p>
            <a:pPr marL="285750" indent="-285750">
              <a:buFont typeface="Arial" pitchFamily="34" charset="0"/>
              <a:buChar char="•"/>
            </a:pPr>
            <a:r>
              <a:rPr lang="en-US" smtClean="0">
                <a:solidFill>
                  <a:srgbClr val="000000"/>
                </a:solidFill>
                <a:latin typeface="Times New Roman" pitchFamily="18" charset="0"/>
                <a:cs typeface="Times New Roman" pitchFamily="18" charset="0"/>
              </a:rPr>
              <a:t>amplificare </a:t>
            </a:r>
            <a:r>
              <a:rPr lang="en-US">
                <a:solidFill>
                  <a:srgbClr val="000000"/>
                </a:solidFill>
                <a:latin typeface="Times New Roman" pitchFamily="18" charset="0"/>
                <a:cs typeface="Times New Roman" pitchFamily="18" charset="0"/>
              </a:rPr>
              <a:t>în current</a:t>
            </a:r>
            <a:endParaRPr lang="x-none" dirty="0">
              <a:solidFill>
                <a:srgbClr val="000000"/>
              </a:solidFill>
              <a:latin typeface="Times New Roman" pitchFamily="18" charset="0"/>
              <a:cs typeface="Times New Roman" pitchFamily="18" charset="0"/>
            </a:endParaRPr>
          </a:p>
        </p:txBody>
      </p:sp>
      <p:pic>
        <p:nvPicPr>
          <p:cNvPr id="6" name="Рисунок 5"/>
          <p:cNvPicPr>
            <a:picLocks noChangeAspect="1"/>
          </p:cNvPicPr>
          <p:nvPr/>
        </p:nvPicPr>
        <p:blipFill>
          <a:blip r:embed="rId2"/>
          <a:stretch>
            <a:fillRect/>
          </a:stretch>
        </p:blipFill>
        <p:spPr>
          <a:xfrm>
            <a:off x="3555500" y="2342398"/>
            <a:ext cx="893559" cy="526971"/>
          </a:xfrm>
          <a:prstGeom prst="rect">
            <a:avLst/>
          </a:prstGeom>
        </p:spPr>
      </p:pic>
      <p:pic>
        <p:nvPicPr>
          <p:cNvPr id="7" name="Рисунок 6"/>
          <p:cNvPicPr>
            <a:picLocks noChangeAspect="1"/>
          </p:cNvPicPr>
          <p:nvPr/>
        </p:nvPicPr>
        <p:blipFill>
          <a:blip r:embed="rId3"/>
          <a:stretch>
            <a:fillRect/>
          </a:stretch>
        </p:blipFill>
        <p:spPr>
          <a:xfrm>
            <a:off x="3599191" y="2869369"/>
            <a:ext cx="895446" cy="578073"/>
          </a:xfrm>
          <a:prstGeom prst="rect">
            <a:avLst/>
          </a:prstGeom>
        </p:spPr>
      </p:pic>
      <p:sp>
        <p:nvSpPr>
          <p:cNvPr id="8" name="Прямоугольник 7"/>
          <p:cNvSpPr/>
          <p:nvPr/>
        </p:nvSpPr>
        <p:spPr>
          <a:xfrm>
            <a:off x="507500" y="1880733"/>
            <a:ext cx="6096000" cy="369332"/>
          </a:xfrm>
          <a:prstGeom prst="rect">
            <a:avLst/>
          </a:prstGeom>
        </p:spPr>
        <p:txBody>
          <a:bodyPr>
            <a:spAutoFit/>
          </a:bodyPr>
          <a:lstStyle/>
          <a:p>
            <a:r>
              <a:rPr lang="en-US" b="1">
                <a:solidFill>
                  <a:srgbClr val="000000"/>
                </a:solidFill>
                <a:latin typeface="Arial" panose="020B0604020202020204" pitchFamily="34" charset="0"/>
              </a:rPr>
              <a:t>Coeficientul de amplificare</a:t>
            </a:r>
            <a:endParaRPr lang="en-US"/>
          </a:p>
        </p:txBody>
      </p:sp>
      <p:sp>
        <p:nvSpPr>
          <p:cNvPr id="9" name="Прямоугольник 8"/>
          <p:cNvSpPr/>
          <p:nvPr/>
        </p:nvSpPr>
        <p:spPr>
          <a:xfrm>
            <a:off x="6096000" y="1788400"/>
            <a:ext cx="6096000" cy="646331"/>
          </a:xfrm>
          <a:prstGeom prst="rect">
            <a:avLst/>
          </a:prstGeom>
        </p:spPr>
        <p:txBody>
          <a:bodyPr>
            <a:spAutoFit/>
          </a:bodyPr>
          <a:lstStyle/>
          <a:p>
            <a:r>
              <a:rPr lang="en-US" b="1" i="1">
                <a:solidFill>
                  <a:srgbClr val="000000"/>
                </a:solidFill>
                <a:latin typeface="Times New Roman" pitchFamily="18" charset="0"/>
                <a:cs typeface="Times New Roman" pitchFamily="18" charset="0"/>
              </a:rPr>
              <a:t>Banda de frecvență – </a:t>
            </a:r>
            <a:r>
              <a:rPr lang="en-US">
                <a:solidFill>
                  <a:srgbClr val="000000"/>
                </a:solidFill>
                <a:latin typeface="Times New Roman" pitchFamily="18" charset="0"/>
                <a:cs typeface="Times New Roman" pitchFamily="18" charset="0"/>
              </a:rPr>
              <a:t>reprezintă intervalul în care amplificarea se </a:t>
            </a:r>
            <a:r>
              <a:rPr lang="en-US" smtClean="0">
                <a:solidFill>
                  <a:srgbClr val="000000"/>
                </a:solidFill>
                <a:latin typeface="Times New Roman" pitchFamily="18" charset="0"/>
                <a:cs typeface="Times New Roman" pitchFamily="18" charset="0"/>
              </a:rPr>
              <a:t>menține</a:t>
            </a:r>
            <a:r>
              <a:rPr lang="ro-MO" smtClean="0">
                <a:solidFill>
                  <a:srgbClr val="000000"/>
                </a:solidFill>
                <a:latin typeface="Times New Roman" pitchFamily="18" charset="0"/>
                <a:cs typeface="Times New Roman" pitchFamily="18" charset="0"/>
              </a:rPr>
              <a:t> </a:t>
            </a:r>
            <a:r>
              <a:rPr lang="en-US" smtClean="0">
                <a:solidFill>
                  <a:srgbClr val="000000"/>
                </a:solidFill>
                <a:latin typeface="Times New Roman" pitchFamily="18" charset="0"/>
                <a:cs typeface="Times New Roman" pitchFamily="18" charset="0"/>
              </a:rPr>
              <a:t>constantă </a:t>
            </a:r>
            <a:endParaRPr lang="en-US">
              <a:latin typeface="Times New Roman" pitchFamily="18" charset="0"/>
              <a:cs typeface="Times New Roman" pitchFamily="18" charset="0"/>
            </a:endParaRPr>
          </a:p>
        </p:txBody>
      </p:sp>
      <p:pic>
        <p:nvPicPr>
          <p:cNvPr id="10" name="Рисунок 9"/>
          <p:cNvPicPr>
            <a:picLocks noChangeAspect="1"/>
          </p:cNvPicPr>
          <p:nvPr/>
        </p:nvPicPr>
        <p:blipFill>
          <a:blip r:embed="rId4"/>
          <a:stretch>
            <a:fillRect/>
          </a:stretch>
        </p:blipFill>
        <p:spPr>
          <a:xfrm>
            <a:off x="6603500" y="2434731"/>
            <a:ext cx="3724275" cy="2171700"/>
          </a:xfrm>
          <a:prstGeom prst="rect">
            <a:avLst/>
          </a:prstGeom>
        </p:spPr>
      </p:pic>
    </p:spTree>
    <p:extLst>
      <p:ext uri="{BB962C8B-B14F-4D97-AF65-F5344CB8AC3E}">
        <p14:creationId xmlns:p14="http://schemas.microsoft.com/office/powerpoint/2010/main" val="1696707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p:cNvSpPr>
          <p:nvPr/>
        </p:nvSpPr>
        <p:spPr>
          <a:xfrm>
            <a:off x="432757" y="80455"/>
            <a:ext cx="11290539" cy="5751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x-none" sz="3200" b="1" dirty="0" smtClean="0">
                <a:latin typeface="Times New Roman" panose="02020603050405020304" pitchFamily="18" charset="0"/>
                <a:cs typeface="Times New Roman" panose="02020603050405020304" pitchFamily="18" charset="0"/>
              </a:rPr>
              <a:t>Recapitularea cunoștințelor polarizarea tranzistorilor bipolari</a:t>
            </a:r>
            <a:endParaRPr lang="ru-RU" sz="3200" b="1"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2616036" y="655609"/>
            <a:ext cx="5438775" cy="1562100"/>
          </a:xfrm>
          <a:prstGeom prst="rect">
            <a:avLst/>
          </a:prstGeom>
        </p:spPr>
      </p:pic>
      <p:pic>
        <p:nvPicPr>
          <p:cNvPr id="6" name="Picture 2" descr="untitled"/>
          <p:cNvPicPr>
            <a:picLocks noGrp="1" noChangeAspect="1" noChangeArrowheads="1"/>
          </p:cNvPicPr>
          <p:nvPr/>
        </p:nvPicPr>
        <p:blipFill rotWithShape="1">
          <a:blip r:embed="rId3">
            <a:extLst>
              <a:ext uri="{28A0092B-C50C-407E-A947-70E740481C1C}">
                <a14:useLocalDpi xmlns:a14="http://schemas.microsoft.com/office/drawing/2010/main" val="0"/>
              </a:ext>
            </a:extLst>
          </a:blip>
          <a:srcRect t="31876" b="31511"/>
          <a:stretch/>
        </p:blipFill>
        <p:spPr bwMode="auto">
          <a:xfrm>
            <a:off x="0" y="2474083"/>
            <a:ext cx="5358492" cy="2144994"/>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p:cNvPicPr>
            <a:picLocks noChangeAspect="1"/>
          </p:cNvPicPr>
          <p:nvPr/>
        </p:nvPicPr>
        <p:blipFill rotWithShape="1">
          <a:blip r:embed="rId4"/>
          <a:srcRect t="32435" b="32310"/>
          <a:stretch/>
        </p:blipFill>
        <p:spPr>
          <a:xfrm>
            <a:off x="5673123" y="2687728"/>
            <a:ext cx="6143625" cy="2431204"/>
          </a:xfrm>
          <a:prstGeom prst="rect">
            <a:avLst/>
          </a:prstGeom>
        </p:spPr>
      </p:pic>
      <p:pic>
        <p:nvPicPr>
          <p:cNvPr id="8" name="Рисунок 7"/>
          <p:cNvPicPr>
            <a:picLocks noChangeAspect="1"/>
          </p:cNvPicPr>
          <p:nvPr/>
        </p:nvPicPr>
        <p:blipFill>
          <a:blip r:embed="rId5"/>
          <a:stretch>
            <a:fillRect/>
          </a:stretch>
        </p:blipFill>
        <p:spPr>
          <a:xfrm>
            <a:off x="6371869" y="5209285"/>
            <a:ext cx="3943350" cy="1276350"/>
          </a:xfrm>
          <a:prstGeom prst="rect">
            <a:avLst/>
          </a:prstGeom>
        </p:spPr>
      </p:pic>
    </p:spTree>
    <p:extLst>
      <p:ext uri="{BB962C8B-B14F-4D97-AF65-F5344CB8AC3E}">
        <p14:creationId xmlns:p14="http://schemas.microsoft.com/office/powerpoint/2010/main" val="2366718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1" y="-1"/>
            <a:ext cx="3777241" cy="417871"/>
          </a:xfrm>
          <a:prstGeom prst="rect">
            <a:avLst/>
          </a:prstGeom>
        </p:spPr>
        <p:txBody>
          <a:bodyPr wrap="square">
            <a:spAutoFit/>
          </a:bodyPr>
          <a:lstStyle/>
          <a:p>
            <a:pPr marL="228600">
              <a:lnSpc>
                <a:spcPct val="115000"/>
              </a:lnSpc>
              <a:spcAft>
                <a:spcPts val="1000"/>
              </a:spcAft>
            </a:pPr>
            <a:r>
              <a:rPr lang="en-US" sz="2000" b="1" dirty="0" err="1">
                <a:latin typeface="Times New Roman" pitchFamily="18" charset="0"/>
                <a:cs typeface="Times New Roman" pitchFamily="18" charset="0"/>
              </a:rPr>
              <a:t>Reacţia</a:t>
            </a:r>
            <a:r>
              <a:rPr lang="en-US" sz="2000" b="1" dirty="0">
                <a:latin typeface="Times New Roman" pitchFamily="18" charset="0"/>
                <a:cs typeface="Times New Roman" pitchFamily="18" charset="0"/>
              </a:rPr>
              <a:t> la </a:t>
            </a:r>
            <a:r>
              <a:rPr lang="en-US" sz="2000" b="1" dirty="0" err="1">
                <a:latin typeface="Times New Roman" pitchFamily="18" charset="0"/>
                <a:cs typeface="Times New Roman" pitchFamily="18" charset="0"/>
              </a:rPr>
              <a:t>amplificatoare</a:t>
            </a:r>
            <a:r>
              <a:rPr lang="en-US" sz="2000" b="1" dirty="0">
                <a:latin typeface="Times New Roman" pitchFamily="18" charset="0"/>
                <a:cs typeface="Times New Roman" pitchFamily="18" charset="0"/>
              </a:rPr>
              <a:t> </a:t>
            </a:r>
            <a:endParaRPr lang="en-US" b="1" dirty="0">
              <a:effectLst/>
              <a:latin typeface="Times New Roman" pitchFamily="18" charset="0"/>
              <a:ea typeface="Times New Roman" panose="02020603050405020304" pitchFamily="18" charset="0"/>
              <a:cs typeface="Times New Roman"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3632" y="417870"/>
            <a:ext cx="4911897" cy="2720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Прямоугольник 7"/>
          <p:cNvSpPr/>
          <p:nvPr/>
        </p:nvSpPr>
        <p:spPr>
          <a:xfrm>
            <a:off x="-1" y="387092"/>
            <a:ext cx="7651631" cy="6524863"/>
          </a:xfrm>
          <a:prstGeom prst="rect">
            <a:avLst/>
          </a:prstGeom>
        </p:spPr>
        <p:txBody>
          <a:bodyPr wrap="square">
            <a:spAutoFit/>
          </a:bodyPr>
          <a:lstStyle/>
          <a:p>
            <a:r>
              <a:rPr lang="vi-VN" sz="1900" dirty="0">
                <a:latin typeface="+mj-lt"/>
              </a:rPr>
              <a:t>În electronică, prin reacţie se înţelege aducerea unei fracţiuni din semnalul  de ieşire ( </a:t>
            </a:r>
            <a:r>
              <a:rPr lang="vi-VN" sz="1900" i="1" dirty="0" smtClean="0">
                <a:latin typeface="+mj-lt"/>
              </a:rPr>
              <a:t>X</a:t>
            </a:r>
            <a:r>
              <a:rPr lang="vi-VN" sz="1900" i="1" baseline="-25000" dirty="0" smtClean="0">
                <a:latin typeface="+mj-lt"/>
              </a:rPr>
              <a:t>ies</a:t>
            </a:r>
            <a:r>
              <a:rPr lang="vi-VN" sz="1900" i="1" dirty="0" smtClean="0">
                <a:latin typeface="+mj-lt"/>
              </a:rPr>
              <a:t> </a:t>
            </a:r>
            <a:r>
              <a:rPr lang="vi-VN" sz="1900" dirty="0">
                <a:latin typeface="+mj-lt"/>
              </a:rPr>
              <a:t>) la intrarea amplificatorului. </a:t>
            </a:r>
            <a:endParaRPr lang="x-none" sz="1900" dirty="0" smtClean="0">
              <a:latin typeface="+mj-lt"/>
            </a:endParaRPr>
          </a:p>
          <a:p>
            <a:endParaRPr lang="x-none" sz="1900" dirty="0">
              <a:latin typeface="+mj-lt"/>
            </a:endParaRPr>
          </a:p>
          <a:p>
            <a:r>
              <a:rPr lang="vi-VN" sz="1900" dirty="0">
                <a:latin typeface="+mj-lt"/>
              </a:rPr>
              <a:t>( </a:t>
            </a:r>
            <a:r>
              <a:rPr lang="vi-VN" sz="1900" i="1" dirty="0">
                <a:latin typeface="+mj-lt"/>
              </a:rPr>
              <a:t>X</a:t>
            </a:r>
            <a:r>
              <a:rPr lang="vi-VN" sz="1900" i="1" baseline="-25000" dirty="0">
                <a:latin typeface="+mj-lt"/>
              </a:rPr>
              <a:t>ies</a:t>
            </a:r>
            <a:r>
              <a:rPr lang="vi-VN" sz="1900" i="1" dirty="0">
                <a:latin typeface="+mj-lt"/>
              </a:rPr>
              <a:t> </a:t>
            </a:r>
            <a:r>
              <a:rPr lang="vi-VN" sz="1900" dirty="0" smtClean="0">
                <a:latin typeface="+mj-lt"/>
              </a:rPr>
              <a:t>)</a:t>
            </a:r>
            <a:r>
              <a:rPr lang="x-none" sz="1900" dirty="0" smtClean="0">
                <a:latin typeface="+mj-lt"/>
              </a:rPr>
              <a:t> </a:t>
            </a:r>
            <a:r>
              <a:rPr lang="x-none" sz="1900" dirty="0">
                <a:latin typeface="+mj-lt"/>
              </a:rPr>
              <a:t>–</a:t>
            </a:r>
            <a:r>
              <a:rPr lang="x-none" sz="1900" dirty="0" smtClean="0">
                <a:latin typeface="+mj-lt"/>
              </a:rPr>
              <a:t> </a:t>
            </a:r>
            <a:r>
              <a:rPr lang="vi-VN" sz="1900" dirty="0">
                <a:latin typeface="+mj-lt"/>
              </a:rPr>
              <a:t>semnalul  de ieşire </a:t>
            </a:r>
            <a:endParaRPr lang="x-none" sz="1900" dirty="0" smtClean="0">
              <a:latin typeface="+mj-lt"/>
            </a:endParaRPr>
          </a:p>
          <a:p>
            <a:r>
              <a:rPr lang="vi-VN" sz="1900" dirty="0">
                <a:latin typeface="+mj-lt"/>
              </a:rPr>
              <a:t>( </a:t>
            </a:r>
            <a:r>
              <a:rPr lang="vi-VN" sz="1900" i="1" dirty="0">
                <a:latin typeface="+mj-lt"/>
              </a:rPr>
              <a:t>X</a:t>
            </a:r>
            <a:r>
              <a:rPr lang="vi-VN" sz="1900" i="1" baseline="-25000" dirty="0">
                <a:latin typeface="+mj-lt"/>
              </a:rPr>
              <a:t>r</a:t>
            </a:r>
            <a:r>
              <a:rPr lang="vi-VN" sz="1900" i="1" dirty="0">
                <a:latin typeface="+mj-lt"/>
              </a:rPr>
              <a:t> </a:t>
            </a:r>
            <a:r>
              <a:rPr lang="vi-VN" sz="1900" dirty="0" smtClean="0">
                <a:latin typeface="+mj-lt"/>
              </a:rPr>
              <a:t>)</a:t>
            </a:r>
            <a:r>
              <a:rPr lang="x-none" sz="1900" dirty="0" smtClean="0">
                <a:latin typeface="+mj-lt"/>
              </a:rPr>
              <a:t> </a:t>
            </a:r>
            <a:r>
              <a:rPr lang="x-none" sz="1900" dirty="0">
                <a:latin typeface="+mj-lt"/>
              </a:rPr>
              <a:t>–</a:t>
            </a:r>
            <a:r>
              <a:rPr lang="x-none" sz="1900" dirty="0" smtClean="0">
                <a:latin typeface="+mj-lt"/>
              </a:rPr>
              <a:t> </a:t>
            </a:r>
            <a:r>
              <a:rPr lang="vi-VN" sz="1900" b="1" dirty="0">
                <a:latin typeface="+mj-lt"/>
              </a:rPr>
              <a:t>semnal de </a:t>
            </a:r>
            <a:r>
              <a:rPr lang="vi-VN" sz="1900" b="1" dirty="0" smtClean="0">
                <a:latin typeface="+mj-lt"/>
              </a:rPr>
              <a:t>reacţie</a:t>
            </a:r>
            <a:endParaRPr lang="x-none" sz="1900" b="1" dirty="0" smtClean="0">
              <a:latin typeface="+mj-lt"/>
            </a:endParaRPr>
          </a:p>
          <a:p>
            <a:r>
              <a:rPr lang="vi-VN" sz="1900" dirty="0">
                <a:latin typeface="+mj-lt"/>
              </a:rPr>
              <a:t>( </a:t>
            </a:r>
            <a:r>
              <a:rPr lang="vi-VN" sz="1900" i="1" dirty="0">
                <a:latin typeface="+mj-lt"/>
              </a:rPr>
              <a:t>X</a:t>
            </a:r>
            <a:r>
              <a:rPr lang="vi-VN" sz="1900" i="1" baseline="-25000" dirty="0">
                <a:latin typeface="+mj-lt"/>
              </a:rPr>
              <a:t>s</a:t>
            </a:r>
            <a:r>
              <a:rPr lang="vi-VN" sz="1900" i="1" dirty="0">
                <a:latin typeface="+mj-lt"/>
              </a:rPr>
              <a:t> </a:t>
            </a:r>
            <a:r>
              <a:rPr lang="vi-VN" sz="1900" dirty="0" smtClean="0">
                <a:latin typeface="+mj-lt"/>
              </a:rPr>
              <a:t>)</a:t>
            </a:r>
            <a:r>
              <a:rPr lang="x-none" sz="1900" dirty="0" smtClean="0">
                <a:latin typeface="+mj-lt"/>
              </a:rPr>
              <a:t> </a:t>
            </a:r>
            <a:r>
              <a:rPr lang="x-none" sz="1900" dirty="0">
                <a:latin typeface="+mj-lt"/>
              </a:rPr>
              <a:t>–</a:t>
            </a:r>
            <a:r>
              <a:rPr lang="x-none" sz="1900" dirty="0" smtClean="0">
                <a:latin typeface="+mj-lt"/>
              </a:rPr>
              <a:t> </a:t>
            </a:r>
            <a:r>
              <a:rPr lang="vi-VN" sz="1900" dirty="0">
                <a:latin typeface="+mj-lt"/>
              </a:rPr>
              <a:t>semnalul furnizat de sursa de </a:t>
            </a:r>
            <a:r>
              <a:rPr lang="vi-VN" sz="1900" dirty="0" smtClean="0">
                <a:latin typeface="+mj-lt"/>
              </a:rPr>
              <a:t>semnal</a:t>
            </a:r>
            <a:endParaRPr lang="x-none" sz="1900" dirty="0" smtClean="0">
              <a:latin typeface="+mj-lt"/>
            </a:endParaRPr>
          </a:p>
          <a:p>
            <a:r>
              <a:rPr lang="vi-VN" sz="1900" dirty="0">
                <a:latin typeface="+mj-lt"/>
              </a:rPr>
              <a:t>( </a:t>
            </a:r>
            <a:r>
              <a:rPr lang="vi-VN" sz="1900" i="1" dirty="0">
                <a:latin typeface="+mj-lt"/>
              </a:rPr>
              <a:t>X</a:t>
            </a:r>
            <a:r>
              <a:rPr lang="vi-VN" sz="1900" i="1" baseline="-25000" dirty="0">
                <a:latin typeface="+mj-lt"/>
              </a:rPr>
              <a:t>in</a:t>
            </a:r>
            <a:r>
              <a:rPr lang="vi-VN" sz="1900" i="1" dirty="0">
                <a:latin typeface="+mj-lt"/>
              </a:rPr>
              <a:t> </a:t>
            </a:r>
            <a:r>
              <a:rPr lang="vi-VN" sz="1900" dirty="0" smtClean="0">
                <a:latin typeface="+mj-lt"/>
              </a:rPr>
              <a:t>)</a:t>
            </a:r>
            <a:r>
              <a:rPr lang="x-none" sz="1900" dirty="0" smtClean="0">
                <a:latin typeface="+mj-lt"/>
              </a:rPr>
              <a:t> – </a:t>
            </a:r>
            <a:r>
              <a:rPr lang="vi-VN" sz="1900" dirty="0">
                <a:latin typeface="+mj-lt"/>
              </a:rPr>
              <a:t>semnalul de intrare în </a:t>
            </a:r>
            <a:r>
              <a:rPr lang="vi-VN" sz="1900" dirty="0" smtClean="0">
                <a:latin typeface="+mj-lt"/>
              </a:rPr>
              <a:t>amplificator</a:t>
            </a:r>
            <a:endParaRPr lang="x-none" sz="1900" dirty="0" smtClean="0">
              <a:latin typeface="+mj-lt"/>
            </a:endParaRPr>
          </a:p>
          <a:p>
            <a:r>
              <a:rPr lang="vi-VN" sz="1900" i="1" dirty="0">
                <a:latin typeface="+mj-lt"/>
              </a:rPr>
              <a:t>A </a:t>
            </a:r>
            <a:r>
              <a:rPr lang="x-none" sz="1900" dirty="0" smtClean="0">
                <a:latin typeface="+mj-lt"/>
              </a:rPr>
              <a:t>- </a:t>
            </a:r>
            <a:r>
              <a:rPr lang="vi-VN" sz="1900" dirty="0" smtClean="0">
                <a:latin typeface="+mj-lt"/>
              </a:rPr>
              <a:t>modulul </a:t>
            </a:r>
            <a:r>
              <a:rPr lang="vi-VN" sz="1900" dirty="0">
                <a:latin typeface="+mj-lt"/>
              </a:rPr>
              <a:t>factorului de amplificare al amplificatorului fără </a:t>
            </a:r>
            <a:r>
              <a:rPr lang="vi-VN" sz="1900" dirty="0" smtClean="0">
                <a:latin typeface="+mj-lt"/>
              </a:rPr>
              <a:t>reacţie</a:t>
            </a:r>
            <a:endParaRPr lang="x-none" sz="1900" dirty="0" smtClean="0">
              <a:latin typeface="+mj-lt"/>
            </a:endParaRPr>
          </a:p>
          <a:p>
            <a:r>
              <a:rPr lang="el-GR" sz="1900" dirty="0">
                <a:latin typeface="+mj-lt"/>
              </a:rPr>
              <a:t>β </a:t>
            </a:r>
            <a:r>
              <a:rPr lang="x-none" sz="1900" dirty="0" smtClean="0">
                <a:latin typeface="+mj-lt"/>
              </a:rPr>
              <a:t> - </a:t>
            </a:r>
            <a:r>
              <a:rPr lang="vi-VN" sz="1900" dirty="0" smtClean="0">
                <a:latin typeface="+mj-lt"/>
              </a:rPr>
              <a:t>modulul </a:t>
            </a:r>
            <a:r>
              <a:rPr lang="vi-VN" sz="1900" dirty="0">
                <a:latin typeface="+mj-lt"/>
              </a:rPr>
              <a:t>factorului de transfer al reţelei de </a:t>
            </a:r>
            <a:r>
              <a:rPr lang="vi-VN" sz="1900" dirty="0" smtClean="0">
                <a:latin typeface="+mj-lt"/>
              </a:rPr>
              <a:t>reacţie</a:t>
            </a:r>
            <a:endParaRPr lang="x-none" sz="1900" dirty="0" smtClean="0">
              <a:latin typeface="+mj-lt"/>
            </a:endParaRPr>
          </a:p>
          <a:p>
            <a:r>
              <a:rPr lang="el-GR" sz="1900" dirty="0">
                <a:latin typeface="+mj-lt"/>
              </a:rPr>
              <a:t>ϕ</a:t>
            </a:r>
            <a:r>
              <a:rPr lang="vi-VN" sz="1900" i="1" baseline="-25000" dirty="0">
                <a:latin typeface="+mj-lt"/>
              </a:rPr>
              <a:t>A</a:t>
            </a:r>
            <a:r>
              <a:rPr lang="vi-VN" sz="1900" i="1" dirty="0">
                <a:latin typeface="+mj-lt"/>
              </a:rPr>
              <a:t> </a:t>
            </a:r>
            <a:r>
              <a:rPr lang="x-none" sz="1900" i="1" dirty="0" smtClean="0">
                <a:latin typeface="+mj-lt"/>
              </a:rPr>
              <a:t> - </a:t>
            </a:r>
            <a:r>
              <a:rPr lang="vi-VN" sz="1900" dirty="0" smtClean="0">
                <a:latin typeface="+mj-lt"/>
              </a:rPr>
              <a:t>defazajul </a:t>
            </a:r>
            <a:r>
              <a:rPr lang="vi-VN" sz="1900" dirty="0">
                <a:latin typeface="+mj-lt"/>
              </a:rPr>
              <a:t>introdus de </a:t>
            </a:r>
            <a:r>
              <a:rPr lang="vi-VN" sz="1900" dirty="0" smtClean="0">
                <a:latin typeface="+mj-lt"/>
              </a:rPr>
              <a:t>amplificator</a:t>
            </a:r>
            <a:r>
              <a:rPr lang="x-none" sz="1900" dirty="0" smtClean="0">
                <a:latin typeface="+mj-lt"/>
              </a:rPr>
              <a:t> </a:t>
            </a:r>
          </a:p>
          <a:p>
            <a:r>
              <a:rPr lang="el-GR" sz="1900" dirty="0" smtClean="0">
                <a:latin typeface="+mj-lt"/>
              </a:rPr>
              <a:t>ϕ</a:t>
            </a:r>
            <a:r>
              <a:rPr lang="el-GR" sz="1900" baseline="-25000" dirty="0" smtClean="0">
                <a:latin typeface="+mj-lt"/>
              </a:rPr>
              <a:t>β</a:t>
            </a:r>
            <a:r>
              <a:rPr lang="x-none" sz="1900" baseline="-25000" dirty="0" smtClean="0">
                <a:latin typeface="+mj-lt"/>
              </a:rPr>
              <a:t>  </a:t>
            </a:r>
            <a:r>
              <a:rPr lang="x-none" sz="1900" dirty="0" smtClean="0">
                <a:latin typeface="+mj-lt"/>
              </a:rPr>
              <a:t>- </a:t>
            </a:r>
            <a:r>
              <a:rPr lang="vi-VN" sz="1900" dirty="0" smtClean="0">
                <a:latin typeface="+mj-lt"/>
              </a:rPr>
              <a:t>defazajul </a:t>
            </a:r>
            <a:r>
              <a:rPr lang="vi-VN" sz="1900" dirty="0">
                <a:latin typeface="+mj-lt"/>
              </a:rPr>
              <a:t>introdus de reţeaua de reacţie</a:t>
            </a:r>
            <a:endParaRPr lang="x-none" sz="1900" dirty="0">
              <a:latin typeface="+mj-lt"/>
            </a:endParaRPr>
          </a:p>
          <a:p>
            <a:endParaRPr lang="x-none" sz="1900" dirty="0" smtClean="0">
              <a:latin typeface="+mj-lt"/>
            </a:endParaRPr>
          </a:p>
          <a:p>
            <a:endParaRPr lang="x-none" sz="1900" dirty="0" smtClean="0">
              <a:latin typeface="+mj-lt"/>
            </a:endParaRPr>
          </a:p>
          <a:p>
            <a:r>
              <a:rPr lang="vi-VN" sz="1900" dirty="0" smtClean="0">
                <a:latin typeface="+mj-lt"/>
              </a:rPr>
              <a:t>Pentru </a:t>
            </a:r>
            <a:r>
              <a:rPr lang="vi-VN" sz="1900" dirty="0">
                <a:latin typeface="+mj-lt"/>
              </a:rPr>
              <a:t>a obţine semnalul de reacţie, semnalul de ieşire se aplică la intrarea unui circuit alcătuit din elemente de circuit pasive (rezistori, condensatori, bobine), circuit care se numeşte </a:t>
            </a:r>
            <a:r>
              <a:rPr lang="vi-VN" sz="1900" b="1" dirty="0">
                <a:latin typeface="+mj-lt"/>
              </a:rPr>
              <a:t>reţea de reacţie</a:t>
            </a:r>
            <a:r>
              <a:rPr lang="vi-VN" sz="1900" dirty="0">
                <a:latin typeface="+mj-lt"/>
              </a:rPr>
              <a:t>. </a:t>
            </a:r>
            <a:endParaRPr lang="x-none" sz="1900" dirty="0" smtClean="0">
              <a:latin typeface="+mj-lt"/>
            </a:endParaRPr>
          </a:p>
          <a:p>
            <a:endParaRPr lang="x-none" sz="1900" dirty="0" smtClean="0">
              <a:latin typeface="+mj-lt"/>
            </a:endParaRPr>
          </a:p>
          <a:p>
            <a:r>
              <a:rPr lang="vi-VN" sz="1900" dirty="0" smtClean="0">
                <a:latin typeface="+mj-lt"/>
              </a:rPr>
              <a:t>Reţeaua </a:t>
            </a:r>
            <a:r>
              <a:rPr lang="vi-VN" sz="1900" dirty="0">
                <a:latin typeface="+mj-lt"/>
              </a:rPr>
              <a:t>de reacţie </a:t>
            </a:r>
            <a:r>
              <a:rPr lang="x-none" sz="1900" dirty="0" smtClean="0">
                <a:latin typeface="+mj-lt"/>
              </a:rPr>
              <a:t>- </a:t>
            </a:r>
            <a:r>
              <a:rPr lang="vi-VN" sz="1900" dirty="0" smtClean="0">
                <a:latin typeface="+mj-lt"/>
              </a:rPr>
              <a:t>divizează </a:t>
            </a:r>
            <a:r>
              <a:rPr lang="vi-VN" sz="1900" dirty="0">
                <a:latin typeface="+mj-lt"/>
              </a:rPr>
              <a:t>semnalul de ieşire şi, </a:t>
            </a:r>
            <a:r>
              <a:rPr lang="vi-VN" sz="1900" dirty="0" smtClean="0">
                <a:latin typeface="+mj-lt"/>
              </a:rPr>
              <a:t>introduce </a:t>
            </a:r>
            <a:r>
              <a:rPr lang="vi-VN" sz="1900" dirty="0">
                <a:latin typeface="+mj-lt"/>
              </a:rPr>
              <a:t>un defazaj al semnalului de reacţie faţă de semnalul de ieşire. </a:t>
            </a:r>
            <a:endParaRPr lang="x-none" sz="1900" dirty="0" smtClean="0">
              <a:latin typeface="+mj-lt"/>
            </a:endParaRPr>
          </a:p>
          <a:p>
            <a:endParaRPr lang="x-none" sz="1900" dirty="0">
              <a:latin typeface="+mj-lt"/>
            </a:endParaRPr>
          </a:p>
          <a:p>
            <a:r>
              <a:rPr lang="x-none" sz="1900" dirty="0">
                <a:latin typeface="Times New Roman" panose="02020603050405020304" pitchFamily="18" charset="0"/>
                <a:cs typeface="Times New Roman" panose="02020603050405020304" pitchFamily="18" charset="0"/>
              </a:rPr>
              <a:t>Semnalele</a:t>
            </a:r>
            <a:r>
              <a:rPr lang="x-none" sz="1900" dirty="0">
                <a:latin typeface="+mj-lt"/>
              </a:rPr>
              <a:t> </a:t>
            </a:r>
            <a:r>
              <a:rPr lang="vi-VN" sz="1900" dirty="0">
                <a:latin typeface="+mj-lt"/>
              </a:rPr>
              <a:t>sunt mărimi complexe, caracterizate prin amplitudine, frecvenţă şi </a:t>
            </a:r>
            <a:r>
              <a:rPr lang="vi-VN" sz="1900" dirty="0" smtClean="0">
                <a:latin typeface="+mj-lt"/>
              </a:rPr>
              <a:t>fază</a:t>
            </a:r>
            <a:endParaRPr lang="x-none" sz="1900" dirty="0" smtClean="0">
              <a:latin typeface="+mj-lt"/>
            </a:endParaRPr>
          </a:p>
        </p:txBody>
      </p:sp>
      <p:sp>
        <p:nvSpPr>
          <p:cNvPr id="2" name="Прямоугольник 1"/>
          <p:cNvSpPr/>
          <p:nvPr/>
        </p:nvSpPr>
        <p:spPr>
          <a:xfrm>
            <a:off x="7440075" y="3280192"/>
            <a:ext cx="4583306" cy="369332"/>
          </a:xfrm>
          <a:prstGeom prst="rect">
            <a:avLst/>
          </a:prstGeom>
        </p:spPr>
        <p:txBody>
          <a:bodyPr wrap="none">
            <a:spAutoFit/>
          </a:bodyPr>
          <a:lstStyle/>
          <a:p>
            <a:r>
              <a:rPr lang="vi-VN" dirty="0"/>
              <a:t>Schema bloc a unui amplificator cu reacţie </a:t>
            </a:r>
            <a:endParaRPr lang="ru-RU" dirty="0"/>
          </a:p>
        </p:txBody>
      </p:sp>
    </p:spTree>
    <p:extLst>
      <p:ext uri="{BB962C8B-B14F-4D97-AF65-F5344CB8AC3E}">
        <p14:creationId xmlns:p14="http://schemas.microsoft.com/office/powerpoint/2010/main" val="38288742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9641" y="162370"/>
            <a:ext cx="11964112" cy="6511895"/>
          </a:xfrm>
        </p:spPr>
        <p:txBody>
          <a:bodyPr>
            <a:normAutofit/>
          </a:bodyPr>
          <a:lstStyle/>
          <a:p>
            <a:pPr marL="0" indent="0">
              <a:buNone/>
            </a:pPr>
            <a:r>
              <a:rPr lang="en-US" sz="2400" dirty="0" err="1" smtClean="0">
                <a:latin typeface="Times New Roman" pitchFamily="18" charset="0"/>
                <a:cs typeface="Times New Roman" pitchFamily="18" charset="0"/>
              </a:rPr>
              <a:t>între</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semnalele</a:t>
            </a:r>
            <a:r>
              <a:rPr lang="en-US" sz="2400" dirty="0">
                <a:latin typeface="Times New Roman" pitchFamily="18" charset="0"/>
                <a:cs typeface="Times New Roman" pitchFamily="18" charset="0"/>
              </a:rPr>
              <a:t> din circuit se pot </a:t>
            </a:r>
            <a:r>
              <a:rPr lang="en-US" sz="2400" dirty="0" err="1">
                <a:latin typeface="Times New Roman" pitchFamily="18" charset="0"/>
                <a:cs typeface="Times New Roman" pitchFamily="18" charset="0"/>
              </a:rPr>
              <a:t>scrie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următoarele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relaţii</a:t>
            </a:r>
            <a:r>
              <a:rPr lang="en-US" sz="2400" dirty="0" smtClean="0">
                <a:latin typeface="Times New Roman" pitchFamily="18" charset="0"/>
                <a:cs typeface="Times New Roman" pitchFamily="18" charset="0"/>
              </a:rPr>
              <a:t>:</a:t>
            </a:r>
          </a:p>
          <a:p>
            <a:pPr marL="0" indent="0">
              <a:buNone/>
            </a:pPr>
            <a:endParaRPr lang="en-US" dirty="0">
              <a:latin typeface="Times New Roman" pitchFamily="18" charset="0"/>
              <a:cs typeface="Times New Roman" pitchFamily="18" charset="0"/>
            </a:endParaRPr>
          </a:p>
          <a:p>
            <a:pPr marL="0" indent="0">
              <a:buNone/>
            </a:pPr>
            <a:endParaRPr lang="en-US" dirty="0" smtClean="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endParaRPr lang="en-US" dirty="0" smtClean="0">
              <a:latin typeface="Times New Roman" pitchFamily="18" charset="0"/>
              <a:cs typeface="Times New Roman" pitchFamily="18" charset="0"/>
            </a:endParaRPr>
          </a:p>
          <a:p>
            <a:pPr marL="0" indent="0">
              <a:buNone/>
            </a:pPr>
            <a:endParaRPr lang="x-none" sz="2400" dirty="0" smtClean="0">
              <a:latin typeface="Times New Roman" panose="02020603050405020304" pitchFamily="18" charset="0"/>
              <a:cs typeface="Times New Roman" panose="02020603050405020304" pitchFamily="18" charset="0"/>
            </a:endParaRPr>
          </a:p>
          <a:p>
            <a:pPr marL="0" indent="0">
              <a:buNone/>
            </a:pPr>
            <a:r>
              <a:rPr lang="en-US" sz="2400" dirty="0" err="1" smtClean="0">
                <a:latin typeface="Times New Roman" panose="02020603050405020304" pitchFamily="18" charset="0"/>
                <a:cs typeface="Times New Roman" panose="02020603050405020304" pitchFamily="18" charset="0"/>
              </a:rPr>
              <a:t>factorul</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cu care </a:t>
            </a:r>
            <a:r>
              <a:rPr lang="en-US" sz="2400" dirty="0" err="1">
                <a:latin typeface="Times New Roman" panose="02020603050405020304" pitchFamily="18" charset="0"/>
                <a:cs typeface="Times New Roman" panose="02020603050405020304" pitchFamily="18" charset="0"/>
              </a:rPr>
              <a:t>semnalul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furnizat</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sursa</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semnal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este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amplificat</a:t>
            </a:r>
            <a:r>
              <a:rPr lang="en-US" sz="2400" dirty="0">
                <a:latin typeface="Times New Roman" panose="02020603050405020304" pitchFamily="18" charset="0"/>
                <a:cs typeface="Times New Roman" panose="02020603050405020304" pitchFamily="18" charset="0"/>
              </a:rPr>
              <a:t> </a:t>
            </a:r>
            <a:endParaRPr lang="x-none" sz="2400"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de </a:t>
            </a:r>
            <a:r>
              <a:rPr lang="en-US" sz="2400" dirty="0" err="1">
                <a:latin typeface="Times New Roman" panose="02020603050405020304" pitchFamily="18" charset="0"/>
                <a:cs typeface="Times New Roman" panose="02020603050405020304" pitchFamily="18" charset="0"/>
              </a:rPr>
              <a:t>către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amplificatorul</a:t>
            </a:r>
            <a:r>
              <a:rPr lang="en-US" sz="2400" dirty="0">
                <a:latin typeface="Times New Roman" panose="02020603050405020304" pitchFamily="18" charset="0"/>
                <a:cs typeface="Times New Roman" panose="02020603050405020304" pitchFamily="18" charset="0"/>
              </a:rPr>
              <a:t> cu </a:t>
            </a:r>
            <a:r>
              <a:rPr lang="en-US" sz="2400" dirty="0" err="1">
                <a:latin typeface="Times New Roman" panose="02020603050405020304" pitchFamily="18" charset="0"/>
                <a:cs typeface="Times New Roman" panose="02020603050405020304" pitchFamily="18" charset="0"/>
              </a:rPr>
              <a:t>reacţie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a:t>
            </a:r>
            <a:r>
              <a:rPr lang="en-US" sz="2400" dirty="0">
                <a:latin typeface="Times New Roman" panose="02020603050405020304" pitchFamily="18" charset="0"/>
                <a:cs typeface="Times New Roman" panose="02020603050405020304" pitchFamily="18" charset="0"/>
              </a:rPr>
              <a:t> fi:</a:t>
            </a:r>
          </a:p>
          <a:p>
            <a:pPr marL="0" indent="0">
              <a:buNone/>
            </a:pPr>
            <a:endParaRPr lang="en-US" dirty="0" smtClean="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endParaRPr lang="en-US" dirty="0" smtClean="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7608" y="661897"/>
            <a:ext cx="21526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7608" y="1293328"/>
            <a:ext cx="19907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2005" y="1975366"/>
            <a:ext cx="294322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005" y="4531282"/>
            <a:ext cx="370522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1856" y="442468"/>
            <a:ext cx="4911897" cy="2720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873261" y="824133"/>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a:t>
            </a:r>
            <a:endParaRPr lang="ru-RU" sz="2000" b="1" i="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3873261" y="1367557"/>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(2)</a:t>
            </a:r>
            <a:endParaRPr lang="ru-RU" sz="2000" b="1" i="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4255230" y="2089636"/>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(3)</a:t>
            </a:r>
            <a:endParaRPr lang="ru-RU" sz="2000" b="1" i="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5286291" y="4870406"/>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(4)</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8134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1095" y="170916"/>
            <a:ext cx="11964112" cy="6614445"/>
          </a:xfrm>
        </p:spPr>
        <p:txBody>
          <a:bodyPr>
            <a:normAutofit/>
          </a:bodyPr>
          <a:lstStyle/>
          <a:p>
            <a:pPr marL="0" indent="0">
              <a:buNone/>
            </a:pPr>
            <a:r>
              <a:rPr lang="en-US" sz="2200" dirty="0" err="1">
                <a:latin typeface="Times New Roman" panose="02020603050405020304" pitchFamily="18" charset="0"/>
                <a:cs typeface="Times New Roman" panose="02020603050405020304" pitchFamily="18" charset="0"/>
              </a:rPr>
              <a:t>Produsul</a:t>
            </a:r>
            <a:r>
              <a:rPr lang="en-US" sz="2200" dirty="0">
                <a:latin typeface="Times New Roman" panose="02020603050405020304" pitchFamily="18" charset="0"/>
                <a:cs typeface="Times New Roman" panose="02020603050405020304" pitchFamily="18" charset="0"/>
              </a:rPr>
              <a:t> complex </a:t>
            </a:r>
            <a:r>
              <a:rPr lang="en-US" sz="2200" dirty="0" err="1">
                <a:latin typeface="Times New Roman" panose="02020603050405020304" pitchFamily="18" charset="0"/>
                <a:cs typeface="Times New Roman" panose="02020603050405020304" pitchFamily="18" charset="0"/>
              </a:rPr>
              <a:t>dintre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factorul</a:t>
            </a:r>
            <a:r>
              <a:rPr lang="en-US" sz="2200" dirty="0">
                <a:latin typeface="Times New Roman" panose="02020603050405020304" pitchFamily="18" charset="0"/>
                <a:cs typeface="Times New Roman" panose="02020603050405020304" pitchFamily="18" charset="0"/>
              </a:rPr>
              <a:t> de </a:t>
            </a:r>
            <a:r>
              <a:rPr lang="en-US" sz="2200" dirty="0" err="1">
                <a:latin typeface="Times New Roman" panose="02020603050405020304" pitchFamily="18" charset="0"/>
                <a:cs typeface="Times New Roman" panose="02020603050405020304" pitchFamily="18" charset="0"/>
              </a:rPr>
              <a:t>amplificare</a:t>
            </a:r>
            <a:r>
              <a:rPr lang="en-US" sz="2200" dirty="0">
                <a:latin typeface="Times New Roman" panose="02020603050405020304" pitchFamily="18" charset="0"/>
                <a:cs typeface="Times New Roman" panose="02020603050405020304" pitchFamily="18" charset="0"/>
              </a:rPr>
              <a:t> al </a:t>
            </a:r>
            <a:r>
              <a:rPr lang="en-US" sz="2200" dirty="0" err="1">
                <a:latin typeface="Times New Roman" panose="02020603050405020304" pitchFamily="18" charset="0"/>
                <a:cs typeface="Times New Roman" panose="02020603050405020304" pitchFamily="18" charset="0"/>
              </a:rPr>
              <a:t>amplificatorului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şi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factorul</a:t>
            </a:r>
            <a:r>
              <a:rPr lang="en-US" sz="2200" dirty="0">
                <a:latin typeface="Times New Roman" panose="02020603050405020304" pitchFamily="18" charset="0"/>
                <a:cs typeface="Times New Roman" panose="02020603050405020304" pitchFamily="18" charset="0"/>
              </a:rPr>
              <a:t> de </a:t>
            </a:r>
            <a:r>
              <a:rPr lang="en-US" sz="2200" dirty="0" err="1">
                <a:latin typeface="Times New Roman" panose="02020603050405020304" pitchFamily="18" charset="0"/>
                <a:cs typeface="Times New Roman" panose="02020603050405020304" pitchFamily="18" charset="0"/>
              </a:rPr>
              <a:t>reacţie</a:t>
            </a:r>
            <a:r>
              <a:rPr lang="en-US" sz="2200" dirty="0">
                <a:latin typeface="Times New Roman" panose="02020603050405020304" pitchFamily="18" charset="0"/>
                <a:cs typeface="Times New Roman" panose="02020603050405020304" pitchFamily="18" charset="0"/>
              </a:rPr>
              <a:t> :</a:t>
            </a:r>
          </a:p>
          <a:p>
            <a:endParaRPr lang="en-US" dirty="0" smtClean="0"/>
          </a:p>
          <a:p>
            <a:endParaRPr lang="en-US" sz="2200" dirty="0"/>
          </a:p>
          <a:p>
            <a:pPr marL="0" indent="0">
              <a:buNone/>
            </a:pPr>
            <a:r>
              <a:rPr lang="ru-RU" sz="2400" dirty="0" err="1"/>
              <a:t>ϕ</a:t>
            </a:r>
            <a:r>
              <a:rPr lang="ru-RU" sz="2200" baseline="-25000" dirty="0" err="1" smtClean="0">
                <a:latin typeface="Times New Roman" panose="02020603050405020304" pitchFamily="18" charset="0"/>
                <a:cs typeface="Times New Roman" panose="02020603050405020304" pitchFamily="18" charset="0"/>
              </a:rPr>
              <a:t>Σ</a:t>
            </a:r>
            <a:r>
              <a:rPr lang="ru-RU"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reprezintă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suma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defazajelor</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introduse</a:t>
            </a:r>
            <a:r>
              <a:rPr lang="en-US" sz="2200" dirty="0">
                <a:latin typeface="Times New Roman" panose="02020603050405020304" pitchFamily="18" charset="0"/>
                <a:cs typeface="Times New Roman" panose="02020603050405020304" pitchFamily="18" charset="0"/>
              </a:rPr>
              <a:t> de </a:t>
            </a:r>
            <a:r>
              <a:rPr lang="en-US" sz="2200" dirty="0" err="1">
                <a:latin typeface="Times New Roman" panose="02020603050405020304" pitchFamily="18" charset="0"/>
                <a:cs typeface="Times New Roman" panose="02020603050405020304" pitchFamily="18" charset="0"/>
              </a:rPr>
              <a:t>amplificator</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şi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reţeaua</a:t>
            </a:r>
            <a:r>
              <a:rPr lang="en-US" sz="2200" dirty="0">
                <a:latin typeface="Times New Roman" panose="02020603050405020304" pitchFamily="18" charset="0"/>
                <a:cs typeface="Times New Roman" panose="02020603050405020304" pitchFamily="18" charset="0"/>
              </a:rPr>
              <a:t> de </a:t>
            </a:r>
            <a:r>
              <a:rPr lang="en-US" sz="2200" dirty="0" err="1">
                <a:latin typeface="Times New Roman" panose="02020603050405020304" pitchFamily="18" charset="0"/>
                <a:cs typeface="Times New Roman" panose="02020603050405020304" pitchFamily="18" charset="0"/>
              </a:rPr>
              <a:t>reacţie</a:t>
            </a:r>
            <a:r>
              <a:rPr lang="en-US" sz="2200" dirty="0" smtClean="0">
                <a:latin typeface="Times New Roman" panose="02020603050405020304" pitchFamily="18" charset="0"/>
                <a:cs typeface="Times New Roman" panose="02020603050405020304" pitchFamily="18" charset="0"/>
              </a:rPr>
              <a:t>.</a:t>
            </a:r>
            <a:endParaRPr lang="x-none" sz="2200" dirty="0" smtClean="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Astfel</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modulul</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factorului</a:t>
            </a:r>
            <a:r>
              <a:rPr lang="en-US" sz="2200" dirty="0">
                <a:latin typeface="Times New Roman" panose="02020603050405020304" pitchFamily="18" charset="0"/>
                <a:cs typeface="Times New Roman" panose="02020603050405020304" pitchFamily="18" charset="0"/>
              </a:rPr>
              <a:t> de </a:t>
            </a:r>
            <a:r>
              <a:rPr lang="en-US" sz="2200" dirty="0" err="1">
                <a:latin typeface="Times New Roman" panose="02020603050405020304" pitchFamily="18" charset="0"/>
                <a:cs typeface="Times New Roman" panose="02020603050405020304" pitchFamily="18" charset="0"/>
              </a:rPr>
              <a:t>amplificare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în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prezenţa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reacţiei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va</a:t>
            </a:r>
            <a:r>
              <a:rPr lang="en-US" sz="2200" dirty="0">
                <a:latin typeface="Times New Roman" panose="02020603050405020304" pitchFamily="18" charset="0"/>
                <a:cs typeface="Times New Roman" panose="02020603050405020304" pitchFamily="18" charset="0"/>
              </a:rPr>
              <a:t> fi:</a:t>
            </a:r>
          </a:p>
          <a:p>
            <a:endParaRPr lang="en-US" dirty="0" smtClean="0"/>
          </a:p>
          <a:p>
            <a:endParaRPr lang="en-US" dirty="0"/>
          </a:p>
          <a:p>
            <a:endParaRPr lang="en-US" dirty="0" smtClean="0"/>
          </a:p>
          <a:p>
            <a:endParaRPr lang="en-US" dirty="0"/>
          </a:p>
          <a:p>
            <a:pPr marL="0" indent="0">
              <a:buNone/>
            </a:pPr>
            <a:r>
              <a:rPr lang="en-US" sz="2000" dirty="0" err="1">
                <a:latin typeface="Times New Roman" panose="02020603050405020304" pitchFamily="18" charset="0"/>
                <a:cs typeface="Times New Roman" panose="02020603050405020304" pitchFamily="18" charset="0"/>
              </a:rPr>
              <a:t>Această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relaţie</a:t>
            </a:r>
            <a:r>
              <a:rPr lang="en-US" sz="2000" dirty="0">
                <a:latin typeface="Times New Roman" panose="02020603050405020304" pitchFamily="18" charset="0"/>
                <a:cs typeface="Times New Roman" panose="02020603050405020304" pitchFamily="18" charset="0"/>
              </a:rPr>
              <a:t> </a:t>
            </a:r>
            <a:r>
              <a:rPr lang="x-none" sz="2000" dirty="0" smtClean="0">
                <a:latin typeface="Times New Roman" panose="02020603050405020304" pitchFamily="18" charset="0"/>
                <a:cs typeface="Times New Roman" panose="02020603050405020304" pitchFamily="18" charset="0"/>
              </a:rPr>
              <a:t>se schimbă </a:t>
            </a:r>
            <a:r>
              <a:rPr lang="en-US" sz="2000" dirty="0" err="1" smtClean="0">
                <a:latin typeface="Times New Roman" panose="02020603050405020304" pitchFamily="18" charset="0"/>
                <a:cs typeface="Times New Roman" panose="02020603050405020304" pitchFamily="18" charset="0"/>
              </a:rPr>
              <a:t>în</a:t>
            </a:r>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funcţie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valoarea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lui</a:t>
            </a:r>
            <a:r>
              <a:rPr lang="en-US" sz="2000" dirty="0">
                <a:latin typeface="Times New Roman" panose="02020603050405020304" pitchFamily="18" charset="0"/>
                <a:cs typeface="Times New Roman" panose="02020603050405020304" pitchFamily="18" charset="0"/>
              </a:rPr>
              <a:t> </a:t>
            </a:r>
            <a:r>
              <a:rPr lang="ru-RU" sz="2000" dirty="0" err="1"/>
              <a:t>ϕ</a:t>
            </a:r>
            <a:r>
              <a:rPr lang="ru-RU" sz="2000" baseline="-25000" dirty="0" err="1" smtClean="0">
                <a:latin typeface="Times New Roman" panose="02020603050405020304" pitchFamily="18" charset="0"/>
                <a:cs typeface="Times New Roman" panose="02020603050405020304" pitchFamily="18" charset="0"/>
              </a:rPr>
              <a:t>Σ</a:t>
            </a:r>
            <a:r>
              <a:rPr lang="ru-RU"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endParaRPr lang="x-none" sz="2000" dirty="0" smtClean="0">
              <a:latin typeface="Times New Roman" panose="02020603050405020304" pitchFamily="18" charset="0"/>
              <a:cs typeface="Times New Roman" panose="02020603050405020304" pitchFamily="18" charset="0"/>
            </a:endParaRPr>
          </a:p>
          <a:p>
            <a:pPr marL="0" indent="0">
              <a:buNone/>
            </a:pPr>
            <a:r>
              <a:rPr lang="ru-RU" sz="2000" dirty="0" err="1" smtClean="0">
                <a:latin typeface="Times New Roman" panose="02020603050405020304" pitchFamily="18" charset="0"/>
                <a:cs typeface="Times New Roman" panose="02020603050405020304" pitchFamily="18" charset="0"/>
              </a:rPr>
              <a:t>Vom</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considera</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două</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cazuri</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de</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referinţă</a:t>
            </a:r>
            <a:r>
              <a:rPr lang="ru-R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err="1" smtClean="0">
                <a:latin typeface="Times New Roman" panose="02020603050405020304" pitchFamily="18" charset="0"/>
                <a:cs typeface="Times New Roman" panose="02020603050405020304" pitchFamily="18" charset="0"/>
              </a:rPr>
              <a:t>dacă</a:t>
            </a:r>
            <a:r>
              <a:rPr lang="en-US" sz="2000" dirty="0" smtClean="0">
                <a:latin typeface="Times New Roman" panose="02020603050405020304" pitchFamily="18" charset="0"/>
                <a:cs typeface="Times New Roman" panose="02020603050405020304" pitchFamily="18" charset="0"/>
              </a:rPr>
              <a:t> </a:t>
            </a:r>
            <a:r>
              <a:rPr lang="ru-RU" sz="2000" dirty="0" err="1"/>
              <a:t>ϕ</a:t>
            </a:r>
            <a:r>
              <a:rPr lang="ru-RU" sz="2000" baseline="-25000" dirty="0" err="1">
                <a:latin typeface="Times New Roman" panose="02020603050405020304" pitchFamily="18" charset="0"/>
                <a:cs typeface="Times New Roman" panose="02020603050405020304" pitchFamily="18" charset="0"/>
              </a:rPr>
              <a:t>Σ</a:t>
            </a:r>
            <a:r>
              <a:rPr lang="ru-RU"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2k+1)</a:t>
            </a:r>
            <a:r>
              <a:rPr lang="ru-RU" sz="2000" dirty="0">
                <a:latin typeface="Times New Roman" panose="02020603050405020304" pitchFamily="18" charset="0"/>
                <a:cs typeface="Times New Roman" panose="02020603050405020304" pitchFamily="18" charset="0"/>
              </a:rPr>
              <a:t>π</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cos</a:t>
            </a:r>
            <a:r>
              <a:rPr lang="ru-RU" sz="2000" dirty="0" err="1" smtClean="0"/>
              <a:t>ϕ</a:t>
            </a:r>
            <a:r>
              <a:rPr lang="ru-RU" sz="2000" baseline="-25000" dirty="0" err="1" smtClean="0">
                <a:latin typeface="Times New Roman" panose="02020603050405020304" pitchFamily="18" charset="0"/>
                <a:cs typeface="Times New Roman" panose="02020603050405020304" pitchFamily="18" charset="0"/>
              </a:rPr>
              <a:t>Σ</a:t>
            </a:r>
            <a:r>
              <a:rPr lang="ru-RU"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-1 </a:t>
            </a:r>
            <a:r>
              <a:rPr lang="en-US" sz="2000" dirty="0" err="1">
                <a:latin typeface="Times New Roman" panose="02020603050405020304" pitchFamily="18" charset="0"/>
                <a:cs typeface="Times New Roman" panose="02020603050405020304" pitchFamily="18" charset="0"/>
              </a:rPr>
              <a:t>şi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semnalul</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reacţie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este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în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antifază</a:t>
            </a:r>
            <a:r>
              <a:rPr lang="en-US" sz="2000" dirty="0">
                <a:latin typeface="Times New Roman" panose="02020603050405020304" pitchFamily="18" charset="0"/>
                <a:cs typeface="Times New Roman" panose="02020603050405020304" pitchFamily="18" charset="0"/>
              </a:rPr>
              <a:t> cu </a:t>
            </a:r>
            <a:r>
              <a:rPr lang="en-US" sz="2000" dirty="0" err="1">
                <a:latin typeface="Times New Roman" panose="02020603050405020304" pitchFamily="18" charset="0"/>
                <a:cs typeface="Times New Roman" panose="02020603050405020304" pitchFamily="18" charset="0"/>
              </a:rPr>
              <a:t>semnalul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furnizat</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sursa</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semnal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Reacţia</a:t>
            </a:r>
            <a:r>
              <a:rPr lang="en-US" sz="2000" dirty="0">
                <a:latin typeface="Times New Roman" panose="02020603050405020304" pitchFamily="18" charset="0"/>
                <a:cs typeface="Times New Roman" panose="02020603050405020304" pitchFamily="18" charset="0"/>
              </a:rPr>
              <a:t> se </a:t>
            </a:r>
            <a:r>
              <a:rPr lang="en-US" sz="2000" dirty="0" err="1">
                <a:latin typeface="Times New Roman" panose="02020603050405020304" pitchFamily="18" charset="0"/>
                <a:cs typeface="Times New Roman" panose="02020603050405020304" pitchFamily="18" charset="0"/>
              </a:rPr>
              <a:t>numeşte</a:t>
            </a: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reacţie</a:t>
            </a:r>
            <a:r>
              <a:rPr lang="en-US" sz="2000" b="1" dirty="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negativă</a:t>
            </a:r>
            <a:r>
              <a:rPr lang="en-US" sz="2000" dirty="0" smtClean="0">
                <a:latin typeface="Times New Roman" panose="02020603050405020304" pitchFamily="18" charset="0"/>
                <a:cs typeface="Times New Roman" panose="02020603050405020304" pitchFamily="18" charset="0"/>
              </a:rPr>
              <a:t>:</a:t>
            </a:r>
            <a:endParaRPr lang="x-none" sz="2000" dirty="0" smtClean="0">
              <a:latin typeface="Times New Roman" panose="02020603050405020304" pitchFamily="18" charset="0"/>
              <a:cs typeface="Times New Roman" panose="02020603050405020304" pitchFamily="18" charset="0"/>
            </a:endParaRPr>
          </a:p>
          <a:p>
            <a:r>
              <a:rPr lang="en-US" sz="2000" dirty="0" err="1" smtClean="0">
                <a:latin typeface="Times New Roman" panose="02020603050405020304" pitchFamily="18" charset="0"/>
                <a:cs typeface="Times New Roman" panose="02020603050405020304" pitchFamily="18" charset="0"/>
              </a:rPr>
              <a:t>dacă</a:t>
            </a:r>
            <a:r>
              <a:rPr lang="en-US" sz="2000" dirty="0" smtClean="0">
                <a:latin typeface="Times New Roman" panose="02020603050405020304" pitchFamily="18" charset="0"/>
                <a:cs typeface="Times New Roman" panose="02020603050405020304" pitchFamily="18" charset="0"/>
              </a:rPr>
              <a:t> </a:t>
            </a:r>
            <a:r>
              <a:rPr lang="ru-RU" sz="2000" dirty="0" err="1"/>
              <a:t>ϕ</a:t>
            </a:r>
            <a:r>
              <a:rPr lang="ru-RU" sz="2000" baseline="-25000" dirty="0" err="1">
                <a:latin typeface="Times New Roman" panose="02020603050405020304" pitchFamily="18" charset="0"/>
                <a:cs typeface="Times New Roman" panose="02020603050405020304" pitchFamily="18" charset="0"/>
              </a:rPr>
              <a:t>Σ</a:t>
            </a:r>
            <a:r>
              <a:rPr lang="ru-RU"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2k</a:t>
            </a:r>
            <a:r>
              <a:rPr lang="ru-RU" sz="2000" dirty="0">
                <a:latin typeface="Times New Roman" panose="02020603050405020304" pitchFamily="18" charset="0"/>
                <a:cs typeface="Times New Roman" panose="02020603050405020304" pitchFamily="18" charset="0"/>
              </a:rPr>
              <a:t>π</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cos</a:t>
            </a:r>
            <a:r>
              <a:rPr lang="ru-RU" sz="2000" dirty="0" err="1" smtClean="0"/>
              <a:t>ϕ</a:t>
            </a:r>
            <a:r>
              <a:rPr lang="ru-RU" sz="2000" baseline="-25000" dirty="0" err="1" smtClean="0">
                <a:latin typeface="Times New Roman" panose="02020603050405020304" pitchFamily="18" charset="0"/>
                <a:cs typeface="Times New Roman" panose="02020603050405020304" pitchFamily="18" charset="0"/>
              </a:rPr>
              <a:t>Σ</a:t>
            </a:r>
            <a:r>
              <a:rPr lang="ru-RU"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 </a:t>
            </a:r>
            <a:r>
              <a:rPr lang="en-US" sz="2000" dirty="0" err="1">
                <a:latin typeface="Times New Roman" panose="02020603050405020304" pitchFamily="18" charset="0"/>
                <a:cs typeface="Times New Roman" panose="02020603050405020304" pitchFamily="18" charset="0"/>
              </a:rPr>
              <a:t>şi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semnalul</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reacţie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este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în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fază</a:t>
            </a:r>
            <a:r>
              <a:rPr lang="en-US" sz="2000" dirty="0">
                <a:latin typeface="Times New Roman" panose="02020603050405020304" pitchFamily="18" charset="0"/>
                <a:cs typeface="Times New Roman" panose="02020603050405020304" pitchFamily="18" charset="0"/>
              </a:rPr>
              <a:t> cu </a:t>
            </a:r>
            <a:r>
              <a:rPr lang="en-US" sz="2000" dirty="0" err="1">
                <a:latin typeface="Times New Roman" panose="02020603050405020304" pitchFamily="18" charset="0"/>
                <a:cs typeface="Times New Roman" panose="02020603050405020304" pitchFamily="18" charset="0"/>
              </a:rPr>
              <a:t>semnalul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furnizat</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sursa</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semnal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Reacţia</a:t>
            </a:r>
            <a:r>
              <a:rPr lang="en-US" sz="2000" dirty="0">
                <a:latin typeface="Times New Roman" panose="02020603050405020304" pitchFamily="18" charset="0"/>
                <a:cs typeface="Times New Roman" panose="02020603050405020304" pitchFamily="18" charset="0"/>
              </a:rPr>
              <a:t> se </a:t>
            </a:r>
            <a:r>
              <a:rPr lang="en-US" sz="2000" dirty="0" err="1">
                <a:latin typeface="Times New Roman" panose="02020603050405020304" pitchFamily="18" charset="0"/>
                <a:cs typeface="Times New Roman" panose="02020603050405020304" pitchFamily="18" charset="0"/>
              </a:rPr>
              <a:t>numeşte</a:t>
            </a: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reacţie</a:t>
            </a:r>
            <a:r>
              <a:rPr lang="en-US" sz="2000" b="1" dirty="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pozitivă</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349" y="2407309"/>
            <a:ext cx="56007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4990" y="507714"/>
            <a:ext cx="92583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0881424" y="826771"/>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(5)</a:t>
            </a:r>
            <a:endParaRPr lang="ru-RU" sz="2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419049" y="2978779"/>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(6)</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1209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89781" y="77638"/>
            <a:ext cx="11739584" cy="6631133"/>
          </a:xfrm>
        </p:spPr>
        <p:txBody>
          <a:bodyPr>
            <a:normAutofit/>
          </a:bodyPr>
          <a:lstStyle/>
          <a:p>
            <a:r>
              <a:rPr lang="en-US" sz="2400" dirty="0" err="1">
                <a:latin typeface="Times New Roman" panose="02020603050405020304" pitchFamily="18" charset="0"/>
                <a:cs typeface="Times New Roman" panose="02020603050405020304" pitchFamily="18" charset="0"/>
              </a:rPr>
              <a:t>factorul</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 </a:t>
            </a:r>
            <a:r>
              <a:rPr lang="x-none" sz="2400" dirty="0" smtClean="0">
                <a:latin typeface="Times New Roman" panose="02020603050405020304" pitchFamily="18" charset="0"/>
                <a:cs typeface="Times New Roman" panose="02020603050405020304" pitchFamily="18" charset="0"/>
              </a:rPr>
              <a:t>la </a:t>
            </a:r>
            <a:r>
              <a:rPr lang="en-US" sz="2400" b="1" dirty="0" err="1" smtClean="0">
                <a:latin typeface="Times New Roman" panose="02020603050405020304" pitchFamily="18" charset="0"/>
                <a:cs typeface="Times New Roman" panose="02020603050405020304" pitchFamily="18" charset="0"/>
              </a:rPr>
              <a:t>reacţie</a:t>
            </a:r>
            <a:r>
              <a:rPr lang="en-US" sz="2400" b="1" dirty="0" smtClean="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negativă</a:t>
            </a:r>
            <a:r>
              <a:rPr lang="en-US" sz="2400" b="1"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va</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avea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expresia</a:t>
            </a:r>
            <a:r>
              <a:rPr lang="en-US" sz="2400" dirty="0">
                <a:latin typeface="Times New Roman" panose="02020603050405020304" pitchFamily="18" charset="0"/>
                <a:cs typeface="Times New Roman" panose="02020603050405020304" pitchFamily="18" charset="0"/>
              </a:rPr>
              <a:t>:</a:t>
            </a:r>
            <a:endParaRPr lang="x-none" sz="2400" dirty="0">
              <a:latin typeface="Times New Roman" panose="02020603050405020304" pitchFamily="18" charset="0"/>
              <a:cs typeface="Times New Roman" panose="02020603050405020304" pitchFamily="18" charset="0"/>
            </a:endParaRPr>
          </a:p>
          <a:p>
            <a:endParaRPr lang="en-US" dirty="0" smtClean="0"/>
          </a:p>
          <a:p>
            <a:endParaRPr lang="en-US" dirty="0"/>
          </a:p>
          <a:p>
            <a:pPr marL="0" indent="0">
              <a:buNone/>
            </a:pPr>
            <a:r>
              <a:rPr lang="x-none" sz="2400" dirty="0" smtClean="0">
                <a:latin typeface="Times New Roman" panose="02020603050405020304" pitchFamily="18" charset="0"/>
                <a:cs typeface="Times New Roman" panose="02020603050405020304" pitchFamily="18" charset="0"/>
              </a:rPr>
              <a:t>La </a:t>
            </a:r>
            <a:r>
              <a:rPr lang="en-US" sz="2400" dirty="0" err="1" smtClean="0">
                <a:latin typeface="Times New Roman" panose="02020603050405020304" pitchFamily="18" charset="0"/>
                <a:cs typeface="Times New Roman" panose="02020603050405020304" pitchFamily="18" charset="0"/>
              </a:rPr>
              <a:t>reacţie</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negativ</a:t>
            </a:r>
            <a:r>
              <a:rPr lang="x-none" sz="2400" dirty="0" smtClean="0">
                <a:latin typeface="Times New Roman" panose="02020603050405020304" pitchFamily="18" charset="0"/>
                <a:cs typeface="Times New Roman" panose="02020603050405020304" pitchFamily="18" charset="0"/>
              </a:rPr>
              <a:t>ă</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factorul</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este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mai</a:t>
            </a:r>
            <a:r>
              <a:rPr lang="en-US" sz="2400" dirty="0">
                <a:latin typeface="Times New Roman" panose="02020603050405020304" pitchFamily="18" charset="0"/>
                <a:cs typeface="Times New Roman" panose="02020603050405020304" pitchFamily="18" charset="0"/>
              </a:rPr>
              <a:t> mic </a:t>
            </a:r>
            <a:r>
              <a:rPr lang="en-US" sz="2400" dirty="0" err="1">
                <a:latin typeface="Times New Roman" panose="02020603050405020304" pitchFamily="18" charset="0"/>
                <a:cs typeface="Times New Roman" panose="02020603050405020304" pitchFamily="18" charset="0"/>
              </a:rPr>
              <a:t>decât</a:t>
            </a:r>
            <a:r>
              <a:rPr lang="en-US" sz="2400" dirty="0">
                <a:latin typeface="Times New Roman" panose="02020603050405020304" pitchFamily="18" charset="0"/>
                <a:cs typeface="Times New Roman" panose="02020603050405020304" pitchFamily="18" charset="0"/>
              </a:rPr>
              <a:t> </a:t>
            </a:r>
            <a:r>
              <a:rPr lang="x-none" sz="2400" dirty="0" smtClean="0">
                <a:latin typeface="Times New Roman" panose="02020603050405020304" pitchFamily="18" charset="0"/>
                <a:cs typeface="Times New Roman" panose="02020603050405020304" pitchFamily="18" charset="0"/>
              </a:rPr>
              <a:t>fără reacție</a:t>
            </a:r>
            <a:r>
              <a:rPr lang="en-US" sz="2400" dirty="0" smtClean="0">
                <a:latin typeface="Times New Roman" panose="02020603050405020304" pitchFamily="18" charset="0"/>
                <a:cs typeface="Times New Roman" panose="02020603050405020304" pitchFamily="18" charset="0"/>
              </a:rPr>
              <a:t>:</a:t>
            </a:r>
          </a:p>
          <a:p>
            <a:endParaRPr lang="x-none" dirty="0" smtClean="0"/>
          </a:p>
          <a:p>
            <a:endParaRPr lang="x-none" dirty="0" smtClean="0"/>
          </a:p>
          <a:p>
            <a:r>
              <a:rPr lang="en-US" sz="2400" dirty="0" err="1" smtClean="0">
                <a:latin typeface="Times New Roman" panose="02020603050405020304" pitchFamily="18" charset="0"/>
                <a:cs typeface="Times New Roman" panose="02020603050405020304" pitchFamily="18" charset="0"/>
              </a:rPr>
              <a:t>factorul</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 </a:t>
            </a:r>
            <a:r>
              <a:rPr lang="en-US" sz="2400" dirty="0" err="1">
                <a:latin typeface="Times New Roman" panose="02020603050405020304" pitchFamily="18" charset="0"/>
                <a:cs typeface="Times New Roman" panose="02020603050405020304" pitchFamily="18" charset="0"/>
              </a:rPr>
              <a:t>amplificare</a:t>
            </a:r>
            <a:r>
              <a:rPr lang="x-none" sz="2400" dirty="0">
                <a:latin typeface="Times New Roman" panose="02020603050405020304" pitchFamily="18" charset="0"/>
                <a:cs typeface="Times New Roman" panose="02020603050405020304" pitchFamily="18" charset="0"/>
              </a:rPr>
              <a:t> la </a:t>
            </a:r>
            <a:r>
              <a:rPr lang="en-US" sz="2400" b="1" dirty="0" err="1">
                <a:latin typeface="Times New Roman" panose="02020603050405020304" pitchFamily="18" charset="0"/>
                <a:cs typeface="Times New Roman" panose="02020603050405020304" pitchFamily="18" charset="0"/>
              </a:rPr>
              <a:t>reacţie</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pozitivă</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avea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expresia</a:t>
            </a:r>
            <a:r>
              <a:rPr lang="en-US" sz="2400" dirty="0">
                <a:latin typeface="Times New Roman" panose="02020603050405020304" pitchFamily="18" charset="0"/>
                <a:cs typeface="Times New Roman" panose="02020603050405020304" pitchFamily="18" charset="0"/>
              </a:rPr>
              <a:t>:</a:t>
            </a:r>
          </a:p>
          <a:p>
            <a:endParaRPr lang="en-US" dirty="0"/>
          </a:p>
          <a:p>
            <a:endParaRPr lang="x-none" dirty="0" smtClean="0"/>
          </a:p>
          <a:p>
            <a:endParaRPr lang="x-none" dirty="0" smtClean="0"/>
          </a:p>
          <a:p>
            <a:pPr marL="0" indent="0">
              <a:buNone/>
            </a:pPr>
            <a:r>
              <a:rPr lang="x-none" sz="2400" dirty="0">
                <a:latin typeface="Times New Roman" panose="02020603050405020304" pitchFamily="18" charset="0"/>
                <a:cs typeface="Times New Roman" panose="02020603050405020304" pitchFamily="18" charset="0"/>
              </a:rPr>
              <a:t>La </a:t>
            </a:r>
            <a:r>
              <a:rPr lang="en-US" sz="2400" dirty="0" err="1">
                <a:latin typeface="Times New Roman" panose="02020603050405020304" pitchFamily="18" charset="0"/>
                <a:cs typeface="Times New Roman" panose="02020603050405020304" pitchFamily="18" charset="0"/>
              </a:rPr>
              <a:t>reacţie</a:t>
            </a:r>
            <a:r>
              <a:rPr lang="en-US" sz="2400" dirty="0">
                <a:latin typeface="Times New Roman" panose="02020603050405020304" pitchFamily="18" charset="0"/>
                <a:cs typeface="Times New Roman" panose="02020603050405020304" pitchFamily="18" charset="0"/>
              </a:rPr>
              <a:t> </a:t>
            </a:r>
            <a:r>
              <a:rPr lang="x-none" sz="2400" dirty="0">
                <a:latin typeface="Times New Roman" panose="02020603050405020304" pitchFamily="18" charset="0"/>
                <a:cs typeface="Times New Roman" panose="02020603050405020304" pitchFamily="18" charset="0"/>
              </a:rPr>
              <a:t>pozitivă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factorul</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este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mai</a:t>
            </a:r>
            <a:r>
              <a:rPr lang="en-US" sz="2400" dirty="0">
                <a:latin typeface="Times New Roman" panose="02020603050405020304" pitchFamily="18" charset="0"/>
                <a:cs typeface="Times New Roman" panose="02020603050405020304" pitchFamily="18" charset="0"/>
              </a:rPr>
              <a:t> </a:t>
            </a:r>
            <a:r>
              <a:rPr lang="x-none" sz="2400" dirty="0">
                <a:latin typeface="Times New Roman" panose="02020603050405020304" pitchFamily="18" charset="0"/>
                <a:cs typeface="Times New Roman" panose="02020603050405020304" pitchFamily="18" charset="0"/>
              </a:rPr>
              <a:t>mare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decât</a:t>
            </a:r>
            <a:r>
              <a:rPr lang="en-US" sz="2400" dirty="0">
                <a:latin typeface="Times New Roman" panose="02020603050405020304" pitchFamily="18" charset="0"/>
                <a:cs typeface="Times New Roman" panose="02020603050405020304" pitchFamily="18" charset="0"/>
              </a:rPr>
              <a:t> </a:t>
            </a:r>
            <a:r>
              <a:rPr lang="x-none" sz="2400" dirty="0">
                <a:latin typeface="Times New Roman" panose="02020603050405020304" pitchFamily="18" charset="0"/>
                <a:cs typeface="Times New Roman" panose="02020603050405020304" pitchFamily="18" charset="0"/>
              </a:rPr>
              <a:t>fără reacție</a:t>
            </a:r>
            <a:r>
              <a:rPr lang="en-US" sz="2400" dirty="0">
                <a:latin typeface="Times New Roman" panose="02020603050405020304" pitchFamily="18" charset="0"/>
                <a:cs typeface="Times New Roman" panose="02020603050405020304" pitchFamily="18" charset="0"/>
              </a:rPr>
              <a:t>:</a:t>
            </a: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7282" y="426132"/>
            <a:ext cx="2127525" cy="1195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3854" y="2130967"/>
            <a:ext cx="1343025"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7282" y="3596217"/>
            <a:ext cx="1969484" cy="1138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3087" y="5693145"/>
            <a:ext cx="13144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6882178" y="823894"/>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(7)</a:t>
            </a:r>
            <a:endParaRPr lang="ru-RU" sz="2000" b="1" i="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6640766" y="3965213"/>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(8)</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4197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36733" y="153824"/>
            <a:ext cx="11921383" cy="6563170"/>
          </a:xfrm>
        </p:spPr>
        <p:txBody>
          <a:bodyPr/>
          <a:lstStyle/>
          <a:p>
            <a:pPr marL="0" indent="0">
              <a:buNone/>
            </a:pPr>
            <a:r>
              <a:rPr lang="en-US" b="1" dirty="0" err="1" smtClean="0">
                <a:latin typeface="Times New Roman" panose="02020603050405020304" pitchFamily="18" charset="0"/>
                <a:cs typeface="Times New Roman" panose="02020603050405020304" pitchFamily="18" charset="0"/>
              </a:rPr>
              <a:t>Influenţa</a:t>
            </a:r>
            <a:r>
              <a:rPr lang="en-US" b="1" dirty="0" smtClean="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reacţiei</a:t>
            </a:r>
            <a:r>
              <a:rPr lang="en-US" b="1" dirty="0">
                <a:latin typeface="Times New Roman" panose="02020603050405020304" pitchFamily="18" charset="0"/>
                <a:cs typeface="Times New Roman" panose="02020603050405020304" pitchFamily="18" charset="0"/>
              </a:rPr>
              <a:t> negative </a:t>
            </a:r>
            <a:r>
              <a:rPr lang="en-US" b="1" dirty="0" err="1">
                <a:latin typeface="Times New Roman" panose="02020603050405020304" pitchFamily="18" charset="0"/>
                <a:cs typeface="Times New Roman" panose="02020603050405020304" pitchFamily="18" charset="0"/>
              </a:rPr>
              <a:t>asupra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parametrilor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amplificatorului</a:t>
            </a:r>
            <a:endParaRPr lang="en-US" dirty="0">
              <a:latin typeface="Times New Roman" panose="02020603050405020304" pitchFamily="18" charset="0"/>
              <a:cs typeface="Times New Roman" panose="02020603050405020304" pitchFamily="18" charset="0"/>
            </a:endParaRPr>
          </a:p>
          <a:p>
            <a:pPr marL="0" indent="0">
              <a:buNone/>
            </a:pPr>
            <a:r>
              <a:rPr lang="vi-VN" sz="2400" b="1" i="1" dirty="0" smtClean="0">
                <a:latin typeface="Times New Roman" panose="02020603050405020304" pitchFamily="18" charset="0"/>
                <a:cs typeface="Times New Roman" panose="02020603050405020304" pitchFamily="18" charset="0"/>
              </a:rPr>
              <a:t>Influenţa </a:t>
            </a:r>
            <a:r>
              <a:rPr lang="vi-VN" sz="2400" b="1" i="1" dirty="0">
                <a:latin typeface="Times New Roman" panose="02020603050405020304" pitchFamily="18" charset="0"/>
                <a:cs typeface="Times New Roman" panose="02020603050405020304" pitchFamily="18" charset="0"/>
              </a:rPr>
              <a:t>asupra stabilităţii factorului de amplificare</a:t>
            </a:r>
            <a:r>
              <a:rPr lang="vi-VN" sz="2400" dirty="0">
                <a:latin typeface="Times New Roman" panose="02020603050405020304" pitchFamily="18" charset="0"/>
                <a:cs typeface="Times New Roman" panose="02020603050405020304" pitchFamily="18" charset="0"/>
              </a:rPr>
              <a:t> </a:t>
            </a:r>
            <a:br>
              <a:rPr lang="vi-VN" sz="2400" dirty="0">
                <a:latin typeface="Times New Roman" panose="02020603050405020304" pitchFamily="18" charset="0"/>
                <a:cs typeface="Times New Roman" panose="02020603050405020304" pitchFamily="18" charset="0"/>
              </a:rPr>
            </a:br>
            <a:r>
              <a:rPr lang="x-none" sz="2400" dirty="0" smtClean="0">
                <a:latin typeface="Times New Roman" panose="02020603050405020304" pitchFamily="18" charset="0"/>
                <a:cs typeface="Times New Roman" panose="02020603050405020304" pitchFamily="18" charset="0"/>
              </a:rPr>
              <a:t>P</a:t>
            </a:r>
            <a:r>
              <a:rPr lang="en-US" sz="2400" dirty="0" err="1" smtClean="0">
                <a:latin typeface="Times New Roman" panose="02020603050405020304" pitchFamily="18" charset="0"/>
                <a:cs typeface="Times New Roman" panose="02020603050405020304" pitchFamily="18" charset="0"/>
              </a:rPr>
              <a:t>arametrii</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unui</a:t>
            </a:r>
            <a:r>
              <a:rPr lang="en-US" sz="2400" dirty="0">
                <a:latin typeface="Times New Roman" panose="02020603050405020304" pitchFamily="18" charset="0"/>
                <a:cs typeface="Times New Roman" panose="02020603050405020304" pitchFamily="18" charset="0"/>
              </a:rPr>
              <a:t> element </a:t>
            </a:r>
            <a:r>
              <a:rPr lang="en-US" sz="2400" dirty="0" err="1">
                <a:latin typeface="Times New Roman" panose="02020603050405020304" pitchFamily="18" charset="0"/>
                <a:cs typeface="Times New Roman" panose="02020603050405020304" pitchFamily="18" charset="0"/>
              </a:rPr>
              <a:t>activ</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tranzistor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depind</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poziţia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punctului</a:t>
            </a:r>
            <a:r>
              <a:rPr lang="en-US" sz="2400" dirty="0">
                <a:latin typeface="Times New Roman" panose="02020603050405020304" pitchFamily="18" charset="0"/>
                <a:cs typeface="Times New Roman" panose="02020603050405020304" pitchFamily="18" charset="0"/>
              </a:rPr>
              <a:t> static de </a:t>
            </a:r>
            <a:r>
              <a:rPr lang="en-US" sz="2400" dirty="0" err="1">
                <a:latin typeface="Times New Roman" panose="02020603050405020304" pitchFamily="18" charset="0"/>
                <a:cs typeface="Times New Roman" panose="02020603050405020304" pitchFamily="18" charset="0"/>
              </a:rPr>
              <a:t>funcţionare</a:t>
            </a:r>
            <a:r>
              <a:rPr lang="en-US" sz="2400" dirty="0">
                <a:latin typeface="Times New Roman" panose="02020603050405020304" pitchFamily="18" charset="0"/>
                <a:cs typeface="Times New Roman" panose="02020603050405020304" pitchFamily="18" charset="0"/>
              </a:rPr>
              <a:t> care, la </a:t>
            </a:r>
            <a:r>
              <a:rPr lang="en-US" sz="2400" dirty="0" err="1">
                <a:latin typeface="Times New Roman" panose="02020603050405020304" pitchFamily="18" charset="0"/>
                <a:cs typeface="Times New Roman" panose="02020603050405020304" pitchFamily="18" charset="0"/>
              </a:rPr>
              <a:t>rândul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este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dependentă</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temperatura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ambiantă</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variaţiile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tensiunii</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alimentare</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zgomote</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altă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natură</a:t>
            </a:r>
            <a:r>
              <a:rPr lang="en-US" sz="2400" dirty="0">
                <a:latin typeface="Times New Roman" panose="02020603050405020304" pitchFamily="18" charset="0"/>
                <a:cs typeface="Times New Roman" panose="02020603050405020304" pitchFamily="18" charset="0"/>
              </a:rPr>
              <a:t> etc</a:t>
            </a:r>
            <a:r>
              <a:rPr lang="en-US" sz="2400" dirty="0" smtClean="0">
                <a:latin typeface="Times New Roman" panose="02020603050405020304" pitchFamily="18" charset="0"/>
                <a:cs typeface="Times New Roman" panose="02020603050405020304" pitchFamily="18" charset="0"/>
              </a:rPr>
              <a:t>.</a:t>
            </a:r>
            <a:endParaRPr lang="x-none" sz="2400" dirty="0" smtClean="0">
              <a:latin typeface="Times New Roman" panose="02020603050405020304" pitchFamily="18" charset="0"/>
              <a:cs typeface="Times New Roman" panose="02020603050405020304" pitchFamily="18" charset="0"/>
            </a:endParaRPr>
          </a:p>
          <a:p>
            <a:pPr marL="0" indent="0">
              <a:buNone/>
            </a:pPr>
            <a:endParaRPr lang="x-none" sz="2400" dirty="0" smtClean="0">
              <a:latin typeface="Times New Roman" panose="02020603050405020304" pitchFamily="18" charset="0"/>
              <a:cs typeface="Times New Roman" panose="02020603050405020304" pitchFamily="18" charset="0"/>
            </a:endParaRPr>
          </a:p>
          <a:p>
            <a:pPr marL="0" indent="0">
              <a:buNone/>
            </a:pPr>
            <a:r>
              <a:rPr lang="en-US" sz="2400" dirty="0" err="1" smtClean="0">
                <a:latin typeface="Times New Roman" panose="02020603050405020304" pitchFamily="18" charset="0"/>
                <a:cs typeface="Times New Roman" panose="02020603050405020304" pitchFamily="18" charset="0"/>
              </a:rPr>
              <a:t>Aceasta</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înseamnă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şi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factorul</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 al </a:t>
            </a:r>
            <a:r>
              <a:rPr lang="en-US" sz="2400" dirty="0" err="1">
                <a:latin typeface="Times New Roman" panose="02020603050405020304" pitchFamily="18" charset="0"/>
                <a:cs typeface="Times New Roman" panose="02020603050405020304" pitchFamily="18" charset="0"/>
              </a:rPr>
              <a:t>unui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amplificator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a:t>
            </a:r>
            <a:r>
              <a:rPr lang="en-US" sz="2400" dirty="0">
                <a:latin typeface="Times New Roman" panose="02020603050405020304" pitchFamily="18" charset="0"/>
                <a:cs typeface="Times New Roman" panose="02020603050405020304" pitchFamily="18" charset="0"/>
              </a:rPr>
              <a:t> fi </a:t>
            </a:r>
            <a:r>
              <a:rPr lang="en-US" sz="2400" dirty="0" err="1">
                <a:latin typeface="Times New Roman" panose="02020603050405020304" pitchFamily="18" charset="0"/>
                <a:cs typeface="Times New Roman" panose="02020603050405020304" pitchFamily="18" charset="0"/>
              </a:rPr>
              <a:t>influenţat</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aceşti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perturbatori</a:t>
            </a:r>
            <a:r>
              <a:rPr lang="en-US" sz="2400" dirty="0">
                <a:latin typeface="Times New Roman" panose="02020603050405020304" pitchFamily="18" charset="0"/>
                <a:cs typeface="Times New Roman" panose="02020603050405020304" pitchFamily="18" charset="0"/>
              </a:rPr>
              <a:t>. </a:t>
            </a:r>
            <a:endParaRPr lang="x-none" sz="2400" dirty="0" smtClean="0">
              <a:latin typeface="Times New Roman" panose="02020603050405020304" pitchFamily="18" charset="0"/>
              <a:cs typeface="Times New Roman" panose="02020603050405020304" pitchFamily="18" charset="0"/>
            </a:endParaRPr>
          </a:p>
          <a:p>
            <a:pPr marL="0" indent="0">
              <a:buNone/>
            </a:pPr>
            <a:r>
              <a:rPr lang="en-US" sz="2400" dirty="0" err="1" smtClean="0">
                <a:latin typeface="Times New Roman" panose="02020603050405020304" pitchFamily="18" charset="0"/>
                <a:cs typeface="Times New Roman" panose="02020603050405020304" pitchFamily="18" charset="0"/>
              </a:rPr>
              <a:t>Considerând</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relaţia</a:t>
            </a:r>
            <a:r>
              <a:rPr lang="en-US" sz="2400" dirty="0">
                <a:latin typeface="Times New Roman" panose="02020603050405020304" pitchFamily="18" charset="0"/>
                <a:cs typeface="Times New Roman" panose="02020603050405020304" pitchFamily="18" charset="0"/>
              </a:rPr>
              <a:t> </a:t>
            </a:r>
            <a:endParaRPr lang="x-none" sz="2400" dirty="0" smtClean="0">
              <a:latin typeface="Times New Roman" panose="02020603050405020304" pitchFamily="18" charset="0"/>
              <a:cs typeface="Times New Roman" panose="02020603050405020304" pitchFamily="18" charset="0"/>
            </a:endParaRPr>
          </a:p>
          <a:p>
            <a:pPr marL="0" indent="0">
              <a:buNone/>
            </a:pPr>
            <a:endParaRPr lang="x-none"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şi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derivând</a:t>
            </a:r>
            <a:r>
              <a:rPr lang="en-US" sz="2400" dirty="0">
                <a:latin typeface="Times New Roman" panose="02020603050405020304" pitchFamily="18" charset="0"/>
                <a:cs typeface="Times New Roman" panose="02020603050405020304" pitchFamily="18" charset="0"/>
              </a:rPr>
              <a:t>-o </a:t>
            </a:r>
            <a:r>
              <a:rPr lang="en-US" sz="2400" dirty="0" err="1">
                <a:latin typeface="Times New Roman" panose="02020603050405020304" pitchFamily="18" charset="0"/>
                <a:cs typeface="Times New Roman" panose="02020603050405020304" pitchFamily="18" charset="0"/>
              </a:rPr>
              <a:t>în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raport</a:t>
            </a:r>
            <a:r>
              <a:rPr lang="en-US" sz="2400" dirty="0">
                <a:latin typeface="Times New Roman" panose="02020603050405020304" pitchFamily="18" charset="0"/>
                <a:cs typeface="Times New Roman" panose="02020603050405020304" pitchFamily="18" charset="0"/>
              </a:rPr>
              <a:t> cu </a:t>
            </a:r>
            <a:r>
              <a:rPr lang="en-US" sz="2400" dirty="0" err="1">
                <a:latin typeface="Times New Roman" panose="02020603050405020304" pitchFamily="18" charset="0"/>
                <a:cs typeface="Times New Roman" panose="02020603050405020304" pitchFamily="18" charset="0"/>
              </a:rPr>
              <a:t>variabila</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vom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obţine</a:t>
            </a:r>
            <a:r>
              <a:rPr lang="en-US" sz="2400" dirty="0">
                <a:latin typeface="Times New Roman" panose="02020603050405020304" pitchFamily="18" charset="0"/>
                <a:cs typeface="Times New Roman" panose="02020603050405020304" pitchFamily="18" charset="0"/>
              </a:rPr>
              <a:t>:</a:t>
            </a:r>
          </a:p>
          <a:p>
            <a:endParaRPr lang="en-US" dirty="0"/>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784" y="3100321"/>
            <a:ext cx="2127525" cy="1195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6939" y="5020851"/>
            <a:ext cx="661987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8762864" y="5478021"/>
            <a:ext cx="482824"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(9)</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7876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22191" y="213645"/>
            <a:ext cx="11588097" cy="6477712"/>
          </a:xfrm>
        </p:spPr>
        <p:txBody>
          <a:bodyPr>
            <a:normAutofit/>
          </a:bodyPr>
          <a:lstStyle/>
          <a:p>
            <a:r>
              <a:rPr lang="x-none" sz="2400" dirty="0" smtClean="0">
                <a:latin typeface="Times New Roman" panose="02020603050405020304" pitchFamily="18" charset="0"/>
                <a:cs typeface="Times New Roman" panose="02020603050405020304" pitchFamily="18" charset="0"/>
              </a:rPr>
              <a:t>În relație apare expresia factorului de amplificare cu reacție, se exprimă variația relativă a acesteia </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US" b="1" dirty="0" smtClean="0"/>
          </a:p>
          <a:p>
            <a:endParaRPr lang="en-US" b="1" dirty="0"/>
          </a:p>
          <a:p>
            <a:endParaRPr lang="en-US" b="1" dirty="0" smtClean="0"/>
          </a:p>
          <a:p>
            <a:endParaRPr lang="en-US" b="1" dirty="0"/>
          </a:p>
          <a:p>
            <a:r>
              <a:rPr lang="en-US" sz="2400" dirty="0">
                <a:latin typeface="Times New Roman" panose="02020603050405020304" pitchFamily="18" charset="0"/>
                <a:cs typeface="Times New Roman" panose="02020603050405020304" pitchFamily="18" charset="0"/>
              </a:rPr>
              <a:t>Deci, </a:t>
            </a:r>
            <a:r>
              <a:rPr lang="en-US" sz="2400" dirty="0" err="1">
                <a:latin typeface="Times New Roman" panose="02020603050405020304" pitchFamily="18" charset="0"/>
                <a:cs typeface="Times New Roman" panose="02020603050405020304" pitchFamily="18" charset="0"/>
              </a:rPr>
              <a:t>variaţia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relativă</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factorului</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în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prezenţa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reacţiei</a:t>
            </a:r>
            <a:r>
              <a:rPr lang="en-US" sz="2400" dirty="0">
                <a:latin typeface="Times New Roman" panose="02020603050405020304" pitchFamily="18" charset="0"/>
                <a:cs typeface="Times New Roman" panose="02020603050405020304" pitchFamily="18" charset="0"/>
              </a:rPr>
              <a:t> negative </a:t>
            </a:r>
            <a:r>
              <a:rPr lang="en-US" sz="2400" dirty="0" err="1">
                <a:latin typeface="Times New Roman" panose="02020603050405020304" pitchFamily="18" charset="0"/>
                <a:cs typeface="Times New Roman" panose="02020603050405020304" pitchFamily="18" charset="0"/>
              </a:rPr>
              <a:t>este</a:t>
            </a:r>
            <a:r>
              <a:rPr lang="en-US" sz="2400" dirty="0">
                <a:latin typeface="Times New Roman" panose="02020603050405020304" pitchFamily="18" charset="0"/>
                <a:cs typeface="Times New Roman" panose="02020603050405020304" pitchFamily="18" charset="0"/>
              </a:rPr>
              <a:t> de </a:t>
            </a:r>
            <a:r>
              <a:rPr lang="en-US" sz="2400" b="1" i="1" dirty="0">
                <a:latin typeface="Times New Roman" panose="02020603050405020304" pitchFamily="18" charset="0"/>
                <a:cs typeface="Times New Roman" panose="02020603050405020304" pitchFamily="18" charset="0"/>
              </a:rPr>
              <a:t>1+</a:t>
            </a:r>
            <a:r>
              <a:rPr lang="ru-RU" sz="2400" b="1" dirty="0">
                <a:latin typeface="Times New Roman" panose="02020603050405020304" pitchFamily="18" charset="0"/>
                <a:cs typeface="Times New Roman" panose="02020603050405020304" pitchFamily="18" charset="0"/>
              </a:rPr>
              <a:t>β</a:t>
            </a:r>
            <a:r>
              <a:rPr lang="en-US" sz="2400" b="1" i="1" dirty="0">
                <a:latin typeface="Times New Roman" panose="02020603050405020304" pitchFamily="18" charset="0"/>
                <a:cs typeface="Times New Roman" panose="02020603050405020304" pitchFamily="18" charset="0"/>
              </a:rPr>
              <a:t>A</a:t>
            </a:r>
            <a:r>
              <a:rPr lang="en-US" sz="2400" i="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ori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mică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decât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variaţia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relativă</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lui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în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absenţa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reacţiei</a:t>
            </a:r>
            <a:r>
              <a:rPr lang="en-US" sz="2400" dirty="0">
                <a:latin typeface="Times New Roman" panose="02020603050405020304" pitchFamily="18" charset="0"/>
                <a:cs typeface="Times New Roman" panose="02020603050405020304" pitchFamily="18" charset="0"/>
              </a:rPr>
              <a:t> negative. </a:t>
            </a:r>
            <a:endParaRPr lang="x-none"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Dacă</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de </a:t>
            </a:r>
            <a:r>
              <a:rPr lang="en-US" sz="2400" dirty="0" err="1">
                <a:latin typeface="Times New Roman" panose="02020603050405020304" pitchFamily="18" charset="0"/>
                <a:cs typeface="Times New Roman" panose="02020603050405020304" pitchFamily="18" charset="0"/>
              </a:rPr>
              <a:t>exemplu</a:t>
            </a:r>
            <a:r>
              <a:rPr lang="en-US" sz="2400"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β</a:t>
            </a:r>
            <a:r>
              <a:rPr lang="en-US" sz="2400" i="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 9 </a:t>
            </a:r>
            <a:r>
              <a:rPr lang="en-US" sz="2400" dirty="0" err="1">
                <a:latin typeface="Times New Roman" panose="02020603050405020304" pitchFamily="18" charset="0"/>
                <a:cs typeface="Times New Roman" panose="02020603050405020304" pitchFamily="18" charset="0"/>
              </a:rPr>
              <a:t>şi</a:t>
            </a:r>
            <a:r>
              <a:rPr lang="en-US" sz="2400"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dA</a:t>
            </a:r>
            <a:r>
              <a:rPr lang="en-US" sz="2400" i="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atunci</a:t>
            </a:r>
            <a:r>
              <a:rPr lang="en-US" sz="2400"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dA</a:t>
            </a:r>
            <a:r>
              <a:rPr lang="en-US" sz="2400" i="1" baseline="-25000" dirty="0" err="1">
                <a:latin typeface="Times New Roman" panose="02020603050405020304" pitchFamily="18" charset="0"/>
                <a:cs typeface="Times New Roman" panose="02020603050405020304" pitchFamily="18" charset="0"/>
              </a:rPr>
              <a:t>r</a:t>
            </a:r>
            <a:r>
              <a:rPr lang="en-US" sz="2400" i="1" dirty="0">
                <a:latin typeface="Times New Roman" panose="02020603050405020304" pitchFamily="18" charset="0"/>
                <a:cs typeface="Times New Roman" panose="02020603050405020304" pitchFamily="18" charset="0"/>
              </a:rPr>
              <a:t>/</a:t>
            </a:r>
            <a:r>
              <a:rPr lang="en-US" sz="2400" i="1" dirty="0" err="1">
                <a:latin typeface="Times New Roman" panose="02020603050405020304" pitchFamily="18" charset="0"/>
                <a:cs typeface="Times New Roman" panose="02020603050405020304" pitchFamily="18" charset="0"/>
              </a:rPr>
              <a:t>A</a:t>
            </a:r>
            <a:r>
              <a:rPr lang="en-US" sz="2400" i="1" baseline="-25000" dirty="0" err="1">
                <a:latin typeface="Times New Roman" panose="02020603050405020304" pitchFamily="18" charset="0"/>
                <a:cs typeface="Times New Roman" panose="02020603050405020304" pitchFamily="18" charset="0"/>
              </a:rPr>
              <a:t>r</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0,1%. </a:t>
            </a:r>
            <a:endParaRPr lang="x-none"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Deci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reacţia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negativă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contribuie</a:t>
            </a:r>
            <a:r>
              <a:rPr lang="en-US" sz="2400" dirty="0">
                <a:latin typeface="Times New Roman" panose="02020603050405020304" pitchFamily="18" charset="0"/>
                <a:cs typeface="Times New Roman" panose="02020603050405020304" pitchFamily="18" charset="0"/>
              </a:rPr>
              <a:t> la </a:t>
            </a:r>
            <a:r>
              <a:rPr lang="en-US" sz="2400" b="1" dirty="0" err="1">
                <a:latin typeface="Times New Roman" panose="02020603050405020304" pitchFamily="18" charset="0"/>
                <a:cs typeface="Times New Roman" panose="02020603050405020304" pitchFamily="18" charset="0"/>
              </a:rPr>
              <a:t>mărirea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stabilităţii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factorului</a:t>
            </a:r>
            <a:r>
              <a:rPr lang="en-US" sz="2400" b="1" dirty="0">
                <a:latin typeface="Times New Roman" panose="02020603050405020304" pitchFamily="18" charset="0"/>
                <a:cs typeface="Times New Roman" panose="02020603050405020304" pitchFamily="18" charset="0"/>
              </a:rPr>
              <a:t> de </a:t>
            </a:r>
            <a:r>
              <a:rPr lang="en-US" sz="2400" b="1"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a:t>
            </a:r>
          </a:p>
          <a:p>
            <a:endParaRPr lang="en-US" b="1"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3801" y="858839"/>
            <a:ext cx="2667000"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7451649" y="1616046"/>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(10)</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466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9641" y="170916"/>
            <a:ext cx="11861563" cy="6554624"/>
          </a:xfrm>
        </p:spPr>
        <p:txBody>
          <a:bodyPr/>
          <a:lstStyle/>
          <a:p>
            <a:r>
              <a:rPr lang="en-US" b="1" i="1" dirty="0" err="1"/>
              <a:t>Influenţa</a:t>
            </a:r>
            <a:r>
              <a:rPr lang="en-US" b="1" i="1" dirty="0"/>
              <a:t> </a:t>
            </a:r>
            <a:r>
              <a:rPr lang="en-US" b="1" i="1" dirty="0" err="1"/>
              <a:t>asupra</a:t>
            </a:r>
            <a:r>
              <a:rPr lang="en-US" b="1" i="1" dirty="0"/>
              <a:t> </a:t>
            </a:r>
            <a:r>
              <a:rPr lang="en-US" b="1" i="1" dirty="0" err="1"/>
              <a:t>benzii</a:t>
            </a:r>
            <a:r>
              <a:rPr lang="en-US" b="1" i="1" dirty="0"/>
              <a:t> de </a:t>
            </a:r>
            <a:r>
              <a:rPr lang="en-US" b="1" i="1" dirty="0" err="1"/>
              <a:t>frecvenţe</a:t>
            </a:r>
            <a:r>
              <a:rPr lang="en-US" dirty="0"/>
              <a:t> </a:t>
            </a:r>
            <a:br>
              <a:rPr lang="en-US" dirty="0"/>
            </a:br>
            <a:endParaRPr lang="x-none" dirty="0" smtClean="0"/>
          </a:p>
          <a:p>
            <a:pPr marL="0" indent="0">
              <a:buNone/>
            </a:pPr>
            <a:r>
              <a:rPr lang="en-US" dirty="0" err="1" smtClean="0"/>
              <a:t>Expresiile</a:t>
            </a:r>
            <a:r>
              <a:rPr lang="en-US" dirty="0" smtClean="0"/>
              <a:t> </a:t>
            </a:r>
            <a:r>
              <a:rPr lang="x-none" dirty="0" smtClean="0"/>
              <a:t> </a:t>
            </a:r>
          </a:p>
          <a:p>
            <a:endParaRPr lang="x-none" dirty="0" smtClean="0"/>
          </a:p>
          <a:p>
            <a:pPr marL="0" indent="0">
              <a:buNone/>
            </a:pPr>
            <a:r>
              <a:rPr lang="x-none" dirty="0" smtClean="0"/>
              <a:t>Variația </a:t>
            </a:r>
            <a:r>
              <a:rPr lang="en-US" dirty="0" err="1" smtClean="0"/>
              <a:t>factori</a:t>
            </a:r>
            <a:r>
              <a:rPr lang="x-none" dirty="0" smtClean="0"/>
              <a:t>lor</a:t>
            </a:r>
            <a:r>
              <a:rPr lang="en-US" dirty="0" smtClean="0"/>
              <a:t> </a:t>
            </a:r>
            <a:r>
              <a:rPr lang="en-US" dirty="0"/>
              <a:t>de </a:t>
            </a:r>
            <a:r>
              <a:rPr lang="en-US" dirty="0" err="1"/>
              <a:t>amplificare</a:t>
            </a:r>
            <a:r>
              <a:rPr lang="en-US" dirty="0"/>
              <a:t> </a:t>
            </a:r>
            <a:r>
              <a:rPr lang="en-US" dirty="0" err="1"/>
              <a:t>în</a:t>
            </a:r>
            <a:r>
              <a:rPr lang="en-US" dirty="0"/>
              <a:t> </a:t>
            </a:r>
            <a:r>
              <a:rPr lang="en-US" dirty="0" err="1"/>
              <a:t>tensiune</a:t>
            </a:r>
            <a:r>
              <a:rPr lang="en-US" dirty="0"/>
              <a:t> </a:t>
            </a:r>
            <a:r>
              <a:rPr lang="en-US" dirty="0" err="1"/>
              <a:t>ai</a:t>
            </a:r>
            <a:r>
              <a:rPr lang="en-US" dirty="0"/>
              <a:t> </a:t>
            </a:r>
            <a:r>
              <a:rPr lang="en-US" dirty="0" err="1"/>
              <a:t>unui</a:t>
            </a:r>
            <a:r>
              <a:rPr lang="en-US" dirty="0"/>
              <a:t> </a:t>
            </a:r>
            <a:r>
              <a:rPr lang="en-US" dirty="0" err="1"/>
              <a:t>amplificator</a:t>
            </a:r>
            <a:r>
              <a:rPr lang="en-US" dirty="0"/>
              <a:t> </a:t>
            </a:r>
            <a:r>
              <a:rPr lang="en-US" dirty="0" err="1"/>
              <a:t>fără</a:t>
            </a:r>
            <a:r>
              <a:rPr lang="en-US" dirty="0"/>
              <a:t> </a:t>
            </a:r>
            <a:r>
              <a:rPr lang="en-US" dirty="0" err="1"/>
              <a:t>reacţie</a:t>
            </a:r>
            <a:r>
              <a:rPr lang="en-US" dirty="0"/>
              <a:t> la </a:t>
            </a:r>
            <a:r>
              <a:rPr lang="en-US" dirty="0" err="1"/>
              <a:t>frecvenţe</a:t>
            </a:r>
            <a:r>
              <a:rPr lang="en-US" dirty="0"/>
              <a:t> </a:t>
            </a:r>
            <a:r>
              <a:rPr lang="en-US" dirty="0" err="1"/>
              <a:t>joase</a:t>
            </a:r>
            <a:r>
              <a:rPr lang="en-US" dirty="0"/>
              <a:t>, </a:t>
            </a:r>
            <a:r>
              <a:rPr lang="en-US" dirty="0" err="1"/>
              <a:t>respectiv</a:t>
            </a:r>
            <a:r>
              <a:rPr lang="en-US" dirty="0"/>
              <a:t> </a:t>
            </a:r>
            <a:r>
              <a:rPr lang="en-US" dirty="0" err="1"/>
              <a:t>înalte</a:t>
            </a:r>
            <a:r>
              <a:rPr lang="en-US" dirty="0"/>
              <a:t>. </a:t>
            </a:r>
            <a:endParaRPr lang="x-none" dirty="0" smtClean="0"/>
          </a:p>
          <a:p>
            <a:pPr marL="0" indent="0">
              <a:buNone/>
            </a:pPr>
            <a:r>
              <a:rPr lang="x-none" dirty="0" smtClean="0"/>
              <a:t>P</a:t>
            </a:r>
            <a:r>
              <a:rPr lang="en-US" dirty="0" err="1" smtClean="0"/>
              <a:t>ot</a:t>
            </a:r>
            <a:r>
              <a:rPr lang="en-US" dirty="0" smtClean="0"/>
              <a:t> </a:t>
            </a:r>
            <a:r>
              <a:rPr lang="en-US" dirty="0"/>
              <a:t>fi </a:t>
            </a:r>
            <a:r>
              <a:rPr lang="en-US" dirty="0" err="1"/>
              <a:t>rescrise</a:t>
            </a:r>
            <a:r>
              <a:rPr lang="en-US" dirty="0"/>
              <a:t> </a:t>
            </a:r>
            <a:r>
              <a:rPr lang="x-none" dirty="0" smtClean="0"/>
              <a:t>pentru </a:t>
            </a:r>
            <a:r>
              <a:rPr lang="en-US" dirty="0" err="1" smtClean="0"/>
              <a:t>amplificatorul</a:t>
            </a:r>
            <a:r>
              <a:rPr lang="en-US" dirty="0" smtClean="0"/>
              <a:t> </a:t>
            </a:r>
            <a:r>
              <a:rPr lang="x-none" dirty="0" smtClean="0"/>
              <a:t>cu</a:t>
            </a:r>
            <a:r>
              <a:rPr lang="en-US" dirty="0" smtClean="0"/>
              <a:t> </a:t>
            </a:r>
            <a:r>
              <a:rPr lang="en-US" dirty="0" err="1"/>
              <a:t>reacţie</a:t>
            </a:r>
            <a:r>
              <a:rPr lang="en-US" dirty="0"/>
              <a:t> </a:t>
            </a:r>
            <a:r>
              <a:rPr lang="en-US" dirty="0" err="1"/>
              <a:t>negativă</a:t>
            </a:r>
            <a:r>
              <a:rPr lang="en-US" dirty="0"/>
              <a:t>. </a:t>
            </a:r>
            <a:r>
              <a:rPr lang="en-US" dirty="0" err="1"/>
              <a:t>Astfel</a:t>
            </a:r>
            <a:r>
              <a:rPr lang="en-US" dirty="0"/>
              <a:t>, la </a:t>
            </a:r>
            <a:r>
              <a:rPr lang="en-US" dirty="0" err="1"/>
              <a:t>frecvenţe</a:t>
            </a:r>
            <a:r>
              <a:rPr lang="en-US" dirty="0"/>
              <a:t> </a:t>
            </a:r>
            <a:r>
              <a:rPr lang="en-US" dirty="0" err="1"/>
              <a:t>joase</a:t>
            </a:r>
            <a:r>
              <a:rPr lang="en-US" dirty="0"/>
              <a:t> </a:t>
            </a:r>
            <a:r>
              <a:rPr lang="en-US" dirty="0" err="1"/>
              <a:t>factorul</a:t>
            </a:r>
            <a:r>
              <a:rPr lang="en-US" dirty="0"/>
              <a:t> de </a:t>
            </a:r>
            <a:r>
              <a:rPr lang="en-US" dirty="0" err="1"/>
              <a:t>amplificare</a:t>
            </a:r>
            <a:r>
              <a:rPr lang="en-US" dirty="0"/>
              <a:t> </a:t>
            </a:r>
            <a:r>
              <a:rPr lang="en-US" dirty="0" err="1"/>
              <a:t>în</a:t>
            </a:r>
            <a:r>
              <a:rPr lang="en-US" dirty="0"/>
              <a:t> </a:t>
            </a:r>
            <a:r>
              <a:rPr lang="en-US" dirty="0" err="1"/>
              <a:t>prezenţa</a:t>
            </a:r>
            <a:r>
              <a:rPr lang="en-US" dirty="0"/>
              <a:t> </a:t>
            </a:r>
            <a:r>
              <a:rPr lang="en-US" dirty="0" err="1"/>
              <a:t>reacţiei</a:t>
            </a:r>
            <a:r>
              <a:rPr lang="en-US" dirty="0"/>
              <a:t> </a:t>
            </a:r>
            <a:r>
              <a:rPr lang="en-US" dirty="0" err="1"/>
              <a:t>poate</a:t>
            </a:r>
            <a:r>
              <a:rPr lang="en-US" dirty="0"/>
              <a:t> fi </a:t>
            </a:r>
            <a:r>
              <a:rPr lang="en-US" dirty="0" err="1"/>
              <a:t>scris</a:t>
            </a:r>
            <a:r>
              <a:rPr lang="en-US" dirty="0"/>
              <a:t> sub forma:</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4626" y="3764274"/>
            <a:ext cx="6970144" cy="3094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Рисунок 3"/>
          <p:cNvPicPr>
            <a:picLocks noChangeAspect="1"/>
          </p:cNvPicPr>
          <p:nvPr/>
        </p:nvPicPr>
        <p:blipFill>
          <a:blip r:embed="rId3"/>
          <a:stretch>
            <a:fillRect/>
          </a:stretch>
        </p:blipFill>
        <p:spPr>
          <a:xfrm>
            <a:off x="3062378" y="582075"/>
            <a:ext cx="2130726" cy="1563737"/>
          </a:xfrm>
          <a:prstGeom prst="rect">
            <a:avLst/>
          </a:prstGeom>
        </p:spPr>
      </p:pic>
      <p:pic>
        <p:nvPicPr>
          <p:cNvPr id="6" name="Рисунок 5"/>
          <p:cNvPicPr>
            <a:picLocks noChangeAspect="1"/>
          </p:cNvPicPr>
          <p:nvPr/>
        </p:nvPicPr>
        <p:blipFill>
          <a:blip r:embed="rId4"/>
          <a:stretch>
            <a:fillRect/>
          </a:stretch>
        </p:blipFill>
        <p:spPr>
          <a:xfrm>
            <a:off x="6383548" y="582075"/>
            <a:ext cx="2147977" cy="1600229"/>
          </a:xfrm>
          <a:prstGeom prst="rect">
            <a:avLst/>
          </a:prstGeom>
        </p:spPr>
      </p:pic>
      <p:sp>
        <p:nvSpPr>
          <p:cNvPr id="8" name="TextBox 7"/>
          <p:cNvSpPr txBox="1"/>
          <p:nvPr/>
        </p:nvSpPr>
        <p:spPr>
          <a:xfrm>
            <a:off x="5338177" y="1072582"/>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(11)</a:t>
            </a:r>
            <a:endParaRPr lang="ru-RU" sz="2000" b="1" i="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8840502" y="1072582"/>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(12)</a:t>
            </a:r>
            <a:endParaRPr lang="ru-RU" sz="2000" b="1" i="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0011921" y="5111454"/>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(13)</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6989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65000" y="557480"/>
            <a:ext cx="11784650" cy="6159513"/>
          </a:xfrm>
        </p:spPr>
        <p:txBody>
          <a:bodyPr/>
          <a:lstStyle/>
          <a:p>
            <a:pPr marL="0" indent="0">
              <a:buNone/>
            </a:pP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concentrat</a:t>
            </a:r>
            <a:r>
              <a:rPr lang="en-US" sz="2400" dirty="0" smtClean="0">
                <a:latin typeface="Times New Roman" panose="02020603050405020304" pitchFamily="18" charset="0"/>
                <a:cs typeface="Times New Roman" panose="02020603050405020304" pitchFamily="18" charset="0"/>
              </a:rPr>
              <a:t>:</a:t>
            </a:r>
            <a:r>
              <a:rPr lang="x-none"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unde</a:t>
            </a:r>
            <a:r>
              <a:rPr lang="en-US" sz="2400" dirty="0">
                <a:latin typeface="Times New Roman" panose="02020603050405020304" pitchFamily="18" charset="0"/>
                <a:cs typeface="Times New Roman" panose="02020603050405020304" pitchFamily="18" charset="0"/>
              </a:rPr>
              <a:t>: </a:t>
            </a:r>
          </a:p>
          <a:p>
            <a:pPr marL="0" indent="0">
              <a:buNone/>
            </a:pPr>
            <a:endParaRPr lang="en-US" sz="2400" dirty="0" smtClean="0">
              <a:latin typeface="Times New Roman" panose="02020603050405020304" pitchFamily="18" charset="0"/>
              <a:cs typeface="Times New Roman" panose="02020603050405020304" pitchFamily="18" charset="0"/>
            </a:endParaRPr>
          </a:p>
          <a:p>
            <a:endParaRPr lang="en-US" dirty="0"/>
          </a:p>
          <a:p>
            <a:pPr marL="0" indent="0">
              <a:buNone/>
            </a:pPr>
            <a:r>
              <a:rPr lang="en-US" sz="2400" dirty="0" err="1" smtClean="0">
                <a:latin typeface="Times New Roman" panose="02020603050405020304" pitchFamily="18" charset="0"/>
                <a:cs typeface="Times New Roman" panose="02020603050405020304" pitchFamily="18" charset="0"/>
              </a:rPr>
              <a:t>Procedând</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în</a:t>
            </a:r>
            <a:r>
              <a:rPr lang="en-US" sz="2400" dirty="0">
                <a:latin typeface="Times New Roman" panose="02020603050405020304" pitchFamily="18" charset="0"/>
                <a:cs typeface="Times New Roman" panose="02020603050405020304" pitchFamily="18" charset="0"/>
              </a:rPr>
              <a:t> mod analog cu </a:t>
            </a:r>
            <a:r>
              <a:rPr lang="en-US" sz="2400" dirty="0" err="1">
                <a:latin typeface="Times New Roman" panose="02020603050405020304" pitchFamily="18" charset="0"/>
                <a:cs typeface="Times New Roman" panose="02020603050405020304" pitchFamily="18" charset="0"/>
              </a:rPr>
              <a:t>factorul</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amplificare</a:t>
            </a:r>
            <a:r>
              <a:rPr lang="en-US" sz="2400" dirty="0">
                <a:latin typeface="Times New Roman" panose="02020603050405020304" pitchFamily="18" charset="0"/>
                <a:cs typeface="Times New Roman" panose="02020603050405020304" pitchFamily="18" charset="0"/>
              </a:rPr>
              <a:t> cu </a:t>
            </a:r>
            <a:r>
              <a:rPr lang="en-US" sz="2400" dirty="0" err="1">
                <a:latin typeface="Times New Roman" panose="02020603050405020304" pitchFamily="18" charset="0"/>
                <a:cs typeface="Times New Roman" panose="02020603050405020304" pitchFamily="18" charset="0"/>
              </a:rPr>
              <a:t>reacţie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negativă</a:t>
            </a:r>
            <a:r>
              <a:rPr lang="en-US" sz="2400" dirty="0">
                <a:latin typeface="Times New Roman" panose="02020603050405020304" pitchFamily="18" charset="0"/>
                <a:cs typeface="Times New Roman" panose="02020603050405020304" pitchFamily="18" charset="0"/>
              </a:rPr>
              <a:t> la </a:t>
            </a:r>
            <a:r>
              <a:rPr lang="en-US" sz="2400" dirty="0" err="1">
                <a:latin typeface="Times New Roman" panose="02020603050405020304" pitchFamily="18" charset="0"/>
                <a:cs typeface="Times New Roman" panose="02020603050405020304" pitchFamily="18" charset="0"/>
              </a:rPr>
              <a:t>frecvenţe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înalte</a:t>
            </a:r>
            <a:r>
              <a:rPr lang="en-US" sz="2400" dirty="0">
                <a:latin typeface="Times New Roman" panose="02020603050405020304" pitchFamily="18" charset="0"/>
                <a:cs typeface="Times New Roman" panose="02020603050405020304" pitchFamily="18" charset="0"/>
              </a:rPr>
              <a:t>:</a:t>
            </a:r>
          </a:p>
          <a:p>
            <a:pPr marL="0" indent="0">
              <a:buNone/>
            </a:pPr>
            <a:r>
              <a:rPr lang="en-US" dirty="0" smtClean="0"/>
              <a:t> </a:t>
            </a:r>
            <a:r>
              <a:rPr lang="en-US" dirty="0"/>
              <a:t/>
            </a:r>
            <a:br>
              <a:rPr lang="en-US" dirty="0"/>
            </a:b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799" y="57479"/>
            <a:ext cx="28479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4231" y="267028"/>
            <a:ext cx="27051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9816" y="2883402"/>
            <a:ext cx="8143309" cy="3232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843166" y="557480"/>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(14)</a:t>
            </a:r>
            <a:endParaRPr lang="ru-RU" sz="2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0860864" y="581770"/>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(15)</a:t>
            </a:r>
            <a:endParaRPr lang="ru-RU" sz="2000" b="1" i="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0365322" y="4299710"/>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(16)</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2145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4003" y="541257"/>
            <a:ext cx="11929929" cy="6192829"/>
          </a:xfrm>
        </p:spPr>
        <p:txBody>
          <a:bodyPr>
            <a:normAutofit/>
          </a:bodyPr>
          <a:lstStyle/>
          <a:p>
            <a:pPr marL="0" indent="0">
              <a:buNone/>
            </a:pPr>
            <a:r>
              <a:rPr lang="en-US" sz="2600" dirty="0" err="1">
                <a:latin typeface="Times New Roman" panose="02020603050405020304" pitchFamily="18" charset="0"/>
                <a:cs typeface="Times New Roman" panose="02020603050405020304" pitchFamily="18" charset="0"/>
              </a:rPr>
              <a:t>obţinem</a:t>
            </a:r>
            <a:r>
              <a:rPr lang="en-US" sz="2600" dirty="0" smtClean="0">
                <a:latin typeface="Times New Roman" panose="02020603050405020304" pitchFamily="18" charset="0"/>
                <a:cs typeface="Times New Roman" panose="02020603050405020304" pitchFamily="18" charset="0"/>
              </a:rPr>
              <a:t>:</a:t>
            </a:r>
            <a:r>
              <a:rPr lang="x-none" sz="2600" dirty="0" smtClean="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unde</a:t>
            </a:r>
            <a:r>
              <a:rPr lang="en-US" sz="2600" dirty="0">
                <a:latin typeface="Times New Roman" panose="02020603050405020304" pitchFamily="18" charset="0"/>
                <a:cs typeface="Times New Roman" panose="02020603050405020304" pitchFamily="18" charset="0"/>
              </a:rPr>
              <a:t>: </a:t>
            </a:r>
          </a:p>
          <a:p>
            <a:pPr marL="0" indent="0">
              <a:buNone/>
            </a:pPr>
            <a:endParaRPr lang="en-US" sz="2600" dirty="0" smtClean="0">
              <a:latin typeface="Times New Roman" panose="02020603050405020304" pitchFamily="18" charset="0"/>
              <a:cs typeface="Times New Roman" panose="02020603050405020304" pitchFamily="18" charset="0"/>
            </a:endParaRPr>
          </a:p>
          <a:p>
            <a:endParaRPr lang="en-US" sz="2600" dirty="0"/>
          </a:p>
          <a:p>
            <a:r>
              <a:rPr lang="en-US" i="1" dirty="0" err="1" smtClean="0">
                <a:latin typeface="Times New Roman" panose="02020603050405020304" pitchFamily="18" charset="0"/>
                <a:cs typeface="Times New Roman" panose="02020603050405020304" pitchFamily="18" charset="0"/>
              </a:rPr>
              <a:t>f</a:t>
            </a:r>
            <a:r>
              <a:rPr lang="en-US" i="1" baseline="-25000" dirty="0" err="1" smtClean="0">
                <a:latin typeface="Times New Roman" panose="02020603050405020304" pitchFamily="18" charset="0"/>
                <a:cs typeface="Times New Roman" panose="02020603050405020304" pitchFamily="18" charset="0"/>
              </a:rPr>
              <a:t>jr</a:t>
            </a:r>
            <a:r>
              <a:rPr lang="en-US" i="1"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şi</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f</a:t>
            </a:r>
            <a:r>
              <a:rPr lang="en-US" i="1" baseline="-25000" dirty="0">
                <a:latin typeface="Times New Roman" panose="02020603050405020304" pitchFamily="18" charset="0"/>
                <a:cs typeface="Times New Roman" panose="02020603050405020304" pitchFamily="18" charset="0"/>
              </a:rPr>
              <a:t>ir</a:t>
            </a:r>
            <a:r>
              <a:rPr lang="en-US" i="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delimita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banda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frecvenţe</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amplificatorului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cu </a:t>
            </a:r>
            <a:r>
              <a:rPr lang="en-US" dirty="0" err="1">
                <a:latin typeface="Times New Roman" panose="02020603050405020304" pitchFamily="18" charset="0"/>
                <a:cs typeface="Times New Roman" panose="02020603050405020304" pitchFamily="18" charset="0"/>
              </a:rPr>
              <a:t>reacţie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negativă</a:t>
            </a:r>
            <a:r>
              <a:rPr lang="en-US" dirty="0">
                <a:latin typeface="Times New Roman" panose="02020603050405020304" pitchFamily="18" charset="0"/>
                <a:cs typeface="Times New Roman" panose="02020603050405020304" pitchFamily="18" charset="0"/>
              </a:rPr>
              <a:t>. </a:t>
            </a:r>
            <a:endParaRPr lang="x-none" dirty="0" smtClean="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ele</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reprezintă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frecvenţe</a:t>
            </a:r>
            <a:r>
              <a:rPr lang="en-US" dirty="0">
                <a:latin typeface="Times New Roman" panose="02020603050405020304" pitchFamily="18" charset="0"/>
                <a:cs typeface="Times New Roman" panose="02020603050405020304" pitchFamily="18" charset="0"/>
              </a:rPr>
              <a:t> la care </a:t>
            </a:r>
            <a:r>
              <a:rPr lang="en-US" dirty="0" err="1">
                <a:latin typeface="Times New Roman" panose="02020603050405020304" pitchFamily="18" charset="0"/>
                <a:cs typeface="Times New Roman" panose="02020603050405020304" pitchFamily="18" charset="0"/>
              </a:rPr>
              <a:t>amplificarea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scade</a:t>
            </a:r>
            <a:r>
              <a:rPr lang="en-US" dirty="0">
                <a:latin typeface="Times New Roman" panose="02020603050405020304" pitchFamily="18" charset="0"/>
                <a:cs typeface="Times New Roman" panose="02020603050405020304" pitchFamily="18" charset="0"/>
              </a:rPr>
              <a:t> cu 3dB </a:t>
            </a:r>
            <a:r>
              <a:rPr lang="en-US" dirty="0" err="1">
                <a:latin typeface="Times New Roman" panose="02020603050405020304" pitchFamily="18" charset="0"/>
                <a:cs typeface="Times New Roman" panose="02020603050405020304" pitchFamily="18" charset="0"/>
              </a:rPr>
              <a:t>faţă</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amplificarea</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frecvenţe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medii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prezenţa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reacţiei</a:t>
            </a:r>
            <a:r>
              <a:rPr lang="en-US" dirty="0">
                <a:latin typeface="Times New Roman" panose="02020603050405020304" pitchFamily="18" charset="0"/>
                <a:cs typeface="Times New Roman" panose="02020603050405020304" pitchFamily="18" charset="0"/>
              </a:rPr>
              <a:t> negative (</a:t>
            </a:r>
            <a:r>
              <a:rPr lang="en-US" i="1" dirty="0" err="1">
                <a:latin typeface="Times New Roman" panose="02020603050405020304" pitchFamily="18" charset="0"/>
                <a:cs typeface="Times New Roman" panose="02020603050405020304" pitchFamily="18" charset="0"/>
              </a:rPr>
              <a:t>A</a:t>
            </a:r>
            <a:r>
              <a:rPr lang="en-US" i="1" baseline="-25000" dirty="0" err="1">
                <a:latin typeface="Times New Roman" panose="02020603050405020304" pitchFamily="18" charset="0"/>
                <a:cs typeface="Times New Roman" panose="02020603050405020304" pitchFamily="18" charset="0"/>
              </a:rPr>
              <a:t>uor</a:t>
            </a:r>
            <a:r>
              <a:rPr lang="en-US" dirty="0">
                <a:latin typeface="Times New Roman" panose="02020603050405020304" pitchFamily="18" charset="0"/>
                <a:cs typeface="Times New Roman" panose="02020603050405020304" pitchFamily="18" charset="0"/>
              </a:rPr>
              <a:t>). </a:t>
            </a:r>
            <a:endParaRPr lang="x-none"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Din </a:t>
            </a:r>
            <a:r>
              <a:rPr lang="en-US" dirty="0" err="1">
                <a:latin typeface="Times New Roman" panose="02020603050405020304" pitchFamily="18" charset="0"/>
                <a:cs typeface="Times New Roman" panose="02020603050405020304" pitchFamily="18" charset="0"/>
              </a:rPr>
              <a:t>expresiile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lor</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r>
              <a:rPr lang="x-none" dirty="0" smtClean="0">
                <a:latin typeface="Times New Roman" panose="02020603050405020304" pitchFamily="18" charset="0"/>
                <a:cs typeface="Times New Roman" panose="02020603050405020304" pitchFamily="18" charset="0"/>
              </a:rPr>
              <a:t>15</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şi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r>
              <a:rPr lang="x-none" dirty="0" smtClean="0">
                <a:latin typeface="Times New Roman" panose="02020603050405020304" pitchFamily="18" charset="0"/>
                <a:cs typeface="Times New Roman" panose="02020603050405020304" pitchFamily="18" charset="0"/>
              </a:rPr>
              <a:t>18</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rezultă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frecvenţa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limită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inferioară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scade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timp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frecvenţa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limită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superioară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creşte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Aceasta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înseamnă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reacţia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negativă</a:t>
            </a:r>
            <a:r>
              <a:rPr lang="en-US" dirty="0">
                <a:latin typeface="Times New Roman" panose="02020603050405020304" pitchFamily="18" charset="0"/>
                <a:cs typeface="Times New Roman" panose="02020603050405020304" pitchFamily="18" charset="0"/>
              </a:rPr>
              <a:t> conduce la </a:t>
            </a:r>
            <a:r>
              <a:rPr lang="en-US" b="1" dirty="0" err="1">
                <a:latin typeface="Times New Roman" panose="02020603050405020304" pitchFamily="18" charset="0"/>
                <a:cs typeface="Times New Roman" panose="02020603050405020304" pitchFamily="18" charset="0"/>
              </a:rPr>
              <a:t>mărirea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benzii</a:t>
            </a:r>
            <a:r>
              <a:rPr lang="en-US" b="1" dirty="0">
                <a:latin typeface="Times New Roman" panose="02020603050405020304" pitchFamily="18" charset="0"/>
                <a:cs typeface="Times New Roman" panose="02020603050405020304" pitchFamily="18" charset="0"/>
              </a:rPr>
              <a:t> de </a:t>
            </a:r>
            <a:r>
              <a:rPr lang="en-US" b="1" dirty="0" err="1">
                <a:latin typeface="Times New Roman" panose="02020603050405020304" pitchFamily="18" charset="0"/>
                <a:cs typeface="Times New Roman" panose="02020603050405020304" pitchFamily="18" charset="0"/>
              </a:rPr>
              <a:t>frecvenţe</a:t>
            </a:r>
            <a:r>
              <a:rPr lang="en-US" b="1" dirty="0">
                <a:latin typeface="Times New Roman" panose="02020603050405020304" pitchFamily="18" charset="0"/>
                <a:cs typeface="Times New Roman" panose="02020603050405020304" pitchFamily="18" charset="0"/>
              </a:rPr>
              <a:t> a </a:t>
            </a:r>
            <a:r>
              <a:rPr lang="en-US" b="1" dirty="0" err="1">
                <a:latin typeface="Times New Roman" panose="02020603050405020304" pitchFamily="18" charset="0"/>
                <a:cs typeface="Times New Roman" panose="02020603050405020304" pitchFamily="18" charset="0"/>
              </a:rPr>
              <a:t>amplificatorului</a:t>
            </a:r>
            <a:r>
              <a:rPr lang="en-US" dirty="0">
                <a:latin typeface="Times New Roman" panose="02020603050405020304" pitchFamily="18" charset="0"/>
                <a:cs typeface="Times New Roman" panose="02020603050405020304" pitchFamily="18" charset="0"/>
              </a:rPr>
              <a:t>. </a:t>
            </a:r>
            <a:endParaRPr lang="x-none" dirty="0" smtClean="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Astfel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banda</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frecvenţe</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amplificatorului</a:t>
            </a:r>
            <a:r>
              <a:rPr lang="en-US" dirty="0">
                <a:latin typeface="Times New Roman" panose="02020603050405020304" pitchFamily="18" charset="0"/>
                <a:cs typeface="Times New Roman" panose="02020603050405020304" pitchFamily="18" charset="0"/>
              </a:rPr>
              <a:t> cu </a:t>
            </a:r>
            <a:r>
              <a:rPr lang="en-US" dirty="0" err="1">
                <a:latin typeface="Times New Roman" panose="02020603050405020304" pitchFamily="18" charset="0"/>
                <a:cs typeface="Times New Roman" panose="02020603050405020304" pitchFamily="18" charset="0"/>
              </a:rPr>
              <a:t>reacţie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negativă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a:t>
            </a:r>
            <a:r>
              <a:rPr lang="en-US" dirty="0">
                <a:latin typeface="Times New Roman" panose="02020603050405020304" pitchFamily="18" charset="0"/>
                <a:cs typeface="Times New Roman" panose="02020603050405020304" pitchFamily="18" charset="0"/>
              </a:rPr>
              <a:t> fi:</a:t>
            </a:r>
          </a:p>
          <a:p>
            <a:endParaRPr lang="en-US" dirty="0"/>
          </a:p>
          <a:p>
            <a:pPr marL="0" indent="0">
              <a:buNone/>
            </a:pPr>
            <a:r>
              <a:rPr lang="ru-RU" dirty="0" err="1">
                <a:latin typeface="Times New Roman" panose="02020603050405020304" pitchFamily="18" charset="0"/>
                <a:cs typeface="Times New Roman" panose="02020603050405020304" pitchFamily="18" charset="0"/>
              </a:rPr>
              <a:t>deoarece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practic</a:t>
            </a:r>
            <a:r>
              <a:rPr lang="ru-RU" dirty="0">
                <a:latin typeface="Times New Roman" panose="02020603050405020304" pitchFamily="18" charset="0"/>
                <a:cs typeface="Times New Roman" panose="02020603050405020304" pitchFamily="18" charset="0"/>
              </a:rPr>
              <a:t> </a:t>
            </a:r>
            <a:r>
              <a:rPr lang="ru-RU" i="1" dirty="0" err="1">
                <a:latin typeface="Times New Roman" panose="02020603050405020304" pitchFamily="18" charset="0"/>
                <a:cs typeface="Times New Roman" panose="02020603050405020304" pitchFamily="18" charset="0"/>
              </a:rPr>
              <a:t>fir</a:t>
            </a:r>
            <a:r>
              <a:rPr lang="ru-RU"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&gt;&gt; </a:t>
            </a:r>
            <a:r>
              <a:rPr lang="ru-RU" i="1" dirty="0" err="1">
                <a:latin typeface="Times New Roman" panose="02020603050405020304" pitchFamily="18" charset="0"/>
                <a:cs typeface="Times New Roman" panose="02020603050405020304" pitchFamily="18" charset="0"/>
              </a:rPr>
              <a:t>fjr</a:t>
            </a:r>
            <a:r>
              <a:rPr lang="ru-RU"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554" y="84117"/>
            <a:ext cx="2924175"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2332" y="474642"/>
            <a:ext cx="32385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023657" y="541257"/>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(17)</a:t>
            </a:r>
            <a:endParaRPr lang="ru-RU" sz="2000" b="1" i="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1191299" y="665112"/>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(18)</a:t>
            </a:r>
            <a:endParaRPr lang="ru-RU" sz="2000" b="1" i="1" dirty="0">
              <a:latin typeface="Times New Roman" panose="02020603050405020304" pitchFamily="18" charset="0"/>
              <a:cs typeface="Times New Roman" panose="02020603050405020304" pitchFamily="18" charset="0"/>
            </a:endParaRPr>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416" y="5139893"/>
            <a:ext cx="33528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255442" y="5277975"/>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(19)</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649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0915" y="205098"/>
            <a:ext cx="11844471" cy="6520441"/>
          </a:xfrm>
        </p:spPr>
        <p:txBody>
          <a:bodyPr/>
          <a:lstStyle/>
          <a:p>
            <a:r>
              <a:rPr lang="en-US" dirty="0" err="1" smtClean="0"/>
              <a:t>reacţia</a:t>
            </a:r>
            <a:r>
              <a:rPr lang="en-US" dirty="0" smtClean="0"/>
              <a:t> </a:t>
            </a:r>
            <a:r>
              <a:rPr lang="en-US" dirty="0" err="1"/>
              <a:t>negativă</a:t>
            </a:r>
            <a:r>
              <a:rPr lang="en-US" dirty="0"/>
              <a:t> are </a:t>
            </a:r>
            <a:r>
              <a:rPr lang="en-US" dirty="0" err="1"/>
              <a:t>două</a:t>
            </a:r>
            <a:r>
              <a:rPr lang="en-US" dirty="0"/>
              <a:t> </a:t>
            </a:r>
            <a:r>
              <a:rPr lang="en-US" dirty="0" err="1"/>
              <a:t>acţiuni</a:t>
            </a:r>
            <a:r>
              <a:rPr lang="en-US" dirty="0"/>
              <a:t> </a:t>
            </a:r>
            <a:r>
              <a:rPr lang="en-US" dirty="0" err="1"/>
              <a:t>complementare</a:t>
            </a:r>
            <a:r>
              <a:rPr lang="en-US" dirty="0"/>
              <a:t>: </a:t>
            </a:r>
            <a:r>
              <a:rPr lang="en-US" b="1" dirty="0" err="1"/>
              <a:t>micşorarea</a:t>
            </a:r>
            <a:r>
              <a:rPr lang="en-US" b="1" dirty="0"/>
              <a:t> </a:t>
            </a:r>
            <a:r>
              <a:rPr lang="en-US" b="1" dirty="0" err="1"/>
              <a:t>factorului</a:t>
            </a:r>
            <a:r>
              <a:rPr lang="en-US" b="1" dirty="0"/>
              <a:t> de </a:t>
            </a:r>
            <a:r>
              <a:rPr lang="en-US" b="1" dirty="0" err="1"/>
              <a:t>amplificare</a:t>
            </a:r>
            <a:r>
              <a:rPr lang="en-US" dirty="0"/>
              <a:t> </a:t>
            </a:r>
            <a:r>
              <a:rPr lang="en-US" dirty="0" err="1"/>
              <a:t>şi</a:t>
            </a:r>
            <a:r>
              <a:rPr lang="en-US" dirty="0"/>
              <a:t> </a:t>
            </a:r>
            <a:r>
              <a:rPr lang="en-US" b="1" dirty="0" err="1"/>
              <a:t>lărgirea</a:t>
            </a:r>
            <a:r>
              <a:rPr lang="en-US" b="1" dirty="0"/>
              <a:t> </a:t>
            </a:r>
            <a:r>
              <a:rPr lang="en-US" b="1" dirty="0" err="1"/>
              <a:t>benzii</a:t>
            </a:r>
            <a:r>
              <a:rPr lang="en-US" b="1" dirty="0"/>
              <a:t> de </a:t>
            </a:r>
            <a:r>
              <a:rPr lang="en-US" b="1" dirty="0" err="1"/>
              <a:t>frecvenţe</a:t>
            </a:r>
            <a:r>
              <a:rPr lang="en-US" dirty="0"/>
              <a:t>. </a:t>
            </a:r>
            <a:endParaRPr lang="x-none" dirty="0" smtClean="0"/>
          </a:p>
          <a:p>
            <a:pPr marL="0" indent="0">
              <a:buNone/>
            </a:pPr>
            <a:r>
              <a:rPr lang="en-US" dirty="0" err="1" smtClean="0">
                <a:latin typeface="Times New Roman" pitchFamily="18" charset="0"/>
                <a:cs typeface="Times New Roman" pitchFamily="18" charset="0"/>
              </a:rPr>
              <a:t>facem</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produsul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acestora</a:t>
            </a:r>
            <a:r>
              <a:rPr lang="en-US" dirty="0" smtClean="0">
                <a:latin typeface="Times New Roman" pitchFamily="18" charset="0"/>
                <a:cs typeface="Times New Roman" pitchFamily="18" charset="0"/>
              </a:rPr>
              <a:t>:</a:t>
            </a:r>
          </a:p>
          <a:p>
            <a:endParaRPr lang="en-US" dirty="0"/>
          </a:p>
          <a:p>
            <a:endParaRPr lang="en-US" dirty="0" smtClean="0"/>
          </a:p>
          <a:p>
            <a:pPr marL="0" indent="0">
              <a:buNone/>
            </a:pPr>
            <a:r>
              <a:rPr lang="en-US" dirty="0" err="1" smtClean="0">
                <a:latin typeface="Times New Roman" pitchFamily="18" charset="0"/>
                <a:cs typeface="Times New Roman" pitchFamily="18" charset="0"/>
              </a:rPr>
              <a:t>produsul</a:t>
            </a:r>
            <a:r>
              <a:rPr lang="en-US" dirty="0" smtClean="0">
                <a:latin typeface="Times New Roman" pitchFamily="18" charset="0"/>
                <a:cs typeface="Times New Roman" pitchFamily="18" charset="0"/>
              </a:rPr>
              <a:t> </a:t>
            </a:r>
            <a:r>
              <a:rPr lang="en-US" i="1" dirty="0" err="1">
                <a:latin typeface="Times New Roman" pitchFamily="18" charset="0"/>
                <a:cs typeface="Times New Roman" pitchFamily="18" charset="0"/>
              </a:rPr>
              <a:t>A</a:t>
            </a:r>
            <a:r>
              <a:rPr lang="en-US" i="1" baseline="-25000" dirty="0" err="1">
                <a:latin typeface="Times New Roman" pitchFamily="18" charset="0"/>
                <a:cs typeface="Times New Roman" pitchFamily="18" charset="0"/>
              </a:rPr>
              <a:t>uo</a:t>
            </a:r>
            <a:r>
              <a:rPr lang="en-US" i="1" dirty="0" err="1">
                <a:latin typeface="Times New Roman" pitchFamily="18" charset="0"/>
                <a:cs typeface="Times New Roman" pitchFamily="18" charset="0"/>
              </a:rPr>
              <a:t>f</a:t>
            </a:r>
            <a:r>
              <a:rPr lang="en-US" i="1" baseline="-25000" dirty="0" err="1">
                <a:latin typeface="Times New Roman" pitchFamily="18" charset="0"/>
                <a:cs typeface="Times New Roman" pitchFamily="18" charset="0"/>
              </a:rPr>
              <a:t>i</a:t>
            </a:r>
            <a:r>
              <a:rPr lang="en-US" i="1" dirty="0">
                <a:latin typeface="Times New Roman" pitchFamily="18" charset="0"/>
                <a:cs typeface="Times New Roman" pitchFamily="18" charset="0"/>
              </a:rPr>
              <a:t> </a:t>
            </a:r>
            <a:r>
              <a:rPr lang="en-US" dirty="0" err="1">
                <a:latin typeface="Times New Roman" pitchFamily="18" charset="0"/>
                <a:cs typeface="Times New Roman" pitchFamily="18" charset="0"/>
              </a:rPr>
              <a:t>reprezintă</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produsul</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amplificare</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x </a:t>
            </a:r>
            <a:r>
              <a:rPr lang="en-US" dirty="0" err="1">
                <a:latin typeface="Times New Roman" pitchFamily="18" charset="0"/>
                <a:cs typeface="Times New Roman" pitchFamily="18" charset="0"/>
              </a:rPr>
              <a:t>banda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frecvenţe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absenţa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reacţiei</a:t>
            </a:r>
            <a:r>
              <a:rPr lang="en-US" dirty="0">
                <a:latin typeface="Times New Roman" pitchFamily="18" charset="0"/>
                <a:cs typeface="Times New Roman" pitchFamily="18" charset="0"/>
              </a:rPr>
              <a:t> negative. </a:t>
            </a:r>
            <a:r>
              <a:rPr lang="en-US" dirty="0" err="1">
                <a:latin typeface="Times New Roman" pitchFamily="18" charset="0"/>
                <a:cs typeface="Times New Roman" pitchFamily="18" charset="0"/>
              </a:rPr>
              <a:t>Aşadar</a:t>
            </a:r>
            <a:r>
              <a:rPr lang="en-US" dirty="0">
                <a:latin typeface="Times New Roman" pitchFamily="18" charset="0"/>
                <a:cs typeface="Times New Roman" pitchFamily="18" charset="0"/>
              </a:rPr>
              <a:t>:</a:t>
            </a:r>
          </a:p>
          <a:p>
            <a:endParaRPr lang="en-US" dirty="0"/>
          </a:p>
          <a:p>
            <a:endParaRPr lang="x-none" dirty="0" smtClean="0"/>
          </a:p>
          <a:p>
            <a:pPr marL="0" indent="0">
              <a:buNone/>
            </a:pPr>
            <a:r>
              <a:rPr lang="en-US" dirty="0" err="1">
                <a:latin typeface="Times New Roman" pitchFamily="18" charset="0"/>
                <a:cs typeface="Times New Roman" pitchFamily="18" charset="0"/>
              </a:rPr>
              <a:t>adică</a:t>
            </a:r>
            <a:r>
              <a:rPr lang="en-US" dirty="0">
                <a:latin typeface="Times New Roman" pitchFamily="18" charset="0"/>
                <a:cs typeface="Times New Roman" pitchFamily="18" charset="0"/>
              </a:rPr>
              <a:t>, </a:t>
            </a:r>
            <a:r>
              <a:rPr lang="en-US" b="1" dirty="0" err="1">
                <a:latin typeface="Times New Roman" pitchFamily="18" charset="0"/>
                <a:cs typeface="Times New Roman" pitchFamily="18" charset="0"/>
              </a:rPr>
              <a:t>produsul</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amplificare</a:t>
            </a:r>
            <a:r>
              <a:rPr lang="en-US" b="1" dirty="0">
                <a:latin typeface="Times New Roman" pitchFamily="18" charset="0"/>
                <a:cs typeface="Times New Roman" pitchFamily="18" charset="0"/>
              </a:rPr>
              <a:t> </a:t>
            </a:r>
            <a:r>
              <a:rPr lang="en-US" i="1" dirty="0">
                <a:latin typeface="Times New Roman" pitchFamily="18" charset="0"/>
                <a:cs typeface="Times New Roman" pitchFamily="18" charset="0"/>
              </a:rPr>
              <a:t>x </a:t>
            </a:r>
            <a:r>
              <a:rPr lang="en-US" b="1" dirty="0" err="1">
                <a:latin typeface="Times New Roman" pitchFamily="18" charset="0"/>
                <a:cs typeface="Times New Roman" pitchFamily="18" charset="0"/>
              </a:rPr>
              <a:t>banda</a:t>
            </a:r>
            <a:r>
              <a:rPr lang="en-US" b="1" dirty="0">
                <a:latin typeface="Times New Roman" pitchFamily="18" charset="0"/>
                <a:cs typeface="Times New Roman" pitchFamily="18" charset="0"/>
              </a:rPr>
              <a:t> de </a:t>
            </a:r>
            <a:r>
              <a:rPr lang="en-US" b="1" dirty="0" err="1">
                <a:latin typeface="Times New Roman" pitchFamily="18" charset="0"/>
                <a:cs typeface="Times New Roman" pitchFamily="18" charset="0"/>
              </a:rPr>
              <a:t>frecvenţe</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rămâne</a:t>
            </a:r>
            <a:r>
              <a:rPr lang="en-US" b="1" dirty="0">
                <a:latin typeface="Times New Roman" pitchFamily="18" charset="0"/>
                <a:cs typeface="Times New Roman" pitchFamily="18" charset="0"/>
              </a:rPr>
              <a:t> constant</a:t>
            </a:r>
            <a:r>
              <a:rPr lang="en-US" dirty="0">
                <a:latin typeface="Times New Roman" pitchFamily="18" charset="0"/>
                <a:cs typeface="Times New Roman" pitchFamily="18" charset="0"/>
              </a:rPr>
              <a:t>. Sau, </a:t>
            </a:r>
            <a:r>
              <a:rPr lang="en-US" dirty="0" err="1">
                <a:latin typeface="Times New Roman" pitchFamily="18" charset="0"/>
                <a:cs typeface="Times New Roman" pitchFamily="18" charset="0"/>
              </a:rPr>
              <a:t>altfel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spus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banda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frecvenţe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poate</a:t>
            </a:r>
            <a:r>
              <a:rPr lang="en-US" dirty="0">
                <a:latin typeface="Times New Roman" pitchFamily="18" charset="0"/>
                <a:cs typeface="Times New Roman" pitchFamily="18" charset="0"/>
              </a:rPr>
              <a:t> fi </a:t>
            </a:r>
            <a:r>
              <a:rPr lang="en-US" dirty="0" err="1">
                <a:latin typeface="Times New Roman" pitchFamily="18" charset="0"/>
                <a:cs typeface="Times New Roman" pitchFamily="18" charset="0"/>
              </a:rPr>
              <a:t>lărgită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seama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micşorării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factorului</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amplificare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un factor de </a:t>
            </a:r>
            <a:r>
              <a:rPr lang="en-US" dirty="0" err="1">
                <a:latin typeface="Times New Roman" pitchFamily="18" charset="0"/>
                <a:cs typeface="Times New Roman" pitchFamily="18" charset="0"/>
              </a:rPr>
              <a:t>amplificare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foarte</a:t>
            </a:r>
            <a:r>
              <a:rPr lang="en-US" dirty="0">
                <a:latin typeface="Times New Roman" pitchFamily="18" charset="0"/>
                <a:cs typeface="Times New Roman" pitchFamily="18" charset="0"/>
              </a:rPr>
              <a:t> mare </a:t>
            </a:r>
            <a:r>
              <a:rPr lang="en-US" dirty="0" err="1">
                <a:latin typeface="Times New Roman" pitchFamily="18" charset="0"/>
                <a:cs typeface="Times New Roman" pitchFamily="18" charset="0"/>
              </a:rPr>
              <a:t>poate</a:t>
            </a:r>
            <a:r>
              <a:rPr lang="en-US" dirty="0">
                <a:latin typeface="Times New Roman" pitchFamily="18" charset="0"/>
                <a:cs typeface="Times New Roman" pitchFamily="18" charset="0"/>
              </a:rPr>
              <a:t> fi </a:t>
            </a:r>
            <a:r>
              <a:rPr lang="en-US" dirty="0" err="1">
                <a:latin typeface="Times New Roman" pitchFamily="18" charset="0"/>
                <a:cs typeface="Times New Roman" pitchFamily="18" charset="0"/>
              </a:rPr>
              <a:t>obţinut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numai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interiorul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unei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benzi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înguste</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frecvenţe</a:t>
            </a:r>
            <a:r>
              <a:rPr lang="en-US" dirty="0">
                <a:latin typeface="Times New Roman" pitchFamily="18" charset="0"/>
                <a:cs typeface="Times New Roman" pitchFamily="18" charset="0"/>
              </a:rPr>
              <a:t>.</a:t>
            </a:r>
          </a:p>
          <a:p>
            <a:endParaRPr lang="en-US" dirty="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4526" y="1491371"/>
            <a:ext cx="7581900"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239" y="3525356"/>
            <a:ext cx="3914775"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0286426" y="1872341"/>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(20)</a:t>
            </a:r>
            <a:endParaRPr lang="ru-RU" sz="2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197933" y="3739638"/>
            <a:ext cx="611065" cy="400110"/>
          </a:xfrm>
          <a:prstGeom prst="rect">
            <a:avLst/>
          </a:prstGeom>
          <a:noFill/>
        </p:spPr>
        <p:txBody>
          <a:bodyPr wrap="none" rtlCol="0">
            <a:spAutoFit/>
          </a:bodyPr>
          <a:lstStyle/>
          <a:p>
            <a:r>
              <a:rPr lang="x-none" sz="2000" b="1" i="1" dirty="0" smtClean="0">
                <a:latin typeface="Times New Roman" panose="02020603050405020304" pitchFamily="18" charset="0"/>
                <a:cs typeface="Times New Roman" panose="02020603050405020304" pitchFamily="18" charset="0"/>
              </a:rPr>
              <a:t>(21)</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2175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0916" y="213645"/>
            <a:ext cx="11793196" cy="6486258"/>
          </a:xfrm>
        </p:spPr>
        <p:txBody>
          <a:bodyPr>
            <a:normAutofit fontScale="92500" lnSpcReduction="20000"/>
          </a:bodyPr>
          <a:lstStyle/>
          <a:p>
            <a:pPr marL="0" indent="0">
              <a:buNone/>
            </a:pPr>
            <a:r>
              <a:rPr lang="en-US" b="1" i="1" dirty="0" err="1" smtClean="0">
                <a:latin typeface="Times New Roman" panose="02020603050405020304" pitchFamily="18" charset="0"/>
                <a:cs typeface="Times New Roman" panose="02020603050405020304" pitchFamily="18" charset="0"/>
              </a:rPr>
              <a:t>Influenţa</a:t>
            </a:r>
            <a:r>
              <a:rPr lang="en-US" b="1" i="1" dirty="0" smtClean="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reacţiei</a:t>
            </a:r>
            <a:r>
              <a:rPr lang="en-US" b="1" i="1" dirty="0">
                <a:latin typeface="Times New Roman" panose="02020603050405020304" pitchFamily="18" charset="0"/>
                <a:cs typeface="Times New Roman" panose="02020603050405020304" pitchFamily="18" charset="0"/>
              </a:rPr>
              <a:t> negative de </a:t>
            </a:r>
            <a:r>
              <a:rPr lang="en-US" b="1" i="1" dirty="0" err="1">
                <a:latin typeface="Times New Roman" panose="02020603050405020304" pitchFamily="18" charset="0"/>
                <a:cs typeface="Times New Roman" panose="02020603050405020304" pitchFamily="18" charset="0"/>
              </a:rPr>
              <a:t>tensiune</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asupra</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impedanţelor</a:t>
            </a:r>
            <a:r>
              <a:rPr lang="en-US" b="1" i="1" dirty="0">
                <a:latin typeface="Times New Roman" panose="02020603050405020304" pitchFamily="18" charset="0"/>
                <a:cs typeface="Times New Roman" panose="02020603050405020304" pitchFamily="18" charset="0"/>
              </a:rPr>
              <a:t> de </a:t>
            </a:r>
            <a:r>
              <a:rPr lang="en-US" b="1" i="1" dirty="0" err="1">
                <a:latin typeface="Times New Roman" panose="02020603050405020304" pitchFamily="18" charset="0"/>
                <a:cs typeface="Times New Roman" panose="02020603050405020304" pitchFamily="18" charset="0"/>
              </a:rPr>
              <a:t>intrare</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şi</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ieşire</a:t>
            </a:r>
            <a:endParaRPr lang="en-US" dirty="0">
              <a:latin typeface="Times New Roman" panose="02020603050405020304" pitchFamily="18" charset="0"/>
              <a:cs typeface="Times New Roman" panose="02020603050405020304" pitchFamily="18" charset="0"/>
            </a:endParaRPr>
          </a:p>
          <a:p>
            <a:r>
              <a:rPr lang="en-US" dirty="0" err="1">
                <a:latin typeface="Times New Roman" pitchFamily="18" charset="0"/>
                <a:cs typeface="Times New Roman" pitchFamily="18" charset="0"/>
              </a:rPr>
              <a:t>Reacţia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poate</a:t>
            </a:r>
            <a:r>
              <a:rPr lang="en-US" dirty="0">
                <a:latin typeface="Times New Roman" pitchFamily="18" charset="0"/>
                <a:cs typeface="Times New Roman" pitchFamily="18" charset="0"/>
              </a:rPr>
              <a:t> fi de </a:t>
            </a:r>
            <a:r>
              <a:rPr lang="en-US" dirty="0" err="1">
                <a:latin typeface="Times New Roman" pitchFamily="18" charset="0"/>
                <a:cs typeface="Times New Roman" pitchFamily="18" charset="0"/>
              </a:rPr>
              <a:t>tensiune</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curent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mixtă</a:t>
            </a:r>
            <a:r>
              <a:rPr lang="en-US">
                <a:latin typeface="Times New Roman" pitchFamily="18" charset="0"/>
                <a:cs typeface="Times New Roman" pitchFamily="18" charset="0"/>
              </a:rPr>
              <a:t>. </a:t>
            </a: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Dacă </a:t>
            </a:r>
            <a:r>
              <a:rPr lang="en-US" dirty="0" err="1">
                <a:latin typeface="Times New Roman" pitchFamily="18" charset="0"/>
                <a:cs typeface="Times New Roman" pitchFamily="18" charset="0"/>
              </a:rPr>
              <a:t>semnalul</a:t>
            </a:r>
            <a:r>
              <a:rPr lang="en-US" dirty="0">
                <a:latin typeface="Times New Roman" pitchFamily="18" charset="0"/>
                <a:cs typeface="Times New Roman" pitchFamily="18" charset="0"/>
              </a:rPr>
              <a:t> care </a:t>
            </a:r>
            <a:r>
              <a:rPr lang="en-US" dirty="0" err="1">
                <a:latin typeface="Times New Roman" pitchFamily="18" charset="0"/>
                <a:cs typeface="Times New Roman" pitchFamily="18" charset="0"/>
              </a:rPr>
              <a:t>intră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reţeaua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este</a:t>
            </a:r>
            <a:r>
              <a:rPr lang="en-US" dirty="0">
                <a:latin typeface="Times New Roman" pitchFamily="18" charset="0"/>
                <a:cs typeface="Times New Roman" pitchFamily="18" charset="0"/>
              </a:rPr>
              <a:t> o </a:t>
            </a:r>
            <a:r>
              <a:rPr lang="en-US" dirty="0" err="1">
                <a:latin typeface="Times New Roman" pitchFamily="18" charset="0"/>
                <a:cs typeface="Times New Roman" pitchFamily="18" charset="0"/>
              </a:rPr>
              <a:t>tensiune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proporţională</a:t>
            </a:r>
            <a:r>
              <a:rPr lang="en-US" dirty="0">
                <a:latin typeface="Times New Roman" pitchFamily="18" charset="0"/>
                <a:cs typeface="Times New Roman" pitchFamily="18" charset="0"/>
              </a:rPr>
              <a:t> cu </a:t>
            </a:r>
            <a:r>
              <a:rPr lang="en-US" dirty="0" err="1">
                <a:latin typeface="Times New Roman" pitchFamily="18" charset="0"/>
                <a:cs typeface="Times New Roman" pitchFamily="18" charset="0"/>
              </a:rPr>
              <a:t>tensiunea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ieşire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semnalul</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este</a:t>
            </a:r>
            <a:r>
              <a:rPr lang="en-US" dirty="0">
                <a:latin typeface="Times New Roman" pitchFamily="18" charset="0"/>
                <a:cs typeface="Times New Roman" pitchFamily="18" charset="0"/>
              </a:rPr>
              <a:t> tot o </a:t>
            </a:r>
            <a:r>
              <a:rPr lang="en-US" dirty="0" err="1">
                <a:latin typeface="Times New Roman" pitchFamily="18" charset="0"/>
                <a:cs typeface="Times New Roman" pitchFamily="18" charset="0"/>
              </a:rPr>
              <a:t>tensiune</a:t>
            </a:r>
            <a:r>
              <a:rPr lang="en-US" dirty="0">
                <a:latin typeface="Times New Roman" pitchFamily="18" charset="0"/>
                <a:cs typeface="Times New Roman" pitchFamily="18" charset="0"/>
              </a:rPr>
              <a:t> (care </a:t>
            </a:r>
            <a:r>
              <a:rPr lang="en-US" dirty="0" err="1">
                <a:latin typeface="Times New Roman" pitchFamily="18" charset="0"/>
                <a:cs typeface="Times New Roman" pitchFamily="18" charset="0"/>
              </a:rPr>
              <a:t>apare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serie</a:t>
            </a:r>
            <a:r>
              <a:rPr lang="en-US" dirty="0">
                <a:latin typeface="Times New Roman" pitchFamily="18" charset="0"/>
                <a:cs typeface="Times New Roman" pitchFamily="18" charset="0"/>
              </a:rPr>
              <a:t> cu </a:t>
            </a:r>
            <a:r>
              <a:rPr lang="en-US" dirty="0" err="1">
                <a:latin typeface="Times New Roman" pitchFamily="18" charset="0"/>
                <a:cs typeface="Times New Roman" pitchFamily="18" charset="0"/>
              </a:rPr>
              <a:t>tensiunea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semnalului</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amplificat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atunci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reacţia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este</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tensiune</a:t>
            </a:r>
            <a:r>
              <a:rPr lang="en-US">
                <a:latin typeface="Times New Roman" pitchFamily="18" charset="0"/>
                <a:cs typeface="Times New Roman" pitchFamily="18" charset="0"/>
              </a:rPr>
              <a:t>. </a:t>
            </a: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În </a:t>
            </a:r>
            <a:r>
              <a:rPr lang="en-US" dirty="0" err="1">
                <a:latin typeface="Times New Roman" pitchFamily="18" charset="0"/>
                <a:cs typeface="Times New Roman" pitchFamily="18" charset="0"/>
              </a:rPr>
              <a:t>acest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caz</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amplificatorul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trebuie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să</a:t>
            </a:r>
            <a:r>
              <a:rPr lang="en-US" dirty="0">
                <a:latin typeface="Times New Roman" pitchFamily="18" charset="0"/>
                <a:cs typeface="Times New Roman" pitchFamily="18" charset="0"/>
              </a:rPr>
              <a:t> fie un </a:t>
            </a:r>
            <a:r>
              <a:rPr lang="en-US" dirty="0" err="1">
                <a:latin typeface="Times New Roman" pitchFamily="18" charset="0"/>
                <a:cs typeface="Times New Roman" pitchFamily="18" charset="0"/>
              </a:rPr>
              <a:t>amplificator</a:t>
            </a:r>
            <a:r>
              <a:rPr lang="en-US" dirty="0">
                <a:latin typeface="Times New Roman" pitchFamily="18" charset="0"/>
                <a:cs typeface="Times New Roman" pitchFamily="18" charset="0"/>
              </a:rPr>
              <a:t> de </a:t>
            </a:r>
            <a:r>
              <a:rPr lang="en-US" err="1">
                <a:latin typeface="Times New Roman" pitchFamily="18" charset="0"/>
                <a:cs typeface="Times New Roman" pitchFamily="18" charset="0"/>
              </a:rPr>
              <a:t>tensiune</a:t>
            </a:r>
            <a:r>
              <a:rPr lang="en-US" smtClean="0">
                <a:latin typeface="Times New Roman" pitchFamily="18" charset="0"/>
                <a:cs typeface="Times New Roman" pitchFamily="18" charset="0"/>
              </a:rPr>
              <a:t>.</a:t>
            </a:r>
          </a:p>
          <a:p>
            <a:r>
              <a:rPr lang="en-US" smtClean="0">
                <a:latin typeface="Times New Roman" pitchFamily="18" charset="0"/>
                <a:cs typeface="Times New Roman" pitchFamily="18" charset="0"/>
              </a:rPr>
              <a:t> </a:t>
            </a:r>
            <a:r>
              <a:rPr lang="en-US" dirty="0">
                <a:latin typeface="Times New Roman" pitchFamily="18" charset="0"/>
                <a:cs typeface="Times New Roman" pitchFamily="18" charset="0"/>
              </a:rPr>
              <a:t>El </a:t>
            </a:r>
            <a:r>
              <a:rPr lang="en-US" dirty="0" err="1">
                <a:latin typeface="Times New Roman" pitchFamily="18" charset="0"/>
                <a:cs typeface="Times New Roman" pitchFamily="18" charset="0"/>
              </a:rPr>
              <a:t>poate</a:t>
            </a:r>
            <a:r>
              <a:rPr lang="en-US" dirty="0">
                <a:latin typeface="Times New Roman" pitchFamily="18" charset="0"/>
                <a:cs typeface="Times New Roman" pitchFamily="18" charset="0"/>
              </a:rPr>
              <a:t> fi </a:t>
            </a:r>
            <a:r>
              <a:rPr lang="en-US" dirty="0" err="1">
                <a:latin typeface="Times New Roman" pitchFamily="18" charset="0"/>
                <a:cs typeface="Times New Roman" pitchFamily="18" charset="0"/>
              </a:rPr>
              <a:t>reprezentat</a:t>
            </a:r>
            <a:r>
              <a:rPr lang="en-US" dirty="0">
                <a:latin typeface="Times New Roman" pitchFamily="18" charset="0"/>
                <a:cs typeface="Times New Roman" pitchFamily="18" charset="0"/>
              </a:rPr>
              <a:t> ca un </a:t>
            </a:r>
            <a:r>
              <a:rPr lang="en-US" dirty="0" err="1">
                <a:latin typeface="Times New Roman" pitchFamily="18" charset="0"/>
                <a:cs typeface="Times New Roman" pitchFamily="18" charset="0"/>
              </a:rPr>
              <a:t>cuadrupol</a:t>
            </a:r>
            <a:r>
              <a:rPr lang="en-US" dirty="0">
                <a:latin typeface="Times New Roman" pitchFamily="18" charset="0"/>
                <a:cs typeface="Times New Roman" pitchFamily="18" charset="0"/>
              </a:rPr>
              <a:t> care, </a:t>
            </a:r>
            <a:r>
              <a:rPr lang="en-US" dirty="0" err="1">
                <a:latin typeface="Times New Roman" pitchFamily="18" charset="0"/>
                <a:cs typeface="Times New Roman" pitchFamily="18" charset="0"/>
              </a:rPr>
              <a:t>pentru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sursa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semnal</a:t>
            </a:r>
            <a:r>
              <a:rPr lang="en-US" dirty="0">
                <a:latin typeface="Times New Roman" pitchFamily="18" charset="0"/>
                <a:cs typeface="Times New Roman" pitchFamily="18" charset="0"/>
              </a:rPr>
              <a:t>, se </a:t>
            </a:r>
            <a:r>
              <a:rPr lang="en-US" dirty="0" err="1">
                <a:latin typeface="Times New Roman" pitchFamily="18" charset="0"/>
                <a:cs typeface="Times New Roman" pitchFamily="18" charset="0"/>
              </a:rPr>
              <a:t>comportă</a:t>
            </a:r>
            <a:r>
              <a:rPr lang="en-US" dirty="0">
                <a:latin typeface="Times New Roman" pitchFamily="18" charset="0"/>
                <a:cs typeface="Times New Roman" pitchFamily="18" charset="0"/>
              </a:rPr>
              <a:t> ca o </a:t>
            </a:r>
            <a:r>
              <a:rPr lang="en-US" dirty="0" err="1">
                <a:latin typeface="Times New Roman" pitchFamily="18" charset="0"/>
                <a:cs typeface="Times New Roman" pitchFamily="18" charset="0"/>
              </a:rPr>
              <a:t>impedanţă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intrare</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cuadrupolului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pentru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sarcină</a:t>
            </a:r>
            <a:r>
              <a:rPr lang="en-US" dirty="0">
                <a:latin typeface="Times New Roman" pitchFamily="18" charset="0"/>
                <a:cs typeface="Times New Roman" pitchFamily="18" charset="0"/>
              </a:rPr>
              <a:t> se </a:t>
            </a:r>
            <a:r>
              <a:rPr lang="en-US" dirty="0" err="1">
                <a:latin typeface="Times New Roman" pitchFamily="18" charset="0"/>
                <a:cs typeface="Times New Roman" pitchFamily="18" charset="0"/>
              </a:rPr>
              <a:t>comportă</a:t>
            </a:r>
            <a:r>
              <a:rPr lang="en-US" dirty="0">
                <a:latin typeface="Times New Roman" pitchFamily="18" charset="0"/>
                <a:cs typeface="Times New Roman" pitchFamily="18" charset="0"/>
              </a:rPr>
              <a:t> ca o </a:t>
            </a:r>
            <a:r>
              <a:rPr lang="en-US" dirty="0" err="1">
                <a:latin typeface="Times New Roman" pitchFamily="18" charset="0"/>
                <a:cs typeface="Times New Roman" pitchFamily="18" charset="0"/>
              </a:rPr>
              <a:t>sursă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reală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tensiune</a:t>
            </a:r>
            <a:r>
              <a:rPr lang="en-US">
                <a:latin typeface="Times New Roman" pitchFamily="18" charset="0"/>
                <a:cs typeface="Times New Roman" pitchFamily="18" charset="0"/>
              </a:rPr>
              <a:t>. </a:t>
            </a: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Reţeaua </a:t>
            </a:r>
            <a:r>
              <a:rPr lang="en-US" dirty="0">
                <a:latin typeface="Times New Roman" pitchFamily="18" charset="0"/>
                <a:cs typeface="Times New Roman" pitchFamily="18" charset="0"/>
              </a:rPr>
              <a:t>de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fiind</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pasivă</a:t>
            </a:r>
            <a:r>
              <a:rPr lang="en-US" dirty="0">
                <a:latin typeface="Times New Roman" pitchFamily="18" charset="0"/>
                <a:cs typeface="Times New Roman" pitchFamily="18" charset="0"/>
              </a:rPr>
              <a:t>, se </a:t>
            </a:r>
            <a:r>
              <a:rPr lang="en-US" dirty="0" err="1">
                <a:latin typeface="Times New Roman" pitchFamily="18" charset="0"/>
                <a:cs typeface="Times New Roman" pitchFamily="18" charset="0"/>
              </a:rPr>
              <a:t>comportă</a:t>
            </a:r>
            <a:r>
              <a:rPr lang="en-US" dirty="0">
                <a:latin typeface="Times New Roman" pitchFamily="18" charset="0"/>
                <a:cs typeface="Times New Roman" pitchFamily="18" charset="0"/>
              </a:rPr>
              <a:t> ca un </a:t>
            </a:r>
            <a:r>
              <a:rPr lang="en-US" dirty="0" err="1">
                <a:latin typeface="Times New Roman" pitchFamily="18" charset="0"/>
                <a:cs typeface="Times New Roman" pitchFamily="18" charset="0"/>
              </a:rPr>
              <a:t>cuadrupol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pasiv</a:t>
            </a:r>
            <a:r>
              <a:rPr lang="en-US" dirty="0">
                <a:latin typeface="Times New Roman" pitchFamily="18" charset="0"/>
                <a:cs typeface="Times New Roman" pitchFamily="18" charset="0"/>
              </a:rPr>
              <a:t> cu o </a:t>
            </a:r>
            <a:r>
              <a:rPr lang="en-US" dirty="0" err="1">
                <a:latin typeface="Times New Roman" pitchFamily="18" charset="0"/>
                <a:cs typeface="Times New Roman" pitchFamily="18" charset="0"/>
              </a:rPr>
              <a:t>impedanţă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intrare</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Z</a:t>
            </a:r>
            <a:r>
              <a:rPr lang="en-US" i="1" baseline="-25000" dirty="0">
                <a:latin typeface="Times New Roman" pitchFamily="18" charset="0"/>
                <a:cs typeface="Times New Roman" pitchFamily="18" charset="0"/>
              </a:rPr>
              <a:t>1</a:t>
            </a:r>
            <a:r>
              <a:rPr lang="ru-RU" baseline="-25000" dirty="0">
                <a:latin typeface="Times New Roman" pitchFamily="18" charset="0"/>
                <a:cs typeface="Times New Roman" pitchFamily="18" charset="0"/>
              </a:rPr>
              <a:t>β</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şi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una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ieşire</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Z</a:t>
            </a:r>
            <a:r>
              <a:rPr lang="en-US" i="1" baseline="-25000" dirty="0">
                <a:latin typeface="Times New Roman" pitchFamily="18" charset="0"/>
                <a:cs typeface="Times New Roman" pitchFamily="18" charset="0"/>
              </a:rPr>
              <a:t>2</a:t>
            </a:r>
            <a:r>
              <a:rPr lang="ru-RU" baseline="-25000" dirty="0">
                <a:latin typeface="Times New Roman" pitchFamily="18" charset="0"/>
                <a:cs typeface="Times New Roman" pitchFamily="18" charset="0"/>
              </a:rPr>
              <a:t>β</a:t>
            </a:r>
            <a:r>
              <a:rPr lang="en-US">
                <a:latin typeface="Times New Roman" pitchFamily="18" charset="0"/>
                <a:cs typeface="Times New Roman" pitchFamily="18" charset="0"/>
              </a:rPr>
              <a:t>). </a:t>
            </a: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Pentru </a:t>
            </a:r>
            <a:r>
              <a:rPr lang="en-US" dirty="0">
                <a:latin typeface="Times New Roman" pitchFamily="18" charset="0"/>
                <a:cs typeface="Times New Roman" pitchFamily="18" charset="0"/>
              </a:rPr>
              <a:t>ca </a:t>
            </a:r>
            <a:r>
              <a:rPr lang="en-US" dirty="0" err="1">
                <a:latin typeface="Times New Roman" pitchFamily="18" charset="0"/>
                <a:cs typeface="Times New Roman" pitchFamily="18" charset="0"/>
              </a:rPr>
              <a:t>amplificatorul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lucreze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condiţii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optime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este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necesar</a:t>
            </a:r>
            <a:r>
              <a:rPr lang="en-US" dirty="0">
                <a:latin typeface="Times New Roman" pitchFamily="18" charset="0"/>
                <a:cs typeface="Times New Roman" pitchFamily="18" charset="0"/>
              </a:rPr>
              <a:t> ca </a:t>
            </a:r>
            <a:r>
              <a:rPr lang="en-US" dirty="0" err="1">
                <a:latin typeface="Times New Roman" pitchFamily="18" charset="0"/>
                <a:cs typeface="Times New Roman" pitchFamily="18" charset="0"/>
              </a:rPr>
              <a:t>energia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consumată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către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reţeaua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să</a:t>
            </a:r>
            <a:r>
              <a:rPr lang="en-US" dirty="0">
                <a:latin typeface="Times New Roman" pitchFamily="18" charset="0"/>
                <a:cs typeface="Times New Roman" pitchFamily="18" charset="0"/>
              </a:rPr>
              <a:t> fie </a:t>
            </a:r>
            <a:r>
              <a:rPr lang="en-US" dirty="0" err="1">
                <a:latin typeface="Times New Roman" pitchFamily="18" charset="0"/>
                <a:cs typeface="Times New Roman" pitchFamily="18" charset="0"/>
              </a:rPr>
              <a:t>cât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mică</a:t>
            </a:r>
            <a:r>
              <a:rPr lang="en-US">
                <a:latin typeface="Times New Roman" pitchFamily="18" charset="0"/>
                <a:cs typeface="Times New Roman" pitchFamily="18" charset="0"/>
              </a:rPr>
              <a:t>. </a:t>
            </a: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De </a:t>
            </a:r>
            <a:r>
              <a:rPr lang="en-US" dirty="0" err="1">
                <a:latin typeface="Times New Roman" pitchFamily="18" charset="0"/>
                <a:cs typeface="Times New Roman" pitchFamily="18" charset="0"/>
              </a:rPr>
              <a:t>aceea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intrare</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reţelei</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trebuie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să</a:t>
            </a:r>
            <a:r>
              <a:rPr lang="en-US" dirty="0">
                <a:latin typeface="Times New Roman" pitchFamily="18" charset="0"/>
                <a:cs typeface="Times New Roman" pitchFamily="18" charset="0"/>
              </a:rPr>
              <a:t> fie </a:t>
            </a:r>
            <a:r>
              <a:rPr lang="en-US" dirty="0" err="1">
                <a:latin typeface="Times New Roman" pitchFamily="18" charset="0"/>
                <a:cs typeface="Times New Roman" pitchFamily="18" charset="0"/>
              </a:rPr>
              <a:t>cât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mai</a:t>
            </a:r>
            <a:r>
              <a:rPr lang="en-US" dirty="0">
                <a:latin typeface="Times New Roman" pitchFamily="18" charset="0"/>
                <a:cs typeface="Times New Roman" pitchFamily="18" charset="0"/>
              </a:rPr>
              <a:t> mare (</a:t>
            </a:r>
            <a:r>
              <a:rPr lang="en-US" i="1" dirty="0">
                <a:latin typeface="Times New Roman" pitchFamily="18" charset="0"/>
                <a:cs typeface="Times New Roman" pitchFamily="18" charset="0"/>
              </a:rPr>
              <a:t>Z</a:t>
            </a:r>
            <a:r>
              <a:rPr lang="en-US" i="1" baseline="-25000" dirty="0">
                <a:latin typeface="Times New Roman" pitchFamily="18" charset="0"/>
                <a:cs typeface="Times New Roman" pitchFamily="18" charset="0"/>
              </a:rPr>
              <a:t>1</a:t>
            </a:r>
            <a:r>
              <a:rPr lang="ru-RU" baseline="-25000" dirty="0">
                <a:latin typeface="Times New Roman" pitchFamily="18" charset="0"/>
                <a:cs typeface="Times New Roman" pitchFamily="18" charset="0"/>
              </a:rPr>
              <a:t>β</a:t>
            </a:r>
            <a:r>
              <a:rPr lang="ru-RU" dirty="0">
                <a:latin typeface="Times New Roman" pitchFamily="18" charset="0"/>
                <a:cs typeface="Times New Roman" pitchFamily="18" charset="0"/>
              </a:rPr>
              <a:t> </a:t>
            </a:r>
            <a:r>
              <a:rPr lang="en-US" dirty="0">
                <a:latin typeface="Times New Roman" pitchFamily="18" charset="0"/>
                <a:cs typeface="Times New Roman" pitchFamily="18" charset="0"/>
              </a:rPr>
              <a:t>&gt;&gt; </a:t>
            </a:r>
            <a:r>
              <a:rPr lang="en-US" i="1" dirty="0" err="1">
                <a:latin typeface="Times New Roman" pitchFamily="18" charset="0"/>
                <a:cs typeface="Times New Roman" pitchFamily="18" charset="0"/>
              </a:rPr>
              <a:t>Z</a:t>
            </a:r>
            <a:r>
              <a:rPr lang="en-US" i="1" baseline="-25000" dirty="0" err="1">
                <a:latin typeface="Times New Roman" pitchFamily="18" charset="0"/>
                <a:cs typeface="Times New Roman" pitchFamily="18" charset="0"/>
              </a:rPr>
              <a:t>sarc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şi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ieşire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cât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mică</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Z</a:t>
            </a:r>
            <a:r>
              <a:rPr lang="en-US" i="1" baseline="-25000" dirty="0">
                <a:latin typeface="Times New Roman" pitchFamily="18" charset="0"/>
                <a:cs typeface="Times New Roman" pitchFamily="18" charset="0"/>
              </a:rPr>
              <a:t>2</a:t>
            </a:r>
            <a:r>
              <a:rPr lang="ru-RU" baseline="-25000" dirty="0">
                <a:latin typeface="Times New Roman" pitchFamily="18" charset="0"/>
                <a:cs typeface="Times New Roman" pitchFamily="18" charset="0"/>
              </a:rPr>
              <a:t>β</a:t>
            </a:r>
            <a:r>
              <a:rPr lang="ru-RU" dirty="0">
                <a:latin typeface="Times New Roman" pitchFamily="18" charset="0"/>
                <a:cs typeface="Times New Roman" pitchFamily="18" charset="0"/>
              </a:rPr>
              <a:t> </a:t>
            </a:r>
            <a:r>
              <a:rPr lang="en-US" dirty="0">
                <a:latin typeface="Times New Roman" pitchFamily="18" charset="0"/>
                <a:cs typeface="Times New Roman" pitchFamily="18" charset="0"/>
              </a:rPr>
              <a:t>&lt;&lt; </a:t>
            </a:r>
            <a:r>
              <a:rPr lang="en-US" i="1" dirty="0">
                <a:latin typeface="Times New Roman" pitchFamily="18" charset="0"/>
                <a:cs typeface="Times New Roman" pitchFamily="18" charset="0"/>
              </a:rPr>
              <a:t>Z</a:t>
            </a:r>
            <a:r>
              <a:rPr lang="en-US" i="1" baseline="-25000" dirty="0">
                <a:latin typeface="Times New Roman" pitchFamily="18" charset="0"/>
                <a:cs typeface="Times New Roman" pitchFamily="18" charset="0"/>
              </a:rPr>
              <a:t>in</a:t>
            </a:r>
            <a:r>
              <a:rPr lang="en-US">
                <a:latin typeface="Times New Roman" pitchFamily="18" charset="0"/>
                <a:cs typeface="Times New Roman" pitchFamily="18" charset="0"/>
              </a:rPr>
              <a:t>). </a:t>
            </a: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De </a:t>
            </a:r>
            <a:r>
              <a:rPr lang="en-US" dirty="0" err="1">
                <a:latin typeface="Times New Roman" pitchFamily="18" charset="0"/>
                <a:cs typeface="Times New Roman" pitchFamily="18" charset="0"/>
              </a:rPr>
              <a:t>asemenea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este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necesar</a:t>
            </a:r>
            <a:r>
              <a:rPr lang="en-US" dirty="0">
                <a:latin typeface="Times New Roman" pitchFamily="18" charset="0"/>
                <a:cs typeface="Times New Roman" pitchFamily="18" charset="0"/>
              </a:rPr>
              <a:t> ca </a:t>
            </a:r>
            <a:r>
              <a:rPr lang="en-US" dirty="0" err="1">
                <a:latin typeface="Times New Roman" pitchFamily="18" charset="0"/>
                <a:cs typeface="Times New Roman" pitchFamily="18" charset="0"/>
              </a:rPr>
              <a:t>sursa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semnal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şi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amplificatorul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să</a:t>
            </a:r>
            <a:r>
              <a:rPr lang="en-US" dirty="0">
                <a:latin typeface="Times New Roman" pitchFamily="18" charset="0"/>
                <a:cs typeface="Times New Roman" pitchFamily="18" charset="0"/>
              </a:rPr>
              <a:t> se </a:t>
            </a:r>
            <a:r>
              <a:rPr lang="en-US" dirty="0" err="1">
                <a:latin typeface="Times New Roman" pitchFamily="18" charset="0"/>
                <a:cs typeface="Times New Roman" pitchFamily="18" charset="0"/>
              </a:rPr>
              <a:t>apropie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cât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mult</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nişte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surse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ideale</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tensiune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raport</a:t>
            </a:r>
            <a:r>
              <a:rPr lang="en-US" dirty="0">
                <a:latin typeface="Times New Roman" pitchFamily="18" charset="0"/>
                <a:cs typeface="Times New Roman" pitchFamily="18" charset="0"/>
              </a:rPr>
              <a:t> cu </a:t>
            </a:r>
            <a:r>
              <a:rPr lang="en-US" dirty="0" err="1">
                <a:latin typeface="Times New Roman" pitchFamily="18" charset="0"/>
                <a:cs typeface="Times New Roman" pitchFamily="18" charset="0"/>
              </a:rPr>
              <a:t>intrarea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amplificatorului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respectiv</a:t>
            </a:r>
            <a:r>
              <a:rPr lang="en-US" dirty="0">
                <a:latin typeface="Times New Roman" pitchFamily="18" charset="0"/>
                <a:cs typeface="Times New Roman" pitchFamily="18" charset="0"/>
              </a:rPr>
              <a:t> cu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sarcină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adică</a:t>
            </a:r>
            <a:r>
              <a:rPr lang="en-US" dirty="0">
                <a:latin typeface="Times New Roman" pitchFamily="18" charset="0"/>
                <a:cs typeface="Times New Roman" pitchFamily="18" charset="0"/>
              </a:rPr>
              <a:t>: </a:t>
            </a:r>
            <a:r>
              <a:rPr lang="en-US" i="1" dirty="0" err="1">
                <a:latin typeface="Times New Roman" pitchFamily="18" charset="0"/>
                <a:cs typeface="Times New Roman" pitchFamily="18" charset="0"/>
              </a:rPr>
              <a:t>Z</a:t>
            </a:r>
            <a:r>
              <a:rPr lang="en-US" i="1" baseline="-25000" dirty="0" err="1">
                <a:latin typeface="Times New Roman" pitchFamily="18" charset="0"/>
                <a:cs typeface="Times New Roman" pitchFamily="18" charset="0"/>
              </a:rPr>
              <a:t>s</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&lt;&lt; </a:t>
            </a:r>
            <a:r>
              <a:rPr lang="en-US" i="1" dirty="0">
                <a:latin typeface="Times New Roman" pitchFamily="18" charset="0"/>
                <a:cs typeface="Times New Roman" pitchFamily="18" charset="0"/>
              </a:rPr>
              <a:t>Z</a:t>
            </a:r>
            <a:r>
              <a:rPr lang="en-US" i="1" baseline="-25000" dirty="0">
                <a:latin typeface="Times New Roman" pitchFamily="18" charset="0"/>
                <a:cs typeface="Times New Roman" pitchFamily="18" charset="0"/>
              </a:rPr>
              <a:t>in</a:t>
            </a:r>
            <a:r>
              <a:rPr lang="en-US" i="1" dirty="0">
                <a:latin typeface="Times New Roman" pitchFamily="18" charset="0"/>
                <a:cs typeface="Times New Roman" pitchFamily="18" charset="0"/>
              </a:rPr>
              <a:t> </a:t>
            </a:r>
            <a:r>
              <a:rPr lang="en-US" dirty="0" err="1">
                <a:latin typeface="Times New Roman" pitchFamily="18" charset="0"/>
                <a:cs typeface="Times New Roman" pitchFamily="18" charset="0"/>
              </a:rPr>
              <a:t>şi</a:t>
            </a:r>
            <a:r>
              <a:rPr lang="en-US" dirty="0">
                <a:latin typeface="Times New Roman" pitchFamily="18" charset="0"/>
                <a:cs typeface="Times New Roman" pitchFamily="18" charset="0"/>
              </a:rPr>
              <a:t> </a:t>
            </a:r>
            <a:r>
              <a:rPr lang="en-US" i="1" dirty="0" err="1">
                <a:latin typeface="Times New Roman" pitchFamily="18" charset="0"/>
                <a:cs typeface="Times New Roman" pitchFamily="18" charset="0"/>
              </a:rPr>
              <a:t>Z</a:t>
            </a:r>
            <a:r>
              <a:rPr lang="en-US" i="1" baseline="-25000" dirty="0" err="1">
                <a:latin typeface="Times New Roman" pitchFamily="18" charset="0"/>
                <a:cs typeface="Times New Roman" pitchFamily="18" charset="0"/>
              </a:rPr>
              <a:t>ies</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&lt;&lt; </a:t>
            </a:r>
            <a:r>
              <a:rPr lang="en-US" i="1" dirty="0" err="1">
                <a:latin typeface="Times New Roman" pitchFamily="18" charset="0"/>
                <a:cs typeface="Times New Roman" pitchFamily="18" charset="0"/>
              </a:rPr>
              <a:t>Z</a:t>
            </a:r>
            <a:r>
              <a:rPr lang="en-US" i="1" baseline="-25000" dirty="0" err="1">
                <a:latin typeface="Times New Roman" pitchFamily="18" charset="0"/>
                <a:cs typeface="Times New Roman" pitchFamily="18" charset="0"/>
              </a:rPr>
              <a:t>sarc</a:t>
            </a:r>
            <a:r>
              <a:rPr lang="en-US"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1878812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515" y="92151"/>
            <a:ext cx="8725528" cy="6062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Прямоугольник 4"/>
          <p:cNvSpPr/>
          <p:nvPr/>
        </p:nvSpPr>
        <p:spPr>
          <a:xfrm>
            <a:off x="3384136" y="6365225"/>
            <a:ext cx="6096541" cy="369332"/>
          </a:xfrm>
          <a:prstGeom prst="rect">
            <a:avLst/>
          </a:prstGeom>
        </p:spPr>
        <p:txBody>
          <a:bodyPr wrap="none">
            <a:spAutoFit/>
          </a:bodyPr>
          <a:lstStyle/>
          <a:p>
            <a:r>
              <a:rPr lang="en-US">
                <a:latin typeface="Times New Roman" pitchFamily="18" charset="0"/>
                <a:cs typeface="Times New Roman" pitchFamily="18" charset="0"/>
              </a:rPr>
              <a:t>Schema bloc a unui amplificator cu reacţie negativă în tensiune </a:t>
            </a:r>
            <a:endParaRPr lang="en-US"/>
          </a:p>
        </p:txBody>
      </p:sp>
    </p:spTree>
    <p:extLst>
      <p:ext uri="{BB962C8B-B14F-4D97-AF65-F5344CB8AC3E}">
        <p14:creationId xmlns:p14="http://schemas.microsoft.com/office/powerpoint/2010/main" val="1879834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68366" y="170915"/>
            <a:ext cx="11912838" cy="6687085"/>
          </a:xfrm>
        </p:spPr>
        <p:txBody>
          <a:bodyPr>
            <a:normAutofit/>
          </a:bodyPr>
          <a:lstStyle/>
          <a:p>
            <a:pPr marL="0" indent="0">
              <a:buNone/>
            </a:pPr>
            <a:r>
              <a:rPr lang="en-US" sz="2400" smtClean="0">
                <a:latin typeface="Times New Roman" pitchFamily="18" charset="0"/>
                <a:cs typeface="Times New Roman" pitchFamily="18" charset="0"/>
              </a:rPr>
              <a:t>vom </a:t>
            </a:r>
            <a:r>
              <a:rPr lang="en-US" sz="2400">
                <a:latin typeface="Times New Roman" pitchFamily="18" charset="0"/>
                <a:cs typeface="Times New Roman" pitchFamily="18" charset="0"/>
              </a:rPr>
              <a:t>deduce expresiile impedanţei de intrare şi impedanţei de ieşire ale amplificatorului cu reacţie negativă în tensiune.</a:t>
            </a:r>
          </a:p>
          <a:p>
            <a:pPr marL="0" indent="0">
              <a:buNone/>
            </a:pPr>
            <a:endParaRPr lang="en-US" smtClean="0"/>
          </a:p>
          <a:p>
            <a:pPr marL="0" indent="0">
              <a:buNone/>
            </a:pPr>
            <a:endParaRPr lang="en-US"/>
          </a:p>
          <a:p>
            <a:pPr marL="0" indent="0">
              <a:buNone/>
            </a:pPr>
            <a:endParaRPr lang="en-US" sz="2000" smtClean="0">
              <a:latin typeface="Times New Roman" pitchFamily="18" charset="0"/>
              <a:cs typeface="Times New Roman" pitchFamily="18" charset="0"/>
            </a:endParaRPr>
          </a:p>
          <a:p>
            <a:pPr marL="0" indent="0">
              <a:buNone/>
            </a:pPr>
            <a:r>
              <a:rPr lang="en-US" sz="2000" smtClean="0">
                <a:latin typeface="Times New Roman" pitchFamily="18" charset="0"/>
                <a:cs typeface="Times New Roman" pitchFamily="18" charset="0"/>
              </a:rPr>
              <a:t>Dar                                    </a:t>
            </a:r>
            <a:r>
              <a:rPr lang="ro-MO" sz="2000" smtClean="0">
                <a:latin typeface="Times New Roman" pitchFamily="18" charset="0"/>
                <a:cs typeface="Times New Roman" pitchFamily="18" charset="0"/>
              </a:rPr>
              <a:t>ș</a:t>
            </a:r>
            <a:r>
              <a:rPr lang="en-US" sz="2000" smtClean="0">
                <a:latin typeface="Times New Roman" pitchFamily="18" charset="0"/>
                <a:cs typeface="Times New Roman" pitchFamily="18" charset="0"/>
              </a:rPr>
              <a:t>i                                              astfel</a:t>
            </a:r>
            <a:r>
              <a:rPr lang="ro-MO" sz="2000" smtClean="0">
                <a:latin typeface="Times New Roman" pitchFamily="18" charset="0"/>
                <a:cs typeface="Times New Roman" pitchFamily="18" charset="0"/>
              </a:rPr>
              <a:t>     </a:t>
            </a:r>
            <a:endParaRPr lang="en-US" sz="2000">
              <a:latin typeface="Times New Roman" pitchFamily="18" charset="0"/>
              <a:cs typeface="Times New Roman" pitchFamily="18" charset="0"/>
            </a:endParaRPr>
          </a:p>
          <a:p>
            <a:pPr marL="0" indent="0">
              <a:buNone/>
            </a:pPr>
            <a:endParaRPr lang="ro-MO" sz="2000" smtClean="0">
              <a:latin typeface="Times New Roman" pitchFamily="18" charset="0"/>
              <a:cs typeface="Times New Roman" pitchFamily="18" charset="0"/>
            </a:endParaRPr>
          </a:p>
          <a:p>
            <a:pPr marL="0" indent="0">
              <a:buNone/>
            </a:pPr>
            <a:endParaRPr lang="ro-MO" sz="2000" smtClean="0">
              <a:latin typeface="Times New Roman" pitchFamily="18" charset="0"/>
              <a:cs typeface="Times New Roman" pitchFamily="18" charset="0"/>
            </a:endParaRPr>
          </a:p>
          <a:p>
            <a:pPr marL="0" indent="0">
              <a:buNone/>
            </a:pPr>
            <a:r>
              <a:rPr lang="en-US" sz="2000" smtClean="0">
                <a:latin typeface="Times New Roman" pitchFamily="18" charset="0"/>
                <a:cs typeface="Times New Roman" pitchFamily="18" charset="0"/>
              </a:rPr>
              <a:t>Pentru </a:t>
            </a:r>
            <a:r>
              <a:rPr lang="en-US" sz="2000">
                <a:latin typeface="Times New Roman" pitchFamily="18" charset="0"/>
                <a:cs typeface="Times New Roman" pitchFamily="18" charset="0"/>
              </a:rPr>
              <a:t>calculul impedanţei de ieşire pornim de la definiţia impedanţei de ieşire a unui cuadrupol</a:t>
            </a:r>
            <a:r>
              <a:rPr lang="en-US" sz="2000" smtClean="0">
                <a:latin typeface="Times New Roman" pitchFamily="18" charset="0"/>
                <a:cs typeface="Times New Roman" pitchFamily="18" charset="0"/>
              </a:rPr>
              <a:t>:</a:t>
            </a:r>
            <a:endParaRPr lang="ro-MO" sz="2000" smtClean="0">
              <a:latin typeface="Times New Roman" pitchFamily="18" charset="0"/>
              <a:cs typeface="Times New Roman" pitchFamily="18" charset="0"/>
            </a:endParaRPr>
          </a:p>
          <a:p>
            <a:pPr marL="0" indent="0">
              <a:buNone/>
            </a:pPr>
            <a:endParaRPr lang="en-US" sz="2000">
              <a:latin typeface="Times New Roman" pitchFamily="18" charset="0"/>
              <a:cs typeface="Times New Roman" pitchFamily="18" charset="0"/>
            </a:endParaRPr>
          </a:p>
          <a:p>
            <a:pPr marL="0" indent="0">
              <a:buNone/>
            </a:pPr>
            <a:endParaRPr lang="ro-MO" sz="2000">
              <a:latin typeface="Times New Roman" pitchFamily="18" charset="0"/>
              <a:cs typeface="Times New Roman" pitchFamily="18" charset="0"/>
            </a:endParaRPr>
          </a:p>
          <a:p>
            <a:pPr marL="0" indent="0">
              <a:buNone/>
            </a:pPr>
            <a:endParaRPr lang="en-US" sz="2000">
              <a:latin typeface="Times New Roman" pitchFamily="18" charset="0"/>
              <a:cs typeface="Times New Roman" pitchFamily="18" charset="0"/>
            </a:endParaRPr>
          </a:p>
          <a:p>
            <a:pPr marL="0" indent="0">
              <a:buNone/>
            </a:pPr>
            <a:endParaRPr lang="en-US" smtClean="0"/>
          </a:p>
          <a:p>
            <a:endParaRPr lang="en-US"/>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2841" y="843175"/>
            <a:ext cx="5447721" cy="98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819" y="2095517"/>
            <a:ext cx="1415242" cy="957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0883" y="2119954"/>
            <a:ext cx="175260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6663" y="2272353"/>
            <a:ext cx="3486150"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6813" y="3900177"/>
            <a:ext cx="26098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8354205" y="1134246"/>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2</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2158061" y="2360309"/>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3</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5281168" y="2374026"/>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4</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10522389" y="2448535"/>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5</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7104071" y="4276384"/>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6</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8074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02550" y="111094"/>
            <a:ext cx="11964112" cy="6614445"/>
          </a:xfrm>
        </p:spPr>
        <p:txBody>
          <a:bodyPr/>
          <a:lstStyle/>
          <a:p>
            <a:r>
              <a:rPr lang="en-US" sz="2000">
                <a:latin typeface="Times New Roman" pitchFamily="18" charset="0"/>
                <a:cs typeface="Times New Roman" pitchFamily="18" charset="0"/>
              </a:rPr>
              <a:t>Analizând Schema bloc a unui amplificator cu reacţie negativă în tensiune, se poate observa că în condiţii de mers în gol ( </a:t>
            </a:r>
            <a:r>
              <a:rPr lang="en-US" sz="2000" i="1">
                <a:latin typeface="Times New Roman" pitchFamily="18" charset="0"/>
                <a:cs typeface="Times New Roman" pitchFamily="18" charset="0"/>
              </a:rPr>
              <a:t>Z</a:t>
            </a:r>
            <a:r>
              <a:rPr lang="en-US" sz="2000" i="1" baseline="-25000">
                <a:latin typeface="Times New Roman" pitchFamily="18" charset="0"/>
                <a:cs typeface="Times New Roman" pitchFamily="18" charset="0"/>
              </a:rPr>
              <a:t>sarc</a:t>
            </a:r>
            <a:r>
              <a:rPr lang="en-US" sz="2000" i="1">
                <a:latin typeface="Times New Roman" pitchFamily="18" charset="0"/>
                <a:cs typeface="Times New Roman" pitchFamily="18" charset="0"/>
              </a:rPr>
              <a:t> </a:t>
            </a:r>
            <a:r>
              <a:rPr lang="en-US" sz="2000">
                <a:latin typeface="Times New Roman" pitchFamily="18" charset="0"/>
                <a:cs typeface="Times New Roman" pitchFamily="18" charset="0"/>
              </a:rPr>
              <a:t>→ ∞ ) prin impedanţa de intrare </a:t>
            </a:r>
            <a:r>
              <a:rPr lang="en-US" sz="2000" i="1">
                <a:latin typeface="Times New Roman" pitchFamily="18" charset="0"/>
                <a:cs typeface="Times New Roman" pitchFamily="18" charset="0"/>
              </a:rPr>
              <a:t>Z</a:t>
            </a:r>
            <a:r>
              <a:rPr lang="en-US" sz="2000" i="1" baseline="-25000">
                <a:latin typeface="Times New Roman" pitchFamily="18" charset="0"/>
                <a:cs typeface="Times New Roman" pitchFamily="18" charset="0"/>
              </a:rPr>
              <a:t>1</a:t>
            </a:r>
            <a:r>
              <a:rPr lang="ru-RU" sz="2000" baseline="-25000">
                <a:latin typeface="Times New Roman" pitchFamily="18" charset="0"/>
                <a:cs typeface="Times New Roman" pitchFamily="18" charset="0"/>
              </a:rPr>
              <a:t>β</a:t>
            </a:r>
            <a:r>
              <a:rPr lang="ru-RU" sz="2000">
                <a:latin typeface="Times New Roman" pitchFamily="18" charset="0"/>
                <a:cs typeface="Times New Roman" pitchFamily="18" charset="0"/>
              </a:rPr>
              <a:t> </a:t>
            </a:r>
            <a:r>
              <a:rPr lang="en-US" sz="2000">
                <a:latin typeface="Times New Roman" pitchFamily="18" charset="0"/>
                <a:cs typeface="Times New Roman" pitchFamily="18" charset="0"/>
              </a:rPr>
              <a:t>a reţelei de reacţie circulă curent, deci reacţia negativă este prezentă. Astfel:</a:t>
            </a:r>
          </a:p>
          <a:p>
            <a:endParaRPr lang="en-US" dirty="0" smtClean="0"/>
          </a:p>
          <a:p>
            <a:endParaRPr lang="en-US" dirty="0"/>
          </a:p>
          <a:p>
            <a:r>
              <a:rPr lang="en-US" sz="2000" smtClean="0">
                <a:latin typeface="Times New Roman" pitchFamily="18" charset="0"/>
                <a:cs typeface="Times New Roman" pitchFamily="18" charset="0"/>
              </a:rPr>
              <a:t>În </a:t>
            </a:r>
            <a:r>
              <a:rPr lang="en-US" sz="2000" dirty="0" err="1">
                <a:latin typeface="Times New Roman" pitchFamily="18" charset="0"/>
                <a:cs typeface="Times New Roman" pitchFamily="18" charset="0"/>
              </a:rPr>
              <a:t>condiţii</a:t>
            </a:r>
            <a:r>
              <a:rPr lang="en-US" sz="2000" dirty="0">
                <a:latin typeface="Times New Roman" pitchFamily="18" charset="0"/>
                <a:cs typeface="Times New Roman" pitchFamily="18" charset="0"/>
              </a:rPr>
              <a:t> de </a:t>
            </a:r>
            <a:r>
              <a:rPr lang="en-US" sz="2000" dirty="0" err="1">
                <a:latin typeface="Times New Roman" pitchFamily="18" charset="0"/>
                <a:cs typeface="Times New Roman" pitchFamily="18" charset="0"/>
              </a:rPr>
              <a:t>mers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în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scurcircuit</a:t>
            </a:r>
            <a:r>
              <a:rPr lang="en-US" sz="2000" dirty="0">
                <a:latin typeface="Times New Roman" pitchFamily="18" charset="0"/>
                <a:cs typeface="Times New Roman" pitchFamily="18" charset="0"/>
              </a:rPr>
              <a:t> (</a:t>
            </a:r>
            <a:r>
              <a:rPr lang="en-US" sz="2000" i="1" dirty="0" err="1">
                <a:latin typeface="Times New Roman" pitchFamily="18" charset="0"/>
                <a:cs typeface="Times New Roman" pitchFamily="18" charset="0"/>
              </a:rPr>
              <a:t>Z</a:t>
            </a:r>
            <a:r>
              <a:rPr lang="en-US" sz="2000" i="1" baseline="-25000" dirty="0" err="1">
                <a:latin typeface="Times New Roman" pitchFamily="18" charset="0"/>
                <a:cs typeface="Times New Roman" pitchFamily="18" charset="0"/>
              </a:rPr>
              <a:t>sarc</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 0) </a:t>
            </a:r>
            <a:r>
              <a:rPr lang="en-US" sz="2000" dirty="0" err="1">
                <a:latin typeface="Times New Roman" pitchFamily="18" charset="0"/>
                <a:cs typeface="Times New Roman" pitchFamily="18" charset="0"/>
              </a:rPr>
              <a:t>intrarea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reţelei</a:t>
            </a:r>
            <a:r>
              <a:rPr lang="en-US" sz="2000" dirty="0">
                <a:latin typeface="Times New Roman" pitchFamily="18" charset="0"/>
                <a:cs typeface="Times New Roman" pitchFamily="18" charset="0"/>
              </a:rPr>
              <a:t> de </a:t>
            </a:r>
            <a:r>
              <a:rPr lang="en-US" sz="2000" dirty="0" err="1">
                <a:latin typeface="Times New Roman" pitchFamily="18" charset="0"/>
                <a:cs typeface="Times New Roman" pitchFamily="18" charset="0"/>
              </a:rPr>
              <a:t>reacţie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este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şuntată</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şi</a:t>
            </a:r>
            <a:r>
              <a:rPr lang="en-US" sz="2000" dirty="0">
                <a:latin typeface="Times New Roman" pitchFamily="18" charset="0"/>
                <a:cs typeface="Times New Roman" pitchFamily="18" charset="0"/>
              </a:rPr>
              <a:t> nu </a:t>
            </a:r>
            <a:r>
              <a:rPr lang="en-US" sz="2000" dirty="0" err="1">
                <a:latin typeface="Times New Roman" pitchFamily="18" charset="0"/>
                <a:cs typeface="Times New Roman" pitchFamily="18" charset="0"/>
              </a:rPr>
              <a:t>mai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există</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reacţie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negativă</a:t>
            </a:r>
            <a:r>
              <a:rPr lang="en-US" sz="2000" dirty="0">
                <a:latin typeface="Times New Roman" pitchFamily="18" charset="0"/>
                <a:cs typeface="Times New Roman" pitchFamily="18" charset="0"/>
              </a:rPr>
              <a:t>. De </a:t>
            </a:r>
            <a:r>
              <a:rPr lang="en-US" sz="2000" dirty="0" err="1">
                <a:latin typeface="Times New Roman" pitchFamily="18" charset="0"/>
                <a:cs typeface="Times New Roman" pitchFamily="18" charset="0"/>
              </a:rPr>
              <a:t>aceea</a:t>
            </a:r>
            <a:r>
              <a:rPr lang="en-US" sz="2000" dirty="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u</a:t>
            </a:r>
            <a:r>
              <a:rPr lang="en-US" sz="2000" i="1" baseline="-25000" dirty="0" err="1" smtClean="0">
                <a:latin typeface="Times New Roman" pitchFamily="18" charset="0"/>
                <a:cs typeface="Times New Roman" pitchFamily="18" charset="0"/>
              </a:rPr>
              <a:t>in</a:t>
            </a:r>
            <a:r>
              <a:rPr lang="en-US" sz="2000" i="1" dirty="0" smtClean="0">
                <a:latin typeface="Times New Roman" pitchFamily="18" charset="0"/>
                <a:cs typeface="Times New Roman" pitchFamily="18" charset="0"/>
              </a:rPr>
              <a:t> </a:t>
            </a:r>
            <a:r>
              <a:rPr lang="en-US" sz="2000" i="1" dirty="0">
                <a:latin typeface="Times New Roman" pitchFamily="18" charset="0"/>
                <a:cs typeface="Times New Roman" pitchFamily="18" charset="0"/>
              </a:rPr>
              <a:t>= u</a:t>
            </a:r>
            <a:r>
              <a:rPr lang="en-US" sz="2000" i="1" baseline="-25000" dirty="0">
                <a:latin typeface="Times New Roman" pitchFamily="18" charset="0"/>
                <a:cs typeface="Times New Roman" pitchFamily="18" charset="0"/>
              </a:rPr>
              <a:t>s</a:t>
            </a:r>
            <a:r>
              <a:rPr lang="en-US" sz="2000" i="1" dirty="0">
                <a:latin typeface="Times New Roman" pitchFamily="18" charset="0"/>
                <a:cs typeface="Times New Roman" pitchFamily="18" charset="0"/>
              </a:rPr>
              <a:t> </a:t>
            </a:r>
            <a:r>
              <a:rPr lang="en-US" sz="2000" dirty="0" err="1">
                <a:latin typeface="Times New Roman" pitchFamily="18" charset="0"/>
                <a:cs typeface="Times New Roman" pitchFamily="18" charset="0"/>
              </a:rPr>
              <a:t>şi</a:t>
            </a:r>
            <a:r>
              <a:rPr lang="en-US" sz="2000" dirty="0">
                <a:latin typeface="Times New Roman" pitchFamily="18" charset="0"/>
                <a:cs typeface="Times New Roman" pitchFamily="18" charset="0"/>
              </a:rPr>
              <a:t>:</a:t>
            </a:r>
          </a:p>
          <a:p>
            <a:endParaRPr lang="en-US" dirty="0" smtClean="0"/>
          </a:p>
          <a:p>
            <a:endParaRPr lang="ro-MO" sz="2000" smtClean="0">
              <a:latin typeface="Times New Roman" pitchFamily="18" charset="0"/>
              <a:cs typeface="Times New Roman" pitchFamily="18" charset="0"/>
            </a:endParaRPr>
          </a:p>
          <a:p>
            <a:r>
              <a:rPr lang="en-US" sz="2000" smtClean="0">
                <a:latin typeface="Times New Roman" pitchFamily="18" charset="0"/>
                <a:cs typeface="Times New Roman" pitchFamily="18" charset="0"/>
              </a:rPr>
              <a:t>Din </a:t>
            </a:r>
            <a:r>
              <a:rPr lang="en-US" sz="2000" dirty="0" err="1">
                <a:latin typeface="Times New Roman" pitchFamily="18" charset="0"/>
                <a:cs typeface="Times New Roman" pitchFamily="18" charset="0"/>
              </a:rPr>
              <a:t>ultimele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trei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relaţii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exprima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impedanţa</a:t>
            </a:r>
            <a:r>
              <a:rPr lang="en-US" sz="2000" dirty="0">
                <a:latin typeface="Times New Roman" pitchFamily="18" charset="0"/>
                <a:cs typeface="Times New Roman" pitchFamily="18" charset="0"/>
              </a:rPr>
              <a:t> de </a:t>
            </a:r>
            <a:r>
              <a:rPr lang="en-US" sz="2000" dirty="0" err="1">
                <a:latin typeface="Times New Roman" pitchFamily="18" charset="0"/>
                <a:cs typeface="Times New Roman" pitchFamily="18" charset="0"/>
              </a:rPr>
              <a:t>ieşire</a:t>
            </a:r>
            <a:r>
              <a:rPr lang="en-US" sz="2000" dirty="0">
                <a:latin typeface="Times New Roman" pitchFamily="18" charset="0"/>
                <a:cs typeface="Times New Roman" pitchFamily="18" charset="0"/>
              </a:rPr>
              <a:t>: </a:t>
            </a:r>
            <a:r>
              <a:rPr lang="en-US" dirty="0"/>
              <a:t/>
            </a:r>
            <a:br>
              <a:rPr lang="en-US" dirty="0"/>
            </a:br>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5348" y="846726"/>
            <a:ext cx="2848598" cy="107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7934" y="2500403"/>
            <a:ext cx="2033624" cy="1046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7934" y="4135554"/>
            <a:ext cx="2694592" cy="1267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7321948" y="1269280"/>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7</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7321947" y="2823399"/>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8</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638541" y="4569260"/>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(2</a:t>
            </a:r>
            <a:r>
              <a:rPr lang="ro-MO" sz="2000" b="1" i="1" smtClean="0">
                <a:latin typeface="Times New Roman" panose="02020603050405020304" pitchFamily="18" charset="0"/>
                <a:cs typeface="Times New Roman" panose="02020603050405020304" pitchFamily="18" charset="0"/>
              </a:rPr>
              <a:t>9</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5767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36733" y="136732"/>
            <a:ext cx="11912837" cy="6520441"/>
          </a:xfrm>
        </p:spPr>
        <p:txBody>
          <a:bodyPr/>
          <a:lstStyle/>
          <a:p>
            <a:pPr marL="0" indent="0">
              <a:buNone/>
            </a:pPr>
            <a:r>
              <a:rPr lang="en-US" err="1">
                <a:latin typeface="Times New Roman" pitchFamily="18" charset="0"/>
                <a:cs typeface="Times New Roman" pitchFamily="18" charset="0"/>
              </a:rPr>
              <a:t>Relaţiile</a:t>
            </a:r>
            <a:r>
              <a:rPr lang="en-US">
                <a:latin typeface="Times New Roman" pitchFamily="18" charset="0"/>
                <a:cs typeface="Times New Roman" pitchFamily="18" charset="0"/>
              </a:rPr>
              <a:t> </a:t>
            </a:r>
            <a:r>
              <a:rPr lang="en-US" smtClean="0">
                <a:latin typeface="Times New Roman" pitchFamily="18" charset="0"/>
                <a:cs typeface="Times New Roman" pitchFamily="18" charset="0"/>
              </a:rPr>
              <a:t>(</a:t>
            </a:r>
            <a:r>
              <a:rPr lang="ro-MO" smtClean="0">
                <a:latin typeface="Times New Roman" pitchFamily="18" charset="0"/>
                <a:cs typeface="Times New Roman" pitchFamily="18" charset="0"/>
              </a:rPr>
              <a:t>25</a:t>
            </a:r>
            <a:r>
              <a:rPr lang="en-US" smtClean="0">
                <a:latin typeface="Times New Roman" pitchFamily="18" charset="0"/>
                <a:cs typeface="Times New Roman" pitchFamily="18" charset="0"/>
              </a:rPr>
              <a:t>) </a:t>
            </a:r>
            <a:r>
              <a:rPr lang="en-US" err="1">
                <a:latin typeface="Times New Roman" pitchFamily="18" charset="0"/>
                <a:cs typeface="Times New Roman" pitchFamily="18" charset="0"/>
              </a:rPr>
              <a:t>şi</a:t>
            </a:r>
            <a:r>
              <a:rPr lang="en-US">
                <a:latin typeface="Times New Roman" pitchFamily="18" charset="0"/>
                <a:cs typeface="Times New Roman" pitchFamily="18" charset="0"/>
              </a:rPr>
              <a:t> </a:t>
            </a:r>
            <a:r>
              <a:rPr lang="en-US" smtClean="0">
                <a:latin typeface="Times New Roman" pitchFamily="18" charset="0"/>
                <a:cs typeface="Times New Roman" pitchFamily="18" charset="0"/>
              </a:rPr>
              <a:t>(</a:t>
            </a:r>
            <a:r>
              <a:rPr lang="ro-MO" smtClean="0">
                <a:latin typeface="Times New Roman" pitchFamily="18" charset="0"/>
                <a:cs typeface="Times New Roman" pitchFamily="18" charset="0"/>
              </a:rPr>
              <a:t>29</a:t>
            </a:r>
            <a:r>
              <a:rPr lang="en-US" smtClean="0">
                <a:latin typeface="Times New Roman" pitchFamily="18" charset="0"/>
                <a:cs typeface="Times New Roman" pitchFamily="18" charset="0"/>
              </a:rPr>
              <a:t>) </a:t>
            </a:r>
            <a:r>
              <a:rPr lang="en-US" dirty="0">
                <a:latin typeface="Times New Roman" pitchFamily="18" charset="0"/>
                <a:cs typeface="Times New Roman" pitchFamily="18" charset="0"/>
              </a:rPr>
              <a:t>ne spun </a:t>
            </a:r>
            <a:r>
              <a:rPr lang="en-US" dirty="0" err="1">
                <a:latin typeface="Times New Roman" pitchFamily="18" charset="0"/>
                <a:cs typeface="Times New Roman" pitchFamily="18" charset="0"/>
              </a:rPr>
              <a:t>că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intrare</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amplificatorului</a:t>
            </a:r>
            <a:r>
              <a:rPr lang="en-US" dirty="0">
                <a:latin typeface="Times New Roman" pitchFamily="18" charset="0"/>
                <a:cs typeface="Times New Roman" pitchFamily="18" charset="0"/>
              </a:rPr>
              <a:t> cu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negativă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tensiune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creşte</a:t>
            </a:r>
            <a:r>
              <a:rPr lang="en-US" dirty="0">
                <a:latin typeface="Times New Roman" pitchFamily="18" charset="0"/>
                <a:cs typeface="Times New Roman" pitchFamily="18" charset="0"/>
              </a:rPr>
              <a:t> de (1 + </a:t>
            </a:r>
            <a:r>
              <a:rPr lang="ru-RU" dirty="0">
                <a:latin typeface="Times New Roman" pitchFamily="18" charset="0"/>
                <a:cs typeface="Times New Roman" pitchFamily="18" charset="0"/>
              </a:rPr>
              <a:t>β</a:t>
            </a:r>
            <a:r>
              <a:rPr lang="en-US" i="1" dirty="0">
                <a:latin typeface="Times New Roman" pitchFamily="18" charset="0"/>
                <a:cs typeface="Times New Roman" pitchFamily="18" charset="0"/>
              </a:rPr>
              <a:t>A</a:t>
            </a:r>
            <a:r>
              <a:rPr lang="en-US" i="1" baseline="-25000" dirty="0">
                <a:latin typeface="Times New Roman" pitchFamily="18" charset="0"/>
                <a:cs typeface="Times New Roman" pitchFamily="18" charset="0"/>
              </a:rPr>
              <a:t>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timp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lui</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ieşire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scade</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acelaşi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număr</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ori</a:t>
            </a:r>
            <a:r>
              <a:rPr lang="en-US">
                <a:latin typeface="Times New Roman" pitchFamily="18" charset="0"/>
                <a:cs typeface="Times New Roman" pitchFamily="18" charset="0"/>
              </a:rPr>
              <a:t>. </a:t>
            </a:r>
            <a:endParaRPr lang="ro-MO" smtClean="0">
              <a:latin typeface="Times New Roman" pitchFamily="18" charset="0"/>
              <a:cs typeface="Times New Roman" pitchFamily="18" charset="0"/>
            </a:endParaRPr>
          </a:p>
          <a:p>
            <a:pPr marL="0" indent="0">
              <a:buNone/>
            </a:pPr>
            <a:r>
              <a:rPr lang="en-US" smtClean="0">
                <a:latin typeface="Times New Roman" pitchFamily="18" charset="0"/>
                <a:cs typeface="Times New Roman" pitchFamily="18" charset="0"/>
              </a:rPr>
              <a:t>Aceasta </a:t>
            </a:r>
            <a:r>
              <a:rPr lang="en-US" dirty="0" err="1">
                <a:latin typeface="Times New Roman" pitchFamily="18" charset="0"/>
                <a:cs typeface="Times New Roman" pitchFamily="18" charset="0"/>
              </a:rPr>
              <a:t>înseamnă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că</a:t>
            </a:r>
            <a:r>
              <a:rPr lang="en-US" dirty="0">
                <a:latin typeface="Times New Roman" pitchFamily="18" charset="0"/>
                <a:cs typeface="Times New Roman" pitchFamily="18" charset="0"/>
              </a:rPr>
              <a:t> la </a:t>
            </a:r>
            <a:r>
              <a:rPr lang="en-US" dirty="0" err="1">
                <a:latin typeface="Times New Roman" pitchFamily="18" charset="0"/>
                <a:cs typeface="Times New Roman" pitchFamily="18" charset="0"/>
              </a:rPr>
              <a:t>intrare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amplificatorul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ajută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sursa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semnal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să</a:t>
            </a:r>
            <a:r>
              <a:rPr lang="en-US" dirty="0">
                <a:latin typeface="Times New Roman" pitchFamily="18" charset="0"/>
                <a:cs typeface="Times New Roman" pitchFamily="18" charset="0"/>
              </a:rPr>
              <a:t> se </a:t>
            </a:r>
            <a:r>
              <a:rPr lang="en-US" dirty="0" err="1">
                <a:latin typeface="Times New Roman" pitchFamily="18" charset="0"/>
                <a:cs typeface="Times New Roman" pitchFamily="18" charset="0"/>
              </a:rPr>
              <a:t>apropie</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idealitate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iar</a:t>
            </a:r>
            <a:r>
              <a:rPr lang="en-US" dirty="0">
                <a:latin typeface="Times New Roman" pitchFamily="18" charset="0"/>
                <a:cs typeface="Times New Roman" pitchFamily="18" charset="0"/>
              </a:rPr>
              <a:t> la </a:t>
            </a:r>
            <a:r>
              <a:rPr lang="en-US" dirty="0" err="1">
                <a:latin typeface="Times New Roman" pitchFamily="18" charset="0"/>
                <a:cs typeface="Times New Roman" pitchFamily="18" charset="0"/>
              </a:rPr>
              <a:t>ieşire</a:t>
            </a:r>
            <a:r>
              <a:rPr lang="en-US" dirty="0">
                <a:latin typeface="Times New Roman" pitchFamily="18" charset="0"/>
                <a:cs typeface="Times New Roman" pitchFamily="18" charset="0"/>
              </a:rPr>
              <a:t> are o </a:t>
            </a:r>
            <a:r>
              <a:rPr lang="en-US" dirty="0" err="1">
                <a:latin typeface="Times New Roman" pitchFamily="18" charset="0"/>
                <a:cs typeface="Times New Roman" pitchFamily="18" charset="0"/>
              </a:rPr>
              <a:t>comportare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apropiată</a:t>
            </a:r>
            <a:r>
              <a:rPr lang="en-US" dirty="0">
                <a:latin typeface="Times New Roman" pitchFamily="18" charset="0"/>
                <a:cs typeface="Times New Roman" pitchFamily="18" charset="0"/>
              </a:rPr>
              <a:t> de o </a:t>
            </a:r>
            <a:r>
              <a:rPr lang="en-US" dirty="0" err="1">
                <a:latin typeface="Times New Roman" pitchFamily="18" charset="0"/>
                <a:cs typeface="Times New Roman" pitchFamily="18" charset="0"/>
              </a:rPr>
              <a:t>sursă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ideală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tensiune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faţă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de </a:t>
            </a:r>
            <a:r>
              <a:rPr lang="en-US" err="1">
                <a:latin typeface="Times New Roman" pitchFamily="18" charset="0"/>
                <a:cs typeface="Times New Roman" pitchFamily="18" charset="0"/>
              </a:rPr>
              <a:t>sarcină</a:t>
            </a:r>
            <a:r>
              <a:rPr lang="en-US" smtClean="0">
                <a:latin typeface="Times New Roman" pitchFamily="18" charset="0"/>
                <a:cs typeface="Times New Roman" pitchFamily="18" charset="0"/>
              </a:rPr>
              <a:t>.</a:t>
            </a:r>
            <a:endParaRPr lang="ro-MO" smtClean="0">
              <a:latin typeface="Times New Roman" pitchFamily="18" charset="0"/>
              <a:cs typeface="Times New Roman" pitchFamily="18" charset="0"/>
            </a:endParaRPr>
          </a:p>
          <a:p>
            <a:pPr marL="0" indent="0">
              <a:buNone/>
            </a:pPr>
            <a:r>
              <a:rPr lang="en-US" smtClean="0">
                <a:latin typeface="Times New Roman" pitchFamily="18" charset="0"/>
                <a:cs typeface="Times New Roman" pitchFamily="18" charset="0"/>
              </a:rPr>
              <a:t> </a:t>
            </a:r>
            <a:endParaRPr lang="en-US" dirty="0"/>
          </a:p>
        </p:txBody>
      </p:sp>
    </p:spTree>
    <p:extLst>
      <p:ext uri="{BB962C8B-B14F-4D97-AF65-F5344CB8AC3E}">
        <p14:creationId xmlns:p14="http://schemas.microsoft.com/office/powerpoint/2010/main" val="2485227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1095" y="76912"/>
            <a:ext cx="11964112" cy="6699903"/>
          </a:xfrm>
        </p:spPr>
        <p:txBody>
          <a:bodyPr>
            <a:normAutofit/>
          </a:bodyPr>
          <a:lstStyle/>
          <a:p>
            <a:pPr marL="0" indent="0">
              <a:buNone/>
            </a:pPr>
            <a:r>
              <a:rPr lang="en-US" sz="2400" b="1" i="1">
                <a:latin typeface="Times New Roman" pitchFamily="18" charset="0"/>
                <a:cs typeface="Times New Roman" pitchFamily="18" charset="0"/>
              </a:rPr>
              <a:t>Influenţa reacţiei negative de curent asupra impedanţelor de intrare şi ieşire</a:t>
            </a:r>
            <a:endParaRPr lang="en-US" sz="2400">
              <a:latin typeface="Times New Roman" pitchFamily="18" charset="0"/>
              <a:cs typeface="Times New Roman" pitchFamily="18" charset="0"/>
            </a:endParaRPr>
          </a:p>
          <a:p>
            <a:r>
              <a:rPr lang="en-US" sz="2400">
                <a:latin typeface="Times New Roman" pitchFamily="18" charset="0"/>
                <a:cs typeface="Times New Roman" pitchFamily="18" charset="0"/>
              </a:rPr>
              <a:t>Dacă semnalul care intră în reţeaua de reacţie este un curent proporţional cu intensitatea curentului de ieşire şi semnalul de reacţie este tot un curent care se însumează în antifază cu cel al semnalului pentru a da semnalul de intrare, atunci reacţia este o reacţie negativă de curent. </a:t>
            </a:r>
            <a:endParaRPr lang="ro-MO" sz="2400" smtClean="0">
              <a:latin typeface="Times New Roman" pitchFamily="18" charset="0"/>
              <a:cs typeface="Times New Roman" pitchFamily="18" charset="0"/>
            </a:endParaRPr>
          </a:p>
          <a:p>
            <a:r>
              <a:rPr lang="en-US" sz="2400" smtClean="0">
                <a:latin typeface="Times New Roman" pitchFamily="18" charset="0"/>
                <a:cs typeface="Times New Roman" pitchFamily="18" charset="0"/>
              </a:rPr>
              <a:t>În </a:t>
            </a:r>
            <a:r>
              <a:rPr lang="en-US" sz="2400">
                <a:latin typeface="Times New Roman" pitchFamily="18" charset="0"/>
                <a:cs typeface="Times New Roman" pitchFamily="18" charset="0"/>
              </a:rPr>
              <a:t>acest caz, amplificatorul trebuie să fie un amplificator de curent. </a:t>
            </a:r>
            <a:endParaRPr lang="ro-MO" sz="2400" smtClean="0">
              <a:latin typeface="Times New Roman" pitchFamily="18" charset="0"/>
              <a:cs typeface="Times New Roman" pitchFamily="18" charset="0"/>
            </a:endParaRPr>
          </a:p>
          <a:p>
            <a:r>
              <a:rPr lang="en-US" sz="2400" smtClean="0">
                <a:latin typeface="Times New Roman" pitchFamily="18" charset="0"/>
                <a:cs typeface="Times New Roman" pitchFamily="18" charset="0"/>
              </a:rPr>
              <a:t>Reprezentat </a:t>
            </a:r>
            <a:r>
              <a:rPr lang="en-US" sz="2400">
                <a:latin typeface="Times New Roman" pitchFamily="18" charset="0"/>
                <a:cs typeface="Times New Roman" pitchFamily="18" charset="0"/>
              </a:rPr>
              <a:t>ca un cuadrupol, el trebuie să aibă o impedanţă de intrare cât mai mică faţă de cea a sursei de semnal şi o impedanţă de ieşire cât mai mare pentru a se comporta faţă de sarcină ca o sursă de curent cât mai apropiată de idealitate</a:t>
            </a:r>
            <a:r>
              <a:rPr lang="en-US" sz="2400" smtClean="0">
                <a:latin typeface="Times New Roman" pitchFamily="18" charset="0"/>
                <a:cs typeface="Times New Roman" pitchFamily="18" charset="0"/>
              </a:rPr>
              <a:t>.</a:t>
            </a:r>
            <a:endParaRPr lang="ro-MO" sz="2400" smtClean="0">
              <a:latin typeface="Times New Roman" pitchFamily="18" charset="0"/>
              <a:cs typeface="Times New Roman" pitchFamily="18" charset="0"/>
            </a:endParaRPr>
          </a:p>
          <a:p>
            <a:r>
              <a:rPr lang="en-US" sz="2400">
                <a:latin typeface="Times New Roman" pitchFamily="18" charset="0"/>
                <a:cs typeface="Times New Roman" pitchFamily="18" charset="0"/>
              </a:rPr>
              <a:t>Pentru ca amplificatorul să lucreze în condiţii optime este necesar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1</a:t>
            </a:r>
            <a:r>
              <a:rPr lang="ru-RU" sz="2400" baseline="-25000">
                <a:latin typeface="Times New Roman" pitchFamily="18" charset="0"/>
                <a:cs typeface="Times New Roman" pitchFamily="18" charset="0"/>
              </a:rPr>
              <a:t>β</a:t>
            </a:r>
            <a:r>
              <a:rPr lang="ru-RU" sz="2400">
                <a:latin typeface="Times New Roman" pitchFamily="18" charset="0"/>
                <a:cs typeface="Times New Roman" pitchFamily="18" charset="0"/>
              </a:rPr>
              <a:t> </a:t>
            </a:r>
            <a:r>
              <a:rPr lang="en-US" sz="2400">
                <a:latin typeface="Times New Roman" pitchFamily="18" charset="0"/>
                <a:cs typeface="Times New Roman" pitchFamily="18" charset="0"/>
              </a:rPr>
              <a:t>&lt;&lt;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sarc</a:t>
            </a:r>
            <a:r>
              <a:rPr lang="en-US" sz="2400" i="1">
                <a:latin typeface="Times New Roman" pitchFamily="18" charset="0"/>
                <a:cs typeface="Times New Roman" pitchFamily="18" charset="0"/>
              </a:rPr>
              <a:t> </a:t>
            </a:r>
            <a:r>
              <a:rPr lang="en-US" sz="2400">
                <a:latin typeface="Times New Roman" pitchFamily="18" charset="0"/>
                <a:cs typeface="Times New Roman" pitchFamily="18" charset="0"/>
              </a:rPr>
              <a:t>şi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2</a:t>
            </a:r>
            <a:r>
              <a:rPr lang="ru-RU" sz="2400" baseline="-25000">
                <a:latin typeface="Times New Roman" pitchFamily="18" charset="0"/>
                <a:cs typeface="Times New Roman" pitchFamily="18" charset="0"/>
              </a:rPr>
              <a:t>β</a:t>
            </a:r>
            <a:r>
              <a:rPr lang="ru-RU" sz="2400">
                <a:latin typeface="Times New Roman" pitchFamily="18" charset="0"/>
                <a:cs typeface="Times New Roman" pitchFamily="18" charset="0"/>
              </a:rPr>
              <a:t> </a:t>
            </a:r>
            <a:r>
              <a:rPr lang="en-US" sz="2400">
                <a:latin typeface="Times New Roman" pitchFamily="18" charset="0"/>
                <a:cs typeface="Times New Roman" pitchFamily="18" charset="0"/>
              </a:rPr>
              <a:t>&gt;&gt;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in</a:t>
            </a:r>
            <a:r>
              <a:rPr lang="en-US" sz="2400">
                <a:latin typeface="Times New Roman" pitchFamily="18" charset="0"/>
                <a:cs typeface="Times New Roman" pitchFamily="18" charset="0"/>
              </a:rPr>
              <a:t>. </a:t>
            </a:r>
            <a:endParaRPr lang="ro-MO" sz="2400" smtClean="0">
              <a:latin typeface="Times New Roman" pitchFamily="18" charset="0"/>
              <a:cs typeface="Times New Roman" pitchFamily="18" charset="0"/>
            </a:endParaRPr>
          </a:p>
          <a:p>
            <a:r>
              <a:rPr lang="en-US" sz="2400" smtClean="0">
                <a:latin typeface="Times New Roman" pitchFamily="18" charset="0"/>
                <a:cs typeface="Times New Roman" pitchFamily="18" charset="0"/>
              </a:rPr>
              <a:t>De </a:t>
            </a:r>
            <a:r>
              <a:rPr lang="en-US" sz="2400">
                <a:latin typeface="Times New Roman" pitchFamily="18" charset="0"/>
                <a:cs typeface="Times New Roman" pitchFamily="18" charset="0"/>
              </a:rPr>
              <a:t>asemenea, este necesar ca sursa de semnal şi amplificatorul să se apropie cât mai mult de nişte surse ideale de curent în raport cu intrarea amplificatorului, respectiv cu impedanţa de sarcină, adică: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s</a:t>
            </a:r>
            <a:r>
              <a:rPr lang="en-US" sz="2400" i="1">
                <a:latin typeface="Times New Roman" pitchFamily="18" charset="0"/>
                <a:cs typeface="Times New Roman" pitchFamily="18" charset="0"/>
              </a:rPr>
              <a:t> </a:t>
            </a:r>
            <a:r>
              <a:rPr lang="en-US" sz="2400">
                <a:latin typeface="Times New Roman" pitchFamily="18" charset="0"/>
                <a:cs typeface="Times New Roman" pitchFamily="18" charset="0"/>
              </a:rPr>
              <a:t>&gt;&gt;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in</a:t>
            </a:r>
            <a:r>
              <a:rPr lang="en-US" sz="2400" i="1">
                <a:latin typeface="Times New Roman" pitchFamily="18" charset="0"/>
                <a:cs typeface="Times New Roman" pitchFamily="18" charset="0"/>
              </a:rPr>
              <a:t> </a:t>
            </a:r>
            <a:r>
              <a:rPr lang="en-US" sz="2400">
                <a:latin typeface="Times New Roman" pitchFamily="18" charset="0"/>
                <a:cs typeface="Times New Roman" pitchFamily="18" charset="0"/>
              </a:rPr>
              <a:t>şi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ies</a:t>
            </a:r>
            <a:r>
              <a:rPr lang="en-US" sz="2400" i="1">
                <a:latin typeface="Times New Roman" pitchFamily="18" charset="0"/>
                <a:cs typeface="Times New Roman" pitchFamily="18" charset="0"/>
              </a:rPr>
              <a:t> </a:t>
            </a:r>
            <a:r>
              <a:rPr lang="en-US" sz="2400">
                <a:latin typeface="Times New Roman" pitchFamily="18" charset="0"/>
                <a:cs typeface="Times New Roman" pitchFamily="18" charset="0"/>
              </a:rPr>
              <a:t>&gt;&gt; </a:t>
            </a:r>
            <a:r>
              <a:rPr lang="en-US" sz="2400" i="1">
                <a:latin typeface="Times New Roman" pitchFamily="18" charset="0"/>
                <a:cs typeface="Times New Roman" pitchFamily="18" charset="0"/>
              </a:rPr>
              <a:t>Z</a:t>
            </a:r>
            <a:r>
              <a:rPr lang="en-US" sz="2400" i="1" baseline="-25000">
                <a:latin typeface="Times New Roman" pitchFamily="18" charset="0"/>
                <a:cs typeface="Times New Roman" pitchFamily="18" charset="0"/>
              </a:rPr>
              <a:t>sarc</a:t>
            </a:r>
            <a:r>
              <a:rPr lang="en-US" sz="2400">
                <a:latin typeface="Times New Roman" pitchFamily="18" charset="0"/>
                <a:cs typeface="Times New Roman" pitchFamily="18" charset="0"/>
              </a:rPr>
              <a:t>.</a:t>
            </a:r>
          </a:p>
          <a:p>
            <a:endParaRPr lang="en-US"/>
          </a:p>
        </p:txBody>
      </p:sp>
    </p:spTree>
    <p:extLst>
      <p:ext uri="{BB962C8B-B14F-4D97-AF65-F5344CB8AC3E}">
        <p14:creationId xmlns:p14="http://schemas.microsoft.com/office/powerpoint/2010/main" val="1952764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2630" y="0"/>
            <a:ext cx="9161804" cy="6273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Прямоугольник 1"/>
          <p:cNvSpPr/>
          <p:nvPr/>
        </p:nvSpPr>
        <p:spPr>
          <a:xfrm>
            <a:off x="3795067" y="6287314"/>
            <a:ext cx="6003375" cy="369332"/>
          </a:xfrm>
          <a:prstGeom prst="rect">
            <a:avLst/>
          </a:prstGeom>
        </p:spPr>
        <p:txBody>
          <a:bodyPr wrap="none">
            <a:spAutoFit/>
          </a:bodyPr>
          <a:lstStyle/>
          <a:p>
            <a:r>
              <a:rPr lang="en-US"/>
              <a:t>Schema bloc a unui amplificator cu reacţie negativă de curent </a:t>
            </a:r>
          </a:p>
        </p:txBody>
      </p:sp>
    </p:spTree>
    <p:extLst>
      <p:ext uri="{BB962C8B-B14F-4D97-AF65-F5344CB8AC3E}">
        <p14:creationId xmlns:p14="http://schemas.microsoft.com/office/powerpoint/2010/main" val="1668832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28187" y="85458"/>
            <a:ext cx="11972658" cy="6640082"/>
          </a:xfrm>
        </p:spPr>
        <p:txBody>
          <a:bodyPr>
            <a:normAutofit/>
          </a:bodyPr>
          <a:lstStyle/>
          <a:p>
            <a:pPr marL="0" indent="0">
              <a:buNone/>
            </a:pPr>
            <a:r>
              <a:rPr lang="en-US" sz="2400">
                <a:latin typeface="Times New Roman" pitchFamily="18" charset="0"/>
                <a:cs typeface="Times New Roman" pitchFamily="18" charset="0"/>
              </a:rPr>
              <a:t>expresia impedanţei de intrare a amplificatorului cu reacţie negativă de curent va fi:</a:t>
            </a:r>
          </a:p>
          <a:p>
            <a:endParaRPr lang="en-US" dirty="0" smtClean="0"/>
          </a:p>
          <a:p>
            <a:endParaRPr lang="en-US" dirty="0"/>
          </a:p>
          <a:p>
            <a:endParaRPr lang="ro-MO" smtClean="0">
              <a:latin typeface="Times New Roman" pitchFamily="18" charset="0"/>
              <a:cs typeface="Times New Roman" pitchFamily="18" charset="0"/>
            </a:endParaRPr>
          </a:p>
          <a:p>
            <a:r>
              <a:rPr lang="en-US" sz="2400" smtClean="0">
                <a:latin typeface="Times New Roman" pitchFamily="18" charset="0"/>
                <a:cs typeface="Times New Roman" pitchFamily="18" charset="0"/>
              </a:rPr>
              <a:t>Dar                                    </a:t>
            </a:r>
            <a:r>
              <a:rPr lang="ro-MO" sz="2400">
                <a:latin typeface="Times New Roman" pitchFamily="18" charset="0"/>
                <a:cs typeface="Times New Roman" pitchFamily="18" charset="0"/>
              </a:rPr>
              <a:t>ș</a:t>
            </a:r>
            <a:r>
              <a:rPr lang="en-US" sz="2400">
                <a:latin typeface="Times New Roman" pitchFamily="18" charset="0"/>
                <a:cs typeface="Times New Roman" pitchFamily="18" charset="0"/>
              </a:rPr>
              <a:t>i                                              astfel</a:t>
            </a:r>
            <a:r>
              <a:rPr lang="ro-MO" sz="2400">
                <a:latin typeface="Times New Roman" pitchFamily="18" charset="0"/>
                <a:cs typeface="Times New Roman" pitchFamily="18" charset="0"/>
              </a:rPr>
              <a:t>     </a:t>
            </a:r>
            <a:endParaRPr lang="en-US" sz="2400">
              <a:latin typeface="Times New Roman" pitchFamily="18" charset="0"/>
              <a:cs typeface="Times New Roman" pitchFamily="18" charset="0"/>
            </a:endParaRPr>
          </a:p>
          <a:p>
            <a:endParaRPr lang="en-US" dirty="0" smtClean="0"/>
          </a:p>
          <a:p>
            <a:pPr marL="0" indent="0">
              <a:buNone/>
            </a:pPr>
            <a:r>
              <a:rPr lang="en-US" sz="2400">
                <a:latin typeface="Times New Roman" pitchFamily="18" charset="0"/>
                <a:cs typeface="Times New Roman" pitchFamily="18" charset="0"/>
              </a:rPr>
              <a:t/>
            </a:r>
            <a:br>
              <a:rPr lang="en-US" sz="2400">
                <a:latin typeface="Times New Roman" pitchFamily="18" charset="0"/>
                <a:cs typeface="Times New Roman" pitchFamily="18" charset="0"/>
              </a:rPr>
            </a:br>
            <a:r>
              <a:rPr lang="en-US" sz="2400">
                <a:latin typeface="Times New Roman" pitchFamily="18" charset="0"/>
                <a:cs typeface="Times New Roman" pitchFamily="18" charset="0"/>
              </a:rPr>
              <a:t>Impedanţa de ieşire </a:t>
            </a:r>
            <a:r>
              <a:rPr lang="ro-MO" sz="2400" smtClean="0">
                <a:latin typeface="Times New Roman" pitchFamily="18" charset="0"/>
                <a:cs typeface="Times New Roman" pitchFamily="18" charset="0"/>
              </a:rPr>
              <a:t>se calculează după </a:t>
            </a:r>
            <a:r>
              <a:rPr lang="en-US" sz="2400" smtClean="0">
                <a:latin typeface="Times New Roman" pitchFamily="18" charset="0"/>
                <a:cs typeface="Times New Roman" pitchFamily="18" charset="0"/>
              </a:rPr>
              <a:t>relaţia</a:t>
            </a:r>
            <a:endParaRPr lang="en-US" sz="2400" dirty="0">
              <a:latin typeface="Times New Roman" pitchFamily="18" charset="0"/>
              <a:cs typeface="Times New Roman" pitchFamily="18" charset="0"/>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7563" y="540522"/>
            <a:ext cx="4754266" cy="1328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4985" y="1779661"/>
            <a:ext cx="1509490" cy="962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275" y="1779662"/>
            <a:ext cx="1344598" cy="92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2602" y="1779661"/>
            <a:ext cx="2365163" cy="1195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3227" y="3097628"/>
            <a:ext cx="2619375"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944073" y="767742"/>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30</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2831462" y="2042307"/>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31</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284765" y="1998536"/>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32</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1275509" y="2177300"/>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33</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8857049" y="3502410"/>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34</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5117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02549" y="136733"/>
            <a:ext cx="12006841" cy="6537532"/>
          </a:xfrm>
        </p:spPr>
        <p:txBody>
          <a:bodyPr/>
          <a:lstStyle/>
          <a:p>
            <a:pPr marL="0" indent="0">
              <a:buNone/>
            </a:pPr>
            <a:r>
              <a:rPr lang="en-US" sz="2400">
                <a:latin typeface="Times New Roman" pitchFamily="18" charset="0"/>
                <a:cs typeface="Times New Roman" pitchFamily="18" charset="0"/>
              </a:rPr>
              <a:t>Pe Schema bloc a unui amplificator cu reacţie negativă de curent </a:t>
            </a:r>
            <a:r>
              <a:rPr lang="en-US" sz="2400" smtClean="0">
                <a:latin typeface="Times New Roman" pitchFamily="18" charset="0"/>
                <a:cs typeface="Times New Roman" pitchFamily="18" charset="0"/>
              </a:rPr>
              <a:t>se </a:t>
            </a:r>
            <a:r>
              <a:rPr lang="en-US" sz="2400" dirty="0" err="1">
                <a:latin typeface="Times New Roman" pitchFamily="18" charset="0"/>
                <a:cs typeface="Times New Roman" pitchFamily="18" charset="0"/>
              </a:rPr>
              <a:t>poate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observa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în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condiţii</a:t>
            </a:r>
            <a:r>
              <a:rPr lang="en-US" sz="2400" dirty="0">
                <a:latin typeface="Times New Roman" pitchFamily="18" charset="0"/>
                <a:cs typeface="Times New Roman" pitchFamily="18" charset="0"/>
              </a:rPr>
              <a:t> de </a:t>
            </a:r>
            <a:r>
              <a:rPr lang="en-US" sz="2400" dirty="0" err="1">
                <a:latin typeface="Times New Roman" pitchFamily="18" charset="0"/>
                <a:cs typeface="Times New Roman" pitchFamily="18" charset="0"/>
              </a:rPr>
              <a:t>mers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în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gol</a:t>
            </a:r>
            <a:r>
              <a:rPr lang="en-US" sz="2400" dirty="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Z</a:t>
            </a:r>
            <a:r>
              <a:rPr lang="en-US" sz="2400" i="1" baseline="-25000" dirty="0" err="1" smtClean="0">
                <a:latin typeface="Times New Roman" pitchFamily="18" charset="0"/>
                <a:cs typeface="Times New Roman" pitchFamily="18" charset="0"/>
              </a:rPr>
              <a:t>sarc</a:t>
            </a:r>
            <a:r>
              <a:rPr lang="en-US" sz="2400" i="1"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 ) </a:t>
            </a:r>
            <a:r>
              <a:rPr lang="en-US" sz="2400" dirty="0" err="1">
                <a:latin typeface="Times New Roman" pitchFamily="18" charset="0"/>
                <a:cs typeface="Times New Roman" pitchFamily="18" charset="0"/>
              </a:rPr>
              <a:t>prin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impedanţa</a:t>
            </a:r>
            <a:r>
              <a:rPr lang="en-US" sz="2400" dirty="0">
                <a:latin typeface="Times New Roman" pitchFamily="18" charset="0"/>
                <a:cs typeface="Times New Roman" pitchFamily="18" charset="0"/>
              </a:rPr>
              <a:t> de </a:t>
            </a:r>
            <a:r>
              <a:rPr lang="en-US" sz="2400" dirty="0" err="1">
                <a:latin typeface="Times New Roman" pitchFamily="18" charset="0"/>
                <a:cs typeface="Times New Roman" pitchFamily="18" charset="0"/>
              </a:rPr>
              <a:t>intrare</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Z</a:t>
            </a:r>
            <a:r>
              <a:rPr lang="en-US" sz="2400" i="1" baseline="-25000" dirty="0">
                <a:latin typeface="Times New Roman" pitchFamily="18" charset="0"/>
                <a:cs typeface="Times New Roman" pitchFamily="18" charset="0"/>
              </a:rPr>
              <a:t>1</a:t>
            </a:r>
            <a:r>
              <a:rPr lang="ru-RU" sz="2400" baseline="-25000" dirty="0">
                <a:latin typeface="Times New Roman" pitchFamily="18" charset="0"/>
                <a:cs typeface="Times New Roman" pitchFamily="18" charset="0"/>
              </a:rPr>
              <a:t>β</a:t>
            </a:r>
            <a:r>
              <a:rPr lang="ru-RU" sz="2400" dirty="0">
                <a:latin typeface="Times New Roman" pitchFamily="18" charset="0"/>
                <a:cs typeface="Times New Roman" pitchFamily="18" charset="0"/>
              </a:rPr>
              <a:t> </a:t>
            </a:r>
            <a:r>
              <a:rPr lang="en-US" sz="2400" dirty="0">
                <a:latin typeface="Times New Roman" pitchFamily="18" charset="0"/>
                <a:cs typeface="Times New Roman" pitchFamily="18" charset="0"/>
              </a:rPr>
              <a:t>a </a:t>
            </a:r>
            <a:r>
              <a:rPr lang="en-US" sz="2400" dirty="0" err="1">
                <a:latin typeface="Times New Roman" pitchFamily="18" charset="0"/>
                <a:cs typeface="Times New Roman" pitchFamily="18" charset="0"/>
              </a:rPr>
              <a:t>reţelei</a:t>
            </a:r>
            <a:r>
              <a:rPr lang="en-US" sz="2400" dirty="0">
                <a:latin typeface="Times New Roman" pitchFamily="18" charset="0"/>
                <a:cs typeface="Times New Roman" pitchFamily="18" charset="0"/>
              </a:rPr>
              <a:t> de </a:t>
            </a:r>
            <a:r>
              <a:rPr lang="en-US" sz="2400" dirty="0" err="1">
                <a:latin typeface="Times New Roman" pitchFamily="18" charset="0"/>
                <a:cs typeface="Times New Roman" pitchFamily="18" charset="0"/>
              </a:rPr>
              <a:t>reacţie</a:t>
            </a:r>
            <a:r>
              <a:rPr lang="en-US" sz="2400" dirty="0">
                <a:latin typeface="Times New Roman" pitchFamily="18" charset="0"/>
                <a:cs typeface="Times New Roman" pitchFamily="18" charset="0"/>
              </a:rPr>
              <a:t> nu </a:t>
            </a:r>
            <a:r>
              <a:rPr lang="en-US" sz="2400" dirty="0" err="1">
                <a:latin typeface="Times New Roman" pitchFamily="18" charset="0"/>
                <a:cs typeface="Times New Roman" pitchFamily="18" charset="0"/>
              </a:rPr>
              <a:t>circulă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curent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deci</a:t>
            </a:r>
            <a:r>
              <a:rPr lang="en-US" sz="2400" dirty="0">
                <a:latin typeface="Times New Roman" pitchFamily="18" charset="0"/>
                <a:cs typeface="Times New Roman" pitchFamily="18" charset="0"/>
              </a:rPr>
              <a:t> nu </a:t>
            </a:r>
            <a:r>
              <a:rPr lang="en-US" sz="2400" dirty="0" err="1">
                <a:latin typeface="Times New Roman" pitchFamily="18" charset="0"/>
                <a:cs typeface="Times New Roman" pitchFamily="18" charset="0"/>
              </a:rPr>
              <a:t>există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reacţie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negativă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În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această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situaţie</a:t>
            </a:r>
            <a:r>
              <a:rPr lang="en-US" sz="2400" dirty="0">
                <a:latin typeface="Times New Roman" pitchFamily="18" charset="0"/>
                <a:cs typeface="Times New Roman" pitchFamily="18" charset="0"/>
              </a:rPr>
              <a:t> </a:t>
            </a:r>
            <a:r>
              <a:rPr lang="en-US" sz="2400" i="1" dirty="0" err="1">
                <a:latin typeface="Times New Roman" pitchFamily="18" charset="0"/>
                <a:cs typeface="Times New Roman" pitchFamily="18" charset="0"/>
              </a:rPr>
              <a:t>i</a:t>
            </a:r>
            <a:r>
              <a:rPr lang="en-US" sz="2400" i="1" baseline="-25000" dirty="0" err="1">
                <a:latin typeface="Times New Roman" pitchFamily="18" charset="0"/>
                <a:cs typeface="Times New Roman" pitchFamily="18" charset="0"/>
              </a:rPr>
              <a:t>in</a:t>
            </a:r>
            <a:r>
              <a:rPr lang="en-US" sz="2400" i="1" dirty="0">
                <a:latin typeface="Times New Roman" pitchFamily="18" charset="0"/>
                <a:cs typeface="Times New Roman" pitchFamily="18" charset="0"/>
              </a:rPr>
              <a:t> = i</a:t>
            </a:r>
            <a:r>
              <a:rPr lang="en-US" sz="2400" i="1" baseline="-25000" dirty="0">
                <a:latin typeface="Times New Roman" pitchFamily="18" charset="0"/>
                <a:cs typeface="Times New Roman" pitchFamily="18" charset="0"/>
              </a:rPr>
              <a:t>s</a:t>
            </a:r>
            <a:r>
              <a:rPr lang="en-US" sz="2400" i="1" dirty="0">
                <a:latin typeface="Times New Roman" pitchFamily="18" charset="0"/>
                <a:cs typeface="Times New Roman" pitchFamily="18" charset="0"/>
              </a:rPr>
              <a:t> </a:t>
            </a:r>
            <a:r>
              <a:rPr lang="en-US" sz="2400" dirty="0" err="1">
                <a:latin typeface="Times New Roman" pitchFamily="18" charset="0"/>
                <a:cs typeface="Times New Roman" pitchFamily="18" charset="0"/>
              </a:rPr>
              <a:t>şi</a:t>
            </a:r>
            <a:r>
              <a:rPr lang="en-US" sz="2400" dirty="0" smtClean="0">
                <a:latin typeface="Times New Roman" pitchFamily="18" charset="0"/>
                <a:cs typeface="Times New Roman" pitchFamily="18" charset="0"/>
              </a:rPr>
              <a:t>:</a:t>
            </a:r>
          </a:p>
          <a:p>
            <a:endParaRPr lang="ro-MO" smtClean="0"/>
          </a:p>
          <a:p>
            <a:endParaRPr lang="en-US" dirty="0"/>
          </a:p>
          <a:p>
            <a:pPr marL="0" indent="0">
              <a:buNone/>
            </a:pPr>
            <a:r>
              <a:rPr lang="en-US" sz="2400" smtClean="0">
                <a:latin typeface="Times New Roman" pitchFamily="18" charset="0"/>
                <a:cs typeface="Times New Roman" pitchFamily="18" charset="0"/>
              </a:rPr>
              <a:t>Dacă </a:t>
            </a:r>
            <a:r>
              <a:rPr lang="en-US" sz="2400" dirty="0" err="1">
                <a:latin typeface="Times New Roman" pitchFamily="18" charset="0"/>
                <a:cs typeface="Times New Roman" pitchFamily="18" charset="0"/>
              </a:rPr>
              <a:t>ieşirea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amplificatorului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este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scurcircuitată</a:t>
            </a:r>
            <a:r>
              <a:rPr lang="en-US" sz="2400" dirty="0">
                <a:latin typeface="Times New Roman" pitchFamily="18" charset="0"/>
                <a:cs typeface="Times New Roman" pitchFamily="18" charset="0"/>
              </a:rPr>
              <a:t> (</a:t>
            </a:r>
            <a:r>
              <a:rPr lang="en-US" sz="2400" i="1" dirty="0" err="1">
                <a:latin typeface="Times New Roman" pitchFamily="18" charset="0"/>
                <a:cs typeface="Times New Roman" pitchFamily="18" charset="0"/>
              </a:rPr>
              <a:t>Z</a:t>
            </a:r>
            <a:r>
              <a:rPr lang="en-US" sz="2400" i="1" baseline="-25000" dirty="0" err="1">
                <a:latin typeface="Times New Roman" pitchFamily="18" charset="0"/>
                <a:cs typeface="Times New Roman" pitchFamily="18" charset="0"/>
              </a:rPr>
              <a:t>sarc</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 0), </a:t>
            </a:r>
            <a:r>
              <a:rPr lang="en-US" sz="2400" dirty="0" err="1">
                <a:latin typeface="Times New Roman" pitchFamily="18" charset="0"/>
                <a:cs typeface="Times New Roman" pitchFamily="18" charset="0"/>
              </a:rPr>
              <a:t>atunci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impedanţa</a:t>
            </a:r>
            <a:r>
              <a:rPr lang="en-US" sz="2400" dirty="0">
                <a:latin typeface="Times New Roman" pitchFamily="18" charset="0"/>
                <a:cs typeface="Times New Roman" pitchFamily="18" charset="0"/>
              </a:rPr>
              <a:t> de </a:t>
            </a:r>
            <a:r>
              <a:rPr lang="en-US" sz="2400" dirty="0" err="1">
                <a:latin typeface="Times New Roman" pitchFamily="18" charset="0"/>
                <a:cs typeface="Times New Roman" pitchFamily="18" charset="0"/>
              </a:rPr>
              <a:t>intrare</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Z</a:t>
            </a:r>
            <a:r>
              <a:rPr lang="en-US" sz="2400" i="1" baseline="-25000" dirty="0">
                <a:latin typeface="Times New Roman" pitchFamily="18" charset="0"/>
                <a:cs typeface="Times New Roman" pitchFamily="18" charset="0"/>
              </a:rPr>
              <a:t>1</a:t>
            </a:r>
            <a:r>
              <a:rPr lang="ru-RU" sz="2400" baseline="-25000" dirty="0">
                <a:latin typeface="Times New Roman" pitchFamily="18" charset="0"/>
                <a:cs typeface="Times New Roman" pitchFamily="18" charset="0"/>
              </a:rPr>
              <a:t>β</a:t>
            </a:r>
            <a:r>
              <a:rPr lang="ru-RU" sz="2400" dirty="0">
                <a:latin typeface="Times New Roman" pitchFamily="18" charset="0"/>
                <a:cs typeface="Times New Roman" pitchFamily="18" charset="0"/>
              </a:rPr>
              <a:t> </a:t>
            </a:r>
            <a:r>
              <a:rPr lang="en-US" sz="2400" dirty="0">
                <a:latin typeface="Times New Roman" pitchFamily="18" charset="0"/>
                <a:cs typeface="Times New Roman" pitchFamily="18" charset="0"/>
              </a:rPr>
              <a:t>a </a:t>
            </a:r>
            <a:r>
              <a:rPr lang="en-US" sz="2400" dirty="0" err="1">
                <a:latin typeface="Times New Roman" pitchFamily="18" charset="0"/>
                <a:cs typeface="Times New Roman" pitchFamily="18" charset="0"/>
              </a:rPr>
              <a:t>reţelei</a:t>
            </a:r>
            <a:r>
              <a:rPr lang="en-US" sz="2400" dirty="0">
                <a:latin typeface="Times New Roman" pitchFamily="18" charset="0"/>
                <a:cs typeface="Times New Roman" pitchFamily="18" charset="0"/>
              </a:rPr>
              <a:t> de </a:t>
            </a:r>
            <a:r>
              <a:rPr lang="en-US" sz="2400" dirty="0" err="1">
                <a:latin typeface="Times New Roman" pitchFamily="18" charset="0"/>
                <a:cs typeface="Times New Roman" pitchFamily="18" charset="0"/>
              </a:rPr>
              <a:t>reacţie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circulă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curent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şi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reacţia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negativă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este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prezentă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Atunci</a:t>
            </a:r>
            <a:r>
              <a:rPr lang="en-US" sz="2400" dirty="0">
                <a:latin typeface="Times New Roman" pitchFamily="18" charset="0"/>
                <a:cs typeface="Times New Roman" pitchFamily="18" charset="0"/>
              </a:rPr>
              <a:t>:</a:t>
            </a:r>
          </a:p>
          <a:p>
            <a:endParaRPr lang="en-US" dirty="0"/>
          </a:p>
          <a:p>
            <a:endParaRPr lang="ro-MO" smtClean="0"/>
          </a:p>
          <a:p>
            <a:pPr marL="0" indent="0">
              <a:buNone/>
            </a:pPr>
            <a:r>
              <a:rPr lang="en-US" sz="2400" smtClean="0">
                <a:latin typeface="Times New Roman" pitchFamily="18" charset="0"/>
                <a:cs typeface="Times New Roman" pitchFamily="18" charset="0"/>
              </a:rPr>
              <a:t>Din </a:t>
            </a:r>
            <a:r>
              <a:rPr lang="en-US" sz="2400">
                <a:latin typeface="Times New Roman" pitchFamily="18" charset="0"/>
                <a:cs typeface="Times New Roman" pitchFamily="18" charset="0"/>
              </a:rPr>
              <a:t>relaţia de definire a impedanţei de ieşire </a:t>
            </a:r>
            <a:r>
              <a:rPr lang="en-US" sz="2400" smtClean="0">
                <a:latin typeface="Times New Roman" pitchFamily="18" charset="0"/>
                <a:cs typeface="Times New Roman" pitchFamily="18" charset="0"/>
              </a:rPr>
              <a:t>(</a:t>
            </a:r>
            <a:r>
              <a:rPr lang="ro-MO" sz="2400" smtClean="0">
                <a:latin typeface="Times New Roman" pitchFamily="18" charset="0"/>
                <a:cs typeface="Times New Roman" pitchFamily="18" charset="0"/>
              </a:rPr>
              <a:t>26</a:t>
            </a:r>
            <a:r>
              <a:rPr lang="en-US" sz="2400" smtClean="0">
                <a:latin typeface="Times New Roman" pitchFamily="18" charset="0"/>
                <a:cs typeface="Times New Roman" pitchFamily="18" charset="0"/>
              </a:rPr>
              <a:t>) </a:t>
            </a:r>
            <a:endParaRPr lang="ro-MO" sz="2400" smtClean="0">
              <a:latin typeface="Times New Roman" pitchFamily="18" charset="0"/>
              <a:cs typeface="Times New Roman" pitchFamily="18" charset="0"/>
            </a:endParaRPr>
          </a:p>
          <a:p>
            <a:pPr marL="0" indent="0">
              <a:buNone/>
            </a:pPr>
            <a:endParaRPr lang="ro-MO" sz="2400">
              <a:latin typeface="Times New Roman" pitchFamily="18" charset="0"/>
              <a:cs typeface="Times New Roman" pitchFamily="18" charset="0"/>
            </a:endParaRPr>
          </a:p>
          <a:p>
            <a:pPr marL="0" indent="0">
              <a:buNone/>
            </a:pPr>
            <a:endParaRPr lang="ro-MO" sz="2400" smtClean="0">
              <a:latin typeface="Times New Roman" pitchFamily="18" charset="0"/>
              <a:cs typeface="Times New Roman" pitchFamily="18" charset="0"/>
            </a:endParaRPr>
          </a:p>
          <a:p>
            <a:pPr marL="0" indent="0">
              <a:buNone/>
            </a:pPr>
            <a:r>
              <a:rPr lang="en-US" sz="2400" smtClean="0">
                <a:latin typeface="Times New Roman" pitchFamily="18" charset="0"/>
                <a:cs typeface="Times New Roman" pitchFamily="18" charset="0"/>
              </a:rPr>
              <a:t>şi </a:t>
            </a:r>
            <a:r>
              <a:rPr lang="en-US" sz="2400">
                <a:latin typeface="Times New Roman" pitchFamily="18" charset="0"/>
                <a:cs typeface="Times New Roman" pitchFamily="18" charset="0"/>
              </a:rPr>
              <a:t>ultimele două relaţii vom exprima impedanţa de ieşire:</a:t>
            </a:r>
          </a:p>
          <a:p>
            <a:endParaRPr 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9628" y="1355309"/>
            <a:ext cx="29337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8534" y="2924087"/>
            <a:ext cx="3048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7737550" y="1493391"/>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35</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463328" y="3302355"/>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36</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0439" y="4143287"/>
            <a:ext cx="26098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3328" y="5588906"/>
            <a:ext cx="385762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1435698" y="5784138"/>
            <a:ext cx="611065" cy="400110"/>
          </a:xfrm>
          <a:prstGeom prst="rect">
            <a:avLst/>
          </a:prstGeom>
          <a:noFill/>
        </p:spPr>
        <p:txBody>
          <a:bodyPr wrap="none" rtlCol="0">
            <a:spAutoFit/>
          </a:bodyPr>
          <a:lstStyle/>
          <a:p>
            <a:r>
              <a:rPr lang="x-none" sz="2000" b="1" i="1" smtClean="0">
                <a:latin typeface="Times New Roman" panose="02020603050405020304" pitchFamily="18" charset="0"/>
                <a:cs typeface="Times New Roman" panose="02020603050405020304" pitchFamily="18" charset="0"/>
              </a:rPr>
              <a:t>(</a:t>
            </a:r>
            <a:r>
              <a:rPr lang="ro-MO" sz="2000" b="1" i="1" smtClean="0">
                <a:latin typeface="Times New Roman" panose="02020603050405020304" pitchFamily="18" charset="0"/>
                <a:cs typeface="Times New Roman" panose="02020603050405020304" pitchFamily="18" charset="0"/>
              </a:rPr>
              <a:t>37</a:t>
            </a:r>
            <a:r>
              <a:rPr lang="x-none" sz="2000" b="1" i="1" smtClean="0">
                <a:latin typeface="Times New Roman" panose="02020603050405020304" pitchFamily="18" charset="0"/>
                <a:cs typeface="Times New Roman" panose="02020603050405020304" pitchFamily="18" charset="0"/>
              </a:rPr>
              <a:t>)</a:t>
            </a:r>
            <a:endParaRPr lang="ru-RU"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895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9462" y="128187"/>
            <a:ext cx="11870108" cy="6571716"/>
          </a:xfrm>
        </p:spPr>
        <p:txBody>
          <a:bodyPr/>
          <a:lstStyle/>
          <a:p>
            <a:r>
              <a:rPr lang="en-US" smtClean="0">
                <a:latin typeface="Times New Roman" pitchFamily="18" charset="0"/>
                <a:cs typeface="Times New Roman" pitchFamily="18" charset="0"/>
              </a:rPr>
              <a:t>Din </a:t>
            </a:r>
            <a:r>
              <a:rPr lang="en-US" err="1">
                <a:latin typeface="Times New Roman" pitchFamily="18" charset="0"/>
                <a:cs typeface="Times New Roman" pitchFamily="18" charset="0"/>
              </a:rPr>
              <a:t>relaţiile</a:t>
            </a:r>
            <a:r>
              <a:rPr lang="en-US">
                <a:latin typeface="Times New Roman" pitchFamily="18" charset="0"/>
                <a:cs typeface="Times New Roman" pitchFamily="18" charset="0"/>
              </a:rPr>
              <a:t> </a:t>
            </a:r>
            <a:r>
              <a:rPr lang="en-US" smtClean="0">
                <a:latin typeface="Times New Roman" pitchFamily="18" charset="0"/>
                <a:cs typeface="Times New Roman" pitchFamily="18" charset="0"/>
              </a:rPr>
              <a:t>(</a:t>
            </a:r>
            <a:r>
              <a:rPr lang="ro-MO" smtClean="0">
                <a:latin typeface="Times New Roman" pitchFamily="18" charset="0"/>
                <a:cs typeface="Times New Roman" pitchFamily="18" charset="0"/>
              </a:rPr>
              <a:t>33</a:t>
            </a:r>
            <a:r>
              <a:rPr lang="en-US" smtClean="0">
                <a:latin typeface="Times New Roman" pitchFamily="18" charset="0"/>
                <a:cs typeface="Times New Roman" pitchFamily="18" charset="0"/>
              </a:rPr>
              <a:t>) </a:t>
            </a:r>
            <a:r>
              <a:rPr lang="en-US" err="1">
                <a:latin typeface="Times New Roman" pitchFamily="18" charset="0"/>
                <a:cs typeface="Times New Roman" pitchFamily="18" charset="0"/>
              </a:rPr>
              <a:t>şi</a:t>
            </a:r>
            <a:r>
              <a:rPr lang="en-US">
                <a:latin typeface="Times New Roman" pitchFamily="18" charset="0"/>
                <a:cs typeface="Times New Roman" pitchFamily="18" charset="0"/>
              </a:rPr>
              <a:t> </a:t>
            </a:r>
            <a:r>
              <a:rPr lang="en-US" smtClean="0">
                <a:latin typeface="Times New Roman" pitchFamily="18" charset="0"/>
                <a:cs typeface="Times New Roman" pitchFamily="18" charset="0"/>
              </a:rPr>
              <a:t>(</a:t>
            </a:r>
            <a:r>
              <a:rPr lang="ro-MO" smtClean="0">
                <a:latin typeface="Times New Roman" pitchFamily="18" charset="0"/>
                <a:cs typeface="Times New Roman" pitchFamily="18" charset="0"/>
              </a:rPr>
              <a:t>37</a:t>
            </a:r>
            <a:r>
              <a:rPr lang="en-US" smtClean="0">
                <a:latin typeface="Times New Roman" pitchFamily="18" charset="0"/>
                <a:cs typeface="Times New Roman" pitchFamily="18" charset="0"/>
              </a:rPr>
              <a:t>) </a:t>
            </a:r>
            <a:r>
              <a:rPr lang="en-US" dirty="0">
                <a:latin typeface="Times New Roman" pitchFamily="18" charset="0"/>
                <a:cs typeface="Times New Roman" pitchFamily="18" charset="0"/>
              </a:rPr>
              <a:t>se </a:t>
            </a:r>
            <a:r>
              <a:rPr lang="en-US" dirty="0" err="1">
                <a:latin typeface="Times New Roman" pitchFamily="18" charset="0"/>
                <a:cs typeface="Times New Roman" pitchFamily="18" charset="0"/>
              </a:rPr>
              <a:t>poate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observa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intrare</a:t>
            </a:r>
            <a:r>
              <a:rPr lang="en-US" dirty="0">
                <a:latin typeface="Times New Roman" pitchFamily="18" charset="0"/>
                <a:cs typeface="Times New Roman" pitchFamily="18" charset="0"/>
              </a:rPr>
              <a:t> a </a:t>
            </a:r>
            <a:r>
              <a:rPr lang="en-US" dirty="0" err="1">
                <a:latin typeface="Times New Roman" pitchFamily="18" charset="0"/>
                <a:cs typeface="Times New Roman" pitchFamily="18" charset="0"/>
              </a:rPr>
              <a:t>amplificatorului</a:t>
            </a:r>
            <a:r>
              <a:rPr lang="en-US" dirty="0">
                <a:latin typeface="Times New Roman" pitchFamily="18" charset="0"/>
                <a:cs typeface="Times New Roman" pitchFamily="18" charset="0"/>
              </a:rPr>
              <a:t> cu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negativă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tensiune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scade</a:t>
            </a:r>
            <a:r>
              <a:rPr lang="en-US" dirty="0">
                <a:latin typeface="Times New Roman" pitchFamily="18" charset="0"/>
                <a:cs typeface="Times New Roman" pitchFamily="18" charset="0"/>
              </a:rPr>
              <a:t> de (1 + </a:t>
            </a:r>
            <a:r>
              <a:rPr lang="ru-RU" dirty="0">
                <a:latin typeface="Times New Roman" pitchFamily="18" charset="0"/>
                <a:cs typeface="Times New Roman" pitchFamily="18" charset="0"/>
              </a:rPr>
              <a:t>β</a:t>
            </a:r>
            <a:r>
              <a:rPr lang="en-US" i="1" dirty="0">
                <a:latin typeface="Times New Roman" pitchFamily="18" charset="0"/>
                <a:cs typeface="Times New Roman" pitchFamily="18" charset="0"/>
              </a:rPr>
              <a:t>A</a:t>
            </a:r>
            <a:r>
              <a:rPr lang="en-US" i="1" baseline="-25000" dirty="0">
                <a:latin typeface="Times New Roman" pitchFamily="18" charset="0"/>
                <a:cs typeface="Times New Roman" pitchFamily="18" charset="0"/>
              </a:rPr>
              <a:t>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în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timp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lui</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ieşire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creşte</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acelaşi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număr</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ori</a:t>
            </a:r>
            <a:r>
              <a:rPr lang="en-US">
                <a:latin typeface="Times New Roman" pitchFamily="18" charset="0"/>
                <a:cs typeface="Times New Roman" pitchFamily="18" charset="0"/>
              </a:rPr>
              <a:t>. </a:t>
            </a:r>
            <a:endParaRPr lang="ro-MO" smtClean="0">
              <a:latin typeface="Times New Roman" pitchFamily="18" charset="0"/>
              <a:cs typeface="Times New Roman" pitchFamily="18" charset="0"/>
            </a:endParaRPr>
          </a:p>
          <a:p>
            <a:r>
              <a:rPr lang="en-US" smtClean="0">
                <a:latin typeface="Times New Roman" pitchFamily="18" charset="0"/>
                <a:cs typeface="Times New Roman" pitchFamily="18" charset="0"/>
              </a:rPr>
              <a:t>Deci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condiţiile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a:t>
            </a:r>
            <a:r>
              <a:rPr lang="en-US" dirty="0">
                <a:latin typeface="Times New Roman" pitchFamily="18" charset="0"/>
                <a:cs typeface="Times New Roman" pitchFamily="18" charset="0"/>
              </a:rPr>
              <a:t> care </a:t>
            </a:r>
            <a:r>
              <a:rPr lang="en-US" dirty="0" err="1">
                <a:latin typeface="Times New Roman" pitchFamily="18" charset="0"/>
                <a:cs typeface="Times New Roman" pitchFamily="18" charset="0"/>
              </a:rPr>
              <a:t>trebuie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să</a:t>
            </a:r>
            <a:r>
              <a:rPr lang="en-US" dirty="0">
                <a:latin typeface="Times New Roman" pitchFamily="18" charset="0"/>
                <a:cs typeface="Times New Roman" pitchFamily="18" charset="0"/>
              </a:rPr>
              <a:t> le </a:t>
            </a:r>
            <a:r>
              <a:rPr lang="en-US" dirty="0" err="1">
                <a:latin typeface="Times New Roman" pitchFamily="18" charset="0"/>
                <a:cs typeface="Times New Roman" pitchFamily="18" charset="0"/>
              </a:rPr>
              <a:t>îndeplinească</a:t>
            </a:r>
            <a:r>
              <a:rPr lang="en-US" dirty="0">
                <a:latin typeface="Times New Roman" pitchFamily="18" charset="0"/>
                <a:cs typeface="Times New Roman" pitchFamily="18" charset="0"/>
              </a:rPr>
              <a:t> un </a:t>
            </a:r>
            <a:r>
              <a:rPr lang="en-US" dirty="0" err="1">
                <a:latin typeface="Times New Roman" pitchFamily="18" charset="0"/>
                <a:cs typeface="Times New Roman" pitchFamily="18" charset="0"/>
              </a:rPr>
              <a:t>amplificator</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curent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intrare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cât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mai</a:t>
            </a:r>
            <a:r>
              <a:rPr lang="en-US" dirty="0">
                <a:latin typeface="Times New Roman" pitchFamily="18" charset="0"/>
                <a:cs typeface="Times New Roman" pitchFamily="18" charset="0"/>
              </a:rPr>
              <a:t> mare </a:t>
            </a:r>
            <a:r>
              <a:rPr lang="en-US" dirty="0" err="1">
                <a:latin typeface="Times New Roman" pitchFamily="18" charset="0"/>
                <a:cs typeface="Times New Roman" pitchFamily="18" charset="0"/>
              </a:rPr>
              <a:t>şi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impedanţă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ieşire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cât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mică</a:t>
            </a:r>
            <a:r>
              <a:rPr lang="en-US" dirty="0">
                <a:latin typeface="Times New Roman" pitchFamily="18" charset="0"/>
                <a:cs typeface="Times New Roman" pitchFamily="18" charset="0"/>
              </a:rPr>
              <a:t>, se </a:t>
            </a:r>
            <a:r>
              <a:rPr lang="en-US" dirty="0" err="1">
                <a:latin typeface="Times New Roman" pitchFamily="18" charset="0"/>
                <a:cs typeface="Times New Roman" pitchFamily="18" charset="0"/>
              </a:rPr>
              <a:t>îmbunătăţesc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considerabil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dacă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amplificatorului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propriu-zis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se </a:t>
            </a:r>
            <a:r>
              <a:rPr lang="en-US" dirty="0" err="1">
                <a:latin typeface="Times New Roman" pitchFamily="18" charset="0"/>
                <a:cs typeface="Times New Roman" pitchFamily="18" charset="0"/>
              </a:rPr>
              <a:t>adaugă</a:t>
            </a:r>
            <a:r>
              <a:rPr lang="en-US" dirty="0">
                <a:latin typeface="Times New Roman" pitchFamily="18" charset="0"/>
                <a:cs typeface="Times New Roman" pitchFamily="18" charset="0"/>
              </a:rPr>
              <a:t> o </a:t>
            </a:r>
            <a:r>
              <a:rPr lang="en-US" dirty="0" err="1">
                <a:latin typeface="Times New Roman" pitchFamily="18" charset="0"/>
                <a:cs typeface="Times New Roman" pitchFamily="18" charset="0"/>
              </a:rPr>
              <a:t>reţea</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reacţie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negativă</a:t>
            </a:r>
            <a:r>
              <a:rPr lang="en-US" dirty="0">
                <a:latin typeface="Times New Roman" pitchFamily="18" charset="0"/>
                <a:cs typeface="Times New Roman" pitchFamily="18" charset="0"/>
              </a:rPr>
              <a:t> de </a:t>
            </a:r>
            <a:r>
              <a:rPr lang="en-US" dirty="0" err="1">
                <a:latin typeface="Times New Roman" pitchFamily="18" charset="0"/>
                <a:cs typeface="Times New Roman" pitchFamily="18" charset="0"/>
              </a:rPr>
              <a:t>curent</a:t>
            </a:r>
            <a:r>
              <a:rPr lang="en-US"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3808343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8638" y="97706"/>
            <a:ext cx="2534728" cy="756309"/>
          </a:xfrm>
        </p:spPr>
        <p:txBody>
          <a:bodyPr>
            <a:normAutofit/>
          </a:bodyPr>
          <a:lstStyle/>
          <a:p>
            <a:r>
              <a:rPr lang="en-US" sz="3600" b="1" dirty="0" err="1" smtClean="0">
                <a:latin typeface="Times New Roman" panose="02020603050405020304" pitchFamily="18" charset="0"/>
                <a:cs typeface="Times New Roman" panose="02020603050405020304" pitchFamily="18" charset="0"/>
              </a:rPr>
              <a:t>Concluzii</a:t>
            </a:r>
            <a:r>
              <a:rPr lang="en-US" sz="3600" b="1" dirty="0" smtClean="0">
                <a:latin typeface="Times New Roman" panose="02020603050405020304" pitchFamily="18" charset="0"/>
                <a:cs typeface="Times New Roman" panose="02020603050405020304" pitchFamily="18" charset="0"/>
              </a:rPr>
              <a:t>:  </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3516" y="759125"/>
            <a:ext cx="11999343" cy="6021237"/>
          </a:xfrm>
        </p:spPr>
        <p:txBody>
          <a:bodyPr>
            <a:normAutofit/>
          </a:bodyPr>
          <a:lstStyle/>
          <a:p>
            <a:pPr marL="0" indent="0">
              <a:buNone/>
            </a:pPr>
            <a:r>
              <a:rPr lang="vi-VN" sz="2000" smtClean="0">
                <a:latin typeface="Times New Roman" pitchFamily="18" charset="0"/>
                <a:cs typeface="Times New Roman" pitchFamily="18" charset="0"/>
              </a:rPr>
              <a:t>reacția </a:t>
            </a:r>
            <a:r>
              <a:rPr lang="vi-VN" sz="2000">
                <a:latin typeface="Times New Roman" pitchFamily="18" charset="0"/>
                <a:cs typeface="Times New Roman" pitchFamily="18" charset="0"/>
              </a:rPr>
              <a:t>negativă reprezintă o tehnică fundamentală în proiectarea amplificatoarelor electronice, oferind numeroase avantaje și îmbunătățind semnificativ performanțele acestora</a:t>
            </a:r>
            <a:r>
              <a:rPr lang="vi-VN" sz="2000" smtClean="0">
                <a:latin typeface="Times New Roman" pitchFamily="18" charset="0"/>
                <a:cs typeface="Times New Roman" pitchFamily="18" charset="0"/>
              </a:rPr>
              <a:t>.</a:t>
            </a:r>
            <a:endParaRPr lang="ro-MO" sz="2000" smtClean="0">
              <a:latin typeface="Times New Roman" pitchFamily="18" charset="0"/>
              <a:cs typeface="Times New Roman" pitchFamily="18" charset="0"/>
            </a:endParaRPr>
          </a:p>
          <a:p>
            <a:pPr marL="0" indent="0">
              <a:buNone/>
            </a:pPr>
            <a:endParaRPr lang="ro-MO" sz="2000" b="1">
              <a:solidFill>
                <a:srgbClr val="FF0000"/>
              </a:solidFill>
              <a:latin typeface="Times New Roman" pitchFamily="18" charset="0"/>
              <a:cs typeface="Times New Roman" pitchFamily="18" charset="0"/>
            </a:endParaRPr>
          </a:p>
          <a:p>
            <a:pPr marL="0" indent="0">
              <a:buNone/>
            </a:pPr>
            <a:r>
              <a:rPr lang="vi-VN" sz="2000" b="1">
                <a:latin typeface="Times New Roman" pitchFamily="18" charset="0"/>
                <a:cs typeface="Times New Roman" pitchFamily="18" charset="0"/>
              </a:rPr>
              <a:t>Stabilitate crescută:</a:t>
            </a:r>
            <a:r>
              <a:rPr lang="vi-VN" sz="2000">
                <a:latin typeface="Times New Roman" pitchFamily="18" charset="0"/>
                <a:cs typeface="Times New Roman" pitchFamily="18" charset="0"/>
              </a:rPr>
              <a:t> Reacția negativă reduce dependența câștigului de variațiile parametrilor componentelor active, îmbunătățind astfel stabilitatea amplificatorului în timp și în diferite condiții de funcționare. </a:t>
            </a:r>
            <a:endParaRPr lang="ro-MO" sz="2000" smtClean="0">
              <a:latin typeface="Times New Roman" pitchFamily="18" charset="0"/>
              <a:cs typeface="Times New Roman" pitchFamily="18" charset="0"/>
            </a:endParaRPr>
          </a:p>
          <a:p>
            <a:pPr marL="0" indent="0">
              <a:buNone/>
            </a:pPr>
            <a:r>
              <a:rPr lang="vi-VN" sz="2000" b="1" smtClean="0">
                <a:latin typeface="Times New Roman" pitchFamily="18" charset="0"/>
                <a:cs typeface="Times New Roman" pitchFamily="18" charset="0"/>
              </a:rPr>
              <a:t>Lățime </a:t>
            </a:r>
            <a:r>
              <a:rPr lang="vi-VN" sz="2000" b="1">
                <a:latin typeface="Times New Roman" pitchFamily="18" charset="0"/>
                <a:cs typeface="Times New Roman" pitchFamily="18" charset="0"/>
              </a:rPr>
              <a:t>de bandă mărită</a:t>
            </a:r>
            <a:r>
              <a:rPr lang="vi-VN" sz="2000" b="1" smtClean="0">
                <a:latin typeface="Times New Roman" pitchFamily="18" charset="0"/>
                <a:cs typeface="Times New Roman" pitchFamily="18" charset="0"/>
              </a:rPr>
              <a:t>:</a:t>
            </a:r>
            <a:r>
              <a:rPr lang="vi-VN" sz="2000" smtClean="0">
                <a:latin typeface="Times New Roman" pitchFamily="18" charset="0"/>
                <a:cs typeface="Times New Roman" pitchFamily="18" charset="0"/>
              </a:rPr>
              <a:t> </a:t>
            </a:r>
            <a:r>
              <a:rPr lang="vi-VN" sz="2000">
                <a:latin typeface="Times New Roman" pitchFamily="18" charset="0"/>
                <a:cs typeface="Times New Roman" pitchFamily="18" charset="0"/>
              </a:rPr>
              <a:t>reacția negativă poate duce la o creștere a lățimii de bandă a amplificatorului, îmbunătățind răspunsul său în frecvență. </a:t>
            </a:r>
            <a:endParaRPr lang="ro-MO" sz="2000" smtClean="0">
              <a:latin typeface="Times New Roman" pitchFamily="18" charset="0"/>
              <a:cs typeface="Times New Roman" pitchFamily="18" charset="0"/>
            </a:endParaRPr>
          </a:p>
          <a:p>
            <a:pPr marL="0" indent="0">
              <a:buNone/>
            </a:pPr>
            <a:r>
              <a:rPr lang="vi-VN" sz="2000" b="1" smtClean="0">
                <a:latin typeface="Times New Roman" pitchFamily="18" charset="0"/>
                <a:cs typeface="Times New Roman" pitchFamily="18" charset="0"/>
              </a:rPr>
              <a:t>Impedanțe </a:t>
            </a:r>
            <a:r>
              <a:rPr lang="vi-VN" sz="2000" b="1">
                <a:latin typeface="Times New Roman" pitchFamily="18" charset="0"/>
                <a:cs typeface="Times New Roman" pitchFamily="18" charset="0"/>
              </a:rPr>
              <a:t>de intrare și ieșire modificate:</a:t>
            </a:r>
            <a:r>
              <a:rPr lang="vi-VN" sz="2000">
                <a:latin typeface="Times New Roman" pitchFamily="18" charset="0"/>
                <a:cs typeface="Times New Roman" pitchFamily="18" charset="0"/>
              </a:rPr>
              <a:t> Reacția negativă poate crește impedanța de intrare și reduce impedanța de ieșire a amplificatorului, adaptându-l mai bine la sarcini și surse specifice. </a:t>
            </a:r>
            <a:endParaRPr lang="ro-MO" sz="2000" smtClean="0">
              <a:latin typeface="Times New Roman" pitchFamily="18" charset="0"/>
              <a:cs typeface="Times New Roman" pitchFamily="18" charset="0"/>
            </a:endParaRPr>
          </a:p>
          <a:p>
            <a:pPr marL="0" indent="0">
              <a:buNone/>
            </a:pPr>
            <a:r>
              <a:rPr lang="vi-VN" sz="2000" b="1" smtClean="0">
                <a:latin typeface="Times New Roman" pitchFamily="18" charset="0"/>
                <a:cs typeface="Times New Roman" pitchFamily="18" charset="0"/>
              </a:rPr>
              <a:t>Linearitate </a:t>
            </a:r>
            <a:r>
              <a:rPr lang="vi-VN" sz="2000" b="1">
                <a:latin typeface="Times New Roman" pitchFamily="18" charset="0"/>
                <a:cs typeface="Times New Roman" pitchFamily="18" charset="0"/>
              </a:rPr>
              <a:t>îmbunătățită:</a:t>
            </a:r>
            <a:r>
              <a:rPr lang="vi-VN" sz="2000">
                <a:latin typeface="Times New Roman" pitchFamily="18" charset="0"/>
                <a:cs typeface="Times New Roman" pitchFamily="18" charset="0"/>
              </a:rPr>
              <a:t> Prin reducerea neliniarităților componentelor active, reacția negativă contribuie la o funcționare mai liniară a amplificatorului. </a:t>
            </a:r>
            <a:endParaRPr lang="ro-MO" sz="2000" smtClean="0">
              <a:latin typeface="Times New Roman" pitchFamily="18" charset="0"/>
              <a:cs typeface="Times New Roman" pitchFamily="18" charset="0"/>
            </a:endParaRPr>
          </a:p>
          <a:p>
            <a:pPr marL="0" indent="0">
              <a:buNone/>
            </a:pPr>
            <a:r>
              <a:rPr lang="vi-VN" sz="2000" b="1" smtClean="0">
                <a:latin typeface="Times New Roman" pitchFamily="18" charset="0"/>
                <a:cs typeface="Times New Roman" pitchFamily="18" charset="0"/>
              </a:rPr>
              <a:t>Insensibilitate </a:t>
            </a:r>
            <a:r>
              <a:rPr lang="vi-VN" sz="2000" b="1">
                <a:latin typeface="Times New Roman" pitchFamily="18" charset="0"/>
                <a:cs typeface="Times New Roman" pitchFamily="18" charset="0"/>
              </a:rPr>
              <a:t>la variațiile de temperatură:</a:t>
            </a:r>
            <a:r>
              <a:rPr lang="vi-VN" sz="2000">
                <a:latin typeface="Times New Roman" pitchFamily="18" charset="0"/>
                <a:cs typeface="Times New Roman" pitchFamily="18" charset="0"/>
              </a:rPr>
              <a:t> Reacția negativă reduce dependența performanțelor amplificatorului față de variațiile de temperatură</a:t>
            </a:r>
            <a:r>
              <a:rPr lang="vi-VN" sz="2000" smtClean="0">
                <a:latin typeface="Times New Roman" pitchFamily="18" charset="0"/>
                <a:cs typeface="Times New Roman" pitchFamily="18" charset="0"/>
              </a:rPr>
              <a:t>.</a:t>
            </a:r>
            <a:endParaRPr lang="ro-MO" sz="2000" smtClean="0">
              <a:latin typeface="Times New Roman" pitchFamily="18" charset="0"/>
              <a:cs typeface="Times New Roman" pitchFamily="18" charset="0"/>
            </a:endParaRPr>
          </a:p>
          <a:p>
            <a:pPr marL="0" indent="0">
              <a:buNone/>
            </a:pPr>
            <a:r>
              <a:rPr lang="vi-VN" sz="2000" b="1">
                <a:latin typeface="Times New Roman" pitchFamily="18" charset="0"/>
                <a:cs typeface="Times New Roman" pitchFamily="18" charset="0"/>
              </a:rPr>
              <a:t>Reducerea distorsiunilor: </a:t>
            </a:r>
            <a:r>
              <a:rPr lang="vi-VN" sz="2000">
                <a:latin typeface="Times New Roman" pitchFamily="18" charset="0"/>
                <a:cs typeface="Times New Roman" pitchFamily="18" charset="0"/>
              </a:rPr>
              <a:t>Prin reducerea câștigului de buclă deschisă, reacția negativă diminuează semnificativ distorsiunile armonice și de intermodulare. </a:t>
            </a:r>
            <a:endParaRPr lang="ro-MO" sz="2000">
              <a:latin typeface="Times New Roman" pitchFamily="18" charset="0"/>
              <a:cs typeface="Times New Roman" pitchFamily="18" charset="0"/>
            </a:endParaRPr>
          </a:p>
          <a:p>
            <a:pPr marL="0" indent="0">
              <a:buNone/>
            </a:pP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88307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2336" y="2185299"/>
            <a:ext cx="4216879" cy="1325563"/>
          </a:xfrm>
        </p:spPr>
        <p:txBody>
          <a:bodyPr>
            <a:normAutofit/>
          </a:bodyPr>
          <a:lstStyle/>
          <a:p>
            <a:r>
              <a:rPr lang="x-none" sz="6000" b="1" i="1" dirty="0" smtClean="0">
                <a:latin typeface="Times New Roman" panose="02020603050405020304" pitchFamily="18" charset="0"/>
                <a:cs typeface="Times New Roman" panose="02020603050405020304" pitchFamily="18" charset="0"/>
              </a:rPr>
              <a:t>Întrebari ?</a:t>
            </a:r>
            <a:endParaRPr lang="ru-RU" sz="6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543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88007" y="179462"/>
            <a:ext cx="11853017" cy="6537532"/>
          </a:xfrm>
        </p:spPr>
        <p:txBody>
          <a:bodyPr/>
          <a:lstStyle/>
          <a:p>
            <a:pPr marL="0" indent="0">
              <a:buNone/>
            </a:pPr>
            <a:r>
              <a:rPr lang="ro-MO" b="1" smtClean="0">
                <a:latin typeface="Times New Roman" pitchFamily="18" charset="0"/>
                <a:cs typeface="Times New Roman" pitchFamily="18" charset="0"/>
              </a:rPr>
              <a:t>Generalizarea temei Amplificatoare</a:t>
            </a:r>
          </a:p>
          <a:p>
            <a:r>
              <a:rPr lang="ro-MO" sz="2400" smtClean="0">
                <a:latin typeface="Times New Roman" pitchFamily="18" charset="0"/>
                <a:cs typeface="Times New Roman" pitchFamily="18" charset="0"/>
              </a:rPr>
              <a:t>Definiția amplificatoarelor</a:t>
            </a:r>
          </a:p>
          <a:p>
            <a:r>
              <a:rPr lang="ro-MO" sz="2400" smtClean="0">
                <a:latin typeface="Times New Roman" pitchFamily="18" charset="0"/>
                <a:cs typeface="Times New Roman" pitchFamily="18" charset="0"/>
              </a:rPr>
              <a:t>Clasificarea amplificatoarelor</a:t>
            </a:r>
          </a:p>
          <a:p>
            <a:r>
              <a:rPr lang="ro-MO" sz="2400" smtClean="0">
                <a:latin typeface="Times New Roman" pitchFamily="18" charset="0"/>
                <a:cs typeface="Times New Roman" pitchFamily="18" charset="0"/>
              </a:rPr>
              <a:t>Parametrii amplificatoarelor</a:t>
            </a:r>
          </a:p>
          <a:p>
            <a:pPr lvl="1"/>
            <a:r>
              <a:rPr lang="ro-MO" sz="2000" smtClean="0">
                <a:latin typeface="Times New Roman" pitchFamily="18" charset="0"/>
                <a:cs typeface="Times New Roman" pitchFamily="18" charset="0"/>
              </a:rPr>
              <a:t>Coeficientu de amplificare</a:t>
            </a:r>
          </a:p>
          <a:p>
            <a:pPr lvl="1"/>
            <a:r>
              <a:rPr lang="ro-MO" sz="2000" smtClean="0">
                <a:latin typeface="Times New Roman" pitchFamily="18" charset="0"/>
                <a:cs typeface="Times New Roman" pitchFamily="18" charset="0"/>
              </a:rPr>
              <a:t>Banda de frecvență</a:t>
            </a:r>
          </a:p>
          <a:p>
            <a:pPr lvl="1"/>
            <a:r>
              <a:rPr lang="ro-MO" sz="2000" smtClean="0">
                <a:latin typeface="Times New Roman" pitchFamily="18" charset="0"/>
                <a:cs typeface="Times New Roman" pitchFamily="18" charset="0"/>
              </a:rPr>
              <a:t>Gama dinamică</a:t>
            </a:r>
          </a:p>
          <a:p>
            <a:pPr lvl="1"/>
            <a:r>
              <a:rPr lang="ro-MO" sz="2000" smtClean="0">
                <a:latin typeface="Times New Roman" pitchFamily="18" charset="0"/>
                <a:cs typeface="Times New Roman" pitchFamily="18" charset="0"/>
              </a:rPr>
              <a:t>Distorsiuni, Raport semnal/zgomot, Sensibilitate</a:t>
            </a:r>
          </a:p>
          <a:p>
            <a:r>
              <a:rPr lang="ro-MO" sz="2400" smtClean="0">
                <a:latin typeface="Times New Roman" pitchFamily="18" charset="0"/>
                <a:cs typeface="Times New Roman" pitchFamily="18" charset="0"/>
              </a:rPr>
              <a:t>Amplificator de semnal continuu</a:t>
            </a:r>
          </a:p>
          <a:p>
            <a:pPr lvl="1"/>
            <a:r>
              <a:rPr lang="ro-MO" sz="2000" smtClean="0">
                <a:latin typeface="Times New Roman" pitchFamily="18" charset="0"/>
                <a:cs typeface="Times New Roman" pitchFamily="18" charset="0"/>
              </a:rPr>
              <a:t>Combinația darlington</a:t>
            </a:r>
          </a:p>
          <a:p>
            <a:pPr lvl="1"/>
            <a:r>
              <a:rPr lang="ro-MO" sz="2000" smtClean="0">
                <a:latin typeface="Times New Roman" pitchFamily="18" charset="0"/>
                <a:cs typeface="Times New Roman" pitchFamily="18" charset="0"/>
              </a:rPr>
              <a:t>Combinația Super G</a:t>
            </a:r>
          </a:p>
          <a:p>
            <a:r>
              <a:rPr lang="ro-MO" sz="2400" smtClean="0">
                <a:latin typeface="Times New Roman" pitchFamily="18" charset="0"/>
                <a:cs typeface="Times New Roman" pitchFamily="18" charset="0"/>
              </a:rPr>
              <a:t>Clasele de funcționare</a:t>
            </a:r>
          </a:p>
          <a:p>
            <a:r>
              <a:rPr lang="en-US" sz="2400">
                <a:latin typeface="Times New Roman" pitchFamily="18" charset="0"/>
                <a:ea typeface="Times New Roman" panose="02020603050405020304" pitchFamily="18" charset="0"/>
                <a:cs typeface="Times New Roman" pitchFamily="18" charset="0"/>
              </a:rPr>
              <a:t>Amplificatorul </a:t>
            </a:r>
            <a:r>
              <a:rPr lang="ro-MO" sz="2400" smtClean="0">
                <a:latin typeface="Times New Roman" pitchFamily="18" charset="0"/>
                <a:ea typeface="Times New Roman" panose="02020603050405020304" pitchFamily="18" charset="0"/>
                <a:cs typeface="Times New Roman" pitchFamily="18" charset="0"/>
              </a:rPr>
              <a:t>cu tranzistor bipolar în </a:t>
            </a:r>
            <a:r>
              <a:rPr lang="en-US" sz="2400" smtClean="0">
                <a:latin typeface="Times New Roman" pitchFamily="18" charset="0"/>
                <a:ea typeface="Times New Roman" panose="02020603050405020304" pitchFamily="18" charset="0"/>
                <a:cs typeface="Times New Roman" pitchFamily="18" charset="0"/>
              </a:rPr>
              <a:t>conexiune </a:t>
            </a:r>
            <a:r>
              <a:rPr lang="en-US" sz="2400">
                <a:latin typeface="Times New Roman" pitchFamily="18" charset="0"/>
                <a:ea typeface="Times New Roman" panose="02020603050405020304" pitchFamily="18" charset="0"/>
                <a:cs typeface="Times New Roman" pitchFamily="18" charset="0"/>
              </a:rPr>
              <a:t>emitor </a:t>
            </a:r>
            <a:r>
              <a:rPr lang="en-US" sz="2400" smtClean="0">
                <a:latin typeface="Times New Roman" pitchFamily="18" charset="0"/>
                <a:ea typeface="Times New Roman" panose="02020603050405020304" pitchFamily="18" charset="0"/>
                <a:cs typeface="Times New Roman" pitchFamily="18" charset="0"/>
              </a:rPr>
              <a:t>comun</a:t>
            </a:r>
            <a:endParaRPr lang="ro-MO" sz="2400" smtClean="0">
              <a:latin typeface="Times New Roman" pitchFamily="18" charset="0"/>
              <a:ea typeface="Times New Roman" panose="02020603050405020304" pitchFamily="18" charset="0"/>
              <a:cs typeface="Times New Roman" pitchFamily="18" charset="0"/>
            </a:endParaRPr>
          </a:p>
          <a:p>
            <a:r>
              <a:rPr lang="ro-RO" sz="2400">
                <a:latin typeface="Times New Roman" pitchFamily="18" charset="0"/>
                <a:ea typeface="Times New Roman" panose="02020603050405020304" pitchFamily="18" charset="0"/>
                <a:cs typeface="Times New Roman" pitchFamily="18" charset="0"/>
              </a:rPr>
              <a:t>Amplificatorul repetor pe emitor (conexiune colector</a:t>
            </a:r>
            <a:r>
              <a:rPr lang="en-US" sz="2400">
                <a:latin typeface="Times New Roman" pitchFamily="18" charset="0"/>
                <a:ea typeface="Times New Roman" panose="02020603050405020304" pitchFamily="18" charset="0"/>
                <a:cs typeface="Times New Roman" pitchFamily="18" charset="0"/>
              </a:rPr>
              <a:t> </a:t>
            </a:r>
            <a:r>
              <a:rPr lang="ro-RO" sz="2400">
                <a:latin typeface="Times New Roman" pitchFamily="18" charset="0"/>
                <a:ea typeface="Times New Roman" panose="02020603050405020304" pitchFamily="18" charset="0"/>
                <a:cs typeface="Times New Roman" pitchFamily="18" charset="0"/>
              </a:rPr>
              <a:t>comun</a:t>
            </a:r>
            <a:r>
              <a:rPr lang="ro-RO" sz="2400" smtClean="0">
                <a:latin typeface="Times New Roman" pitchFamily="18" charset="0"/>
                <a:ea typeface="Times New Roman" panose="02020603050405020304" pitchFamily="18" charset="0"/>
                <a:cs typeface="Times New Roman" pitchFamily="18" charset="0"/>
              </a:rPr>
              <a:t>)</a:t>
            </a:r>
            <a:endParaRPr lang="en-US" sz="2400">
              <a:latin typeface="Times New Roman" pitchFamily="18" charset="0"/>
              <a:ea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016725956"/>
      </p:ext>
    </p:extLst>
  </p:cSld>
  <p:clrMapOvr>
    <a:masterClrMapping/>
  </p:clrMapOvr>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10279</TotalTime>
  <Words>2290</Words>
  <Application>Microsoft Office PowerPoint</Application>
  <PresentationFormat>Произвольный</PresentationFormat>
  <Paragraphs>249</Paragraphs>
  <Slides>28</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28</vt:i4>
      </vt:variant>
    </vt:vector>
  </HeadingPairs>
  <TitlesOfParts>
    <vt:vector size="29" baseType="lpstr">
      <vt:lpstr>Office Theme</vt:lpstr>
      <vt:lpstr>Circuite și Dispozitive Electronice  Amplificatorul de semnal mic în conexiune cu Emitor comun.</vt:lpstr>
      <vt:lpstr>Literatura recomandata </vt:lpstr>
      <vt:lpstr>Презентация PowerPoint</vt:lpstr>
      <vt:lpstr>Recapitularea cunoștințelor tranzistori bipolari</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Concluzii:  </vt:lpstr>
      <vt:lpstr>Întrebari ?</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Circuite și Dispozitive Electronice  L.1 – Introducere</dc:title>
  <dc:creator>Пользователь Windows</dc:creator>
  <cp:lastModifiedBy>Asus</cp:lastModifiedBy>
  <cp:revision>445</cp:revision>
  <cp:lastPrinted>2021-11-20T21:52:30Z</cp:lastPrinted>
  <dcterms:created xsi:type="dcterms:W3CDTF">2020-08-28T11:28:42Z</dcterms:created>
  <dcterms:modified xsi:type="dcterms:W3CDTF">2024-12-02T23:56:02Z</dcterms:modified>
</cp:coreProperties>
</file>