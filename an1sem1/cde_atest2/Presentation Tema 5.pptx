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2"/>
  </p:notesMasterIdLst>
  <p:handoutMasterIdLst>
    <p:handoutMasterId r:id="rId4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80" r:id="rId14"/>
    <p:sldId id="281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8" autoAdjust="0"/>
    <p:restoredTop sz="95253" autoAdjust="0"/>
  </p:normalViewPr>
  <p:slideViewPr>
    <p:cSldViewPr snapToGrid="0">
      <p:cViewPr varScale="1">
        <p:scale>
          <a:sx n="111" d="100"/>
          <a:sy n="111" d="100"/>
        </p:scale>
        <p:origin x="-61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gif"/><Relationship Id="rId2" Type="http://schemas.openxmlformats.org/officeDocument/2006/relationships/image" Target="../media/image52.gif"/><Relationship Id="rId1" Type="http://schemas.openxmlformats.org/officeDocument/2006/relationships/image" Target="../media/image51.gi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6314A2-56B9-42B7-9120-49F66225A8CA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51AAD4-D295-42BD-9964-9085EBBDE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5541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27F67-3A50-4297-B8B6-693DA88AA5E4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58DB0D-707A-4B4F-9F6C-74B60B20F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55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58DB0D-707A-4B4F-9F6C-74B60B20FB9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547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014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196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351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16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972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83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77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827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69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207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76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CAE28-B5DB-416C-BBE2-FF443ED9C5B5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58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8.wmf"/><Relationship Id="rId9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gi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2.gif"/><Relationship Id="rId5" Type="http://schemas.openxmlformats.org/officeDocument/2006/relationships/oleObject" Target="../embeddings/oleObject5.bin"/><Relationship Id="rId4" Type="http://schemas.openxmlformats.org/officeDocument/2006/relationships/image" Target="../media/image51.gi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54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56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434565" y="280656"/>
            <a:ext cx="11633703" cy="3648547"/>
          </a:xfrm>
        </p:spPr>
        <p:txBody>
          <a:bodyPr anchor="t">
            <a:normAutofit/>
          </a:bodyPr>
          <a:lstStyle/>
          <a:p>
            <a:r>
              <a:rPr lang="x-none" sz="5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Circuite și Dispozitive Electronice </a:t>
            </a:r>
            <a:br>
              <a:rPr lang="x-none" sz="5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Tema</a:t>
            </a: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x-none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Amplificatoare. Clasificare. Tipuri. Reacții în amplificatoare.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1406305" y="6047715"/>
            <a:ext cx="9144000" cy="495678"/>
          </a:xfrm>
        </p:spPr>
        <p:txBody>
          <a:bodyPr/>
          <a:lstStyle/>
          <a:p>
            <a:r>
              <a:rPr lang="en-US" smtClean="0"/>
              <a:t>Conf. univ. dr. Cretu Vasilii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73658" y="2875070"/>
            <a:ext cx="104295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x-none" b="1">
                <a:latin typeface="Times New Roman" panose="02020603050405020304" pitchFamily="18" charset="0"/>
                <a:cs typeface="Times New Roman" panose="02020603050405020304" pitchFamily="18" charset="0"/>
              </a:rPr>
              <a:t>Scopul</a:t>
            </a:r>
            <a:r>
              <a:rPr lang="x-none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M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 a face cunoștință cu a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mplificatoare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electrice. Caracteristicile şi parametrii de bază ale amplificatorului. Destinaţia, clasificarea şi structura amplificatoarelor electronice. Caracteristicile principale şi parametrii amplificatoarelor.</a:t>
            </a:r>
            <a:endParaRPr lang="en-US" strike="sngStrike" dirty="0"/>
          </a:p>
        </p:txBody>
      </p:sp>
    </p:spTree>
    <p:extLst>
      <p:ext uri="{BB962C8B-B14F-4D97-AF65-F5344CB8AC3E}">
        <p14:creationId xmlns:p14="http://schemas.microsoft.com/office/powerpoint/2010/main" val="2699953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37692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0000"/>
                </a:solidFill>
                <a:latin typeface="Cambria" panose="02040503050406030204" pitchFamily="18" charset="0"/>
              </a:rPr>
              <a:t>AMPLIFICATOARE DE SEMNAL MIC</a:t>
            </a:r>
            <a:r>
              <a:rPr lang="en-US" dirty="0"/>
              <a:t>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464145"/>
            <a:ext cx="115431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Amplificatorul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electronic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–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un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cuadripol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(circuit electronic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prevăzut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cu o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poartă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o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poartă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), care are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rolul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dezvolta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circuitul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o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putere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mare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decât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din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circuitul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fără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distorsiona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modifica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forma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semnalului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r>
              <a:rPr lang="en-US" dirty="0"/>
              <a:t>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0" y="1387475"/>
            <a:ext cx="1212259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Amplificatorul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semnal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mic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are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semnalul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mic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raport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cu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valoarea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tensiunii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de c.c.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polarizare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tranzistorului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tranzistoarelor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 din circuit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majoritatea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cazurilor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semnalul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electric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aplicat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intrarea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unui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amplificator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un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semnal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alternativ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formă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sinusoidală</a:t>
            </a:r>
            <a:r>
              <a:rPr lang="en-US" dirty="0"/>
              <a:t> 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00" y="2610180"/>
            <a:ext cx="3880448" cy="309826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4300397" y="2483068"/>
            <a:ext cx="774071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U</a:t>
            </a:r>
            <a:r>
              <a:rPr lang="en-US" sz="800" b="1" dirty="0">
                <a:solidFill>
                  <a:srgbClr val="000000"/>
                </a:solidFill>
                <a:latin typeface="Arial" panose="020B0604020202020204" pitchFamily="34" charset="0"/>
              </a:rPr>
              <a:t>V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–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vârf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(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tensiunea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maximă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Umax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).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Valoarea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acestei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tensiuni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indicată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osciloscop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Uef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–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efectivă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Valoarea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acestei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tensiuni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indicată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un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voltmetru</a:t>
            </a:r>
            <a:r>
              <a:rPr lang="en-US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de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curent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alternativ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U</a:t>
            </a:r>
            <a:r>
              <a:rPr lang="en-US" sz="800" b="1" dirty="0">
                <a:solidFill>
                  <a:srgbClr val="000000"/>
                </a:solidFill>
                <a:latin typeface="Arial" panose="020B0604020202020204" pitchFamily="34" charset="0"/>
              </a:rPr>
              <a:t>VV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vârf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vârf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r>
              <a:rPr lang="en-US" dirty="0"/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207" y="3960396"/>
            <a:ext cx="2924175" cy="609600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4061987" y="4719522"/>
            <a:ext cx="797912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Symbol" panose="05050102010706020507" pitchFamily="18" charset="2"/>
              </a:rPr>
              <a:t>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AMPLITUDINEA (U</a:t>
            </a:r>
            <a:r>
              <a:rPr 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)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– care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reprezintă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valoarea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tensiunii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maxime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a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semnalului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;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Symbol" panose="05050102010706020507" pitchFamily="18" charset="2"/>
              </a:rPr>
              <a:t>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PERIOADA (T)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–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intervalul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timp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dintre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începuturile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două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semialternanţe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acelaşi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tip (o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alternanţă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completă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);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Symbol" panose="05050102010706020507" pitchFamily="18" charset="2"/>
              </a:rPr>
              <a:t>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FRECVENŢA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–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reprezintă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numărul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alternanţe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unitate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timp.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6557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65314" y="273432"/>
            <a:ext cx="12066815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Amplificatoarele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clasifică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după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multe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criterii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Symbol" panose="05050102010706020507" pitchFamily="18" charset="2"/>
              </a:rPr>
              <a:t>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După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natura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semnalului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amplificat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b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o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amplificatoare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tensiune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;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o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amplificatoare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;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o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amplificatoare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putere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Symbol" panose="05050102010706020507" pitchFamily="18" charset="2"/>
              </a:rPr>
              <a:t>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După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tipul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elementelor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active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folosite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b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o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cu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tranzistoare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;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o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cu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circuite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integrate 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operaţionale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);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o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magnetice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Symbol" panose="05050102010706020507" pitchFamily="18" charset="2"/>
              </a:rPr>
              <a:t>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După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banda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frecvenţă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a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semnalului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amplificat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b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o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amplificatoare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continuu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-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frecvenţe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începând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cu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Hz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;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o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audiofrecvenţă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joasă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frecvenţă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 f=20Hz...20kHz;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o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radiofrecvenţă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înaltă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frecvenţă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 f=20kHz....30MHz;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o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foarte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înaltă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frecvenţă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f=30MHz...300MHz.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Symbol" panose="05050102010706020507" pitchFamily="18" charset="2"/>
              </a:rPr>
              <a:t>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După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lăţimea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benzii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frecvenţă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b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o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bandă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îngustă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f=9kHz...30kHz;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o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bandă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largă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videofrecvenţă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 f=5Hz....5MHz.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Symbol" panose="05050102010706020507" pitchFamily="18" charset="2"/>
              </a:rPr>
              <a:t>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După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tipul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cuplajului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folosit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între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etaje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b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o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cu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cuplaj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RC;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o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cu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circuite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acordate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;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o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cu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cuplaj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prin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transformator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;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o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cu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cuplaj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rezistiv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amplificatoare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continuu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).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05958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248195"/>
            <a:ext cx="12192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Un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amplificator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semnal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mic cu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tranzistoare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poate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avea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unul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sau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multe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etaje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Fiecare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etaj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format din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următoarele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elemente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circuit: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Symbol" panose="05050102010706020507" pitchFamily="18" charset="2"/>
              </a:rPr>
              <a:t>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Tranzistorul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–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elementul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principal al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etajului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reprezintă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elementul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;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funcţie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modul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conectare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tranzistorului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sunt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3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tipuri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amplificatoare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de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semnal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o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amplificatoare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emitorul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comun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;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o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amplificatoare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colectorul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comun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;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o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amplificatoare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baza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comună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Symbol" panose="05050102010706020507" pitchFamily="18" charset="2"/>
              </a:rPr>
              <a:t>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Reţea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rezistoare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- care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polarizează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tranzistorul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continuu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;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Symbol" panose="05050102010706020507" pitchFamily="18" charset="2"/>
              </a:rPr>
              <a:t>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Elemente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cuplaj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şi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separare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galvanică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– se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află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intrarea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ieşirea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unui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etaj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au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rolul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separa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semnalul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alternativ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care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trebuie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componenta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continuu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care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polarizează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tranzistorul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amplificatorului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Aceste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elemente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permit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trecerea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semnalului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de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curent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alternativ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la un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etaj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altul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permit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cuplarea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etajelor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amplificare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între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ele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Cele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utilizate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elemente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cuplaj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separare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sunt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condensatoarele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dar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unele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situaţii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utilizează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cuplajul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prin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transformator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care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poate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face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adaptarea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putere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8018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14677" y="0"/>
            <a:ext cx="38960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</a:rPr>
              <a:t>PARAMETRII AMPLIFICATOARELOR</a:t>
            </a:r>
            <a:r>
              <a:rPr lang="en-US" dirty="0"/>
              <a:t>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14676" y="593205"/>
            <a:ext cx="1207732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Coeficientul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amplificare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(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amplificarea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)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reprezintă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raportul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dintre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mărimea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electrică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mărimea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electrică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 Se pot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definii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endParaRPr lang="x-none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Symbol" panose="05050102010706020507" pitchFamily="18" charset="2"/>
              </a:rPr>
              <a:t>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tensiune</a:t>
            </a:r>
            <a:endParaRPr lang="x-none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Symbol" panose="05050102010706020507" pitchFamily="18" charset="2"/>
              </a:rPr>
              <a:t>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current</a:t>
            </a:r>
            <a:endParaRPr lang="x-none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Symbol" panose="05050102010706020507" pitchFamily="18" charset="2"/>
              </a:rPr>
              <a:t>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putere</a:t>
            </a:r>
            <a:endParaRPr lang="x-none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exprimarea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valorii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amplificării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utilizează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ca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unitate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măsură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decibelul</a:t>
            </a:r>
            <a:r>
              <a:rPr lang="x-none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dB)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endParaRPr lang="en-US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874" y="1353963"/>
            <a:ext cx="893559" cy="52697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034" y="1873828"/>
            <a:ext cx="895446" cy="57807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2558" y="2389279"/>
            <a:ext cx="904875" cy="50482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084" y="3566937"/>
            <a:ext cx="2647950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533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92953"/>
            <a:ext cx="1219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Caracteristica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amplitudine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frecventă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- se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referă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dependenţa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amplificării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faţă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frecvenţa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semnalului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Amplificarea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independentă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frecvenţă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regiunea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frecvenţelor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medii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scade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spre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capetele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benzii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atât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frecvenţe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mici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cât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şi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la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frecvenţe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mari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r>
              <a:rPr lang="en-US" dirty="0"/>
              <a:t>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10" y="1129985"/>
            <a:ext cx="3724275" cy="217170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4152523" y="1292505"/>
            <a:ext cx="7924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Frecvențele</a:t>
            </a:r>
            <a:r>
              <a:rPr lang="en-US" dirty="0"/>
              <a:t> </a:t>
            </a:r>
            <a:r>
              <a:rPr lang="en-US" dirty="0" err="1"/>
              <a:t>limită</a:t>
            </a:r>
            <a:r>
              <a:rPr lang="en-US" dirty="0"/>
              <a:t> </a:t>
            </a:r>
            <a:r>
              <a:rPr lang="en-US" b="1" dirty="0" err="1"/>
              <a:t>f</a:t>
            </a:r>
            <a:r>
              <a:rPr lang="en-US" b="1" baseline="-25000" dirty="0" err="1"/>
              <a:t>J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b="1" dirty="0" err="1"/>
              <a:t>f</a:t>
            </a:r>
            <a:r>
              <a:rPr lang="en-US" b="1" baseline="-25000" dirty="0" err="1"/>
              <a:t>S</a:t>
            </a:r>
            <a:r>
              <a:rPr lang="en-US" dirty="0"/>
              <a:t> </a:t>
            </a:r>
            <a:r>
              <a:rPr lang="en-US" dirty="0" err="1" smtClean="0"/>
              <a:t>sunt</a:t>
            </a:r>
            <a:r>
              <a:rPr lang="x-none" dirty="0" smtClean="0"/>
              <a:t> </a:t>
            </a:r>
            <a:r>
              <a:rPr lang="en-US" dirty="0" err="1" smtClean="0"/>
              <a:t>frecvențele</a:t>
            </a:r>
            <a:r>
              <a:rPr lang="en-US" dirty="0" smtClean="0"/>
              <a:t> </a:t>
            </a:r>
            <a:r>
              <a:rPr lang="en-US" dirty="0"/>
              <a:t>la care </a:t>
            </a:r>
            <a:r>
              <a:rPr lang="en-US" dirty="0" err="1" smtClean="0"/>
              <a:t>modulul</a:t>
            </a:r>
            <a:r>
              <a:rPr lang="x-none" dirty="0" smtClean="0"/>
              <a:t> </a:t>
            </a:r>
            <a:r>
              <a:rPr lang="en-US" dirty="0" err="1" smtClean="0"/>
              <a:t>amplificării</a:t>
            </a:r>
            <a:r>
              <a:rPr lang="en-US" dirty="0" smtClean="0"/>
              <a:t> </a:t>
            </a:r>
            <a:r>
              <a:rPr lang="en-US" dirty="0" err="1"/>
              <a:t>scade</a:t>
            </a:r>
            <a:r>
              <a:rPr lang="en-US" dirty="0"/>
              <a:t> sub </a:t>
            </a:r>
            <a:r>
              <a:rPr lang="en-US" dirty="0" err="1"/>
              <a:t>valoarea</a:t>
            </a:r>
            <a:r>
              <a:rPr lang="en-US" dirty="0"/>
              <a:t>: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052" y="1881683"/>
            <a:ext cx="1752600" cy="666750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3902186" y="2548433"/>
            <a:ext cx="817513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0000"/>
                </a:solidFill>
                <a:latin typeface="Arial" panose="020B0604020202020204" pitchFamily="34" charset="0"/>
              </a:rPr>
              <a:t>Banda de </a:t>
            </a:r>
            <a:r>
              <a:rPr lang="en-US" b="1" i="1" dirty="0" err="1">
                <a:solidFill>
                  <a:srgbClr val="000000"/>
                </a:solidFill>
                <a:latin typeface="Arial" panose="020B0604020202020204" pitchFamily="34" charset="0"/>
              </a:rPr>
              <a:t>frecvență</a:t>
            </a:r>
            <a:r>
              <a:rPr lang="en-US" b="1" i="1" dirty="0">
                <a:solidFill>
                  <a:srgbClr val="000000"/>
                </a:solidFill>
                <a:latin typeface="Arial" panose="020B0604020202020204" pitchFamily="34" charset="0"/>
              </a:rPr>
              <a:t> –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reprezintă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intervalul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care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amplificarea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menține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constantă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B =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f</a:t>
            </a:r>
            <a:r>
              <a:rPr lang="en-US" sz="1050" b="1" dirty="0" err="1">
                <a:solidFill>
                  <a:srgbClr val="000000"/>
                </a:solidFill>
                <a:latin typeface="Arial" panose="020B0604020202020204" pitchFamily="34" charset="0"/>
              </a:rPr>
              <a:t>S</a:t>
            </a:r>
            <a:r>
              <a:rPr lang="en-US" sz="105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–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f</a:t>
            </a:r>
            <a:r>
              <a:rPr lang="en-US" sz="1050" b="1" dirty="0" err="1">
                <a:solidFill>
                  <a:srgbClr val="000000"/>
                </a:solidFill>
                <a:latin typeface="Arial" panose="020B0604020202020204" pitchFamily="34" charset="0"/>
              </a:rPr>
              <a:t>J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b="1" i="1" dirty="0" err="1">
                <a:solidFill>
                  <a:srgbClr val="000000"/>
                </a:solidFill>
                <a:latin typeface="Arial" panose="020B0604020202020204" pitchFamily="34" charset="0"/>
              </a:rPr>
              <a:t>Produsul</a:t>
            </a:r>
            <a:r>
              <a:rPr lang="en-US" b="1" i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amplificare</a:t>
            </a:r>
            <a:r>
              <a:rPr lang="en-US" b="1" i="1" dirty="0">
                <a:solidFill>
                  <a:srgbClr val="000000"/>
                </a:solidFill>
                <a:latin typeface="Arial" panose="020B0604020202020204" pitchFamily="34" charset="0"/>
              </a:rPr>
              <a:t> – </a:t>
            </a:r>
            <a:r>
              <a:rPr lang="en-US" b="1" i="1" dirty="0" err="1">
                <a:solidFill>
                  <a:srgbClr val="000000"/>
                </a:solidFill>
                <a:latin typeface="Arial" panose="020B0604020202020204" pitchFamily="34" charset="0"/>
              </a:rPr>
              <a:t>bandă</a:t>
            </a:r>
            <a:r>
              <a:rPr lang="en-US" b="1" i="1" dirty="0">
                <a:solidFill>
                  <a:srgbClr val="000000"/>
                </a:solidFill>
                <a:latin typeface="Arial" panose="020B0604020202020204" pitchFamily="34" charset="0"/>
              </a:rPr>
              <a:t> (PAB)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–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produsul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dintre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modulul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amplificării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și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banda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frecvență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PAB = A·B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-1" y="3818172"/>
            <a:ext cx="1207732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frecvenţe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înalte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banda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trecere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limitată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capacităţile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interne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elementului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activ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capacităţile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parazite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al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montajului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propriu-zis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regulă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efectul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cumulat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ordinul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zecilor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pF).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au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efect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şuntare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intrării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frecvenţe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înalte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frecvenţe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joase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limitată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capacităţile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condensatoarelor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separare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variabil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continuu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care “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mănâncă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” o parte din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util.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Noţiunile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frecvenţe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înalte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joase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au un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caracter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relativ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raportează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domeniul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frecvenţe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maximă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973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177855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Mărimea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depinde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mărimea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amplitudinea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La prima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vedere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am fi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tentaţi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credem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05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 100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frecvenţa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1kHz,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avea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100µV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are 1µV, 100mV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1mV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100V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1V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Practic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vom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constata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numai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doua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afirmaţie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adevărată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nivele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mici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ale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mic de 100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între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nu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relaţie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directă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proporţionalitate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t="1071"/>
          <a:stretch/>
        </p:blipFill>
        <p:spPr>
          <a:xfrm>
            <a:off x="152163" y="1683944"/>
            <a:ext cx="4139179" cy="2696769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4128379" y="1754326"/>
            <a:ext cx="798515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Explicaţia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fenomen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simplă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nivele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foarte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mici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semnalului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scade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datorită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influenţei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zgomotelor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 circuit care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devin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comparabile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nivel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nivelul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semnalului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La un moment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posibil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util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chiar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înecat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zgomot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nivele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ale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scade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datorită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neliniarităţii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caracteristicii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transfer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elementului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activ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El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limitat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atât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superior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inferior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datorită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intrării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elementului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activ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stare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blocare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saturaţie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forma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undă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deformată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faţă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forma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undă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Este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imposibil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amplitudinea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semnalului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alimentare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amplificatorului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indiferent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mare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amplitudinea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0" y="5076793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gama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dinamică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exprimată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decibeli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3229" y="4884043"/>
            <a:ext cx="3815329" cy="848685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152163" y="5732728"/>
            <a:ext cx="1195359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unde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valorile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minime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maxime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ale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tensiunilor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x-none" sz="16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delimitează</a:t>
            </a: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porţiunea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liniară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reprezentării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grafice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interiorul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gamei</a:t>
            </a:r>
            <a:r>
              <a:rPr lang="x-none" sz="16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dinamice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între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cea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relaţie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16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directă</a:t>
            </a:r>
            <a:r>
              <a:rPr lang="x-none" sz="16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proporţionalitate</a:t>
            </a: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forma de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undă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semnalului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similară</a:t>
            </a:r>
            <a:r>
              <a:rPr lang="x-none" sz="16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formei</a:t>
            </a: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undă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semnalului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Altfel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spus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interiorul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gamei</a:t>
            </a:r>
            <a:r>
              <a:rPr lang="x-none" sz="16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dinamice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pur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sinusoidal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16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x-none" sz="16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6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 </a:t>
            </a:r>
            <a:r>
              <a:rPr lang="en-US" sz="16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pur</a:t>
            </a:r>
            <a:r>
              <a:rPr lang="en-US" sz="1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sinusoidal.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11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8642" y="197346"/>
            <a:ext cx="1185098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c.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Distorsiunile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reprezintă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reproducerea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inexactă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semnalului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faţă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cel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Distorsiunile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pot fi: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Symbol" panose="05050102010706020507" pitchFamily="18" charset="2"/>
              </a:rPr>
              <a:t>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ale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amplitudinii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funcţie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frecvenţă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liniare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);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Symbol" panose="05050102010706020507" pitchFamily="18" charset="2"/>
              </a:rPr>
              <a:t>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ale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fazei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funcţie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frecvenţă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liniare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 (au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importanţă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videofrecvenţă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);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Symbol" panose="05050102010706020507" pitchFamily="18" charset="2"/>
              </a:rPr>
              <a:t>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armonice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neliniare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 (au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importanţă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amplificatoarele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putere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);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Symbol" panose="05050102010706020507" pitchFamily="18" charset="2"/>
              </a:rPr>
              <a:t>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intermodulaţie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neliniare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).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d.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Raportul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semnal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/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zgomot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-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reprezintă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raportul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între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produsă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semnalul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zgomot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propriu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zgomot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propriu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este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produsă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elementele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componente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ale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amplificatorului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Aceasta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se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poate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măsura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la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ieşirea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amplificatorului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scurtcircuitând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bornele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e.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Sensibilitatea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reprezintă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necesară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intrarea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amplificatorului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obţine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la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tensiune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sau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putere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nominală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caracterizează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amplificatoarele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de</a:t>
            </a:r>
            <a:r>
              <a:rPr lang="x-none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putere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exprimă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unităţi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tensiune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r>
              <a:rPr lang="en-US" dirty="0"/>
              <a:t> </a:t>
            </a:r>
            <a:endParaRPr lang="x-none" dirty="0" smtClean="0"/>
          </a:p>
          <a:p>
            <a:endParaRPr lang="x-none" dirty="0"/>
          </a:p>
          <a:p>
            <a:r>
              <a:rPr lang="en-US" b="1" dirty="0" err="1"/>
              <a:t>Nivelul</a:t>
            </a:r>
            <a:r>
              <a:rPr lang="en-US" b="1" dirty="0"/>
              <a:t> </a:t>
            </a:r>
            <a:r>
              <a:rPr lang="en-US" b="1" dirty="0" err="1"/>
              <a:t>semnalului</a:t>
            </a:r>
            <a:r>
              <a:rPr lang="en-US" b="1" dirty="0"/>
              <a:t> </a:t>
            </a:r>
            <a:r>
              <a:rPr lang="en-US" b="1" dirty="0" err="1"/>
              <a:t>amplificat</a:t>
            </a:r>
            <a:r>
              <a:rPr lang="en-US" b="1" dirty="0"/>
              <a:t> </a:t>
            </a:r>
            <a:r>
              <a:rPr lang="en-US" b="1" dirty="0" err="1"/>
              <a:t>este</a:t>
            </a:r>
            <a:r>
              <a:rPr lang="en-US" b="1" dirty="0"/>
              <a:t> </a:t>
            </a:r>
            <a:r>
              <a:rPr lang="en-US" b="1" dirty="0" err="1"/>
              <a:t>limitat</a:t>
            </a:r>
            <a:r>
              <a:rPr lang="en-US" b="1" dirty="0"/>
              <a:t> superior de </a:t>
            </a:r>
            <a:r>
              <a:rPr lang="en-US" b="1" dirty="0" err="1"/>
              <a:t>puterea</a:t>
            </a:r>
            <a:r>
              <a:rPr lang="en-US" b="1" dirty="0"/>
              <a:t> </a:t>
            </a:r>
            <a:r>
              <a:rPr lang="en-US" b="1" dirty="0" err="1"/>
              <a:t>etajului</a:t>
            </a:r>
            <a:r>
              <a:rPr lang="en-US" b="1" dirty="0"/>
              <a:t> final </a:t>
            </a:r>
            <a:r>
              <a:rPr lang="en-US" b="1" dirty="0" err="1" smtClean="0"/>
              <a:t>şi</a:t>
            </a:r>
            <a:r>
              <a:rPr lang="x-none" b="1" dirty="0" smtClean="0"/>
              <a:t> </a:t>
            </a:r>
            <a:r>
              <a:rPr lang="en-US" b="1" dirty="0" err="1" smtClean="0"/>
              <a:t>limitat</a:t>
            </a:r>
            <a:r>
              <a:rPr lang="en-US" b="1" dirty="0" smtClean="0"/>
              <a:t> </a:t>
            </a:r>
            <a:r>
              <a:rPr lang="en-US" b="1" dirty="0"/>
              <a:t>inferior de </a:t>
            </a:r>
            <a:r>
              <a:rPr lang="en-US" b="1" dirty="0" err="1"/>
              <a:t>raportul</a:t>
            </a:r>
            <a:r>
              <a:rPr lang="en-US" b="1" dirty="0"/>
              <a:t> </a:t>
            </a:r>
            <a:r>
              <a:rPr lang="en-US" b="1" dirty="0" err="1"/>
              <a:t>semnal</a:t>
            </a:r>
            <a:r>
              <a:rPr lang="en-US" b="1" dirty="0"/>
              <a:t> / </a:t>
            </a:r>
            <a:r>
              <a:rPr lang="en-US" b="1" dirty="0" err="1"/>
              <a:t>zgomot</a:t>
            </a:r>
            <a:r>
              <a:rPr lang="en-US" b="1" dirty="0"/>
              <a:t> al </a:t>
            </a:r>
            <a:r>
              <a:rPr lang="en-US" b="1" dirty="0" err="1"/>
              <a:t>amplificatorului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1245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9945" y="0"/>
            <a:ext cx="37602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Amplificarea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curentului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continuu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" y="618467"/>
            <a:ext cx="1219200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După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cum am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arătat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capitolul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referitor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structura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caracteristicile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tranzistorului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bipolar,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între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static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colector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există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relaţia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05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≅ </a:t>
            </a:r>
            <a:r>
              <a:rPr lang="el-GR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en-US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05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Deoarece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majoritatea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β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ordinul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10</a:t>
            </a:r>
            <a:r>
              <a:rPr lang="x-none" baseline="30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rezultă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considerabilă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care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traversează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structura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între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emitor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colector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Atât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alternativ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continuu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obţinerea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unei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amplificări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conectează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cascadă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două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multe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etaje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alternativ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cuplajul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dintre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etaje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multe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capacitiv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inductiv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continuu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cuplajul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x-none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direct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continuu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obţinerea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factor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mare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folosesc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succes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tranzistorii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compuşi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lângă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ridicat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compuşi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rezistenţă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singur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utilizate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combinaţii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tranzistori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obţinerea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factor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continuu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sunt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combinaţia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Darlington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combinaţia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super-G.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8743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35610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compus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Darlington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30" y="465263"/>
            <a:ext cx="4876113" cy="262705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91630" y="3214133"/>
            <a:ext cx="114647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alcătuit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tip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npn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compus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fiind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269752" y="3092316"/>
            <a:ext cx="990820" cy="61296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110150" y="3542989"/>
            <a:ext cx="115461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schemei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conexiune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pot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scrie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următoarele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relaţii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între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curenţi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1630" y="3912321"/>
            <a:ext cx="1768445" cy="1553058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788551" y="3991144"/>
            <a:ext cx="7119361" cy="500066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2087333" y="4883691"/>
            <a:ext cx="9675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obţine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expresia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factorului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continuu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al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compus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Darlington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746923" y="5332118"/>
            <a:ext cx="3253676" cy="604999"/>
          </a:xfrm>
          <a:prstGeom prst="rect">
            <a:avLst/>
          </a:prstGeom>
          <a:ln w="88900" cap="sq" cmpd="thickThin">
            <a:solidFill>
              <a:srgbClr val="FF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3" name="Прямоугольник 12"/>
          <p:cNvSpPr/>
          <p:nvPr/>
        </p:nvSpPr>
        <p:spPr>
          <a:xfrm>
            <a:off x="0" y="5979431"/>
            <a:ext cx="12063681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puţin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egal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produsul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factorilor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continuu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componenţi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compus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comportă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circuit ca un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tip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npn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continuu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egal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l-GR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en-US" sz="105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ech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1811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63374" y="0"/>
            <a:ext cx="119566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compus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super–G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combinaţie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tranzistori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complementari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pnp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npn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Această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combinaţie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comportă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 un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npn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static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având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expresia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027976" y="646331"/>
            <a:ext cx="6853473" cy="34074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4485547"/>
            <a:ext cx="5200686" cy="1857388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52037" y="5322743"/>
            <a:ext cx="2714644" cy="714380"/>
          </a:xfrm>
          <a:prstGeom prst="rect">
            <a:avLst/>
          </a:prstGeom>
          <a:ln w="88900" cap="sq" cmpd="thickThin">
            <a:solidFill>
              <a:srgbClr val="FF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165368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9944" y="0"/>
            <a:ext cx="39684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Amplificarea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semnalelor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variabile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73479" y="369332"/>
            <a:ext cx="1193618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variabil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înseamnă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creştere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energiei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transportă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”.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Această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creştere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realizată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seama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consumului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energie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continuu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furnizată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sursa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alimentare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circuitului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altfel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spus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elementul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activ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converteşte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energia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continuu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energie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alternativ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59944" y="1370267"/>
            <a:ext cx="2134559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Clasa</a:t>
            </a:r>
            <a:r>
              <a:rPr lang="en-US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funcţionare</a:t>
            </a:r>
            <a:endParaRPr lang="en-US" sz="1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59944" y="1781149"/>
            <a:ext cx="1203205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dintre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cele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folosite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conexiuni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amplificarea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semnalelor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variabile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particular a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celor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armonice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conexiunea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emitor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comun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/>
              <a:t>Semnalul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care </a:t>
            </a:r>
            <a:r>
              <a:rPr lang="en-US" dirty="0" err="1"/>
              <a:t>dorim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-l </a:t>
            </a:r>
            <a:r>
              <a:rPr lang="en-US" dirty="0" err="1"/>
              <a:t>amplificăm</a:t>
            </a:r>
            <a:r>
              <a:rPr lang="en-US" dirty="0"/>
              <a:t> se </a:t>
            </a:r>
            <a:r>
              <a:rPr lang="en-US" dirty="0" err="1"/>
              <a:t>aplică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tranzistorului</a:t>
            </a:r>
            <a:r>
              <a:rPr lang="en-US" dirty="0"/>
              <a:t> 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borna</a:t>
            </a:r>
            <a:r>
              <a:rPr lang="en-US" dirty="0"/>
              <a:t> de </a:t>
            </a:r>
            <a:r>
              <a:rPr lang="en-US" dirty="0" err="1"/>
              <a:t>masă</a:t>
            </a:r>
            <a:r>
              <a:rPr lang="en-US" dirty="0"/>
              <a:t>.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funcţie</a:t>
            </a:r>
            <a:r>
              <a:rPr lang="en-US" dirty="0"/>
              <a:t> de </a:t>
            </a:r>
            <a:r>
              <a:rPr lang="en-US" dirty="0" err="1"/>
              <a:t>relaţia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amplitudinea</a:t>
            </a:r>
            <a:r>
              <a:rPr lang="en-US" dirty="0"/>
              <a:t> </a:t>
            </a:r>
            <a:r>
              <a:rPr lang="en-US" dirty="0" err="1"/>
              <a:t>semnalului</a:t>
            </a:r>
            <a:r>
              <a:rPr lang="en-US" dirty="0"/>
              <a:t> </a:t>
            </a:r>
            <a:r>
              <a:rPr lang="en-US" dirty="0" err="1"/>
              <a:t>variabil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poziţia</a:t>
            </a:r>
            <a:r>
              <a:rPr lang="en-US" dirty="0"/>
              <a:t> </a:t>
            </a:r>
            <a:r>
              <a:rPr lang="en-US" dirty="0" err="1"/>
              <a:t>punctului</a:t>
            </a:r>
            <a:r>
              <a:rPr lang="en-US" dirty="0"/>
              <a:t> static de </a:t>
            </a:r>
            <a:r>
              <a:rPr lang="en-US" dirty="0" err="1"/>
              <a:t>funcţionare</a:t>
            </a:r>
            <a:r>
              <a:rPr lang="en-US" dirty="0"/>
              <a:t> al </a:t>
            </a:r>
            <a:r>
              <a:rPr lang="en-US" dirty="0" err="1"/>
              <a:t>tranzistorului</a:t>
            </a:r>
            <a:r>
              <a:rPr lang="en-US" dirty="0"/>
              <a:t> pot </a:t>
            </a:r>
            <a:r>
              <a:rPr lang="en-US" dirty="0" err="1"/>
              <a:t>exista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clase</a:t>
            </a:r>
            <a:r>
              <a:rPr lang="en-US" dirty="0"/>
              <a:t> de </a:t>
            </a:r>
            <a:r>
              <a:rPr lang="en-US" dirty="0" err="1"/>
              <a:t>funcţionare</a:t>
            </a:r>
            <a:r>
              <a:rPr lang="en-US" dirty="0"/>
              <a:t> a </a:t>
            </a:r>
            <a:r>
              <a:rPr lang="en-US" dirty="0" err="1"/>
              <a:t>amplificatoarelor</a:t>
            </a:r>
            <a:r>
              <a:rPr lang="en-US" dirty="0"/>
              <a:t> de </a:t>
            </a:r>
            <a:r>
              <a:rPr lang="en-US" dirty="0" err="1"/>
              <a:t>semnale</a:t>
            </a:r>
            <a:r>
              <a:rPr lang="en-US" dirty="0"/>
              <a:t> </a:t>
            </a:r>
            <a:r>
              <a:rPr lang="en-US" dirty="0" err="1"/>
              <a:t>variabile</a:t>
            </a:r>
            <a:r>
              <a:rPr lang="en-US" dirty="0"/>
              <a:t>. </a:t>
            </a:r>
            <a:r>
              <a:rPr lang="en-US" dirty="0" err="1"/>
              <a:t>Pentru</a:t>
            </a:r>
            <a:r>
              <a:rPr lang="en-US" dirty="0"/>
              <a:t> a le </a:t>
            </a:r>
            <a:r>
              <a:rPr lang="en-US" dirty="0" err="1"/>
              <a:t>explica</a:t>
            </a:r>
            <a:r>
              <a:rPr lang="en-US" dirty="0"/>
              <a:t>, ne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folosi</a:t>
            </a:r>
            <a:r>
              <a:rPr lang="en-US" dirty="0"/>
              <a:t> de </a:t>
            </a:r>
            <a:r>
              <a:rPr lang="en-US" dirty="0" err="1"/>
              <a:t>caracteristica</a:t>
            </a:r>
            <a:r>
              <a:rPr lang="en-US" dirty="0"/>
              <a:t> de  transfer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tensiune</a:t>
            </a:r>
            <a:r>
              <a:rPr lang="en-US" dirty="0"/>
              <a:t> </a:t>
            </a:r>
            <a:r>
              <a:rPr lang="en-US" dirty="0" err="1"/>
              <a:t>Caracteristica</a:t>
            </a:r>
            <a:r>
              <a:rPr lang="en-US" dirty="0"/>
              <a:t> de transfer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liniarizată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trei</a:t>
            </a:r>
            <a:r>
              <a:rPr lang="en-US" dirty="0"/>
              <a:t> </a:t>
            </a:r>
            <a:r>
              <a:rPr lang="en-US" dirty="0" err="1"/>
              <a:t>porţiuni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înţelege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uşor</a:t>
            </a:r>
            <a:r>
              <a:rPr lang="en-US" dirty="0"/>
              <a:t> </a:t>
            </a:r>
            <a:r>
              <a:rPr lang="en-US" dirty="0" err="1"/>
              <a:t>influenţa</a:t>
            </a:r>
            <a:r>
              <a:rPr lang="en-US" dirty="0"/>
              <a:t> </a:t>
            </a:r>
            <a:r>
              <a:rPr lang="en-US" dirty="0" err="1"/>
              <a:t>poziţiei</a:t>
            </a:r>
            <a:r>
              <a:rPr lang="en-US" dirty="0"/>
              <a:t> </a:t>
            </a:r>
            <a:r>
              <a:rPr lang="en-US" dirty="0" err="1"/>
              <a:t>punctului</a:t>
            </a:r>
            <a:r>
              <a:rPr lang="en-US" dirty="0"/>
              <a:t> static de </a:t>
            </a:r>
            <a:r>
              <a:rPr lang="en-US" dirty="0" err="1"/>
              <a:t>funcţionare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formei</a:t>
            </a:r>
            <a:r>
              <a:rPr lang="en-US" dirty="0"/>
              <a:t> </a:t>
            </a:r>
            <a:r>
              <a:rPr lang="en-US" dirty="0" err="1"/>
              <a:t>semnalului</a:t>
            </a:r>
            <a:r>
              <a:rPr lang="en-US" dirty="0"/>
              <a:t> de </a:t>
            </a:r>
            <a:r>
              <a:rPr lang="en-US" dirty="0" err="1"/>
              <a:t>ieşire</a:t>
            </a:r>
            <a:r>
              <a:rPr lang="en-US" dirty="0"/>
              <a:t>.  </a:t>
            </a:r>
            <a:r>
              <a:rPr lang="en-US" dirty="0" err="1"/>
              <a:t>Presupunem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tranzistorului</a:t>
            </a:r>
            <a:r>
              <a:rPr lang="en-US" dirty="0"/>
              <a:t> </a:t>
            </a:r>
            <a:r>
              <a:rPr lang="en-US" dirty="0" err="1"/>
              <a:t>aplicăm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semnal</a:t>
            </a:r>
            <a:r>
              <a:rPr lang="en-US" dirty="0"/>
              <a:t>  sinusoidal mic, </a:t>
            </a:r>
            <a:r>
              <a:rPr lang="en-US" i="1" dirty="0" err="1"/>
              <a:t>u</a:t>
            </a:r>
            <a:r>
              <a:rPr lang="en-US" i="1" baseline="-25000" dirty="0" err="1"/>
              <a:t>be</a:t>
            </a:r>
            <a:r>
              <a:rPr lang="en-US" dirty="0"/>
              <a:t>. O </a:t>
            </a:r>
            <a:r>
              <a:rPr lang="en-US" dirty="0" err="1"/>
              <a:t>variaţie</a:t>
            </a:r>
            <a:r>
              <a:rPr lang="en-US" dirty="0"/>
              <a:t> ∆</a:t>
            </a:r>
            <a:r>
              <a:rPr lang="en-US" i="1" dirty="0" err="1"/>
              <a:t>u</a:t>
            </a:r>
            <a:r>
              <a:rPr lang="en-US" i="1" baseline="-25000" dirty="0" err="1"/>
              <a:t>be</a:t>
            </a:r>
            <a:r>
              <a:rPr lang="en-US" dirty="0"/>
              <a:t>  a </a:t>
            </a:r>
            <a:r>
              <a:rPr lang="en-US" dirty="0" err="1"/>
              <a:t>acestuia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determina</a:t>
            </a:r>
            <a:r>
              <a:rPr lang="en-US" dirty="0"/>
              <a:t> o </a:t>
            </a:r>
            <a:r>
              <a:rPr lang="en-US" dirty="0" err="1"/>
              <a:t>variaţie</a:t>
            </a:r>
            <a:r>
              <a:rPr lang="en-US" dirty="0"/>
              <a:t> ∆</a:t>
            </a:r>
            <a:r>
              <a:rPr lang="en-US" i="1" dirty="0" err="1"/>
              <a:t>u</a:t>
            </a:r>
            <a:r>
              <a:rPr lang="en-US" i="1" baseline="-25000" dirty="0" err="1"/>
              <a:t>ce</a:t>
            </a:r>
            <a:r>
              <a:rPr lang="en-US" dirty="0"/>
              <a:t>, a </a:t>
            </a:r>
            <a:r>
              <a:rPr lang="en-US" dirty="0" err="1"/>
              <a:t>tensiunii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colector</a:t>
            </a:r>
            <a:r>
              <a:rPr lang="en-US" dirty="0"/>
              <a:t> 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emitor</a:t>
            </a:r>
            <a:r>
              <a:rPr lang="en-US" dirty="0"/>
              <a:t> care se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suprapune</a:t>
            </a:r>
            <a:r>
              <a:rPr lang="en-US" dirty="0"/>
              <a:t> </a:t>
            </a:r>
            <a:r>
              <a:rPr lang="en-US" dirty="0" err="1"/>
              <a:t>peste</a:t>
            </a:r>
            <a:r>
              <a:rPr lang="en-US" dirty="0"/>
              <a:t> </a:t>
            </a:r>
            <a:r>
              <a:rPr lang="en-US" dirty="0" err="1"/>
              <a:t>tensiunea</a:t>
            </a:r>
            <a:r>
              <a:rPr lang="en-US" dirty="0"/>
              <a:t> de </a:t>
            </a:r>
            <a:r>
              <a:rPr lang="en-US" dirty="0" err="1"/>
              <a:t>polarizare</a:t>
            </a:r>
            <a:r>
              <a:rPr lang="en-US" dirty="0"/>
              <a:t> </a:t>
            </a:r>
            <a:r>
              <a:rPr lang="en-US" dirty="0" err="1"/>
              <a:t>statică</a:t>
            </a:r>
            <a:r>
              <a:rPr lang="en-US" dirty="0"/>
              <a:t> (</a:t>
            </a:r>
            <a:r>
              <a:rPr lang="en-US" dirty="0" err="1"/>
              <a:t>continuă</a:t>
            </a:r>
            <a:r>
              <a:rPr lang="en-US" dirty="0"/>
              <a:t>).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</a:t>
            </a:r>
            <a:r>
              <a:rPr lang="en-US" dirty="0" err="1"/>
              <a:t>variază</a:t>
            </a:r>
            <a:r>
              <a:rPr lang="en-US" dirty="0"/>
              <a:t>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depinde</a:t>
            </a:r>
            <a:r>
              <a:rPr lang="en-US" dirty="0"/>
              <a:t> de </a:t>
            </a:r>
            <a:r>
              <a:rPr lang="en-US" dirty="0" err="1"/>
              <a:t>poziţia</a:t>
            </a:r>
            <a:r>
              <a:rPr lang="en-US" dirty="0"/>
              <a:t> </a:t>
            </a:r>
            <a:r>
              <a:rPr lang="en-US" dirty="0" err="1"/>
              <a:t>punctului</a:t>
            </a:r>
            <a:r>
              <a:rPr lang="en-US" dirty="0"/>
              <a:t> static de </a:t>
            </a:r>
            <a:r>
              <a:rPr lang="en-US" dirty="0" err="1"/>
              <a:t>funcţionare</a:t>
            </a:r>
            <a:r>
              <a:rPr lang="en-US" dirty="0"/>
              <a:t>, M,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caracteristica</a:t>
            </a:r>
            <a:r>
              <a:rPr lang="en-US" dirty="0"/>
              <a:t> de transfer. </a:t>
            </a:r>
            <a:r>
              <a:rPr lang="en-GB" dirty="0" smtClean="0"/>
              <a:t>S</a:t>
            </a:r>
            <a:r>
              <a:rPr lang="en-US" dirty="0" err="1" smtClean="0"/>
              <a:t>unt</a:t>
            </a:r>
            <a:r>
              <a:rPr lang="en-US" dirty="0" smtClean="0"/>
              <a:t> </a:t>
            </a:r>
            <a:r>
              <a:rPr lang="en-US" dirty="0" err="1"/>
              <a:t>prezentate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patru</a:t>
            </a:r>
            <a:r>
              <a:rPr lang="en-US" dirty="0"/>
              <a:t> </a:t>
            </a:r>
            <a:r>
              <a:rPr lang="en-US" dirty="0" err="1"/>
              <a:t>situaţii</a:t>
            </a:r>
            <a:r>
              <a:rPr lang="en-US" dirty="0"/>
              <a:t> </a:t>
            </a:r>
            <a:r>
              <a:rPr lang="en-US" dirty="0" err="1"/>
              <a:t>posibile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cărora</a:t>
            </a:r>
            <a:r>
              <a:rPr lang="en-US" dirty="0"/>
              <a:t> se </a:t>
            </a:r>
            <a:r>
              <a:rPr lang="en-US" dirty="0" err="1"/>
              <a:t>definesc</a:t>
            </a:r>
            <a:r>
              <a:rPr lang="en-US" dirty="0"/>
              <a:t> </a:t>
            </a:r>
            <a:r>
              <a:rPr lang="en-US" dirty="0" err="1"/>
              <a:t>clasele</a:t>
            </a:r>
            <a:r>
              <a:rPr lang="en-US" dirty="0"/>
              <a:t> de </a:t>
            </a:r>
            <a:r>
              <a:rPr lang="en-US" dirty="0" err="1"/>
              <a:t>funcţionare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259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 rotWithShape="1">
          <a:blip r:embed="rId2"/>
          <a:srcRect l="2869" t="3012" r="60195" b="55074"/>
          <a:stretch/>
        </p:blipFill>
        <p:spPr bwMode="auto">
          <a:xfrm>
            <a:off x="1820635" y="101949"/>
            <a:ext cx="7004958" cy="6756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44218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 rotWithShape="1">
          <a:blip r:embed="rId2"/>
          <a:srcRect l="2494" t="50331" r="62352" b="8197"/>
          <a:stretch/>
        </p:blipFill>
        <p:spPr bwMode="auto">
          <a:xfrm>
            <a:off x="1951263" y="81642"/>
            <a:ext cx="6604908" cy="66225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30980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 rotWithShape="1">
          <a:blip r:embed="rId2"/>
          <a:srcRect l="1244" t="1155" r="2623" b="8197"/>
          <a:stretch/>
        </p:blipFill>
        <p:spPr bwMode="auto">
          <a:xfrm>
            <a:off x="1532093" y="148282"/>
            <a:ext cx="8372399" cy="6709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Прямоугольник 1"/>
          <p:cNvSpPr/>
          <p:nvPr/>
        </p:nvSpPr>
        <p:spPr>
          <a:xfrm>
            <a:off x="6204857" y="148282"/>
            <a:ext cx="3820886" cy="32480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399797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7150" y="228380"/>
            <a:ext cx="12134849" cy="5573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i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Clasa</a:t>
            </a:r>
            <a:r>
              <a:rPr lang="en-US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i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funcţionare</a:t>
            </a:r>
            <a:r>
              <a:rPr lang="en-US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i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defineşte</a:t>
            </a:r>
            <a:r>
              <a:rPr lang="en-US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funcţie</a:t>
            </a:r>
            <a:r>
              <a:rPr lang="en-US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i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intervalul</a:t>
            </a:r>
            <a:r>
              <a:rPr lang="en-US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i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timp</a:t>
            </a:r>
            <a:r>
              <a:rPr lang="en-US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i="1" baseline="-250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dintr</a:t>
            </a:r>
            <a:r>
              <a:rPr lang="en-US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-o </a:t>
            </a:r>
            <a:r>
              <a:rPr lang="en-US" i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perioadă</a:t>
            </a:r>
            <a:r>
              <a:rPr lang="en-US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 a </a:t>
            </a:r>
            <a:r>
              <a:rPr lang="en-US" i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semnalului</a:t>
            </a:r>
            <a:r>
              <a:rPr lang="en-US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care </a:t>
            </a:r>
            <a:r>
              <a:rPr lang="en-US" i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amplificat</a:t>
            </a:r>
            <a:r>
              <a:rPr lang="en-US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care </a:t>
            </a:r>
            <a:r>
              <a:rPr lang="en-US" i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elementul</a:t>
            </a:r>
            <a:r>
              <a:rPr lang="en-US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activ</a:t>
            </a:r>
            <a:r>
              <a:rPr lang="en-US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i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tranzistorul</a:t>
            </a:r>
            <a:r>
              <a:rPr lang="en-US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se </a:t>
            </a:r>
            <a:r>
              <a:rPr lang="en-US" i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află</a:t>
            </a:r>
            <a:r>
              <a:rPr lang="en-US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stare de </a:t>
            </a:r>
            <a:r>
              <a:rPr lang="en-US" i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conducţie</a:t>
            </a:r>
            <a:r>
              <a:rPr lang="en-US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Astfel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definesc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patru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funcţionare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clasa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A, 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baseline="-250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= T,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tranzistorul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află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tot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timpul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stare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conducţie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zona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activă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clasa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AB, T/2 &lt;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baseline="-250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 T, un interval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mic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decât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jumătate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perioadă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tranzistorul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blocat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şi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US" baseline="-25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0.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Semnalul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ieşire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nu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fi sinusoidal (fig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b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clasa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B,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baseline="-250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=T/2, o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jumătate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perioadă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tranzistorul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lucrează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zona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activă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şi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jumătate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perioadă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blocat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Semnalul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ieşire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arată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 un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redresat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monoalternanţă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amplificat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(fig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c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clasa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C,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baseline="-250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 T/2,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tranzistorul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lucrează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zona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activă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puţin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decât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jumătate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perioadă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semnalului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aplicat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intrare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ieşire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are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aspectul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unor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vârfuri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sinusoidă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(fig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d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Această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clasă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funcţionare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folosită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amplificatoarele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putere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care au ca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sarcină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 circuit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rezonant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LC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oscilatoarele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radiofrecvenţă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15000"/>
              </a:lnSpc>
              <a:spcAft>
                <a:spcPts val="1000"/>
              </a:spcAft>
            </a:pP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 smtClean="0"/>
              <a:t>figur</a:t>
            </a:r>
            <a:r>
              <a:rPr lang="x-none" dirty="0" smtClean="0"/>
              <a:t>ă sa </a:t>
            </a:r>
            <a:r>
              <a:rPr lang="en-US" dirty="0" err="1" smtClean="0"/>
              <a:t>păstrat</a:t>
            </a:r>
            <a:r>
              <a:rPr lang="en-US" dirty="0" smtClean="0"/>
              <a:t> </a:t>
            </a:r>
            <a:r>
              <a:rPr lang="en-US" dirty="0" err="1"/>
              <a:t>aceeaşi</a:t>
            </a:r>
            <a:r>
              <a:rPr lang="en-US" dirty="0"/>
              <a:t> </a:t>
            </a:r>
            <a:r>
              <a:rPr lang="en-US" dirty="0" err="1"/>
              <a:t>amplitudine</a:t>
            </a:r>
            <a:r>
              <a:rPr lang="en-US" dirty="0"/>
              <a:t> a </a:t>
            </a:r>
            <a:r>
              <a:rPr lang="en-US" dirty="0" err="1"/>
              <a:t>semnalului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exemplifica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clasele</a:t>
            </a:r>
            <a:r>
              <a:rPr lang="en-US" dirty="0"/>
              <a:t> de </a:t>
            </a:r>
            <a:r>
              <a:rPr lang="en-US" dirty="0" err="1"/>
              <a:t>funcţionare</a:t>
            </a:r>
            <a:r>
              <a:rPr lang="en-US" dirty="0"/>
              <a:t>. Din </a:t>
            </a:r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formelor</a:t>
            </a:r>
            <a:r>
              <a:rPr lang="en-US" dirty="0"/>
              <a:t> de </a:t>
            </a:r>
            <a:r>
              <a:rPr lang="en-US" dirty="0" err="1"/>
              <a:t>undă</a:t>
            </a:r>
            <a:r>
              <a:rPr lang="en-US" dirty="0"/>
              <a:t> ale </a:t>
            </a:r>
            <a:r>
              <a:rPr lang="en-US" dirty="0" err="1"/>
              <a:t>semnalelor</a:t>
            </a:r>
            <a:r>
              <a:rPr lang="en-US" dirty="0"/>
              <a:t> de </a:t>
            </a:r>
            <a:r>
              <a:rPr lang="en-US" dirty="0" err="1"/>
              <a:t>ieşire</a:t>
            </a:r>
            <a:r>
              <a:rPr lang="en-US" dirty="0"/>
              <a:t> 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observa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clasă</a:t>
            </a:r>
            <a:r>
              <a:rPr lang="en-US" dirty="0"/>
              <a:t> A forma </a:t>
            </a:r>
            <a:r>
              <a:rPr lang="en-US" dirty="0" err="1"/>
              <a:t>semnalului</a:t>
            </a:r>
            <a:r>
              <a:rPr lang="en-US" dirty="0"/>
              <a:t> de </a:t>
            </a:r>
            <a:r>
              <a:rPr lang="en-US" dirty="0" err="1"/>
              <a:t>ieşire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aceeaşi</a:t>
            </a:r>
            <a:r>
              <a:rPr lang="en-US" dirty="0"/>
              <a:t> cu </a:t>
            </a:r>
            <a:r>
              <a:rPr lang="en-US" dirty="0" err="1"/>
              <a:t>cea</a:t>
            </a:r>
            <a:r>
              <a:rPr lang="en-US" dirty="0"/>
              <a:t> a </a:t>
            </a:r>
            <a:r>
              <a:rPr lang="en-US" dirty="0" err="1"/>
              <a:t>semnalului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.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celelalte</a:t>
            </a:r>
            <a:r>
              <a:rPr lang="en-US" dirty="0"/>
              <a:t> </a:t>
            </a:r>
            <a:r>
              <a:rPr lang="en-US" dirty="0" err="1"/>
              <a:t>clase</a:t>
            </a:r>
            <a:r>
              <a:rPr lang="en-US" dirty="0"/>
              <a:t> de </a:t>
            </a:r>
            <a:r>
              <a:rPr lang="en-US" dirty="0" err="1"/>
              <a:t>funcţionare</a:t>
            </a:r>
            <a:r>
              <a:rPr lang="en-US" dirty="0"/>
              <a:t>,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intervalul</a:t>
            </a:r>
            <a:r>
              <a:rPr lang="en-US" dirty="0"/>
              <a:t> de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 care </a:t>
            </a:r>
            <a:r>
              <a:rPr lang="en-US" dirty="0" err="1"/>
              <a:t>tranzistorul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blocat</a:t>
            </a:r>
            <a:r>
              <a:rPr lang="en-US" dirty="0"/>
              <a:t>  </a:t>
            </a:r>
            <a:r>
              <a:rPr lang="en-US" dirty="0" err="1"/>
              <a:t>curentul</a:t>
            </a:r>
            <a:r>
              <a:rPr lang="en-US" dirty="0"/>
              <a:t> de </a:t>
            </a:r>
            <a:r>
              <a:rPr lang="en-US" dirty="0" err="1"/>
              <a:t>colector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nul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tensiunea</a:t>
            </a:r>
            <a:r>
              <a:rPr lang="en-US" dirty="0"/>
              <a:t> de </a:t>
            </a:r>
            <a:r>
              <a:rPr lang="en-US" dirty="0" err="1"/>
              <a:t>ieşire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limitată</a:t>
            </a:r>
            <a:r>
              <a:rPr lang="en-US" dirty="0"/>
              <a:t> la </a:t>
            </a:r>
            <a:r>
              <a:rPr lang="en-US" dirty="0" err="1"/>
              <a:t>valoarea</a:t>
            </a:r>
            <a:r>
              <a:rPr lang="en-US" dirty="0"/>
              <a:t> E</a:t>
            </a:r>
            <a:r>
              <a:rPr lang="en-US" baseline="-25000" dirty="0"/>
              <a:t>c</a:t>
            </a:r>
            <a:r>
              <a:rPr lang="en-US" dirty="0"/>
              <a:t>. Ce se </a:t>
            </a:r>
            <a:r>
              <a:rPr lang="en-US" dirty="0" err="1"/>
              <a:t>întâmplă</a:t>
            </a:r>
            <a:r>
              <a:rPr lang="en-US" dirty="0"/>
              <a:t> </a:t>
            </a:r>
            <a:r>
              <a:rPr lang="en-US" dirty="0" err="1"/>
              <a:t>însă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amplificatorul</a:t>
            </a:r>
            <a:r>
              <a:rPr lang="en-US" dirty="0"/>
              <a:t> </a:t>
            </a:r>
            <a:r>
              <a:rPr lang="en-US" dirty="0" err="1"/>
              <a:t>funcţionează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clasă</a:t>
            </a:r>
            <a:r>
              <a:rPr lang="en-US" dirty="0"/>
              <a:t> A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mărim</a:t>
            </a:r>
            <a:r>
              <a:rPr lang="en-US" dirty="0"/>
              <a:t> </a:t>
            </a:r>
            <a:r>
              <a:rPr lang="en-US" dirty="0" err="1"/>
              <a:t>amplitudinea</a:t>
            </a:r>
            <a:r>
              <a:rPr lang="en-US" dirty="0"/>
              <a:t> </a:t>
            </a:r>
            <a:r>
              <a:rPr lang="en-US" dirty="0" err="1"/>
              <a:t>semnalului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?</a:t>
            </a:r>
            <a:endParaRPr lang="en-US" sz="1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066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 rotWithShape="1">
          <a:blip r:embed="rId2"/>
          <a:srcRect l="7059" b="9167"/>
          <a:stretch/>
        </p:blipFill>
        <p:spPr bwMode="auto">
          <a:xfrm>
            <a:off x="3261752" y="208230"/>
            <a:ext cx="5372749" cy="4327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Прямоугольник 4"/>
          <p:cNvSpPr/>
          <p:nvPr/>
        </p:nvSpPr>
        <p:spPr>
          <a:xfrm>
            <a:off x="-111659" y="4535826"/>
            <a:ext cx="12119572" cy="2322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1000"/>
              </a:spcAft>
            </a:pP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amplitudini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ale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semnalului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intrare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tranzistorul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ieşi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din zona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activă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funcţionare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alternanţa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pozitivă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el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trece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regim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saturaţie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iar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alternanţa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negativă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regim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blocare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astfel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încât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semnalul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ieşire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unul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cu aspect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sinosoidă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vârfurile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retezate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general,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deformarea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semnalului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ieşire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depinde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atât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amplitudinea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semnalului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intrare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cât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şi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poziţia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punctului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static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funcţionare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caracteristica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transfer.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datorează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neliniarităţii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caracteristicii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transfer.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Doar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nivele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ale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semnalului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intrare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între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amplitudinea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semnalului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ieşire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şi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amplitudinea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semnalului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intrare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stabilii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relaţie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liniară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directă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proporţionalitate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aceea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modelul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liniar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parametri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hibrizi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vezi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capitolul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precedent)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 model de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mic.</a:t>
            </a:r>
            <a:endParaRPr lang="en-US" sz="1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336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4208781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>
              <a:lnSpc>
                <a:spcPct val="115000"/>
              </a:lnSpc>
              <a:spcAft>
                <a:spcPts val="1000"/>
              </a:spcAft>
            </a:pPr>
            <a:r>
              <a:rPr lang="en-US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Amplificatorul</a:t>
            </a:r>
            <a:r>
              <a:rPr lang="en-US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conexiune</a:t>
            </a:r>
            <a:r>
              <a:rPr lang="en-US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emitor</a:t>
            </a:r>
            <a:r>
              <a:rPr lang="en-US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comun</a:t>
            </a:r>
            <a:endParaRPr lang="en-US" sz="1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/>
          <p:nvPr/>
        </p:nvPicPr>
        <p:blipFill rotWithShape="1">
          <a:blip r:embed="rId2"/>
          <a:srcRect l="1762" t="2515" r="2993" b="6787"/>
          <a:stretch/>
        </p:blipFill>
        <p:spPr bwMode="auto">
          <a:xfrm>
            <a:off x="1729211" y="538470"/>
            <a:ext cx="7876515" cy="6319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87968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83901"/>
            <a:ext cx="121920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TimesNewRomanPSMT"/>
              </a:rPr>
              <a:t>Un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amplificator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cu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tranzistor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bipolar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conexiune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emitor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comun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se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construieşte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foarte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uşor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pornind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de la schema de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polarizare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în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curent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continuu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cu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divizor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de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tensiune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în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bază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.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Valorile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rezistenţelor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de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polarizare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se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calculează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în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funcţie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de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parametrii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tranzistorului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folosit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şi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de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clasa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de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funcţionarea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dorită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.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Dacă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dorim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amplificarea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unor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semnale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mici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sinusoidale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, care la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ieşire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fie tot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sinusoidale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punctul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static de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funcţionare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se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va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alege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astfel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încât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amplificatorul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lucreze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în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clasă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A. Schema 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de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polarizare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în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curent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continuu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se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completează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cu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câţiva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condensatori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de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cuplaj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. </a:t>
            </a:r>
          </a:p>
          <a:p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Tranzistorul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va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fi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supus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simultan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acţiunii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a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două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semnale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semnalul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continuu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(static) 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care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stabileşte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punctul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static de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funcţionare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şi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semnalul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variabil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în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timp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dinamic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) care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va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fi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amplificat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. De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aceea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se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poate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vorbi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despre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două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regimuri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de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funcţionare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regimul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static</a:t>
            </a:r>
            <a:r>
              <a:rPr lang="x-none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şi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regimul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dinamic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, de care ne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vom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ocupa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în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continuare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.</a:t>
            </a:r>
            <a:br>
              <a:rPr lang="en-US" sz="1400" dirty="0">
                <a:solidFill>
                  <a:srgbClr val="000000"/>
                </a:solidFill>
                <a:latin typeface="TimesNewRomanPSMT"/>
              </a:rPr>
            </a:b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Semnalul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pe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care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dorim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-l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amplificăm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furnizat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de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sursa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de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tensiune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i="1" dirty="0">
                <a:solidFill>
                  <a:srgbClr val="000000"/>
                </a:solidFill>
                <a:latin typeface="TimesNewRomanPSMT"/>
              </a:rPr>
              <a:t>u</a:t>
            </a:r>
            <a:r>
              <a:rPr lang="en-US" sz="1400" i="1" baseline="-25000" dirty="0">
                <a:solidFill>
                  <a:srgbClr val="000000"/>
                </a:solidFill>
                <a:latin typeface="TimesNewRomanPSMT"/>
              </a:rPr>
              <a:t>s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cu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rezistenţa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internă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latin typeface="TimesNewRomanPSMT"/>
              </a:rPr>
              <a:t>R</a:t>
            </a:r>
            <a:r>
              <a:rPr lang="en-US" sz="1400" i="1" baseline="-25000" dirty="0" err="1">
                <a:solidFill>
                  <a:srgbClr val="000000"/>
                </a:solidFill>
                <a:latin typeface="TimesNewRomanPSMT"/>
              </a:rPr>
              <a:t>s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) se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aplică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prin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intermediul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condensatorului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latin typeface="TimesNewRomanPSMT"/>
              </a:rPr>
              <a:t>C</a:t>
            </a:r>
            <a:r>
              <a:rPr lang="en-US" sz="1400" i="1" baseline="-25000" dirty="0" err="1">
                <a:solidFill>
                  <a:srgbClr val="000000"/>
                </a:solidFill>
                <a:latin typeface="TimesNewRomanPSMT"/>
              </a:rPr>
              <a:t>b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pe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baza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tranzistorului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.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Condensatorul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trebuie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lase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semnalul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treacă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practic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neatenuat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spre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tranzistor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şi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în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acelaşi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timp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,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să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blocheze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curentul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continuu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de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polarizare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statică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care “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curge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”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prin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i="1" dirty="0">
                <a:solidFill>
                  <a:srgbClr val="000000"/>
                </a:solidFill>
                <a:latin typeface="TimesNewRomanPSMT"/>
              </a:rPr>
              <a:t>R</a:t>
            </a:r>
            <a:r>
              <a:rPr lang="en-US" sz="1400" i="1" baseline="-25000" dirty="0">
                <a:solidFill>
                  <a:srgbClr val="000000"/>
                </a:solidFill>
                <a:latin typeface="TimesNewRomanPSMT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,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astfel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încât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el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nu se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îndrepte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şi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spre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sursa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de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semnal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.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Capacitatea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sa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se 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allege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astfel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încât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, la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frecvenţa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semnalului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amplificat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, el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prezinte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o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reactanţă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neglijabilă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faţă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de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celelalte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elemente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din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schemă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şi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practic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poată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fi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considerat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un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scurtcircuit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la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această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frecvenţă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.</a:t>
            </a:r>
          </a:p>
          <a:p>
            <a:r>
              <a:rPr lang="en-US" sz="1400" dirty="0" err="1"/>
              <a:t>Semnalul</a:t>
            </a:r>
            <a:r>
              <a:rPr lang="en-US" sz="1400" dirty="0"/>
              <a:t> de </a:t>
            </a:r>
            <a:r>
              <a:rPr lang="en-US" sz="1400" dirty="0" err="1"/>
              <a:t>ieşire</a:t>
            </a:r>
            <a:r>
              <a:rPr lang="en-US" sz="1400" dirty="0"/>
              <a:t> </a:t>
            </a:r>
            <a:r>
              <a:rPr lang="en-US" sz="1400" dirty="0" err="1"/>
              <a:t>este</a:t>
            </a:r>
            <a:r>
              <a:rPr lang="en-US" sz="1400" dirty="0"/>
              <a:t> </a:t>
            </a:r>
            <a:r>
              <a:rPr lang="en-US" sz="1400" dirty="0" err="1"/>
              <a:t>luat</a:t>
            </a:r>
            <a:r>
              <a:rPr lang="en-US" sz="1400" dirty="0"/>
              <a:t> de </a:t>
            </a:r>
            <a:r>
              <a:rPr lang="en-US" sz="1400" dirty="0" err="1"/>
              <a:t>pe</a:t>
            </a:r>
            <a:r>
              <a:rPr lang="en-US" sz="1400" dirty="0"/>
              <a:t> </a:t>
            </a:r>
            <a:r>
              <a:rPr lang="en-US" sz="1400" dirty="0" err="1"/>
              <a:t>colectorul</a:t>
            </a:r>
            <a:r>
              <a:rPr lang="en-US" sz="1400" dirty="0"/>
              <a:t> </a:t>
            </a:r>
            <a:r>
              <a:rPr lang="en-US" sz="1400" dirty="0" err="1"/>
              <a:t>tranzistorului</a:t>
            </a:r>
            <a:r>
              <a:rPr lang="en-US" sz="1400" dirty="0"/>
              <a:t> (</a:t>
            </a:r>
            <a:r>
              <a:rPr lang="en-US" sz="1400" dirty="0" err="1" smtClean="0"/>
              <a:t>borna</a:t>
            </a:r>
            <a:r>
              <a:rPr lang="en-US" sz="1400" dirty="0" smtClean="0"/>
              <a:t> </a:t>
            </a:r>
            <a:r>
              <a:rPr lang="en-US" sz="1400" dirty="0" err="1" smtClean="0"/>
              <a:t>caldă</a:t>
            </a:r>
            <a:r>
              <a:rPr lang="en-US" sz="1400" dirty="0"/>
              <a:t>) </a:t>
            </a:r>
            <a:r>
              <a:rPr lang="en-US" sz="1400" dirty="0" err="1"/>
              <a:t>prin</a:t>
            </a:r>
            <a:r>
              <a:rPr lang="en-US" sz="1400" dirty="0"/>
              <a:t> </a:t>
            </a:r>
            <a:r>
              <a:rPr lang="en-US" sz="1400" dirty="0" err="1"/>
              <a:t>intermediul</a:t>
            </a:r>
            <a:r>
              <a:rPr lang="en-US" sz="1400" dirty="0"/>
              <a:t> </a:t>
            </a:r>
            <a:r>
              <a:rPr lang="en-US" sz="1400" dirty="0" err="1"/>
              <a:t>condensatorului</a:t>
            </a:r>
            <a:r>
              <a:rPr lang="en-US" sz="1400" dirty="0"/>
              <a:t> </a:t>
            </a:r>
            <a:r>
              <a:rPr lang="en-US" sz="1400" i="1" dirty="0"/>
              <a:t>C</a:t>
            </a:r>
            <a:r>
              <a:rPr lang="en-US" sz="1400" i="1" baseline="-25000" dirty="0"/>
              <a:t>c</a:t>
            </a:r>
            <a:r>
              <a:rPr lang="en-US" sz="1400" i="1" dirty="0"/>
              <a:t> </a:t>
            </a:r>
            <a:r>
              <a:rPr lang="en-US" sz="1400" dirty="0"/>
              <a:t>care </a:t>
            </a:r>
            <a:r>
              <a:rPr lang="en-US" sz="1400" dirty="0" err="1"/>
              <a:t>trebuie</a:t>
            </a:r>
            <a:r>
              <a:rPr lang="en-US" sz="1400" dirty="0"/>
              <a:t> </a:t>
            </a:r>
            <a:r>
              <a:rPr lang="en-US" sz="1400" dirty="0" err="1"/>
              <a:t>să</a:t>
            </a:r>
            <a:r>
              <a:rPr lang="en-US" sz="1400" dirty="0"/>
              <a:t> </a:t>
            </a:r>
            <a:r>
              <a:rPr lang="en-US" sz="1400" dirty="0" smtClean="0"/>
              <a:t>permit </a:t>
            </a:r>
            <a:r>
              <a:rPr lang="en-US" sz="1400" dirty="0" err="1" smtClean="0"/>
              <a:t>semnalului</a:t>
            </a:r>
            <a:r>
              <a:rPr lang="en-US" sz="1400" dirty="0" smtClean="0"/>
              <a:t> </a:t>
            </a:r>
            <a:r>
              <a:rPr lang="en-US" sz="1400" dirty="0" err="1"/>
              <a:t>amplificat</a:t>
            </a:r>
            <a:r>
              <a:rPr lang="en-US" sz="1400" dirty="0"/>
              <a:t> </a:t>
            </a:r>
            <a:r>
              <a:rPr lang="en-US" sz="1400" dirty="0" err="1"/>
              <a:t>să</a:t>
            </a:r>
            <a:r>
              <a:rPr lang="en-US" sz="1400" dirty="0"/>
              <a:t> </a:t>
            </a:r>
            <a:r>
              <a:rPr lang="en-US" sz="1400" dirty="0" err="1"/>
              <a:t>treacă</a:t>
            </a:r>
            <a:r>
              <a:rPr lang="en-US" sz="1400" dirty="0"/>
              <a:t> </a:t>
            </a:r>
            <a:r>
              <a:rPr lang="en-US" sz="1400" dirty="0" err="1"/>
              <a:t>nestingherit</a:t>
            </a:r>
            <a:r>
              <a:rPr lang="en-US" sz="1400" dirty="0"/>
              <a:t> </a:t>
            </a:r>
            <a:r>
              <a:rPr lang="en-US" sz="1400" dirty="0" err="1"/>
              <a:t>spre</a:t>
            </a:r>
            <a:r>
              <a:rPr lang="en-US" sz="1400" dirty="0"/>
              <a:t> </a:t>
            </a:r>
            <a:r>
              <a:rPr lang="en-US" sz="1400" dirty="0" err="1"/>
              <a:t>sarcina</a:t>
            </a:r>
            <a:r>
              <a:rPr lang="en-US" sz="1400" dirty="0"/>
              <a:t> </a:t>
            </a:r>
            <a:r>
              <a:rPr lang="en-US" sz="1400" dirty="0" err="1" smtClean="0"/>
              <a:t>amplificatorului</a:t>
            </a:r>
            <a:r>
              <a:rPr lang="en-US" sz="1400" dirty="0" smtClean="0"/>
              <a:t> (</a:t>
            </a:r>
            <a:r>
              <a:rPr lang="en-US" sz="1400" dirty="0" err="1"/>
              <a:t>aici</a:t>
            </a:r>
            <a:r>
              <a:rPr lang="en-US" sz="1400" dirty="0"/>
              <a:t> </a:t>
            </a:r>
            <a:r>
              <a:rPr lang="en-US" sz="1400" i="1" dirty="0" err="1"/>
              <a:t>R</a:t>
            </a:r>
            <a:r>
              <a:rPr lang="en-US" sz="1400" i="1" baseline="-25000" dirty="0" err="1"/>
              <a:t>sarc</a:t>
            </a:r>
            <a:r>
              <a:rPr lang="en-US" sz="1400" dirty="0"/>
              <a:t>) </a:t>
            </a:r>
            <a:r>
              <a:rPr lang="en-US" sz="1400" dirty="0" err="1"/>
              <a:t>şi</a:t>
            </a:r>
            <a:r>
              <a:rPr lang="en-US" sz="1400" dirty="0"/>
              <a:t> </a:t>
            </a:r>
            <a:r>
              <a:rPr lang="en-US" sz="1400" dirty="0" err="1"/>
              <a:t>să</a:t>
            </a:r>
            <a:r>
              <a:rPr lang="en-US" sz="1400" dirty="0"/>
              <a:t> nu </a:t>
            </a:r>
            <a:r>
              <a:rPr lang="en-US" sz="1400" dirty="0" err="1"/>
              <a:t>permită</a:t>
            </a:r>
            <a:r>
              <a:rPr lang="en-US" sz="1400" dirty="0"/>
              <a:t> </a:t>
            </a:r>
            <a:r>
              <a:rPr lang="en-US" sz="1400" dirty="0" err="1"/>
              <a:t>componentei</a:t>
            </a:r>
            <a:r>
              <a:rPr lang="en-US" sz="1400" dirty="0"/>
              <a:t> continue a </a:t>
            </a:r>
            <a:r>
              <a:rPr lang="en-US" sz="1400" dirty="0" err="1"/>
              <a:t>curentului</a:t>
            </a:r>
            <a:r>
              <a:rPr lang="en-US" sz="1400" dirty="0"/>
              <a:t> de </a:t>
            </a:r>
            <a:r>
              <a:rPr lang="en-US" sz="1400" dirty="0" err="1"/>
              <a:t>colector</a:t>
            </a:r>
            <a:r>
              <a:rPr lang="en-US" sz="1400" dirty="0"/>
              <a:t> </a:t>
            </a:r>
            <a:r>
              <a:rPr lang="en-US" sz="1400" dirty="0" err="1" smtClean="0"/>
              <a:t>să</a:t>
            </a:r>
            <a:r>
              <a:rPr lang="en-US" sz="1400" dirty="0" smtClean="0"/>
              <a:t> </a:t>
            </a:r>
            <a:r>
              <a:rPr lang="en-US" sz="1400" dirty="0" err="1" smtClean="0"/>
              <a:t>treacă</a:t>
            </a:r>
            <a:r>
              <a:rPr lang="en-US" sz="1400" dirty="0" smtClean="0"/>
              <a:t> </a:t>
            </a:r>
            <a:r>
              <a:rPr lang="en-US" sz="1400" dirty="0" err="1"/>
              <a:t>prin</a:t>
            </a:r>
            <a:r>
              <a:rPr lang="en-US" sz="1400" dirty="0"/>
              <a:t> </a:t>
            </a:r>
            <a:r>
              <a:rPr lang="en-US" sz="1400" dirty="0" err="1"/>
              <a:t>aceasta</a:t>
            </a:r>
            <a:r>
              <a:rPr lang="en-US" sz="1400" dirty="0"/>
              <a:t>. </a:t>
            </a:r>
            <a:r>
              <a:rPr lang="en-US" sz="1400" dirty="0" err="1"/>
              <a:t>Valoarea</a:t>
            </a:r>
            <a:r>
              <a:rPr lang="en-US" sz="1400" dirty="0"/>
              <a:t> </a:t>
            </a:r>
            <a:r>
              <a:rPr lang="en-US" sz="1400" dirty="0" err="1"/>
              <a:t>sa</a:t>
            </a:r>
            <a:r>
              <a:rPr lang="en-US" sz="1400" dirty="0"/>
              <a:t> se </a:t>
            </a:r>
            <a:r>
              <a:rPr lang="en-US" sz="1400" dirty="0" err="1"/>
              <a:t>alege</a:t>
            </a:r>
            <a:r>
              <a:rPr lang="en-US" sz="1400" dirty="0"/>
              <a:t> </a:t>
            </a:r>
            <a:r>
              <a:rPr lang="en-US" sz="1400" dirty="0" err="1"/>
              <a:t>astfel</a:t>
            </a:r>
            <a:r>
              <a:rPr lang="en-US" sz="1400" dirty="0"/>
              <a:t> </a:t>
            </a:r>
            <a:r>
              <a:rPr lang="en-US" sz="1400" dirty="0" err="1"/>
              <a:t>încât</a:t>
            </a:r>
            <a:r>
              <a:rPr lang="en-US" sz="1400" dirty="0"/>
              <a:t>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693" y="3269299"/>
            <a:ext cx="989516" cy="477178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3879254"/>
            <a:ext cx="12192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Dacă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un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curent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continuu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ar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trece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prin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rezistenţa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de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sarcină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acesta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ar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translate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tensiunea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de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ieşire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înspre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valori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pozitive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cu o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tensiune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egală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cu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căderea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de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tensiune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continuă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pe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rezistenţa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de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sarcină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determinând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şi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un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consum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suplimentar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de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energie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de la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sursa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de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alimentare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. Am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văzut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că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rezistenţa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din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emitorul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tranzistorului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, </a:t>
            </a:r>
            <a:r>
              <a:rPr lang="en-US" sz="1400" i="1" dirty="0">
                <a:solidFill>
                  <a:srgbClr val="000000"/>
                </a:solidFill>
                <a:latin typeface="TimesNewRomanPS-ItalicMT"/>
              </a:rPr>
              <a:t>R</a:t>
            </a:r>
            <a:r>
              <a:rPr lang="en-US" sz="900" i="1" dirty="0">
                <a:solidFill>
                  <a:srgbClr val="000000"/>
                </a:solidFill>
                <a:latin typeface="TimesNewRomanPS-ItalicMT"/>
              </a:rPr>
              <a:t>E 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are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în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primul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rând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rolul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de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stabilizare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a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punctului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static de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funcţionare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la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variaţiile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de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temperatură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.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Deci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prezenţa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ei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este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aproape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obligatorie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.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Pe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de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altă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parte,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dacă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componenta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variabilă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a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curentului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care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trece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prin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tranzistor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trece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şi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prin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i="1" dirty="0">
                <a:solidFill>
                  <a:srgbClr val="000000"/>
                </a:solidFill>
                <a:latin typeface="TimesNewRomanPS-ItalicMT"/>
              </a:rPr>
              <a:t>R</a:t>
            </a:r>
            <a:r>
              <a:rPr lang="en-US" sz="900" i="1" dirty="0">
                <a:solidFill>
                  <a:srgbClr val="000000"/>
                </a:solidFill>
                <a:latin typeface="TimesNewRomanPS-ItalicMT"/>
              </a:rPr>
              <a:t>E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,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atunci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o parte din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energia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acesteia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se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consumă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pe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această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rezistenţă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şi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nivelul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semnalului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de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ieşire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va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fi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mai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mic.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Pentru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a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evita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acest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neajuns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,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în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TimesNewRomanPSMT"/>
              </a:rPr>
              <a:t>paralel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cu </a:t>
            </a:r>
            <a:r>
              <a:rPr lang="en-US" sz="1400" i="1" dirty="0">
                <a:solidFill>
                  <a:srgbClr val="000000"/>
                </a:solidFill>
                <a:latin typeface="TimesNewRomanPS-ItalicMT"/>
              </a:rPr>
              <a:t>R</a:t>
            </a:r>
            <a:r>
              <a:rPr lang="en-US" sz="900" i="1" dirty="0">
                <a:solidFill>
                  <a:srgbClr val="000000"/>
                </a:solidFill>
                <a:latin typeface="TimesNewRomanPS-ItalicMT"/>
              </a:rPr>
              <a:t>E 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se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conectează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un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condensator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de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decuplare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, </a:t>
            </a:r>
            <a:r>
              <a:rPr lang="en-US" sz="1400" i="1" dirty="0">
                <a:solidFill>
                  <a:srgbClr val="000000"/>
                </a:solidFill>
                <a:latin typeface="TimesNewRomanPS-ItalicMT"/>
              </a:rPr>
              <a:t>C</a:t>
            </a:r>
            <a:r>
              <a:rPr lang="en-US" sz="900" i="1" dirty="0">
                <a:solidFill>
                  <a:srgbClr val="000000"/>
                </a:solidFill>
                <a:latin typeface="TimesNewRomanPS-ItalicMT"/>
              </a:rPr>
              <a:t>E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, cu o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astfel</a:t>
            </a:r>
            <a:r>
              <a:rPr lang="en-US" sz="14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TimesNewRomanPSMT"/>
              </a:rPr>
              <a:t>de capacitate </a:t>
            </a:r>
            <a:r>
              <a:rPr lang="en-US" sz="1400" dirty="0" err="1">
                <a:solidFill>
                  <a:srgbClr val="000000"/>
                </a:solidFill>
                <a:latin typeface="TimesNewRomanPSMT"/>
              </a:rPr>
              <a:t>încât</a:t>
            </a:r>
            <a:r>
              <a:rPr lang="en-US" sz="1400" dirty="0"/>
              <a:t> 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485" y="5003740"/>
            <a:ext cx="1100515" cy="52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3989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96159" y="199673"/>
            <a:ext cx="1188116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această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condiţie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satisfăcută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condensatorul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i="1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reprezenta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scurtcircuit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spre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borna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componenta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variabilă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emitor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din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punct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vedere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semnalului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variabil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timp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emitorul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potenţialul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masei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aceea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spune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despre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tip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lucrează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emitorul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Este evident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componenta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continuă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emitor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condensatorul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i="1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echivalent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întrerupere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încât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aceasta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trece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spre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borna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i="1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Având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vedere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precizări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clar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comportă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mod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diferit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faţă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două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tipuri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continuu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static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variabil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timp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care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trebuie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static,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continuu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toţi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condensatorii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pot fi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înlocuiţi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întrerupere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ramurii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care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află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l-GR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ω = 0, 1/ω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 → ∞ ),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schema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amplificatorului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reduce.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nu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altceva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decât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schema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continuu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bipolar cu care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stabileşte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poziţia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punctului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static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M.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El se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află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la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intersecţia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dintre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dreapta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sarcină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regim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static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caracteristica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voltamperică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corespunzătoare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curentului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Bo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063246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/>
          <a:srcRect b="9187"/>
          <a:stretch/>
        </p:blipFill>
        <p:spPr bwMode="auto">
          <a:xfrm>
            <a:off x="99003" y="-1"/>
            <a:ext cx="4445837" cy="6755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4"/>
          <a:srcRect b="19936"/>
          <a:stretch/>
        </p:blipFill>
        <p:spPr bwMode="auto">
          <a:xfrm>
            <a:off x="4544840" y="653848"/>
            <a:ext cx="7584871" cy="5448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28874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63374" y="0"/>
            <a:ext cx="1212862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regim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dinamic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frecvenţa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fost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proiectat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aibă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maximă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fiecare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condensator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înlocuit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scurtcircuit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asemenea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deoarece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105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105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 const. , ∆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105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105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 0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variaţii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sursa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alimentare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continuu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înlocuită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scurtcircuit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simplitate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am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considerat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rezistenţa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sarcină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mult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i="1" baseline="-25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această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aproximaţie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nu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făcută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locul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i="1" baseline="-25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rezistenţa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echivalentă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acesteia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conectată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paralel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i="1" baseline="-25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sarc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/>
          <a:srcRect l="-177" t="12313" r="177" b="17596"/>
          <a:stretch/>
        </p:blipFill>
        <p:spPr bwMode="auto">
          <a:xfrm>
            <a:off x="271604" y="2444435"/>
            <a:ext cx="6025449" cy="2544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/>
          <a:srcRect l="1457" t="2310" r="989" b="9436"/>
          <a:stretch/>
        </p:blipFill>
        <p:spPr bwMode="auto">
          <a:xfrm>
            <a:off x="6556954" y="2444435"/>
            <a:ext cx="5186683" cy="3739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53843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214265" y="169814"/>
            <a:ext cx="116276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Se </a:t>
            </a:r>
            <a:r>
              <a:rPr lang="en-US" dirty="0" err="1"/>
              <a:t>vede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</a:t>
            </a:r>
            <a:r>
              <a:rPr lang="en-US" dirty="0" err="1"/>
              <a:t>variaţia</a:t>
            </a:r>
            <a:r>
              <a:rPr lang="en-US" dirty="0"/>
              <a:t> </a:t>
            </a:r>
            <a:r>
              <a:rPr lang="en-US" dirty="0" err="1"/>
              <a:t>curentului</a:t>
            </a:r>
            <a:r>
              <a:rPr lang="en-US" dirty="0"/>
              <a:t> de </a:t>
            </a:r>
            <a:r>
              <a:rPr lang="en-US" dirty="0" err="1"/>
              <a:t>colector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variaţia</a:t>
            </a:r>
            <a:r>
              <a:rPr lang="en-US" dirty="0"/>
              <a:t> </a:t>
            </a:r>
            <a:r>
              <a:rPr lang="en-US" dirty="0" err="1" smtClean="0"/>
              <a:t>tensiunii</a:t>
            </a:r>
            <a:r>
              <a:rPr lang="en-US" dirty="0" smtClean="0"/>
              <a:t> </a:t>
            </a:r>
            <a:r>
              <a:rPr lang="en-US" dirty="0" err="1" smtClean="0"/>
              <a:t>dintre</a:t>
            </a:r>
            <a:r>
              <a:rPr lang="en-US" dirty="0" smtClean="0"/>
              <a:t> </a:t>
            </a:r>
            <a:r>
              <a:rPr lang="en-US" dirty="0" err="1"/>
              <a:t>colector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emitor</a:t>
            </a:r>
            <a:r>
              <a:rPr lang="en-US" dirty="0"/>
              <a:t> 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stabili</a:t>
            </a:r>
            <a:r>
              <a:rPr lang="en-US" dirty="0"/>
              <a:t> </a:t>
            </a:r>
            <a:r>
              <a:rPr lang="en-US" dirty="0" err="1"/>
              <a:t>dependenţa</a:t>
            </a:r>
            <a:endParaRPr lang="en-US" dirty="0"/>
          </a:p>
        </p:txBody>
      </p:sp>
      <p:pic>
        <p:nvPicPr>
          <p:cNvPr id="7" name="Рисунок 6"/>
          <p:cNvPicPr/>
          <p:nvPr/>
        </p:nvPicPr>
        <p:blipFill>
          <a:blip r:embed="rId2"/>
          <a:stretch>
            <a:fillRect/>
          </a:stretch>
        </p:blipFill>
        <p:spPr>
          <a:xfrm>
            <a:off x="461668" y="625964"/>
            <a:ext cx="1944216" cy="864096"/>
          </a:xfrm>
          <a:prstGeom prst="rect">
            <a:avLst/>
          </a:prstGeom>
          <a:scene3d>
            <a:camera prst="orthographicFront"/>
            <a:lightRig rig="threePt" dir="t"/>
          </a:scene3d>
          <a:sp3d contourW="6350"/>
        </p:spPr>
      </p:pic>
      <p:sp>
        <p:nvSpPr>
          <p:cNvPr id="8" name="Прямоугольник 7"/>
          <p:cNvSpPr/>
          <p:nvPr/>
        </p:nvSpPr>
        <p:spPr>
          <a:xfrm>
            <a:off x="2586274" y="873346"/>
            <a:ext cx="38145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Care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reprezintă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dreaptă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panta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9" name="Рисунок 8"/>
          <p:cNvPicPr/>
          <p:nvPr/>
        </p:nvPicPr>
        <p:blipFill>
          <a:blip r:embed="rId3"/>
          <a:stretch>
            <a:fillRect/>
          </a:stretch>
        </p:blipFill>
        <p:spPr>
          <a:xfrm>
            <a:off x="6499710" y="625964"/>
            <a:ext cx="1584176" cy="864096"/>
          </a:xfrm>
          <a:prstGeom prst="rect">
            <a:avLst/>
          </a:prstGeom>
          <a:scene3d>
            <a:camera prst="orthographicFront"/>
            <a:lightRig rig="threePt" dir="t"/>
          </a:scene3d>
          <a:sp3d contourW="6350"/>
        </p:spPr>
      </p:pic>
      <p:sp>
        <p:nvSpPr>
          <p:cNvPr id="10" name="Прямоугольник 9"/>
          <p:cNvSpPr/>
          <p:nvPr/>
        </p:nvSpPr>
        <p:spPr>
          <a:xfrm>
            <a:off x="114678" y="1576878"/>
            <a:ext cx="1200791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Aceasta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dreapta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sarcină</a:t>
            </a:r>
            <a:r>
              <a:rPr lang="en-US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dinamic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trece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punctul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static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dinamic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punctul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al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plimba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această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dreaptă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sarcină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de o parte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alta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punctului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static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Punctele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intersecţie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două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axe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coordonate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pot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determina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foarte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simplu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două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triunghiuri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haşurate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cunoscând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catetă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unghiul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en-US" i="1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Mecanismul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elementului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activ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înţelege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analizei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grafice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Admitem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punctul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static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fost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stabilit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tranzistorului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aplicăm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mic, sinusoidal,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care l-am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notat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i="1" baseline="-25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∆</a:t>
            </a:r>
            <a:r>
              <a:rPr lang="en-US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i="1" baseline="-25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dintre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colectorul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determina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∆</a:t>
            </a:r>
            <a:r>
              <a:rPr lang="en-US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baseline="-25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care, conform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relaţiilor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definire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parametrilor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hibrizi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fi: </a:t>
            </a:r>
          </a:p>
        </p:txBody>
      </p:sp>
      <p:pic>
        <p:nvPicPr>
          <p:cNvPr id="11" name="Рисунок 10"/>
          <p:cNvPicPr/>
          <p:nvPr/>
        </p:nvPicPr>
        <p:blipFill>
          <a:blip r:embed="rId4"/>
          <a:stretch>
            <a:fillRect/>
          </a:stretch>
        </p:blipFill>
        <p:spPr>
          <a:xfrm>
            <a:off x="357340" y="3972020"/>
            <a:ext cx="1483676" cy="771024"/>
          </a:xfrm>
          <a:prstGeom prst="rect">
            <a:avLst/>
          </a:prstGeom>
          <a:scene3d>
            <a:camera prst="orthographicFront"/>
            <a:lightRig rig="threePt" dir="t"/>
          </a:scene3d>
          <a:sp3d contourW="6350"/>
        </p:spPr>
      </p:pic>
      <p:sp>
        <p:nvSpPr>
          <p:cNvPr id="12" name="Прямоугольник 11"/>
          <p:cNvSpPr/>
          <p:nvPr/>
        </p:nvSpPr>
        <p:spPr>
          <a:xfrm>
            <a:off x="114678" y="4743044"/>
            <a:ext cx="118811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Variaţia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determinând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variaţie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colector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care,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ştiind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admitanţa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foarte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mică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aproximată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cu: 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40" y="5514068"/>
            <a:ext cx="1836948" cy="797504"/>
          </a:xfrm>
          <a:prstGeom prst="rect">
            <a:avLst/>
          </a:prstGeom>
          <a:scene3d>
            <a:camera prst="orthographicFront"/>
            <a:lightRig rig="threePt" dir="t"/>
          </a:scene3d>
          <a:sp3d contourW="6350"/>
        </p:spPr>
      </p:pic>
      <p:sp>
        <p:nvSpPr>
          <p:cNvPr id="14" name="Прямоугольник 13"/>
          <p:cNvSpPr/>
          <p:nvPr/>
        </p:nvSpPr>
        <p:spPr>
          <a:xfrm>
            <a:off x="2921252" y="5698734"/>
            <a:ext cx="907459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Această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colector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determina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plimbarea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punctului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static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dreapta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sarcină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dinamic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între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punctele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Q cu 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frecvenţă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egală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frecvenţa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55356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810807" y="72087"/>
            <a:ext cx="8033214" cy="678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16057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14993" y="103725"/>
            <a:ext cx="118599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După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cum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observa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atât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această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analiză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grafică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comportarea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dinamic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dintre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colector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emitor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(care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antifază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105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variaţia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exprimată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relaţia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02652" y="1027055"/>
            <a:ext cx="2473805" cy="775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contourW="6350"/>
        </p:spPr>
      </p:pic>
      <p:sp>
        <p:nvSpPr>
          <p:cNvPr id="6" name="Прямоугольник 5"/>
          <p:cNvSpPr/>
          <p:nvPr/>
        </p:nvSpPr>
        <p:spPr>
          <a:xfrm>
            <a:off x="0" y="1950385"/>
            <a:ext cx="119525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 relaţia precedentă se poate exprima amplificarea </a:t>
            </a:r>
            <a:r>
              <a:rPr lang="it-IT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datorată tranzistorului</a:t>
            </a:r>
            <a:r>
              <a:rPr lang="it-IT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r>
              <a:rPr lang="it-IT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02652" y="2319717"/>
            <a:ext cx="2098248" cy="1074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contourW="6350"/>
        </p:spPr>
      </p:pic>
      <p:sp>
        <p:nvSpPr>
          <p:cNvPr id="8" name="Прямоугольник 7"/>
          <p:cNvSpPr/>
          <p:nvPr/>
        </p:nvSpPr>
        <p:spPr>
          <a:xfrm>
            <a:off x="0" y="3410902"/>
            <a:ext cx="11977007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analiză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detaliată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funcţionării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construind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schema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echivalentă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variaţii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aceasta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facem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următoarele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precizări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înlocuieşte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schema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echivalentă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parametrii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hibrizi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care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neglija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efectul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sursei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105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12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∆</a:t>
            </a:r>
            <a:r>
              <a:rPr lang="en-US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105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furnizată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foarte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mică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• din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punct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vedere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al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variaţiilor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borna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alimentare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continuă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conectată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domeniul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frecvenţe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maximă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pot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neglija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efectele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tuturor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capacităţilor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obţine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schema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echivalentă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3396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20947" y="349102"/>
            <a:ext cx="8746094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404388" y="3206622"/>
            <a:ext cx="1159145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Scopul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nostru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găsim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expresie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utilă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expresie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căreia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putem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proiecta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real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Având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vedere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valorile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rezistenţelor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05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05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(le-am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văzut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continuu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impedanţei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105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11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aprecia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31699" y="3794106"/>
            <a:ext cx="1458485" cy="686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341014" y="4253308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variaţia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94184" y="4129952"/>
            <a:ext cx="1453941" cy="702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contourW="6350"/>
        </p:spPr>
      </p:pic>
      <p:sp>
        <p:nvSpPr>
          <p:cNvPr id="15" name="Прямоугольник 14"/>
          <p:cNvSpPr/>
          <p:nvPr/>
        </p:nvSpPr>
        <p:spPr>
          <a:xfrm>
            <a:off x="214265" y="5143825"/>
            <a:ext cx="113922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Mergând</a:t>
            </a:r>
            <a:r>
              <a:rPr lang="en-US" dirty="0"/>
              <a:t> </a:t>
            </a:r>
            <a:r>
              <a:rPr lang="en-US" dirty="0" err="1"/>
              <a:t>acum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circuitul</a:t>
            </a:r>
            <a:r>
              <a:rPr lang="en-US" dirty="0"/>
              <a:t> de </a:t>
            </a:r>
            <a:r>
              <a:rPr lang="en-US" dirty="0" err="1"/>
              <a:t>ieşire</a:t>
            </a:r>
            <a:r>
              <a:rPr lang="en-US" dirty="0"/>
              <a:t>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observa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 smtClean="0"/>
              <a:t>rezistenţa</a:t>
            </a:r>
            <a:r>
              <a:rPr lang="en-US" dirty="0" smtClean="0"/>
              <a:t> </a:t>
            </a:r>
            <a:r>
              <a:rPr lang="en-US" dirty="0" err="1" smtClean="0"/>
              <a:t>echivalentă</a:t>
            </a:r>
            <a:r>
              <a:rPr lang="en-US" dirty="0" smtClean="0"/>
              <a:t> </a:t>
            </a:r>
            <a:r>
              <a:rPr lang="en-US" dirty="0" err="1"/>
              <a:t>paralel</a:t>
            </a:r>
            <a:r>
              <a:rPr lang="en-US" dirty="0"/>
              <a:t> </a:t>
            </a:r>
            <a:r>
              <a:rPr lang="en-US" dirty="0" err="1"/>
              <a:t>R</a:t>
            </a:r>
            <a:r>
              <a:rPr lang="en-US" baseline="-25000" dirty="0" err="1"/>
              <a:t>c</a:t>
            </a:r>
            <a:r>
              <a:rPr lang="en-US" dirty="0"/>
              <a:t>|| h</a:t>
            </a:r>
            <a:r>
              <a:rPr lang="en-US" baseline="-25000" dirty="0"/>
              <a:t>22</a:t>
            </a:r>
            <a:r>
              <a:rPr lang="en-US" dirty="0"/>
              <a:t> </a:t>
            </a:r>
            <a:r>
              <a:rPr lang="en-US" baseline="30000" dirty="0"/>
              <a:t>−1</a:t>
            </a:r>
            <a:r>
              <a:rPr lang="en-US" dirty="0"/>
              <a:t> ||</a:t>
            </a:r>
            <a:r>
              <a:rPr lang="en-US" dirty="0" err="1"/>
              <a:t>R</a:t>
            </a:r>
            <a:r>
              <a:rPr lang="en-US" baseline="-25000" dirty="0" err="1"/>
              <a:t>sarc</a:t>
            </a:r>
            <a:r>
              <a:rPr lang="en-US" dirty="0"/>
              <a:t> </a:t>
            </a:r>
            <a:r>
              <a:rPr lang="en-US" dirty="0" err="1"/>
              <a:t>circulă</a:t>
            </a:r>
            <a:r>
              <a:rPr lang="en-US" dirty="0"/>
              <a:t> de la </a:t>
            </a:r>
            <a:r>
              <a:rPr lang="en-US" dirty="0" err="1"/>
              <a:t>borna</a:t>
            </a:r>
            <a:r>
              <a:rPr lang="en-US" dirty="0"/>
              <a:t> de </a:t>
            </a:r>
            <a:r>
              <a:rPr lang="en-US" dirty="0" err="1"/>
              <a:t>masă</a:t>
            </a:r>
            <a:r>
              <a:rPr lang="en-US" dirty="0"/>
              <a:t> </a:t>
            </a:r>
            <a:r>
              <a:rPr lang="en-US" dirty="0" err="1"/>
              <a:t>spre</a:t>
            </a:r>
            <a:r>
              <a:rPr lang="en-US" dirty="0"/>
              <a:t> </a:t>
            </a:r>
            <a:r>
              <a:rPr lang="en-US" dirty="0" err="1" smtClean="0"/>
              <a:t>borna</a:t>
            </a:r>
            <a:r>
              <a:rPr lang="en-US" dirty="0" smtClean="0"/>
              <a:t> “</a:t>
            </a:r>
            <a:r>
              <a:rPr lang="en-US" dirty="0" err="1"/>
              <a:t>caldă</a:t>
            </a:r>
            <a:r>
              <a:rPr lang="en-US" dirty="0"/>
              <a:t>” </a:t>
            </a:r>
            <a:r>
              <a:rPr lang="en-US" dirty="0" err="1"/>
              <a:t>curentul</a:t>
            </a:r>
            <a:r>
              <a:rPr lang="en-US" dirty="0"/>
              <a:t> h</a:t>
            </a:r>
            <a:r>
              <a:rPr lang="en-US" baseline="-25000" dirty="0"/>
              <a:t>21</a:t>
            </a:r>
            <a:r>
              <a:rPr lang="en-US" dirty="0"/>
              <a:t>∆i</a:t>
            </a:r>
            <a:r>
              <a:rPr lang="en-US" baseline="-25000" dirty="0"/>
              <a:t>b</a:t>
            </a:r>
            <a:r>
              <a:rPr lang="en-US" dirty="0"/>
              <a:t>, </a:t>
            </a:r>
            <a:r>
              <a:rPr lang="en-US" dirty="0" err="1"/>
              <a:t>astfel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tensiunea</a:t>
            </a:r>
            <a:r>
              <a:rPr lang="en-US" dirty="0"/>
              <a:t> de </a:t>
            </a:r>
            <a:r>
              <a:rPr lang="en-US" dirty="0" err="1"/>
              <a:t>ieşire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fi:</a:t>
            </a:r>
          </a:p>
        </p:txBody>
      </p:sp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153585" y="5877353"/>
            <a:ext cx="3357558" cy="466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contourW="6350"/>
        </p:spPr>
      </p:pic>
    </p:spTree>
    <p:extLst>
      <p:ext uri="{BB962C8B-B14F-4D97-AF65-F5344CB8AC3E}">
        <p14:creationId xmlns:p14="http://schemas.microsoft.com/office/powerpoint/2010/main" val="141168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0891" y="88333"/>
            <a:ext cx="117182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ultimele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dou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ă relații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rezultă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expresia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mijlocul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benzii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frecvenţe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42400" y="540392"/>
            <a:ext cx="4667592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contourW="6350"/>
        </p:spPr>
      </p:pic>
      <p:sp>
        <p:nvSpPr>
          <p:cNvPr id="6" name="Прямоугольник 5"/>
          <p:cNvSpPr/>
          <p:nvPr/>
        </p:nvSpPr>
        <p:spPr>
          <a:xfrm>
            <a:off x="78462" y="1469086"/>
            <a:ext cx="1204412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sursa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sursă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rezistenţa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foarte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mică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atunci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05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105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&lt;&lt; 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105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asemenea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rezistenţa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colector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mult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mică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rezistenţa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sarcină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impedanţa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tranzistorului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05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105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&lt;&lt;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05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sarc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105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22 </a:t>
            </a:r>
            <a:r>
              <a:rPr lang="en-US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-1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atunci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expresia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calculată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bună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aproximaţie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relaţia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76196" y="2392416"/>
            <a:ext cx="2244199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contourW="6350"/>
        </p:spPr>
      </p:pic>
      <p:sp>
        <p:nvSpPr>
          <p:cNvPr id="12" name="Прямоугольник 11"/>
          <p:cNvSpPr/>
          <p:nvPr/>
        </p:nvSpPr>
        <p:spPr>
          <a:xfrm>
            <a:off x="0" y="3535424"/>
            <a:ext cx="1219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 </a:t>
            </a:r>
            <a:r>
              <a:rPr lang="en-US" dirty="0" err="1"/>
              <a:t>două</a:t>
            </a:r>
            <a:r>
              <a:rPr lang="en-US" dirty="0"/>
              <a:t> </a:t>
            </a:r>
            <a:r>
              <a:rPr lang="en-US" dirty="0" err="1"/>
              <a:t>concluzii</a:t>
            </a:r>
            <a:r>
              <a:rPr lang="en-US" dirty="0"/>
              <a:t>:</a:t>
            </a:r>
          </a:p>
          <a:p>
            <a:r>
              <a:rPr lang="en-US" dirty="0"/>
              <a:t>• </a:t>
            </a:r>
            <a:r>
              <a:rPr lang="en-US" dirty="0" err="1" smtClean="0"/>
              <a:t>factorul</a:t>
            </a:r>
            <a:r>
              <a:rPr lang="en-US" dirty="0" smtClean="0"/>
              <a:t> de </a:t>
            </a:r>
            <a:r>
              <a:rPr lang="en-US" dirty="0" err="1" smtClean="0"/>
              <a:t>amplificare</a:t>
            </a:r>
            <a:r>
              <a:rPr lang="en-US" dirty="0" smtClean="0"/>
              <a:t> </a:t>
            </a:r>
            <a:r>
              <a:rPr lang="en-US" dirty="0" err="1" smtClean="0"/>
              <a:t>în</a:t>
            </a:r>
            <a:r>
              <a:rPr lang="en-US" dirty="0" smtClean="0"/>
              <a:t> </a:t>
            </a:r>
            <a:r>
              <a:rPr lang="en-US" dirty="0" err="1" smtClean="0"/>
              <a:t>tensiune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determinat</a:t>
            </a:r>
            <a:r>
              <a:rPr lang="en-US" dirty="0" smtClean="0"/>
              <a:t> </a:t>
            </a:r>
            <a:r>
              <a:rPr lang="en-US" dirty="0" err="1" smtClean="0"/>
              <a:t>în</a:t>
            </a:r>
            <a:r>
              <a:rPr lang="en-US" dirty="0" smtClean="0"/>
              <a:t> </a:t>
            </a:r>
            <a:r>
              <a:rPr lang="en-US" dirty="0" err="1" smtClean="0"/>
              <a:t>primul</a:t>
            </a:r>
            <a:r>
              <a:rPr lang="en-US" dirty="0" smtClean="0"/>
              <a:t> </a:t>
            </a:r>
            <a:r>
              <a:rPr lang="en-US" dirty="0" err="1"/>
              <a:t>rând</a:t>
            </a:r>
            <a:r>
              <a:rPr lang="en-US" dirty="0"/>
              <a:t> </a:t>
            </a:r>
            <a:r>
              <a:rPr lang="en-US" dirty="0" smtClean="0"/>
              <a:t>de</a:t>
            </a:r>
            <a:r>
              <a:rPr lang="x-none" dirty="0" smtClean="0"/>
              <a:t> </a:t>
            </a:r>
            <a:r>
              <a:rPr lang="en-US" dirty="0" err="1" smtClean="0"/>
              <a:t>parametrii</a:t>
            </a:r>
            <a:r>
              <a:rPr lang="en-US" dirty="0" smtClean="0"/>
              <a:t> </a:t>
            </a:r>
            <a:r>
              <a:rPr lang="en-US" dirty="0"/>
              <a:t>de </a:t>
            </a:r>
            <a:r>
              <a:rPr lang="en-US" dirty="0" err="1"/>
              <a:t>semnal</a:t>
            </a:r>
            <a:r>
              <a:rPr lang="en-US" dirty="0"/>
              <a:t> mic </a:t>
            </a:r>
            <a:r>
              <a:rPr lang="en-US" dirty="0" err="1"/>
              <a:t>ai</a:t>
            </a:r>
            <a:r>
              <a:rPr lang="en-US" dirty="0"/>
              <a:t> </a:t>
            </a:r>
            <a:r>
              <a:rPr lang="en-US" dirty="0" err="1"/>
              <a:t>tranzistorului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de </a:t>
            </a:r>
            <a:r>
              <a:rPr lang="en-US" dirty="0" err="1"/>
              <a:t>rezistenţa</a:t>
            </a:r>
            <a:r>
              <a:rPr lang="en-US" dirty="0"/>
              <a:t> </a:t>
            </a:r>
            <a:r>
              <a:rPr lang="en-US" dirty="0" smtClean="0"/>
              <a:t>din</a:t>
            </a:r>
            <a:r>
              <a:rPr lang="x-none" dirty="0" smtClean="0"/>
              <a:t> </a:t>
            </a:r>
            <a:r>
              <a:rPr lang="en-US" dirty="0" err="1" smtClean="0"/>
              <a:t>colector</a:t>
            </a:r>
            <a:endParaRPr lang="en-US" dirty="0"/>
          </a:p>
          <a:p>
            <a:r>
              <a:rPr lang="en-US" dirty="0"/>
              <a:t>• </a:t>
            </a:r>
            <a:r>
              <a:rPr lang="en-US" dirty="0" err="1"/>
              <a:t>semnul</a:t>
            </a:r>
            <a:r>
              <a:rPr lang="en-US" dirty="0"/>
              <a:t> “-” din </a:t>
            </a:r>
            <a:r>
              <a:rPr lang="en-US" dirty="0" err="1"/>
              <a:t>expresia</a:t>
            </a:r>
            <a:r>
              <a:rPr lang="en-US" dirty="0"/>
              <a:t> </a:t>
            </a:r>
            <a:r>
              <a:rPr lang="en-US" dirty="0" err="1"/>
              <a:t>factorului</a:t>
            </a:r>
            <a:r>
              <a:rPr lang="en-US" dirty="0"/>
              <a:t> de </a:t>
            </a:r>
            <a:r>
              <a:rPr lang="en-US" dirty="0" err="1"/>
              <a:t>amplificare</a:t>
            </a:r>
            <a:r>
              <a:rPr lang="en-US" dirty="0"/>
              <a:t> </a:t>
            </a:r>
            <a:r>
              <a:rPr lang="en-US" dirty="0" err="1"/>
              <a:t>semnifică</a:t>
            </a:r>
            <a:r>
              <a:rPr lang="en-US" dirty="0"/>
              <a:t> </a:t>
            </a:r>
            <a:r>
              <a:rPr lang="en-US" dirty="0" err="1" smtClean="0"/>
              <a:t>defazajul</a:t>
            </a:r>
            <a:r>
              <a:rPr lang="x-none" dirty="0" smtClean="0"/>
              <a:t> </a:t>
            </a:r>
            <a:r>
              <a:rPr lang="en-US" dirty="0" smtClean="0"/>
              <a:t>cu </a:t>
            </a:r>
            <a:r>
              <a:rPr lang="en-US" dirty="0"/>
              <a:t>180</a:t>
            </a:r>
            <a:r>
              <a:rPr lang="en-US" baseline="30000" dirty="0"/>
              <a:t>o</a:t>
            </a:r>
            <a:r>
              <a:rPr lang="en-US" dirty="0"/>
              <a:t> al </a:t>
            </a:r>
            <a:r>
              <a:rPr lang="en-US" dirty="0" err="1"/>
              <a:t>semnalului</a:t>
            </a:r>
            <a:r>
              <a:rPr lang="en-US" dirty="0"/>
              <a:t> de </a:t>
            </a:r>
            <a:r>
              <a:rPr lang="en-US" dirty="0" err="1"/>
              <a:t>ieşire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urma</a:t>
            </a:r>
            <a:r>
              <a:rPr lang="en-US" dirty="0"/>
              <a:t> </a:t>
            </a:r>
            <a:r>
              <a:rPr lang="en-US" dirty="0" err="1"/>
              <a:t>semnalului</a:t>
            </a:r>
            <a:r>
              <a:rPr lang="en-US" dirty="0"/>
              <a:t> </a:t>
            </a:r>
            <a:r>
              <a:rPr lang="en-US" dirty="0" err="1"/>
              <a:t>aplicat</a:t>
            </a:r>
            <a:r>
              <a:rPr lang="en-US" dirty="0"/>
              <a:t> la </a:t>
            </a:r>
            <a:r>
              <a:rPr lang="en-US" dirty="0" err="1" smtClean="0"/>
              <a:t>intrarea</a:t>
            </a:r>
            <a:r>
              <a:rPr lang="x-none" dirty="0" smtClean="0"/>
              <a:t> </a:t>
            </a:r>
            <a:r>
              <a:rPr lang="en-US" dirty="0" err="1" smtClean="0"/>
              <a:t>amplificatorului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775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interesant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constatat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întâmplă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schema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amplificatorului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elimină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condensatorul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105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adică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emitorul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nu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conectat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punct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vedere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al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variaţiilor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Ne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putem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da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seama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consecinţele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manevre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judecând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lucrurile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calitativ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această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situaţie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variabil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emitor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obligat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scurgă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rezistenţa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05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o parte din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energia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disipa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această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rezistenţă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mic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prezenţa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condensatorului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105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Asta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însemnă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mic.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putem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continua “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filozofia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spunând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aşa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rezistenţa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05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află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atât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circuitul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circuitul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emitor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comun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).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Ţinând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seama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sensurile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la un moment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vom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observa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sursei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05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antifază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Asta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însemnă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micşora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mică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vede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 parte din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readus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antifază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sursei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proces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poartă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denumirea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reacţie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negativă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dintre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efectele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asupra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x-none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micşorarea</a:t>
            </a:r>
            <a:r>
              <a:rPr lang="en-US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factorului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acestuia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raţionamente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logice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fenomenele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care au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loc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circuitul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pot fi demonstrate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riguros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schemei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t-IT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echivalente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42384" y="3349380"/>
            <a:ext cx="5648258" cy="3445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34106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7118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deducerea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uşoară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expresiei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această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schemă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modifica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transformarea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sursei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într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-o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sursă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echivalentă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14022" y="884392"/>
            <a:ext cx="8072494" cy="4826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1134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1" y="0"/>
            <a:ext cx="1206826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rezistenţa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05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contribuie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atât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colector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având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vedere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mare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primă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aproximaţie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contribuţia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neglijată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precizări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după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rezolvarea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sistemului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ecuaţii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1508" y="923330"/>
            <a:ext cx="3517131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contourW="6350"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1508" y="1560908"/>
            <a:ext cx="3786214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contourW="6350"/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21508" y="2484238"/>
            <a:ext cx="2372762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contourW="6350"/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21508" y="3236503"/>
            <a:ext cx="1957652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contourW="6350"/>
        </p:spPr>
      </p:pic>
      <p:sp>
        <p:nvSpPr>
          <p:cNvPr id="9" name="Прямоугольник 8"/>
          <p:cNvSpPr/>
          <p:nvPr/>
        </p:nvSpPr>
        <p:spPr>
          <a:xfrm>
            <a:off x="-1" y="4059958"/>
            <a:ext cx="81390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rezultă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următoarea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expresie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41549" y="4538613"/>
            <a:ext cx="4966173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contourW="6350"/>
        </p:spPr>
      </p:pic>
      <p:sp>
        <p:nvSpPr>
          <p:cNvPr id="11" name="Прямоугольник 10"/>
          <p:cNvSpPr/>
          <p:nvPr/>
        </p:nvSpPr>
        <p:spPr>
          <a:xfrm>
            <a:off x="5293258" y="4538613"/>
            <a:ext cx="677500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relaţia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scrisă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sub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această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formă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vede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imediat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 la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numărătorul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fără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reacţie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negativă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numitorul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supraunitar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05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uRN</a:t>
            </a:r>
            <a:r>
              <a:rPr lang="en-US" sz="105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&lt;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05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uo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8380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69410" y="0"/>
            <a:ext cx="12122590" cy="715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spcAft>
                <a:spcPts val="300"/>
              </a:spcAft>
            </a:pPr>
            <a:r>
              <a:rPr lang="ro-RO" sz="2000" b="1" i="1" dirty="0">
                <a:latin typeface="Arial" panose="020B0604020202020204" pitchFamily="34" charset="0"/>
              </a:rPr>
              <a:t>Amplificator cu TB în conexiune emitor comun (EC).</a:t>
            </a:r>
            <a:endParaRPr lang="en-US" sz="2000" b="1" i="1" dirty="0">
              <a:latin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o-RO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Schema 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cea mai frecvent întâlnită a unui etaj de amplificare cu tranzistor bipolar, aflat în conexiunea EC.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631378"/>
              </p:ext>
            </p:extLst>
          </p:nvPr>
        </p:nvGraphicFramePr>
        <p:xfrm>
          <a:off x="0" y="715581"/>
          <a:ext cx="2888055" cy="245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" name="Picture" r:id="rId3" imgW="2866439" imgH="2400871" progId="Word.Picture.8">
                  <p:embed/>
                </p:oleObj>
              </mc:Choice>
              <mc:Fallback>
                <p:oleObj name="Picture" r:id="rId3" imgW="2866439" imgH="2400871" progId="Word.Picture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715581"/>
                        <a:ext cx="2888055" cy="2451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Прямоугольник 11"/>
          <p:cNvSpPr/>
          <p:nvPr/>
        </p:nvSpPr>
        <p:spPr>
          <a:xfrm>
            <a:off x="2788468" y="604567"/>
            <a:ext cx="933412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Elementele </a:t>
            </a:r>
            <a:r>
              <a:rPr lang="ro-RO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au 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următoarele semnificaţii: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ro-RO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B1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R</a:t>
            </a:r>
            <a:r>
              <a:rPr lang="ro-RO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B2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divizor de tensiune pentru polarizare cu rol în crearea potenţialului necesar pentru ca tranzistorul să funcţioneze în regiunea activă normală;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ro-RO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rezistenţa din emitor cu rol de stabilizare termică;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o-RO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,C</a:t>
            </a:r>
            <a:r>
              <a:rPr lang="ro-RO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 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condensatoare de cuplaj care separă în curent continuu etajul blocând componenta continuă, dar lasă să treacă componenta alternativă;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o-RO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condensator de decuplare care are rol de punere a emitorului la masă în curent alternativ;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ro-RO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rezistenţa de sarcină;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ro-RO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amplitudinea tensiunii semnalului de intrare;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ro-RO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amplitudinea tensiunii semnalului de ieşire.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377227" y="3466889"/>
            <a:ext cx="1163004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Dacă</a:t>
            </a:r>
            <a:r>
              <a:rPr lang="en-US" dirty="0"/>
              <a:t> se </a:t>
            </a:r>
            <a:r>
              <a:rPr lang="en-US" dirty="0" err="1"/>
              <a:t>aplică</a:t>
            </a:r>
            <a:r>
              <a:rPr lang="en-US" dirty="0"/>
              <a:t> </a:t>
            </a:r>
            <a:r>
              <a:rPr lang="en-US" dirty="0" err="1"/>
              <a:t>teoremele</a:t>
            </a:r>
            <a:r>
              <a:rPr lang="en-US" dirty="0"/>
              <a:t> de </a:t>
            </a:r>
            <a:r>
              <a:rPr lang="en-US" dirty="0" err="1"/>
              <a:t>calcul</a:t>
            </a:r>
            <a:r>
              <a:rPr lang="en-US" dirty="0"/>
              <a:t> a </a:t>
            </a:r>
            <a:r>
              <a:rPr lang="en-US" dirty="0" err="1"/>
              <a:t>circuitelor</a:t>
            </a:r>
            <a:r>
              <a:rPr lang="en-US" dirty="0"/>
              <a:t> </a:t>
            </a:r>
            <a:r>
              <a:rPr lang="en-US" dirty="0" err="1"/>
              <a:t>electrice</a:t>
            </a:r>
            <a:r>
              <a:rPr lang="en-US" dirty="0"/>
              <a:t>, se </a:t>
            </a:r>
            <a:r>
              <a:rPr lang="en-US" dirty="0" err="1"/>
              <a:t>obţine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regimul</a:t>
            </a:r>
            <a:r>
              <a:rPr lang="en-US" dirty="0"/>
              <a:t> de </a:t>
            </a:r>
            <a:r>
              <a:rPr lang="en-US" dirty="0" err="1"/>
              <a:t>curent</a:t>
            </a:r>
            <a:r>
              <a:rPr lang="en-US" dirty="0"/>
              <a:t> </a:t>
            </a:r>
            <a:r>
              <a:rPr lang="en-US" dirty="0" err="1"/>
              <a:t>continuu</a:t>
            </a:r>
            <a:r>
              <a:rPr lang="en-US" dirty="0"/>
              <a:t> 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tensiunii</a:t>
            </a:r>
            <a:r>
              <a:rPr lang="en-US" dirty="0"/>
              <a:t> de </a:t>
            </a:r>
            <a:r>
              <a:rPr lang="en-US" dirty="0" err="1"/>
              <a:t>polarizare</a:t>
            </a:r>
            <a:r>
              <a:rPr lang="en-US" dirty="0"/>
              <a:t> a </a:t>
            </a:r>
            <a:r>
              <a:rPr lang="en-US" dirty="0" err="1"/>
              <a:t>joncţiunii</a:t>
            </a:r>
            <a:r>
              <a:rPr lang="en-US" dirty="0"/>
              <a:t> BE: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	Din </a:t>
            </a:r>
            <a:r>
              <a:rPr lang="en-US" dirty="0" err="1"/>
              <a:t>relaţia</a:t>
            </a:r>
            <a:r>
              <a:rPr lang="en-US" dirty="0"/>
              <a:t> </a:t>
            </a:r>
            <a:r>
              <a:rPr lang="en-US" dirty="0" err="1"/>
              <a:t>anterioară</a:t>
            </a:r>
            <a:r>
              <a:rPr lang="en-US" dirty="0"/>
              <a:t> se </a:t>
            </a:r>
            <a:r>
              <a:rPr lang="en-US" dirty="0" err="1"/>
              <a:t>observă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tensiunea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 </a:t>
            </a:r>
            <a:r>
              <a:rPr lang="en-US" dirty="0" err="1"/>
              <a:t>depinde</a:t>
            </a:r>
            <a:r>
              <a:rPr lang="en-US" dirty="0"/>
              <a:t> de </a:t>
            </a:r>
            <a:r>
              <a:rPr lang="en-US" dirty="0" err="1"/>
              <a:t>valorile</a:t>
            </a:r>
            <a:r>
              <a:rPr lang="en-US" dirty="0"/>
              <a:t> </a:t>
            </a:r>
            <a:r>
              <a:rPr lang="en-US" dirty="0" err="1"/>
              <a:t>rezistenţelor</a:t>
            </a:r>
            <a:r>
              <a:rPr lang="en-US" dirty="0"/>
              <a:t> </a:t>
            </a:r>
            <a:r>
              <a:rPr lang="en-US" dirty="0" err="1"/>
              <a:t>divizorului</a:t>
            </a:r>
            <a:r>
              <a:rPr lang="en-US" dirty="0"/>
              <a:t> de </a:t>
            </a:r>
            <a:r>
              <a:rPr lang="en-US" dirty="0" err="1"/>
              <a:t>tensiune</a:t>
            </a:r>
            <a:r>
              <a:rPr lang="en-US" dirty="0"/>
              <a:t>.</a:t>
            </a:r>
          </a:p>
          <a:p>
            <a:r>
              <a:rPr lang="en-US" dirty="0"/>
              <a:t>	</a:t>
            </a:r>
            <a:r>
              <a:rPr lang="en-US" dirty="0" err="1"/>
              <a:t>Amplificarea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tensiune</a:t>
            </a:r>
            <a:r>
              <a:rPr lang="en-US" dirty="0"/>
              <a:t> a </a:t>
            </a:r>
            <a:r>
              <a:rPr lang="en-US" dirty="0" err="1"/>
              <a:t>acestui</a:t>
            </a:r>
            <a:r>
              <a:rPr lang="en-US" dirty="0"/>
              <a:t> </a:t>
            </a:r>
            <a:r>
              <a:rPr lang="en-US" dirty="0" err="1"/>
              <a:t>amplificator</a:t>
            </a:r>
            <a:r>
              <a:rPr lang="en-US" dirty="0"/>
              <a:t> se </a:t>
            </a:r>
            <a:r>
              <a:rPr lang="en-US" dirty="0" err="1"/>
              <a:t>determină</a:t>
            </a:r>
            <a:r>
              <a:rPr lang="en-US" dirty="0"/>
              <a:t> </a:t>
            </a:r>
            <a:r>
              <a:rPr lang="en-US" dirty="0" err="1"/>
              <a:t>astfel</a:t>
            </a:r>
            <a:r>
              <a:rPr lang="en-US" dirty="0"/>
              <a:t>:</a:t>
            </a:r>
          </a:p>
          <a:p>
            <a:r>
              <a:rPr lang="en-US" dirty="0"/>
              <a:t> </a:t>
            </a:r>
          </a:p>
          <a:p>
            <a:r>
              <a:rPr lang="en-US" dirty="0" err="1"/>
              <a:t>unde</a:t>
            </a:r>
            <a:r>
              <a:rPr lang="en-US" dirty="0"/>
              <a:t> g</a:t>
            </a:r>
            <a:r>
              <a:rPr lang="en-US" baseline="-25000" dirty="0"/>
              <a:t>m</a:t>
            </a:r>
            <a:r>
              <a:rPr lang="en-US" dirty="0"/>
              <a:t> </a:t>
            </a:r>
            <a:r>
              <a:rPr lang="en-US" dirty="0" err="1"/>
              <a:t>reprezintă</a:t>
            </a:r>
            <a:r>
              <a:rPr lang="en-US" dirty="0"/>
              <a:t> </a:t>
            </a:r>
            <a:r>
              <a:rPr lang="en-US" dirty="0" err="1"/>
              <a:t>panta</a:t>
            </a:r>
            <a:r>
              <a:rPr lang="en-US" dirty="0"/>
              <a:t> </a:t>
            </a:r>
            <a:r>
              <a:rPr lang="en-US" dirty="0" err="1"/>
              <a:t>tranzistorului</a:t>
            </a:r>
            <a:r>
              <a:rPr lang="en-US" dirty="0"/>
              <a:t>.</a:t>
            </a:r>
          </a:p>
        </p:txBody>
      </p:sp>
      <p:graphicFrame>
        <p:nvGraphicFramePr>
          <p:cNvPr id="20" name="Объект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3048884"/>
              </p:ext>
            </p:extLst>
          </p:nvPr>
        </p:nvGraphicFramePr>
        <p:xfrm>
          <a:off x="3451748" y="3754287"/>
          <a:ext cx="1608698" cy="565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r:id="rId5" imgW="1218671" imgH="431613" progId="Equation.DSMT4">
                  <p:embed/>
                </p:oleObj>
              </mc:Choice>
              <mc:Fallback>
                <p:oleObj r:id="rId5" imgW="1218671" imgH="431613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1748" y="3754287"/>
                        <a:ext cx="1608698" cy="5655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Объект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9142141"/>
              </p:ext>
            </p:extLst>
          </p:nvPr>
        </p:nvGraphicFramePr>
        <p:xfrm>
          <a:off x="7588032" y="4583794"/>
          <a:ext cx="1575953" cy="415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r:id="rId7" imgW="863225" imgH="228501" progId="Equation.DSMT4">
                  <p:embed/>
                </p:oleObj>
              </mc:Choice>
              <mc:Fallback>
                <p:oleObj r:id="rId7" imgW="863225" imgH="228501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032" y="4583794"/>
                        <a:ext cx="1575953" cy="4156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9360142" y="4583794"/>
            <a:ext cx="1297717" cy="660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contourW="6350"/>
        </p:spPr>
      </p:pic>
    </p:spTree>
    <p:extLst>
      <p:ext uri="{BB962C8B-B14F-4D97-AF65-F5344CB8AC3E}">
        <p14:creationId xmlns:p14="http://schemas.microsoft.com/office/powerpoint/2010/main" val="2512324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1" y="0"/>
            <a:ext cx="1211810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Amplificatorul </a:t>
            </a:r>
            <a:r>
              <a:rPr lang="ro-RO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este 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limitat la o funcţionare într-un anumit domeniu de frecvenţe. Partea inferioară a intervalului este limitat de </a:t>
            </a:r>
            <a:r>
              <a:rPr lang="ro-RO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condensatoarele de cuplare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iar partea superioară este limitată de modul de comportare a tranzistorului la frecvenţe ridicate. Deci putem spune că acest amplificator funcţionează la frecvenţe medii.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	În curent alternativ, rezistenţa din emitor care are rol de stabilizare termică, are un rol negativ, şi anume că micşorează amplificarea de tensiune a etajului. Problema este rezolvată prin conectarea în paralel a condensatorului de decuplarea. Denumirea de </a:t>
            </a:r>
            <a:r>
              <a:rPr lang="ro-RO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condensator de decuplare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 vine de la faptul că în curent alternativ condensatorul are o impedanţă mică ceea ce conduce la o impedanţă în emitor de asemenea mică.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	Amplificatorul este limitat în funcţionare şi de valorile de intrare. Dacă nu se respectă aceste limite semnalul de ieşire poate fi trunchiat, în partea superioară de către intrarea în saturaţie a tranzistorului iar în partea inferioară de către intrarea în zona de blocare a </a:t>
            </a:r>
            <a:r>
              <a:rPr lang="ro-RO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tranzistorului.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381993"/>
              </p:ext>
            </p:extLst>
          </p:nvPr>
        </p:nvGraphicFramePr>
        <p:xfrm>
          <a:off x="738909" y="2862322"/>
          <a:ext cx="2053753" cy="813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0" name="Точечный рисунок" r:id="rId3" imgW="1514686" imgH="600159" progId="Paint.Picture">
                  <p:embed/>
                </p:oleObj>
              </mc:Choice>
              <mc:Fallback>
                <p:oleObj name="Точечный рисунок" r:id="rId3" imgW="1514686" imgH="600159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909" y="2862322"/>
                        <a:ext cx="2053753" cy="8137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868744" y="3676073"/>
            <a:ext cx="17940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datorită saturaţiei</a:t>
            </a:r>
            <a:endParaRPr lang="en-US" dirty="0"/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502565"/>
              </p:ext>
            </p:extLst>
          </p:nvPr>
        </p:nvGraphicFramePr>
        <p:xfrm>
          <a:off x="3558344" y="2862321"/>
          <a:ext cx="2488200" cy="813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1" name="Точечный рисунок" r:id="rId5" imgW="1514686" imgH="495369" progId="Paint.Picture">
                  <p:embed/>
                </p:oleObj>
              </mc:Choice>
              <mc:Fallback>
                <p:oleObj name="Точечный рисунок" r:id="rId5" imgW="1514686" imgH="495369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8344" y="2862321"/>
                        <a:ext cx="2488200" cy="8137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Прямоугольник 9"/>
          <p:cNvSpPr/>
          <p:nvPr/>
        </p:nvSpPr>
        <p:spPr>
          <a:xfrm>
            <a:off x="3884310" y="3676073"/>
            <a:ext cx="16530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datorită blocării</a:t>
            </a:r>
            <a:endParaRPr lang="en-US" dirty="0"/>
          </a:p>
        </p:txBody>
      </p:sp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6759575"/>
              </p:ext>
            </p:extLst>
          </p:nvPr>
        </p:nvGraphicFramePr>
        <p:xfrm>
          <a:off x="7079809" y="2862320"/>
          <a:ext cx="3080629" cy="813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2" name="Точечный рисунок" r:id="rId7" imgW="1514686" imgH="400000" progId="Paint.Picture">
                  <p:embed/>
                </p:oleObj>
              </mc:Choice>
              <mc:Fallback>
                <p:oleObj name="Точечный рисунок" r:id="rId7" imgW="1514686" imgH="400000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9809" y="2862320"/>
                        <a:ext cx="3080629" cy="8137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Прямоугольник 12"/>
          <p:cNvSpPr/>
          <p:nvPr/>
        </p:nvSpPr>
        <p:spPr>
          <a:xfrm>
            <a:off x="7391731" y="3676071"/>
            <a:ext cx="27687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datorită saturaţiei şi blocării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62275" y="4045403"/>
            <a:ext cx="1199355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Observaţii: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ro-RO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amplificarea în tensiune este mare 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(de ordinul zecilor sau sutelor);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amplificarea în curent este mare (de ordinul </a:t>
            </a:r>
            <a:r>
              <a:rPr lang="ro-RO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zecilor 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sau sutelor);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amplificarea în putere este foarte mare;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defazează mărimea de intrare cu 180° deci poate fi folosit ca şi inversor de fază;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impedanţa de intrare are valoare medie, iar amplificatorul nu poate fi utilizat ca şi amplificator ideal;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impedanţa de ieşire are valoare medie (aproximativ egală cu R</a:t>
            </a:r>
            <a:r>
              <a:rPr lang="ro-RO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	În concluzie acest tip de amplificator se poate folosi ca şi amplificator de audiofrecvenţă şi videofrecvenţă de puteri mici şi la aparate electrocasnice.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1447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1887200" cy="715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spcAft>
                <a:spcPts val="300"/>
              </a:spcAft>
            </a:pPr>
            <a:r>
              <a:rPr lang="ro-RO" sz="2000" b="1" i="1" dirty="0">
                <a:latin typeface="Arial" panose="020B0604020202020204" pitchFamily="34" charset="0"/>
              </a:rPr>
              <a:t>Amplificator cu TB în conexiune bază comună (BC).</a:t>
            </a:r>
            <a:endParaRPr lang="en-US" sz="2000" b="1" i="1" dirty="0">
              <a:latin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o-RO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Schema 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unui etaj de amplificare cu tranzistor bipolar, aflat în conexiunea BC.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788100"/>
              </p:ext>
            </p:extLst>
          </p:nvPr>
        </p:nvGraphicFramePr>
        <p:xfrm>
          <a:off x="8419722" y="99946"/>
          <a:ext cx="3552825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6" name="Picture" r:id="rId3" imgW="3931464" imgH="2172651" progId="Word.Picture.8">
                  <p:embed/>
                </p:oleObj>
              </mc:Choice>
              <mc:Fallback>
                <p:oleObj name="Picture" r:id="rId3" imgW="3931464" imgH="2172651" progId="Word.Picture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9722" y="99946"/>
                        <a:ext cx="3552825" cy="198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Прямоугольник 9"/>
          <p:cNvSpPr/>
          <p:nvPr/>
        </p:nvSpPr>
        <p:spPr>
          <a:xfrm>
            <a:off x="1" y="1913753"/>
            <a:ext cx="12192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/>
              <a:t>Elementele</a:t>
            </a:r>
            <a:r>
              <a:rPr lang="en-US" sz="1600" dirty="0"/>
              <a:t> </a:t>
            </a:r>
            <a:r>
              <a:rPr lang="en-US" sz="1600" dirty="0" smtClean="0"/>
              <a:t>au </a:t>
            </a:r>
            <a:r>
              <a:rPr lang="en-US" sz="1600" dirty="0" err="1"/>
              <a:t>următoarele</a:t>
            </a:r>
            <a:r>
              <a:rPr lang="en-US" sz="1600" dirty="0"/>
              <a:t> </a:t>
            </a:r>
            <a:r>
              <a:rPr lang="en-US" sz="1600" dirty="0" err="1"/>
              <a:t>semnificaţii</a:t>
            </a:r>
            <a:r>
              <a:rPr lang="en-US" sz="1600" dirty="0"/>
              <a:t>:</a:t>
            </a:r>
          </a:p>
          <a:p>
            <a:r>
              <a:rPr lang="en-US" sz="1600" dirty="0"/>
              <a:t>RB1, RB2 – </a:t>
            </a:r>
            <a:r>
              <a:rPr lang="en-US" sz="1600" dirty="0" err="1"/>
              <a:t>divizor</a:t>
            </a:r>
            <a:r>
              <a:rPr lang="en-US" sz="1600" dirty="0"/>
              <a:t> de </a:t>
            </a:r>
            <a:r>
              <a:rPr lang="en-US" sz="1600" dirty="0" err="1"/>
              <a:t>tensiune</a:t>
            </a:r>
            <a:r>
              <a:rPr lang="en-US" sz="1600" dirty="0"/>
              <a:t> </a:t>
            </a:r>
            <a:r>
              <a:rPr lang="en-US" sz="1600" dirty="0" err="1"/>
              <a:t>pentru</a:t>
            </a:r>
            <a:r>
              <a:rPr lang="en-US" sz="1600" dirty="0"/>
              <a:t> </a:t>
            </a:r>
            <a:r>
              <a:rPr lang="en-US" sz="1600" dirty="0" err="1"/>
              <a:t>polarizare</a:t>
            </a:r>
            <a:r>
              <a:rPr lang="en-US" sz="1600" dirty="0"/>
              <a:t> cu </a:t>
            </a:r>
            <a:r>
              <a:rPr lang="en-US" sz="1600" dirty="0" err="1"/>
              <a:t>rol</a:t>
            </a:r>
            <a:r>
              <a:rPr lang="en-US" sz="1600" dirty="0"/>
              <a:t> </a:t>
            </a:r>
            <a:r>
              <a:rPr lang="en-US" sz="1600" dirty="0" err="1"/>
              <a:t>în</a:t>
            </a:r>
            <a:r>
              <a:rPr lang="en-US" sz="1600" dirty="0"/>
              <a:t> </a:t>
            </a:r>
            <a:r>
              <a:rPr lang="en-US" sz="1600" dirty="0" err="1"/>
              <a:t>crearea</a:t>
            </a:r>
            <a:r>
              <a:rPr lang="en-US" sz="1600" dirty="0"/>
              <a:t> </a:t>
            </a:r>
            <a:r>
              <a:rPr lang="en-US" sz="1600" dirty="0" err="1"/>
              <a:t>potenţialului</a:t>
            </a:r>
            <a:r>
              <a:rPr lang="en-US" sz="1600" dirty="0"/>
              <a:t> </a:t>
            </a:r>
            <a:r>
              <a:rPr lang="en-US" sz="1600" dirty="0" err="1"/>
              <a:t>necesar</a:t>
            </a:r>
            <a:r>
              <a:rPr lang="en-US" sz="1600" dirty="0"/>
              <a:t> </a:t>
            </a:r>
            <a:r>
              <a:rPr lang="en-US" sz="1600" dirty="0" err="1"/>
              <a:t>pentru</a:t>
            </a:r>
            <a:r>
              <a:rPr lang="en-US" sz="1600" dirty="0"/>
              <a:t> ca </a:t>
            </a:r>
            <a:r>
              <a:rPr lang="en-US" sz="1600" dirty="0" err="1"/>
              <a:t>tranzistorul</a:t>
            </a:r>
            <a:r>
              <a:rPr lang="en-US" sz="1600" dirty="0"/>
              <a:t> </a:t>
            </a:r>
            <a:r>
              <a:rPr lang="en-US" sz="1600" dirty="0" err="1"/>
              <a:t>să</a:t>
            </a:r>
            <a:r>
              <a:rPr lang="en-US" sz="1600" dirty="0"/>
              <a:t> </a:t>
            </a:r>
            <a:r>
              <a:rPr lang="en-US" sz="1600" dirty="0" err="1"/>
              <a:t>funcţioneze</a:t>
            </a:r>
            <a:r>
              <a:rPr lang="en-US" sz="1600" dirty="0"/>
              <a:t> </a:t>
            </a:r>
            <a:r>
              <a:rPr lang="en-US" sz="1600" dirty="0" err="1"/>
              <a:t>în</a:t>
            </a:r>
            <a:r>
              <a:rPr lang="en-US" sz="1600" dirty="0"/>
              <a:t> </a:t>
            </a:r>
            <a:r>
              <a:rPr lang="en-US" sz="1600" dirty="0" err="1"/>
              <a:t>regiunea</a:t>
            </a:r>
            <a:r>
              <a:rPr lang="en-US" sz="1600" dirty="0"/>
              <a:t> </a:t>
            </a:r>
            <a:r>
              <a:rPr lang="en-US" sz="1600" dirty="0" err="1"/>
              <a:t>activă</a:t>
            </a:r>
            <a:r>
              <a:rPr lang="en-US" sz="1600" dirty="0"/>
              <a:t> </a:t>
            </a:r>
            <a:r>
              <a:rPr lang="en-US" sz="1600" dirty="0" err="1"/>
              <a:t>normală</a:t>
            </a:r>
            <a:r>
              <a:rPr lang="en-US" sz="1600" dirty="0"/>
              <a:t>;</a:t>
            </a:r>
          </a:p>
          <a:p>
            <a:r>
              <a:rPr lang="en-US" sz="1600" dirty="0"/>
              <a:t>RE – </a:t>
            </a:r>
            <a:r>
              <a:rPr lang="en-US" sz="1600" dirty="0" err="1"/>
              <a:t>rezistenţa</a:t>
            </a:r>
            <a:r>
              <a:rPr lang="en-US" sz="1600" dirty="0"/>
              <a:t> din </a:t>
            </a:r>
            <a:r>
              <a:rPr lang="en-US" sz="1600" dirty="0" err="1"/>
              <a:t>emitor</a:t>
            </a:r>
            <a:r>
              <a:rPr lang="en-US" sz="1600" dirty="0"/>
              <a:t> cu </a:t>
            </a:r>
            <a:r>
              <a:rPr lang="en-US" sz="1600" dirty="0" err="1"/>
              <a:t>rol</a:t>
            </a:r>
            <a:r>
              <a:rPr lang="en-US" sz="1600" dirty="0"/>
              <a:t> de </a:t>
            </a:r>
            <a:r>
              <a:rPr lang="en-US" sz="1600" dirty="0" err="1"/>
              <a:t>stabilizare</a:t>
            </a:r>
            <a:r>
              <a:rPr lang="en-US" sz="1600" dirty="0"/>
              <a:t> </a:t>
            </a:r>
            <a:r>
              <a:rPr lang="en-US" sz="1600" dirty="0" err="1"/>
              <a:t>termică</a:t>
            </a:r>
            <a:r>
              <a:rPr lang="en-US" sz="1600" dirty="0"/>
              <a:t>;</a:t>
            </a:r>
          </a:p>
          <a:p>
            <a:r>
              <a:rPr lang="en-US" sz="1600" dirty="0"/>
              <a:t>C1,C2  – </a:t>
            </a:r>
            <a:r>
              <a:rPr lang="en-US" sz="1600" dirty="0" err="1"/>
              <a:t>condensatoare</a:t>
            </a:r>
            <a:r>
              <a:rPr lang="en-US" sz="1600" dirty="0"/>
              <a:t> de </a:t>
            </a:r>
            <a:r>
              <a:rPr lang="en-US" sz="1600" dirty="0" err="1"/>
              <a:t>cuplaj</a:t>
            </a:r>
            <a:r>
              <a:rPr lang="en-US" sz="1600" dirty="0"/>
              <a:t> care </a:t>
            </a:r>
            <a:r>
              <a:rPr lang="en-US" sz="1600" dirty="0" err="1"/>
              <a:t>separă</a:t>
            </a:r>
            <a:r>
              <a:rPr lang="en-US" sz="1600" dirty="0"/>
              <a:t> </a:t>
            </a:r>
            <a:r>
              <a:rPr lang="en-US" sz="1600" dirty="0" err="1"/>
              <a:t>în</a:t>
            </a:r>
            <a:r>
              <a:rPr lang="en-US" sz="1600" dirty="0"/>
              <a:t> </a:t>
            </a:r>
            <a:r>
              <a:rPr lang="en-US" sz="1600" dirty="0" err="1"/>
              <a:t>curent</a:t>
            </a:r>
            <a:r>
              <a:rPr lang="en-US" sz="1600" dirty="0"/>
              <a:t> </a:t>
            </a:r>
            <a:r>
              <a:rPr lang="en-US" sz="1600" dirty="0" err="1"/>
              <a:t>continuu</a:t>
            </a:r>
            <a:r>
              <a:rPr lang="en-US" sz="1600" dirty="0"/>
              <a:t> </a:t>
            </a:r>
            <a:r>
              <a:rPr lang="en-US" sz="1600" dirty="0" err="1"/>
              <a:t>etajul</a:t>
            </a:r>
            <a:r>
              <a:rPr lang="en-US" sz="1600" dirty="0"/>
              <a:t> </a:t>
            </a:r>
            <a:r>
              <a:rPr lang="en-US" sz="1600" dirty="0" err="1"/>
              <a:t>blocând</a:t>
            </a:r>
            <a:r>
              <a:rPr lang="en-US" sz="1600" dirty="0"/>
              <a:t> </a:t>
            </a:r>
            <a:r>
              <a:rPr lang="en-US" sz="1600" dirty="0" err="1"/>
              <a:t>componenta</a:t>
            </a:r>
            <a:r>
              <a:rPr lang="en-US" sz="1600" dirty="0"/>
              <a:t> </a:t>
            </a:r>
            <a:r>
              <a:rPr lang="en-US" sz="1600" dirty="0" err="1"/>
              <a:t>continuă</a:t>
            </a:r>
            <a:r>
              <a:rPr lang="en-US" sz="1600" dirty="0"/>
              <a:t>, </a:t>
            </a:r>
            <a:r>
              <a:rPr lang="en-US" sz="1600" dirty="0" err="1"/>
              <a:t>dar</a:t>
            </a:r>
            <a:r>
              <a:rPr lang="en-US" sz="1600" dirty="0"/>
              <a:t> </a:t>
            </a:r>
            <a:r>
              <a:rPr lang="en-US" sz="1600" dirty="0" err="1"/>
              <a:t>lasă</a:t>
            </a:r>
            <a:r>
              <a:rPr lang="en-US" sz="1600" dirty="0"/>
              <a:t> </a:t>
            </a:r>
            <a:r>
              <a:rPr lang="en-US" sz="1600" dirty="0" err="1"/>
              <a:t>să</a:t>
            </a:r>
            <a:r>
              <a:rPr lang="en-US" sz="1600" dirty="0"/>
              <a:t> </a:t>
            </a:r>
            <a:r>
              <a:rPr lang="en-US" sz="1600" dirty="0" err="1"/>
              <a:t>treacă</a:t>
            </a:r>
            <a:r>
              <a:rPr lang="en-US" sz="1600" dirty="0"/>
              <a:t> </a:t>
            </a:r>
            <a:r>
              <a:rPr lang="en-US" sz="1600" dirty="0" err="1"/>
              <a:t>componenta</a:t>
            </a:r>
            <a:r>
              <a:rPr lang="en-US" sz="1600" dirty="0"/>
              <a:t> </a:t>
            </a:r>
            <a:r>
              <a:rPr lang="en-US" sz="1600" dirty="0" err="1"/>
              <a:t>alternativă</a:t>
            </a:r>
            <a:r>
              <a:rPr lang="en-US" sz="1600" dirty="0"/>
              <a:t>;</a:t>
            </a:r>
          </a:p>
          <a:p>
            <a:r>
              <a:rPr lang="en-US" sz="1600" dirty="0"/>
              <a:t>CB – </a:t>
            </a:r>
            <a:r>
              <a:rPr lang="en-US" sz="1600" dirty="0" err="1"/>
              <a:t>condensator</a:t>
            </a:r>
            <a:r>
              <a:rPr lang="en-US" sz="1600" dirty="0"/>
              <a:t> de </a:t>
            </a:r>
            <a:r>
              <a:rPr lang="en-US" sz="1600" dirty="0" err="1"/>
              <a:t>decuplare</a:t>
            </a:r>
            <a:r>
              <a:rPr lang="en-US" sz="1600" dirty="0"/>
              <a:t> care are </a:t>
            </a:r>
            <a:r>
              <a:rPr lang="en-US" sz="1600" dirty="0" err="1"/>
              <a:t>rol</a:t>
            </a:r>
            <a:r>
              <a:rPr lang="en-US" sz="1600" dirty="0"/>
              <a:t> de </a:t>
            </a:r>
            <a:r>
              <a:rPr lang="en-US" sz="1600" dirty="0" err="1"/>
              <a:t>punere</a:t>
            </a:r>
            <a:r>
              <a:rPr lang="en-US" sz="1600" dirty="0"/>
              <a:t> a </a:t>
            </a:r>
            <a:r>
              <a:rPr lang="en-US" sz="1600" dirty="0" err="1"/>
              <a:t>bazei</a:t>
            </a:r>
            <a:r>
              <a:rPr lang="en-US" sz="1600" dirty="0"/>
              <a:t> la </a:t>
            </a:r>
            <a:r>
              <a:rPr lang="en-US" sz="1600" dirty="0" err="1"/>
              <a:t>masă</a:t>
            </a:r>
            <a:r>
              <a:rPr lang="en-US" sz="1600" dirty="0"/>
              <a:t> </a:t>
            </a:r>
            <a:r>
              <a:rPr lang="en-US" sz="1600" dirty="0" err="1"/>
              <a:t>în</a:t>
            </a:r>
            <a:r>
              <a:rPr lang="en-US" sz="1600" dirty="0"/>
              <a:t> </a:t>
            </a:r>
            <a:r>
              <a:rPr lang="en-US" sz="1600" dirty="0" err="1"/>
              <a:t>curent</a:t>
            </a:r>
            <a:r>
              <a:rPr lang="en-US" sz="1600" dirty="0"/>
              <a:t> </a:t>
            </a:r>
            <a:r>
              <a:rPr lang="en-US" sz="1600" dirty="0" err="1"/>
              <a:t>alternativ</a:t>
            </a:r>
            <a:r>
              <a:rPr lang="en-US" sz="1600" dirty="0"/>
              <a:t>;</a:t>
            </a:r>
          </a:p>
          <a:p>
            <a:r>
              <a:rPr lang="en-US" sz="1600" dirty="0"/>
              <a:t>RC – </a:t>
            </a:r>
            <a:r>
              <a:rPr lang="en-US" sz="1600" dirty="0" err="1"/>
              <a:t>rezistenţa</a:t>
            </a:r>
            <a:r>
              <a:rPr lang="en-US" sz="1600" dirty="0"/>
              <a:t> de </a:t>
            </a:r>
            <a:r>
              <a:rPr lang="en-US" sz="1600" dirty="0" err="1"/>
              <a:t>sarcină</a:t>
            </a:r>
            <a:r>
              <a:rPr lang="en-US" sz="1600" dirty="0"/>
              <a:t>;</a:t>
            </a:r>
          </a:p>
          <a:p>
            <a:r>
              <a:rPr lang="en-US" sz="1600" dirty="0" err="1"/>
              <a:t>Uin</a:t>
            </a:r>
            <a:r>
              <a:rPr lang="en-US" sz="1600" dirty="0"/>
              <a:t> – </a:t>
            </a:r>
            <a:r>
              <a:rPr lang="en-US" sz="1600" dirty="0" err="1"/>
              <a:t>amplitudinea</a:t>
            </a:r>
            <a:r>
              <a:rPr lang="en-US" sz="1600" dirty="0"/>
              <a:t> </a:t>
            </a:r>
            <a:r>
              <a:rPr lang="en-US" sz="1600" dirty="0" err="1"/>
              <a:t>tensiunii</a:t>
            </a:r>
            <a:r>
              <a:rPr lang="en-US" sz="1600" dirty="0"/>
              <a:t> </a:t>
            </a:r>
            <a:r>
              <a:rPr lang="en-US" sz="1600" dirty="0" err="1"/>
              <a:t>semnalului</a:t>
            </a:r>
            <a:r>
              <a:rPr lang="en-US" sz="1600" dirty="0"/>
              <a:t> de </a:t>
            </a:r>
            <a:r>
              <a:rPr lang="en-US" sz="1600" dirty="0" err="1"/>
              <a:t>intrare</a:t>
            </a:r>
            <a:r>
              <a:rPr lang="en-US" sz="1600" dirty="0"/>
              <a:t>;</a:t>
            </a:r>
          </a:p>
          <a:p>
            <a:r>
              <a:rPr lang="en-US" sz="1600" dirty="0" err="1"/>
              <a:t>Uo</a:t>
            </a:r>
            <a:r>
              <a:rPr lang="en-US" sz="1600" dirty="0"/>
              <a:t> – </a:t>
            </a:r>
            <a:r>
              <a:rPr lang="en-US" sz="1600" dirty="0" err="1"/>
              <a:t>amplitudinea</a:t>
            </a:r>
            <a:r>
              <a:rPr lang="en-US" sz="1600" dirty="0"/>
              <a:t> </a:t>
            </a:r>
            <a:r>
              <a:rPr lang="en-US" sz="1600" dirty="0" err="1"/>
              <a:t>tensiunii</a:t>
            </a:r>
            <a:r>
              <a:rPr lang="en-US" sz="1600" dirty="0"/>
              <a:t> </a:t>
            </a:r>
            <a:r>
              <a:rPr lang="en-US" sz="1600" dirty="0" err="1"/>
              <a:t>semnalului</a:t>
            </a:r>
            <a:r>
              <a:rPr lang="en-US" sz="1600" dirty="0"/>
              <a:t> de </a:t>
            </a:r>
            <a:r>
              <a:rPr lang="en-US" sz="1600" dirty="0" err="1"/>
              <a:t>ieşire</a:t>
            </a:r>
            <a:r>
              <a:rPr lang="en-US" sz="1600" dirty="0"/>
              <a:t>.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Amplificarea</a:t>
            </a:r>
            <a:r>
              <a:rPr lang="en-US" sz="1600" dirty="0"/>
              <a:t> </a:t>
            </a:r>
            <a:r>
              <a:rPr lang="en-US" sz="1600" dirty="0" err="1"/>
              <a:t>în</a:t>
            </a:r>
            <a:r>
              <a:rPr lang="en-US" sz="1600" dirty="0"/>
              <a:t> </a:t>
            </a:r>
            <a:r>
              <a:rPr lang="en-US" sz="1600" dirty="0" err="1"/>
              <a:t>tensiune</a:t>
            </a:r>
            <a:r>
              <a:rPr lang="en-US" sz="1600" dirty="0"/>
              <a:t> a </a:t>
            </a:r>
            <a:r>
              <a:rPr lang="en-US" sz="1600" dirty="0" err="1"/>
              <a:t>acestui</a:t>
            </a:r>
            <a:r>
              <a:rPr lang="en-US" sz="1600" dirty="0"/>
              <a:t> </a:t>
            </a:r>
            <a:r>
              <a:rPr lang="en-US" sz="1600" dirty="0" err="1"/>
              <a:t>amplificator</a:t>
            </a:r>
            <a:r>
              <a:rPr lang="en-US" sz="1600" dirty="0"/>
              <a:t> se </a:t>
            </a:r>
            <a:r>
              <a:rPr lang="en-US" sz="1600" dirty="0" err="1"/>
              <a:t>determină</a:t>
            </a:r>
            <a:r>
              <a:rPr lang="en-US" sz="1600" dirty="0"/>
              <a:t> </a:t>
            </a:r>
            <a:r>
              <a:rPr lang="en-US" sz="1600" dirty="0" err="1"/>
              <a:t>astfel</a:t>
            </a:r>
            <a:r>
              <a:rPr lang="en-US" sz="1600" dirty="0"/>
              <a:t>: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 err="1"/>
              <a:t>unde</a:t>
            </a:r>
            <a:r>
              <a:rPr lang="en-US" sz="1600" dirty="0"/>
              <a:t> g</a:t>
            </a:r>
            <a:r>
              <a:rPr lang="en-US" sz="1600" baseline="-25000" dirty="0"/>
              <a:t>m</a:t>
            </a:r>
            <a:r>
              <a:rPr lang="en-US" sz="1600" dirty="0"/>
              <a:t> </a:t>
            </a:r>
            <a:r>
              <a:rPr lang="en-US" sz="1600" dirty="0" err="1"/>
              <a:t>reprezintă</a:t>
            </a:r>
            <a:r>
              <a:rPr lang="en-US" sz="1600" dirty="0"/>
              <a:t> </a:t>
            </a:r>
            <a:r>
              <a:rPr lang="en-US" sz="1600" dirty="0" err="1"/>
              <a:t>panta</a:t>
            </a:r>
            <a:r>
              <a:rPr lang="en-US" sz="1600" dirty="0"/>
              <a:t> </a:t>
            </a:r>
            <a:r>
              <a:rPr lang="en-US" sz="1600" dirty="0" err="1"/>
              <a:t>tranzistorului</a:t>
            </a:r>
            <a:r>
              <a:rPr lang="en-US" sz="1600" dirty="0"/>
              <a:t>.</a:t>
            </a:r>
          </a:p>
          <a:p>
            <a:r>
              <a:rPr lang="en-US" sz="1600" dirty="0" err="1"/>
              <a:t>Observaţii</a:t>
            </a:r>
            <a:r>
              <a:rPr lang="en-US" sz="1600" dirty="0"/>
              <a:t>:</a:t>
            </a:r>
          </a:p>
          <a:p>
            <a:r>
              <a:rPr lang="en-US" sz="1600" dirty="0"/>
              <a:t>-	</a:t>
            </a:r>
            <a:r>
              <a:rPr lang="en-US" sz="1600" dirty="0" err="1"/>
              <a:t>amplificarea</a:t>
            </a:r>
            <a:r>
              <a:rPr lang="en-US" sz="1600" dirty="0"/>
              <a:t> </a:t>
            </a:r>
            <a:r>
              <a:rPr lang="en-US" sz="1600" dirty="0" err="1"/>
              <a:t>în</a:t>
            </a:r>
            <a:r>
              <a:rPr lang="en-US" sz="1600" dirty="0"/>
              <a:t> </a:t>
            </a:r>
            <a:r>
              <a:rPr lang="en-US" sz="1600" dirty="0" err="1"/>
              <a:t>tensiune</a:t>
            </a:r>
            <a:r>
              <a:rPr lang="en-US" sz="1600" dirty="0"/>
              <a:t> </a:t>
            </a:r>
            <a:r>
              <a:rPr lang="en-US" sz="1600" dirty="0" err="1"/>
              <a:t>este</a:t>
            </a:r>
            <a:r>
              <a:rPr lang="en-US" sz="1600" dirty="0"/>
              <a:t> mare;</a:t>
            </a:r>
          </a:p>
          <a:p>
            <a:r>
              <a:rPr lang="en-US" sz="1600" dirty="0"/>
              <a:t>-	</a:t>
            </a:r>
            <a:r>
              <a:rPr lang="en-US" sz="1600" dirty="0" err="1"/>
              <a:t>etajul</a:t>
            </a:r>
            <a:r>
              <a:rPr lang="en-US" sz="1600" dirty="0"/>
              <a:t> nu </a:t>
            </a:r>
            <a:r>
              <a:rPr lang="en-US" sz="1600" dirty="0" err="1"/>
              <a:t>defazează</a:t>
            </a:r>
            <a:r>
              <a:rPr lang="en-US" sz="1600" dirty="0"/>
              <a:t> </a:t>
            </a:r>
            <a:r>
              <a:rPr lang="en-US" sz="1600" dirty="0" err="1"/>
              <a:t>mărimea</a:t>
            </a:r>
            <a:r>
              <a:rPr lang="en-US" sz="1600" dirty="0"/>
              <a:t> de </a:t>
            </a:r>
            <a:r>
              <a:rPr lang="en-US" sz="1600" dirty="0" err="1"/>
              <a:t>ieşire</a:t>
            </a:r>
            <a:r>
              <a:rPr lang="en-US" sz="1600" dirty="0"/>
              <a:t> </a:t>
            </a:r>
            <a:r>
              <a:rPr lang="en-US" sz="1600" dirty="0" err="1"/>
              <a:t>faţă</a:t>
            </a:r>
            <a:r>
              <a:rPr lang="en-US" sz="1600" dirty="0"/>
              <a:t> de </a:t>
            </a:r>
            <a:r>
              <a:rPr lang="en-US" sz="1600" dirty="0" err="1"/>
              <a:t>cea</a:t>
            </a:r>
            <a:r>
              <a:rPr lang="en-US" sz="1600" dirty="0"/>
              <a:t> de </a:t>
            </a:r>
            <a:r>
              <a:rPr lang="en-US" sz="1600" dirty="0" err="1"/>
              <a:t>intrare</a:t>
            </a:r>
            <a:r>
              <a:rPr lang="en-US" sz="1600" dirty="0"/>
              <a:t>;</a:t>
            </a:r>
          </a:p>
          <a:p>
            <a:r>
              <a:rPr lang="en-US" sz="1600" dirty="0"/>
              <a:t>-	</a:t>
            </a:r>
            <a:r>
              <a:rPr lang="en-US" sz="1600" dirty="0" err="1"/>
              <a:t>impedanţa</a:t>
            </a:r>
            <a:r>
              <a:rPr lang="en-US" sz="1600" dirty="0"/>
              <a:t> de </a:t>
            </a:r>
            <a:r>
              <a:rPr lang="en-US" sz="1600" dirty="0" err="1"/>
              <a:t>intrare</a:t>
            </a:r>
            <a:r>
              <a:rPr lang="en-US" sz="1600" dirty="0"/>
              <a:t> are </a:t>
            </a:r>
            <a:r>
              <a:rPr lang="en-US" sz="1600" dirty="0" err="1"/>
              <a:t>valoare</a:t>
            </a:r>
            <a:r>
              <a:rPr lang="en-US" sz="1600" dirty="0"/>
              <a:t> </a:t>
            </a:r>
            <a:r>
              <a:rPr lang="en-US" sz="1600" dirty="0" err="1"/>
              <a:t>mică</a:t>
            </a:r>
            <a:r>
              <a:rPr lang="en-US" sz="1600" dirty="0"/>
              <a:t> (</a:t>
            </a:r>
            <a:r>
              <a:rPr lang="en-US" sz="1600" dirty="0" err="1"/>
              <a:t>zeci</a:t>
            </a:r>
            <a:r>
              <a:rPr lang="en-US" sz="1600" dirty="0"/>
              <a:t> de </a:t>
            </a:r>
            <a:r>
              <a:rPr lang="en-US" sz="1600" dirty="0" err="1"/>
              <a:t>ohmi</a:t>
            </a:r>
            <a:r>
              <a:rPr lang="en-US" sz="1600" dirty="0"/>
              <a:t>), </a:t>
            </a:r>
            <a:r>
              <a:rPr lang="en-US" sz="1600" dirty="0" err="1"/>
              <a:t>iar</a:t>
            </a:r>
            <a:r>
              <a:rPr lang="en-US" sz="1600" dirty="0"/>
              <a:t> din </a:t>
            </a:r>
            <a:r>
              <a:rPr lang="en-US" sz="1600" dirty="0" err="1"/>
              <a:t>acest</a:t>
            </a:r>
            <a:r>
              <a:rPr lang="en-US" sz="1600" dirty="0"/>
              <a:t> </a:t>
            </a:r>
            <a:r>
              <a:rPr lang="en-US" sz="1600" dirty="0" err="1"/>
              <a:t>motiv</a:t>
            </a:r>
            <a:r>
              <a:rPr lang="en-US" sz="1600" dirty="0"/>
              <a:t> </a:t>
            </a:r>
            <a:r>
              <a:rPr lang="en-US" sz="1600" dirty="0" err="1"/>
              <a:t>poate</a:t>
            </a:r>
            <a:r>
              <a:rPr lang="en-US" sz="1600" dirty="0"/>
              <a:t> fi </a:t>
            </a:r>
            <a:r>
              <a:rPr lang="en-US" sz="1600" dirty="0" err="1"/>
              <a:t>utilizat</a:t>
            </a:r>
            <a:r>
              <a:rPr lang="en-US" sz="1600" dirty="0"/>
              <a:t> ca </a:t>
            </a:r>
            <a:r>
              <a:rPr lang="en-US" sz="1600" dirty="0" err="1"/>
              <a:t>şi</a:t>
            </a:r>
            <a:r>
              <a:rPr lang="en-US" sz="1600" dirty="0"/>
              <a:t> </a:t>
            </a:r>
            <a:r>
              <a:rPr lang="en-US" sz="1600" dirty="0" err="1"/>
              <a:t>amplificator</a:t>
            </a:r>
            <a:r>
              <a:rPr lang="en-US" sz="1600" dirty="0"/>
              <a:t> ideal de </a:t>
            </a:r>
            <a:r>
              <a:rPr lang="en-US" sz="1600" dirty="0" err="1"/>
              <a:t>curent</a:t>
            </a:r>
            <a:r>
              <a:rPr lang="en-US" sz="1600" dirty="0"/>
              <a:t>;</a:t>
            </a:r>
          </a:p>
          <a:p>
            <a:r>
              <a:rPr lang="en-US" sz="1600" dirty="0"/>
              <a:t>-	</a:t>
            </a:r>
            <a:r>
              <a:rPr lang="en-US" sz="1600" dirty="0" err="1"/>
              <a:t>impedanţa</a:t>
            </a:r>
            <a:r>
              <a:rPr lang="en-US" sz="1600" dirty="0"/>
              <a:t> de </a:t>
            </a:r>
            <a:r>
              <a:rPr lang="en-US" sz="1600" dirty="0" err="1"/>
              <a:t>ieşire</a:t>
            </a:r>
            <a:r>
              <a:rPr lang="en-US" sz="1600" dirty="0"/>
              <a:t> are </a:t>
            </a:r>
            <a:r>
              <a:rPr lang="en-US" sz="1600" dirty="0" err="1"/>
              <a:t>valoare</a:t>
            </a:r>
            <a:r>
              <a:rPr lang="en-US" sz="1600" dirty="0"/>
              <a:t> </a:t>
            </a:r>
            <a:r>
              <a:rPr lang="en-US" sz="1600" dirty="0" err="1"/>
              <a:t>medie</a:t>
            </a:r>
            <a:r>
              <a:rPr lang="en-US" sz="1600" dirty="0"/>
              <a:t> (</a:t>
            </a:r>
            <a:r>
              <a:rPr lang="en-US" sz="1600" dirty="0" err="1"/>
              <a:t>aproximativ</a:t>
            </a:r>
            <a:r>
              <a:rPr lang="en-US" sz="1600" dirty="0"/>
              <a:t> </a:t>
            </a:r>
            <a:r>
              <a:rPr lang="en-US" sz="1600" dirty="0" err="1"/>
              <a:t>egală</a:t>
            </a:r>
            <a:r>
              <a:rPr lang="en-US" sz="1600" dirty="0"/>
              <a:t> cu RC).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În</a:t>
            </a:r>
            <a:r>
              <a:rPr lang="en-US" sz="1600" dirty="0"/>
              <a:t> </a:t>
            </a:r>
            <a:r>
              <a:rPr lang="en-US" sz="1600" dirty="0" err="1"/>
              <a:t>concluzie</a:t>
            </a:r>
            <a:r>
              <a:rPr lang="en-US" sz="1600" dirty="0"/>
              <a:t> </a:t>
            </a:r>
            <a:r>
              <a:rPr lang="en-US" sz="1600" dirty="0" err="1"/>
              <a:t>acest</a:t>
            </a:r>
            <a:r>
              <a:rPr lang="en-US" sz="1600" dirty="0"/>
              <a:t> tip de </a:t>
            </a:r>
            <a:r>
              <a:rPr lang="en-US" sz="1600" dirty="0" err="1"/>
              <a:t>amplificator</a:t>
            </a:r>
            <a:r>
              <a:rPr lang="en-US" sz="1600" dirty="0"/>
              <a:t> se </a:t>
            </a:r>
            <a:r>
              <a:rPr lang="en-US" sz="1600" dirty="0" err="1"/>
              <a:t>poate</a:t>
            </a:r>
            <a:r>
              <a:rPr lang="en-US" sz="1600" dirty="0"/>
              <a:t> </a:t>
            </a:r>
            <a:r>
              <a:rPr lang="en-US" sz="1600" dirty="0" err="1"/>
              <a:t>folosi</a:t>
            </a:r>
            <a:r>
              <a:rPr lang="en-US" sz="1600" dirty="0"/>
              <a:t> ca </a:t>
            </a:r>
            <a:r>
              <a:rPr lang="en-US" sz="1600" dirty="0" err="1"/>
              <a:t>şi</a:t>
            </a:r>
            <a:r>
              <a:rPr lang="en-US" sz="1600" dirty="0"/>
              <a:t> </a:t>
            </a:r>
            <a:r>
              <a:rPr lang="en-US" sz="1600" dirty="0" err="1"/>
              <a:t>amplificator</a:t>
            </a:r>
            <a:r>
              <a:rPr lang="en-US" sz="1600" dirty="0"/>
              <a:t> de </a:t>
            </a:r>
            <a:r>
              <a:rPr lang="en-US" sz="1600" dirty="0" err="1"/>
              <a:t>frecvenţe</a:t>
            </a:r>
            <a:r>
              <a:rPr lang="en-US" sz="1600" dirty="0"/>
              <a:t> </a:t>
            </a:r>
            <a:r>
              <a:rPr lang="en-US" sz="1600" dirty="0" err="1"/>
              <a:t>ridicate</a:t>
            </a:r>
            <a:r>
              <a:rPr lang="en-US" sz="1600" dirty="0"/>
              <a:t> cu </a:t>
            </a:r>
            <a:r>
              <a:rPr lang="en-US" sz="1600" dirty="0" err="1"/>
              <a:t>sarcină</a:t>
            </a:r>
            <a:r>
              <a:rPr lang="en-US" sz="1600" dirty="0"/>
              <a:t> </a:t>
            </a:r>
            <a:r>
              <a:rPr lang="en-US" sz="1600" dirty="0" err="1"/>
              <a:t>acordată</a:t>
            </a:r>
            <a:r>
              <a:rPr lang="en-US" sz="1600" dirty="0"/>
              <a:t>.</a:t>
            </a:r>
          </a:p>
        </p:txBody>
      </p:sp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8178427"/>
              </p:ext>
            </p:extLst>
          </p:nvPr>
        </p:nvGraphicFramePr>
        <p:xfrm>
          <a:off x="4481466" y="4327556"/>
          <a:ext cx="1313884" cy="389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7" r:id="rId5" imgW="774364" imgH="228501" progId="Equation.DSMT4">
                  <p:embed/>
                </p:oleObj>
              </mc:Choice>
              <mc:Fallback>
                <p:oleObj r:id="rId5" imgW="774364" imgH="228501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1466" y="4327556"/>
                        <a:ext cx="1313884" cy="3892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7963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1995842" cy="715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spcAft>
                <a:spcPts val="300"/>
              </a:spcAft>
            </a:pPr>
            <a:r>
              <a:rPr lang="ro-RO" sz="2000" b="1" i="1" dirty="0">
                <a:latin typeface="Arial" panose="020B0604020202020204" pitchFamily="34" charset="0"/>
              </a:rPr>
              <a:t>Amplificator cu TB în conexiune colector comun (CC).</a:t>
            </a:r>
            <a:endParaRPr lang="en-US" sz="2000" b="1" i="1" dirty="0">
              <a:latin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o-RO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Schema 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unui etaj de amplificare cu tranzistor bipolar, aflat în conexiunea CC.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291328"/>
              </p:ext>
            </p:extLst>
          </p:nvPr>
        </p:nvGraphicFramePr>
        <p:xfrm>
          <a:off x="8772809" y="144855"/>
          <a:ext cx="3223034" cy="2736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7" name="Picture" r:id="rId3" imgW="2866439" imgH="2400871" progId="Word.Picture.8">
                  <p:embed/>
                </p:oleObj>
              </mc:Choice>
              <mc:Fallback>
                <p:oleObj name="Picture" r:id="rId3" imgW="2866439" imgH="2400871" progId="Word.Picture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2809" y="144855"/>
                        <a:ext cx="3223034" cy="27362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105623" y="699617"/>
            <a:ext cx="888446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Elementele </a:t>
            </a:r>
            <a:r>
              <a:rPr lang="ro-RO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au 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următoarele semnificaţii: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ro-RO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B1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R</a:t>
            </a:r>
            <a:r>
              <a:rPr lang="ro-RO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B2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divizor de tensiune pentru polarizare cu rol în crearea potenţialului necesar pentru ca tranzistorul să funcţioneze în regiunea activă normală;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ro-RO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rezistenţa de sarcină;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o-RO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,C</a:t>
            </a:r>
            <a:r>
              <a:rPr lang="ro-RO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 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condensatoare de cuplaj care separă în curent continuu etajul blocând componenta continuă, dar lasă să treacă componenta alternativă;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ro-RO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amplitudinea tensiunii semnalului de intrare;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ro-RO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amplitudinea tensiunii semnalului de ieşire.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	Amplificarea în tensiune a acestui amplificator se determină astfel: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6247852"/>
              </p:ext>
            </p:extLst>
          </p:nvPr>
        </p:nvGraphicFramePr>
        <p:xfrm>
          <a:off x="6415840" y="3149138"/>
          <a:ext cx="834540" cy="445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8" r:id="rId5" imgW="431613" imgH="228501" progId="Equation.DSMT4">
                  <p:embed/>
                </p:oleObj>
              </mc:Choice>
              <mc:Fallback>
                <p:oleObj r:id="rId5" imgW="431613" imgH="228501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5840" y="3149138"/>
                        <a:ext cx="834540" cy="445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Прямоугольник 9"/>
          <p:cNvSpPr/>
          <p:nvPr/>
        </p:nvSpPr>
        <p:spPr>
          <a:xfrm>
            <a:off x="196108" y="3839702"/>
            <a:ext cx="1173636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Observaţii: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amplificarea în tensiune este unitară;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amplificarea în curent este mare;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etajul nu defazează mărimea de ieşire faţă de cea de intrare;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impedanţa de intrare are valoare foarte mare (R</a:t>
            </a:r>
            <a:r>
              <a:rPr lang="ro-RO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 multiplicată cu factorul de amplificare);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impedanţa de ieşire are valoare (rezistenţa echivalentă din bază împărţită la factorul de amplificare).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	În concluzie acest tip de amplificator este folosit ca </a:t>
            </a:r>
            <a:r>
              <a:rPr lang="ro-RO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etaj tampon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adaptor de impedanţă (</a:t>
            </a:r>
            <a:r>
              <a:rPr lang="ro-RO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repetor pe emitor</a:t>
            </a:r>
            <a:r>
              <a:rPr lang="ro-RO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853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50478" y="0"/>
            <a:ext cx="1194152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➢</a:t>
            </a:r>
            <a:r>
              <a:rPr lang="en-US" b="1" dirty="0" err="1">
                <a:solidFill>
                  <a:srgbClr val="FF0000"/>
                </a:solidFill>
              </a:rPr>
              <a:t>Reacţia</a:t>
            </a:r>
            <a:r>
              <a:rPr lang="en-US" dirty="0"/>
              <a:t> - </a:t>
            </a:r>
            <a:r>
              <a:rPr lang="en-US" dirty="0" err="1"/>
              <a:t>tehnică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care </a:t>
            </a:r>
            <a:r>
              <a:rPr lang="en-US" dirty="0" err="1"/>
              <a:t>comportarea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proprietăţile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influenţate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de </a:t>
            </a:r>
            <a:r>
              <a:rPr lang="en-US" dirty="0" err="1"/>
              <a:t>mărime</a:t>
            </a:r>
            <a:r>
              <a:rPr lang="en-US" dirty="0"/>
              <a:t> de la </a:t>
            </a:r>
            <a:r>
              <a:rPr lang="en-US" dirty="0" err="1"/>
              <a:t>ieşirea</a:t>
            </a:r>
            <a:r>
              <a:rPr lang="en-US" dirty="0"/>
              <a:t> </a:t>
            </a:r>
            <a:r>
              <a:rPr lang="en-US" dirty="0" err="1"/>
              <a:t>sistemului</a:t>
            </a:r>
            <a:r>
              <a:rPr lang="en-US" dirty="0"/>
              <a:t>. </a:t>
            </a:r>
            <a:endParaRPr lang="x-none" dirty="0" smtClean="0"/>
          </a:p>
          <a:p>
            <a:r>
              <a:rPr lang="en-US" dirty="0" smtClean="0"/>
              <a:t>➢ </a:t>
            </a:r>
            <a:r>
              <a:rPr lang="en-US" dirty="0" err="1"/>
              <a:t>efectul</a:t>
            </a:r>
            <a:r>
              <a:rPr lang="en-US" dirty="0"/>
              <a:t> </a:t>
            </a:r>
            <a:r>
              <a:rPr lang="en-US" dirty="0" err="1"/>
              <a:t>produs</a:t>
            </a:r>
            <a:r>
              <a:rPr lang="en-US" dirty="0"/>
              <a:t> de o </a:t>
            </a:r>
            <a:r>
              <a:rPr lang="en-US" dirty="0" err="1"/>
              <a:t>cauză</a:t>
            </a:r>
            <a:r>
              <a:rPr lang="en-US" dirty="0"/>
              <a:t> </a:t>
            </a:r>
            <a:r>
              <a:rPr lang="en-US" dirty="0" err="1"/>
              <a:t>influenţează</a:t>
            </a:r>
            <a:r>
              <a:rPr lang="en-US" dirty="0"/>
              <a:t> </a:t>
            </a:r>
            <a:r>
              <a:rPr lang="en-US" dirty="0" err="1"/>
              <a:t>acţiunea</a:t>
            </a:r>
            <a:r>
              <a:rPr lang="en-US" dirty="0"/>
              <a:t> </a:t>
            </a:r>
            <a:r>
              <a:rPr lang="en-US" dirty="0" err="1"/>
              <a:t>ulterioară</a:t>
            </a:r>
            <a:r>
              <a:rPr lang="en-US" dirty="0"/>
              <a:t> a </a:t>
            </a:r>
            <a:r>
              <a:rPr lang="en-US" dirty="0" err="1"/>
              <a:t>acelei</a:t>
            </a:r>
            <a:r>
              <a:rPr lang="en-US" dirty="0"/>
              <a:t> </a:t>
            </a:r>
            <a:r>
              <a:rPr lang="en-US" dirty="0" smtClean="0"/>
              <a:t>cause</a:t>
            </a:r>
            <a:endParaRPr lang="x-none" dirty="0" smtClean="0"/>
          </a:p>
          <a:p>
            <a:r>
              <a:rPr lang="en-US" dirty="0" smtClean="0"/>
              <a:t>➢ </a:t>
            </a:r>
            <a:r>
              <a:rPr lang="en-US" dirty="0" err="1"/>
              <a:t>transmiterea</a:t>
            </a:r>
            <a:r>
              <a:rPr lang="en-US" dirty="0"/>
              <a:t> </a:t>
            </a:r>
            <a:r>
              <a:rPr lang="en-US" dirty="0" err="1"/>
              <a:t>înapoi</a:t>
            </a:r>
            <a:r>
              <a:rPr lang="en-US" dirty="0"/>
              <a:t>, </a:t>
            </a:r>
            <a:r>
              <a:rPr lang="en-US" dirty="0" err="1"/>
              <a:t>înspre</a:t>
            </a:r>
            <a:r>
              <a:rPr lang="en-US" dirty="0"/>
              <a:t> </a:t>
            </a:r>
            <a:r>
              <a:rPr lang="en-US" dirty="0" err="1"/>
              <a:t>intrare</a:t>
            </a:r>
            <a:r>
              <a:rPr lang="en-US" dirty="0"/>
              <a:t>, a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mărimi</a:t>
            </a:r>
            <a:r>
              <a:rPr lang="en-US" dirty="0"/>
              <a:t> </a:t>
            </a:r>
            <a:r>
              <a:rPr lang="en-US" dirty="0" err="1"/>
              <a:t>proporţionale</a:t>
            </a:r>
            <a:r>
              <a:rPr lang="en-US" dirty="0"/>
              <a:t> cu </a:t>
            </a:r>
            <a:r>
              <a:rPr lang="en-US" dirty="0" err="1"/>
              <a:t>mărimea</a:t>
            </a:r>
            <a:r>
              <a:rPr lang="en-US" dirty="0"/>
              <a:t> de </a:t>
            </a:r>
            <a:r>
              <a:rPr lang="en-US" dirty="0" err="1"/>
              <a:t>ieşire</a:t>
            </a:r>
            <a:r>
              <a:rPr lang="en-US" dirty="0"/>
              <a:t>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23729" y="923330"/>
            <a:ext cx="1194152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Reacţia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de </a:t>
            </a:r>
            <a:r>
              <a:rPr lang="en-US" dirty="0" err="1"/>
              <a:t>două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: </a:t>
            </a:r>
            <a:endParaRPr lang="x-none" dirty="0" smtClean="0"/>
          </a:p>
          <a:p>
            <a:r>
              <a:rPr lang="en-US" dirty="0" smtClean="0"/>
              <a:t>• </a:t>
            </a:r>
            <a:r>
              <a:rPr lang="en-US" dirty="0" err="1"/>
              <a:t>reacţie</a:t>
            </a:r>
            <a:r>
              <a:rPr lang="en-US" dirty="0"/>
              <a:t> </a:t>
            </a:r>
            <a:r>
              <a:rPr lang="en-US" dirty="0" err="1"/>
              <a:t>negativă</a:t>
            </a:r>
            <a:r>
              <a:rPr lang="en-US" dirty="0"/>
              <a:t> (</a:t>
            </a:r>
            <a:r>
              <a:rPr lang="en-US" dirty="0" err="1"/>
              <a:t>degenerativă</a:t>
            </a:r>
            <a:r>
              <a:rPr lang="en-US" dirty="0"/>
              <a:t>) RN. </a:t>
            </a:r>
            <a:r>
              <a:rPr lang="en-US" dirty="0" err="1"/>
              <a:t>Mărimea</a:t>
            </a:r>
            <a:r>
              <a:rPr lang="en-US" dirty="0"/>
              <a:t> </a:t>
            </a:r>
            <a:r>
              <a:rPr lang="en-US" dirty="0" err="1"/>
              <a:t>readusă</a:t>
            </a:r>
            <a:r>
              <a:rPr lang="en-US" dirty="0"/>
              <a:t> </a:t>
            </a:r>
            <a:r>
              <a:rPr lang="en-US" dirty="0" err="1"/>
              <a:t>dinspre</a:t>
            </a:r>
            <a:r>
              <a:rPr lang="en-US" dirty="0"/>
              <a:t> </a:t>
            </a:r>
            <a:r>
              <a:rPr lang="en-US" dirty="0" err="1"/>
              <a:t>ieşire</a:t>
            </a:r>
            <a:r>
              <a:rPr lang="en-US" dirty="0"/>
              <a:t> </a:t>
            </a:r>
            <a:r>
              <a:rPr lang="en-US" dirty="0" err="1"/>
              <a:t>slăbeşte</a:t>
            </a:r>
            <a:r>
              <a:rPr lang="en-US" dirty="0"/>
              <a:t> </a:t>
            </a:r>
            <a:r>
              <a:rPr lang="en-US" dirty="0" err="1"/>
              <a:t>efectul</a:t>
            </a:r>
            <a:r>
              <a:rPr lang="en-US" dirty="0"/>
              <a:t> </a:t>
            </a:r>
            <a:r>
              <a:rPr lang="en-US" dirty="0" err="1"/>
              <a:t>mărimii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; </a:t>
            </a:r>
            <a:r>
              <a:rPr lang="en-US" dirty="0" err="1"/>
              <a:t>efect</a:t>
            </a:r>
            <a:r>
              <a:rPr lang="en-US" dirty="0"/>
              <a:t> de </a:t>
            </a:r>
            <a:r>
              <a:rPr lang="en-US" dirty="0" err="1"/>
              <a:t>stabilizare</a:t>
            </a:r>
            <a:r>
              <a:rPr lang="en-US" dirty="0"/>
              <a:t> </a:t>
            </a:r>
            <a:endParaRPr lang="x-none" dirty="0" smtClean="0"/>
          </a:p>
          <a:p>
            <a:r>
              <a:rPr lang="en-US" dirty="0" smtClean="0"/>
              <a:t>• </a:t>
            </a:r>
            <a:r>
              <a:rPr lang="en-US" dirty="0" err="1"/>
              <a:t>reacţie</a:t>
            </a:r>
            <a:r>
              <a:rPr lang="en-US" dirty="0"/>
              <a:t> </a:t>
            </a:r>
            <a:r>
              <a:rPr lang="en-US" dirty="0" err="1"/>
              <a:t>pozitivă</a:t>
            </a:r>
            <a:r>
              <a:rPr lang="en-US" dirty="0"/>
              <a:t> (</a:t>
            </a:r>
            <a:r>
              <a:rPr lang="en-US" dirty="0" err="1"/>
              <a:t>regenerativă</a:t>
            </a:r>
            <a:r>
              <a:rPr lang="en-US" dirty="0"/>
              <a:t>) RP. </a:t>
            </a:r>
            <a:r>
              <a:rPr lang="en-US" dirty="0" err="1"/>
              <a:t>Mărimea</a:t>
            </a:r>
            <a:r>
              <a:rPr lang="en-US" dirty="0"/>
              <a:t> </a:t>
            </a:r>
            <a:r>
              <a:rPr lang="en-US" dirty="0" err="1"/>
              <a:t>readusă</a:t>
            </a:r>
            <a:r>
              <a:rPr lang="en-US" dirty="0"/>
              <a:t> </a:t>
            </a:r>
            <a:r>
              <a:rPr lang="en-US" dirty="0" err="1"/>
              <a:t>dinspre</a:t>
            </a:r>
            <a:r>
              <a:rPr lang="en-US" dirty="0"/>
              <a:t> </a:t>
            </a:r>
            <a:r>
              <a:rPr lang="en-US" dirty="0" err="1"/>
              <a:t>ieşire</a:t>
            </a:r>
            <a:r>
              <a:rPr lang="en-US" dirty="0"/>
              <a:t> </a:t>
            </a:r>
            <a:r>
              <a:rPr lang="en-US" dirty="0" err="1"/>
              <a:t>întăreşte</a:t>
            </a:r>
            <a:r>
              <a:rPr lang="en-US" dirty="0"/>
              <a:t> </a:t>
            </a:r>
            <a:r>
              <a:rPr lang="en-US" dirty="0" err="1"/>
              <a:t>efectul</a:t>
            </a:r>
            <a:r>
              <a:rPr lang="en-US" dirty="0"/>
              <a:t> </a:t>
            </a:r>
            <a:r>
              <a:rPr lang="en-US" dirty="0" err="1"/>
              <a:t>mărimii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; </a:t>
            </a:r>
            <a:r>
              <a:rPr lang="en-US" dirty="0" err="1"/>
              <a:t>efect</a:t>
            </a:r>
            <a:r>
              <a:rPr lang="en-US" dirty="0"/>
              <a:t> de </a:t>
            </a:r>
            <a:r>
              <a:rPr lang="en-US" dirty="0" err="1"/>
              <a:t>destabilizare</a:t>
            </a:r>
            <a:endParaRPr lang="en-US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78" y="1917260"/>
            <a:ext cx="5838809" cy="3279429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6210677" y="2050423"/>
            <a:ext cx="585457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x</a:t>
            </a:r>
            <a:r>
              <a:rPr lang="en-US" baseline="-25000" dirty="0" err="1"/>
              <a:t>s</a:t>
            </a:r>
            <a:r>
              <a:rPr lang="en-US" dirty="0"/>
              <a:t> – </a:t>
            </a:r>
            <a:r>
              <a:rPr lang="en-US" dirty="0" err="1"/>
              <a:t>semnalul</a:t>
            </a:r>
            <a:r>
              <a:rPr lang="en-US" dirty="0"/>
              <a:t> </a:t>
            </a:r>
            <a:r>
              <a:rPr lang="en-US" dirty="0" err="1"/>
              <a:t>sursei</a:t>
            </a:r>
            <a:r>
              <a:rPr lang="en-US" dirty="0"/>
              <a:t>, </a:t>
            </a:r>
            <a:r>
              <a:rPr lang="en-US" dirty="0" err="1"/>
              <a:t>aplicat</a:t>
            </a:r>
            <a:r>
              <a:rPr lang="en-US" dirty="0"/>
              <a:t> de la o </a:t>
            </a:r>
            <a:r>
              <a:rPr lang="en-US" dirty="0" err="1"/>
              <a:t>sursă</a:t>
            </a:r>
            <a:r>
              <a:rPr lang="en-US" dirty="0"/>
              <a:t> </a:t>
            </a:r>
            <a:r>
              <a:rPr lang="en-US" dirty="0" err="1"/>
              <a:t>externă</a:t>
            </a:r>
            <a:r>
              <a:rPr lang="en-US" dirty="0"/>
              <a:t> de </a:t>
            </a:r>
            <a:r>
              <a:rPr lang="en-US" dirty="0" err="1"/>
              <a:t>semnal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x</a:t>
            </a:r>
            <a:r>
              <a:rPr lang="en-US" baseline="-25000" dirty="0"/>
              <a:t>o</a:t>
            </a:r>
            <a:r>
              <a:rPr lang="en-US" dirty="0"/>
              <a:t> – </a:t>
            </a:r>
            <a:r>
              <a:rPr lang="en-US" dirty="0" err="1"/>
              <a:t>semnalul</a:t>
            </a:r>
            <a:r>
              <a:rPr lang="en-US" dirty="0"/>
              <a:t> de </a:t>
            </a:r>
            <a:r>
              <a:rPr lang="en-US" dirty="0" err="1"/>
              <a:t>ieşire</a:t>
            </a:r>
            <a:r>
              <a:rPr lang="en-US" dirty="0"/>
              <a:t>, </a:t>
            </a:r>
            <a:r>
              <a:rPr lang="en-US" dirty="0" err="1"/>
              <a:t>furnizat</a:t>
            </a:r>
            <a:r>
              <a:rPr lang="en-US" dirty="0"/>
              <a:t> de </a:t>
            </a:r>
            <a:r>
              <a:rPr lang="en-US" dirty="0" err="1"/>
              <a:t>circuitul</a:t>
            </a:r>
            <a:r>
              <a:rPr lang="en-US" dirty="0"/>
              <a:t> cu </a:t>
            </a:r>
            <a:r>
              <a:rPr lang="en-US" dirty="0" err="1"/>
              <a:t>reacţie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 err="1"/>
              <a:t>x</a:t>
            </a:r>
            <a:r>
              <a:rPr lang="en-US" baseline="-25000" dirty="0" err="1"/>
              <a:t>r</a:t>
            </a:r>
            <a:r>
              <a:rPr lang="en-US" dirty="0"/>
              <a:t> – </a:t>
            </a:r>
            <a:r>
              <a:rPr lang="en-US" dirty="0" err="1"/>
              <a:t>semnalul</a:t>
            </a:r>
            <a:r>
              <a:rPr lang="en-US" dirty="0"/>
              <a:t> de </a:t>
            </a:r>
            <a:r>
              <a:rPr lang="en-US" dirty="0" err="1"/>
              <a:t>reacţie</a:t>
            </a:r>
            <a:r>
              <a:rPr lang="en-US" dirty="0"/>
              <a:t> </a:t>
            </a:r>
            <a:r>
              <a:rPr lang="en-US" dirty="0" err="1"/>
              <a:t>furnizat</a:t>
            </a:r>
            <a:r>
              <a:rPr lang="en-US" dirty="0"/>
              <a:t> de </a:t>
            </a:r>
            <a:r>
              <a:rPr lang="en-US" dirty="0" err="1"/>
              <a:t>blocul</a:t>
            </a:r>
            <a:r>
              <a:rPr lang="en-US" dirty="0"/>
              <a:t> de </a:t>
            </a:r>
            <a:r>
              <a:rPr lang="en-US" dirty="0" err="1"/>
              <a:t>reacţie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x</a:t>
            </a:r>
            <a:r>
              <a:rPr lang="en-US" baseline="-25000" dirty="0"/>
              <a:t>i</a:t>
            </a:r>
            <a:r>
              <a:rPr lang="en-US" dirty="0"/>
              <a:t> – </a:t>
            </a:r>
            <a:r>
              <a:rPr lang="en-US" dirty="0" err="1"/>
              <a:t>semnalul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 al </a:t>
            </a:r>
            <a:r>
              <a:rPr lang="en-US" dirty="0" err="1"/>
              <a:t>amplificatorului</a:t>
            </a:r>
            <a:r>
              <a:rPr lang="en-US" dirty="0"/>
              <a:t> de </a:t>
            </a:r>
            <a:r>
              <a:rPr lang="en-US" dirty="0" err="1"/>
              <a:t>bază</a:t>
            </a:r>
            <a:r>
              <a:rPr lang="en-US" dirty="0"/>
              <a:t>,</a:t>
            </a:r>
            <a:br>
              <a:rPr lang="en-US" dirty="0"/>
            </a:br>
            <a:endParaRPr lang="x-none" dirty="0"/>
          </a:p>
          <a:p>
            <a:r>
              <a:rPr lang="en-US" dirty="0" err="1"/>
              <a:t>x</a:t>
            </a:r>
            <a:r>
              <a:rPr lang="en-US" baseline="-25000" dirty="0" err="1"/>
              <a:t>s</a:t>
            </a:r>
            <a:r>
              <a:rPr lang="en-US" dirty="0"/>
              <a:t> – </a:t>
            </a:r>
            <a:r>
              <a:rPr lang="en-US" dirty="0" err="1"/>
              <a:t>tensiune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curent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x</a:t>
            </a:r>
            <a:r>
              <a:rPr lang="en-US" baseline="-25000" dirty="0"/>
              <a:t>o</a:t>
            </a:r>
            <a:r>
              <a:rPr lang="en-US" dirty="0"/>
              <a:t> – </a:t>
            </a:r>
            <a:r>
              <a:rPr lang="en-US" dirty="0" err="1"/>
              <a:t>tensiune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curent</a:t>
            </a:r>
            <a:r>
              <a:rPr lang="en-US" dirty="0"/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4220441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2849" y="0"/>
            <a:ext cx="1973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REACŢIA NEGATIVĂ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369332"/>
            <a:ext cx="1195057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Amplificatoarele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studiate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până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acum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lucrau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aproximativ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liniar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numai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condiţii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mic.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asemenea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banda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era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limitată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câteva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kHz. Cu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alte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cuvinte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prezintă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distorsiuni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neliniare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liniare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aplicarea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reacţii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parte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scadă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obţine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mbunătăţire</a:t>
            </a:r>
            <a:r>
              <a:rPr lang="en-US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liniarităţii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caracteristicii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transfer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lărgirea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benzii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</a:t>
            </a:r>
            <a:r>
              <a:rPr lang="x-none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frecvenţă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preţul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plătit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aceasta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fiind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reducerea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amplificării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circuitului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Schema bloc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reacţie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prezentată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unde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x-none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fără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reacţie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atenuarea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reţelei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reacţie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9284"/>
            <a:ext cx="3227041" cy="1754118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02849" y="4062650"/>
            <a:ext cx="26828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Amplificatorul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reac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ţ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3329890" y="2400657"/>
            <a:ext cx="234786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× 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f ×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a×s</a:t>
            </a:r>
            <a:r>
              <a:rPr lang="en-US" sz="1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a×f×s</a:t>
            </a:r>
            <a:r>
              <a:rPr lang="en-US" sz="1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(1+af) =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1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02848" y="4513525"/>
            <a:ext cx="74749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dac</a:t>
            </a:r>
            <a:r>
              <a:rPr lang="en-US" dirty="0" err="1">
                <a:solidFill>
                  <a:srgbClr val="000000"/>
                </a:solidFill>
                <a:latin typeface="TT61t00"/>
              </a:rPr>
              <a:t>ă</a:t>
            </a:r>
            <a:r>
              <a:rPr lang="en-US" dirty="0">
                <a:solidFill>
                  <a:srgbClr val="000000"/>
                </a:solidFill>
                <a:latin typeface="TT61t0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not</a:t>
            </a:r>
            <a:r>
              <a:rPr lang="en-US" dirty="0" err="1">
                <a:solidFill>
                  <a:srgbClr val="000000"/>
                </a:solidFill>
                <a:latin typeface="TT61t00"/>
              </a:rPr>
              <a:t>ă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m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amplificarea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Helvetica" panose="020B0604020202020204" pitchFamily="34" charset="0"/>
              </a:rPr>
              <a:t>amplificatorului</a:t>
            </a:r>
            <a:r>
              <a:rPr lang="x-none" dirty="0" smtClean="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Helvetica" panose="020B0604020202020204" pitchFamily="34" charset="0"/>
              </a:rPr>
              <a:t>cu 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reac</a:t>
            </a:r>
            <a:r>
              <a:rPr lang="en-US" dirty="0" err="1">
                <a:solidFill>
                  <a:srgbClr val="000000"/>
                </a:solidFill>
                <a:latin typeface="TT61t00"/>
              </a:rPr>
              <a:t>ţ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ie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 cu </a:t>
            </a:r>
            <a:r>
              <a:rPr lang="en-US" b="1" i="1" dirty="0">
                <a:solidFill>
                  <a:srgbClr val="000000"/>
                </a:solidFill>
                <a:latin typeface="Helvetica-BoldOblique"/>
              </a:rPr>
              <a:t>A 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ob</a:t>
            </a:r>
            <a:r>
              <a:rPr lang="en-US" dirty="0" err="1">
                <a:solidFill>
                  <a:srgbClr val="000000"/>
                </a:solidFill>
                <a:latin typeface="TT61t00"/>
              </a:rPr>
              <a:t>ţ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inem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:</a:t>
            </a:r>
            <a:r>
              <a:rPr lang="en-US" dirty="0"/>
              <a:t> 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078" y="4431982"/>
            <a:ext cx="1186233" cy="61858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102848" y="5170645"/>
            <a:ext cx="111777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i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Dacă A &gt; a reacţia se numeşte pozitivă</a:t>
            </a:r>
          </a:p>
          <a:p>
            <a:r>
              <a:rPr lang="en-US" i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Dacă A &lt; a reacţia se numeşte negativă </a:t>
            </a:r>
            <a:endParaRPr lang="en-US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034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8830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Definim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transmisia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bucl</a:t>
            </a:r>
            <a:r>
              <a:rPr lang="en-US" dirty="0" err="1">
                <a:solidFill>
                  <a:srgbClr val="000000"/>
                </a:solidFill>
                <a:latin typeface="TT61t00"/>
              </a:rPr>
              <a:t>ă</a:t>
            </a:r>
            <a:r>
              <a:rPr lang="en-US" dirty="0">
                <a:solidFill>
                  <a:srgbClr val="000000"/>
                </a:solidFill>
                <a:latin typeface="TT61t00"/>
              </a:rPr>
              <a:t> 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ca 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fiind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:</a:t>
            </a:r>
            <a:r>
              <a:rPr lang="en-US" dirty="0"/>
              <a:t>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696831" y="102320"/>
            <a:ext cx="1107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 =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436198" y="90539"/>
            <a:ext cx="77558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Helvetica" panose="020B0604020202020204" pitchFamily="34" charset="0"/>
              </a:rPr>
              <a:t>reprezint</a:t>
            </a:r>
            <a:r>
              <a:rPr lang="pt-BR" dirty="0">
                <a:solidFill>
                  <a:srgbClr val="000000"/>
                </a:solidFill>
                <a:latin typeface="TT61t00"/>
              </a:rPr>
              <a:t>ă </a:t>
            </a:r>
            <a:r>
              <a:rPr lang="pt-BR" dirty="0">
                <a:solidFill>
                  <a:srgbClr val="000000"/>
                </a:solidFill>
                <a:latin typeface="Helvetica" panose="020B0604020202020204" pitchFamily="34" charset="0"/>
              </a:rPr>
              <a:t>factorul cu care </a:t>
            </a:r>
            <a:r>
              <a:rPr lang="pt-BR" dirty="0" smtClean="0">
                <a:solidFill>
                  <a:srgbClr val="000000"/>
                </a:solidFill>
                <a:latin typeface="Helvetica" panose="020B0604020202020204" pitchFamily="34" charset="0"/>
              </a:rPr>
              <a:t>este</a:t>
            </a:r>
            <a:r>
              <a:rPr lang="x-none" dirty="0" smtClean="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r>
              <a:rPr lang="pt-BR" dirty="0" smtClean="0">
                <a:solidFill>
                  <a:srgbClr val="000000"/>
                </a:solidFill>
                <a:latin typeface="Helvetica" panose="020B0604020202020204" pitchFamily="34" charset="0"/>
              </a:rPr>
              <a:t>amplificat </a:t>
            </a:r>
            <a:r>
              <a:rPr lang="pt-BR" dirty="0">
                <a:solidFill>
                  <a:srgbClr val="000000"/>
                </a:solidFill>
                <a:latin typeface="Helvetica" panose="020B0604020202020204" pitchFamily="34" charset="0"/>
              </a:rPr>
              <a:t>s</a:t>
            </a:r>
            <a:r>
              <a:rPr lang="pt-BR" sz="1050" dirty="0">
                <a:solidFill>
                  <a:srgbClr val="000000"/>
                </a:solidFill>
                <a:latin typeface="Helvetica" panose="020B0604020202020204" pitchFamily="34" charset="0"/>
              </a:rPr>
              <a:t>1 </a:t>
            </a:r>
            <a:r>
              <a:rPr lang="pt-BR" dirty="0">
                <a:solidFill>
                  <a:srgbClr val="000000"/>
                </a:solidFill>
                <a:latin typeface="Helvetica" panose="020B0604020202020204" pitchFamily="34" charset="0"/>
              </a:rPr>
              <a:t>pentru a ajunge la valoarea s</a:t>
            </a:r>
            <a:r>
              <a:rPr lang="pt-BR" sz="1050" dirty="0">
                <a:solidFill>
                  <a:srgbClr val="000000"/>
                </a:solidFill>
                <a:latin typeface="Helvetica" panose="020B0604020202020204" pitchFamily="34" charset="0"/>
              </a:rPr>
              <a:t>r</a:t>
            </a:r>
            <a:r>
              <a:rPr lang="pt-BR" dirty="0"/>
              <a:t> </a:t>
            </a:r>
            <a:endParaRPr lang="en-US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670453"/>
            <a:ext cx="42309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Factorul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reac</a:t>
            </a:r>
            <a:r>
              <a:rPr lang="en-US" dirty="0" err="1">
                <a:solidFill>
                  <a:srgbClr val="000000"/>
                </a:solidFill>
                <a:latin typeface="TT61t00"/>
              </a:rPr>
              <a:t>ţ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ie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define</a:t>
            </a:r>
            <a:r>
              <a:rPr lang="en-US" dirty="0" err="1">
                <a:solidFill>
                  <a:srgbClr val="000000"/>
                </a:solidFill>
                <a:latin typeface="TT61t00"/>
              </a:rPr>
              <a:t>ş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te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 ca 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fiind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:</a:t>
            </a:r>
            <a:r>
              <a:rPr lang="en-US" dirty="0"/>
              <a:t>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4125362" y="670453"/>
            <a:ext cx="1107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 = 1 + 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0" y="1039785"/>
            <a:ext cx="12023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 &gt;&gt; 1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suntem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cazul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reacţii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negative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puternice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relaţiile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anterioare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obţinem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795" y="855119"/>
            <a:ext cx="1028700" cy="847725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107132" y="1619699"/>
            <a:ext cx="1191587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Relaţia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anterioară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sugerează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faptul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amplificarea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amplificatorului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reacţie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nu</a:t>
            </a:r>
            <a:r>
              <a:rPr lang="x-none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depinde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practic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parametrii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dispozitivelor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electronice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ci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numai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</a:t>
            </a:r>
            <a:r>
              <a:rPr lang="x-none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atenuarea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reţelei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reacţie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constituită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rezistoare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,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căror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comportare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liniară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căror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valoare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cunoscută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multă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precizie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Numai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înainte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a fi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valabilă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relaţia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descrisă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trebuie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transmisia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buclă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mult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supraunitară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cum 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subunitar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trebuie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fapt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fără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reacţie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foarte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mare. Ori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mărimea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depinde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primul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rând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parametrii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dispozitivelor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active din circuit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frecvenţă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toate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nu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rezultă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relaţia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descrisă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rămâne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continuare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dependent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parametrii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dispozitivelor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electronice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frecvenţă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într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mult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mică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măsură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fapt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relaţiile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anterioare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rezultă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mic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aceea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puţin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sensibil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variaţia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parametrilor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dispozitivelor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care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construit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amplificatorul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 se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numeşte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factor de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desensibilizare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6999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72427" y="0"/>
            <a:ext cx="1211957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EFECTUL REACŢIEI ASUPRA DISTORSIUNILOR NELINIARE.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ne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distorsionat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105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ajunge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amplificatorului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105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105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afectat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distorsiuni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neliniaritate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 parte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105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05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retransmis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intermediul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reţelei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reacţie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unde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scade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105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105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predistorsionat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predistorsiuni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antifază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distorsiunile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introduse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ansamblu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distorsiunile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neliniare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sunt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reduse</a:t>
            </a:r>
            <a:r>
              <a:rPr lang="x-none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aplicarea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reac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ţ</a:t>
            </a:r>
            <a:r>
              <a:rPr lang="en-US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iei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negative.</a:t>
            </a:r>
            <a:b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 alt mod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explicare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fenomenului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reducere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distorsiunilor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neliniare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următorul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Distorsiunile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neliniare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sunt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datorate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faptului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amplificarea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dependent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ă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amplitudinea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semnalului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Dac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mare,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efectul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reac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ţ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iei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negative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puternic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are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tendin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ţ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x-none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reduce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mult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amplificarea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Dac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mic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efectul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reacţiei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slab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amplificarea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puţin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redusă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</a:t>
            </a:r>
            <a:r>
              <a:rPr lang="x-none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reacţie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Deci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efect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al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reac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ţ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iei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tinde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ă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mân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constant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chiar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dac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modific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urmare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mult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puţin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dependentă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amplitudinea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semnalului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</a:t>
            </a:r>
            <a:r>
              <a:rPr lang="x-none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decât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Se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demonstra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derivarea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rela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ţ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iei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x-none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         </a:t>
            </a:r>
            <a:r>
              <a:rPr lang="en-US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ă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694" y="3926787"/>
            <a:ext cx="978623" cy="45477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932" y="3862002"/>
            <a:ext cx="1336377" cy="60744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41837" y="4381559"/>
            <a:ext cx="107166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consecinţă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liniaritatea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circuitului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reacţie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bună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decât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x-none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amplificatorului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F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248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08641"/>
            <a:ext cx="12023002" cy="4508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EFECTUL REACŢIEI ASUPRA DISTORSIUNILOR LINIARE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Distorsiunile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liniare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datorate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faptului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depinde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frecvenţa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formă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oarecare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privit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 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sumă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sinusoidale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amplitudini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frecvenţe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diferite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Cum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frecvenţa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situată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afara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benzii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puţin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interiorul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benzii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forma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diferită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forma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distorsiuni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neliniare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pot fi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reduse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lărgirea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benzii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Reacţia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negativă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are un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efect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16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banda</a:t>
            </a:r>
            <a:r>
              <a:rPr lang="en-US" sz="16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amplificatorului</a:t>
            </a:r>
            <a:r>
              <a:rPr lang="en-US" sz="16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16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16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sz="16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</a:t>
            </a:r>
            <a:r>
              <a:rPr lang="en-US" sz="16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efectul</a:t>
            </a:r>
            <a:r>
              <a:rPr lang="en-US" sz="16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reac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ţ</a:t>
            </a:r>
            <a:r>
              <a:rPr lang="en-US" sz="16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iei</a:t>
            </a:r>
            <a:r>
              <a:rPr lang="en-US" sz="16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sz="16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puternic</a:t>
            </a:r>
            <a:r>
              <a:rPr lang="en-US" sz="16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16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16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afara</a:t>
            </a:r>
            <a:r>
              <a:rPr lang="en-US" sz="16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benzii</a:t>
            </a:r>
            <a:r>
              <a:rPr lang="en-US" sz="16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16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scade</a:t>
            </a:r>
            <a:r>
              <a:rPr lang="en-US" sz="16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sz="16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efectul</a:t>
            </a:r>
            <a:r>
              <a:rPr lang="en-US" sz="16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reacţiei</a:t>
            </a:r>
            <a:r>
              <a:rPr lang="en-US" sz="16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sz="16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sz="16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slab.</a:t>
            </a:r>
            <a:br>
              <a:rPr lang="en-US" sz="16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x-none" sz="16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Consecinţa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puţin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dependent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frecvenţă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considera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bună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aproximaţie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produsul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bandă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constant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endParaRPr lang="x-none" sz="1600" i="1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050" i="1" dirty="0">
                <a:solidFill>
                  <a:srgbClr val="000000"/>
                </a:solidFill>
                <a:latin typeface="Helvetica-Oblique"/>
              </a:rPr>
              <a:t/>
            </a:r>
            <a:br>
              <a:rPr lang="en-US" sz="1050" i="1" dirty="0">
                <a:solidFill>
                  <a:srgbClr val="000000"/>
                </a:solidFill>
                <a:latin typeface="Helvetica-Oblique"/>
              </a:rPr>
            </a:b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aici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rezult</a:t>
            </a:r>
            <a:r>
              <a:rPr lang="en-US" dirty="0" err="1">
                <a:solidFill>
                  <a:srgbClr val="000000"/>
                </a:solidFill>
                <a:latin typeface="TT61t00"/>
              </a:rPr>
              <a:t>ă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:</a:t>
            </a:r>
            <a:b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</a:br>
            <a:r>
              <a:rPr lang="x-none" sz="1600" i="1" dirty="0" smtClean="0">
                <a:solidFill>
                  <a:srgbClr val="000000"/>
                </a:solidFill>
                <a:latin typeface="Helvetica-Oblique"/>
              </a:rPr>
              <a:t>  </a:t>
            </a:r>
          </a:p>
          <a:p>
            <a:r>
              <a:rPr lang="en-US" sz="1050" i="1" dirty="0">
                <a:solidFill>
                  <a:srgbClr val="000000"/>
                </a:solidFill>
                <a:latin typeface="Helvetica-Oblique"/>
              </a:rPr>
              <a:t/>
            </a:r>
            <a:br>
              <a:rPr lang="en-US" sz="1050" i="1" dirty="0">
                <a:solidFill>
                  <a:srgbClr val="000000"/>
                </a:solidFill>
                <a:latin typeface="Helvetica-Oblique"/>
              </a:rPr>
            </a:b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Cum 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distorsiunile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liniare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depind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exclusiv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band</a:t>
            </a:r>
            <a:r>
              <a:rPr lang="en-US" dirty="0" err="1">
                <a:solidFill>
                  <a:srgbClr val="000000"/>
                </a:solidFill>
                <a:latin typeface="TT61t00"/>
              </a:rPr>
              <a:t>ă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ele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vor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 fi de </a:t>
            </a:r>
            <a:r>
              <a:rPr lang="en-US" b="1" i="1" dirty="0">
                <a:solidFill>
                  <a:srgbClr val="000000"/>
                </a:solidFill>
                <a:latin typeface="Helvetica-BoldOblique"/>
              </a:rPr>
              <a:t>F 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ori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mici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Helvetica" panose="020B0604020202020204" pitchFamily="34" charset="0"/>
              </a:rPr>
              <a:t>în</a:t>
            </a:r>
            <a:r>
              <a:rPr lang="x-none" dirty="0" smtClean="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Helvetica" panose="020B0604020202020204" pitchFamily="34" charset="0"/>
              </a:rPr>
              <a:t>cazul</a:t>
            </a:r>
            <a:r>
              <a:rPr lang="en-US" dirty="0" smtClean="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amplificatoarelor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reac</a:t>
            </a:r>
            <a:r>
              <a:rPr lang="en-US" dirty="0" err="1">
                <a:solidFill>
                  <a:srgbClr val="000000"/>
                </a:solidFill>
                <a:latin typeface="TT61t00"/>
              </a:rPr>
              <a:t>ţ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</a:rPr>
              <a:t>ie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.</a:t>
            </a:r>
            <a:r>
              <a:rPr lang="en-US" dirty="0"/>
              <a:t>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0111" y="3165916"/>
            <a:ext cx="1439340" cy="3814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935" y="3825090"/>
            <a:ext cx="1218538" cy="33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236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Avantajele</a:t>
            </a:r>
            <a: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aplicării</a:t>
            </a:r>
            <a: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reacţiei</a:t>
            </a:r>
            <a: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negative</a:t>
            </a:r>
            <a:b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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stabilizează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câştigul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modificarea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parametrilor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componentelor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active</a:t>
            </a:r>
            <a:r>
              <a:rPr lang="x-none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şi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pasive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ale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structurii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amplificatorului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bază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AB, a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surselor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de</a:t>
            </a:r>
            <a:r>
              <a:rPr lang="x-none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alimentare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precum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parametrilor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mediu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b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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micşorează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distorsiunile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b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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extinde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banda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frecvenţelor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lucru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b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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modifică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convenabil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impedanţele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respectiv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în</a:t>
            </a:r>
            <a:r>
              <a:rPr lang="x-none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funcţie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topologia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amplificatorului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reacţie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b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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reduce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nivelul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zgomot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x-none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US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Dezavantaje</a:t>
            </a:r>
            <a: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b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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Reduce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amplificarea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globală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de 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</a:rPr>
              <a:t>1+T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ori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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Posibilitatea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autooscilaţiei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putea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fi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evitată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trebuie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ca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pentru</a:t>
            </a:r>
            <a:r>
              <a:rPr lang="x-none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orice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frecvenţă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care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există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amplificare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supraunitară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semnalul</a:t>
            </a:r>
            <a:r>
              <a:rPr lang="x-none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adus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de la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spre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către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reţeua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RR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să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fie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antifază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să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se</a:t>
            </a:r>
            <a:r>
              <a:rPr lang="x-none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scadă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) cu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semnalul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de la generator.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775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9456</TotalTime>
  <Words>3437</Words>
  <Application>Microsoft Office PowerPoint</Application>
  <PresentationFormat>Произвольный</PresentationFormat>
  <Paragraphs>170</Paragraphs>
  <Slides>40</Slides>
  <Notes>1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3</vt:i4>
      </vt:variant>
      <vt:variant>
        <vt:lpstr>Заголовки слайдов</vt:lpstr>
      </vt:variant>
      <vt:variant>
        <vt:i4>40</vt:i4>
      </vt:variant>
    </vt:vector>
  </HeadingPairs>
  <TitlesOfParts>
    <vt:vector size="44" baseType="lpstr">
      <vt:lpstr>Office Theme</vt:lpstr>
      <vt:lpstr>Picture</vt:lpstr>
      <vt:lpstr>Equation.DSMT4</vt:lpstr>
      <vt:lpstr>Точечный рисунок</vt:lpstr>
      <vt:lpstr>Circuite și Dispozitive Electronice  Tema 5 – Amplificatoare. Clasificare. Tipuri. Reacții în amplificatoare.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Circuite și Dispozitive Electronice  L.1 – Introducere</dc:title>
  <dc:creator>Пользователь Windows</dc:creator>
  <cp:lastModifiedBy>Asus</cp:lastModifiedBy>
  <cp:revision>382</cp:revision>
  <cp:lastPrinted>2021-11-20T21:52:30Z</cp:lastPrinted>
  <dcterms:created xsi:type="dcterms:W3CDTF">2020-08-28T11:28:42Z</dcterms:created>
  <dcterms:modified xsi:type="dcterms:W3CDTF">2021-11-20T22:06:13Z</dcterms:modified>
</cp:coreProperties>
</file>