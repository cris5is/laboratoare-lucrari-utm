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87" r:id="rId3"/>
    <p:sldId id="257" r:id="rId4"/>
    <p:sldId id="262" r:id="rId5"/>
    <p:sldId id="286" r:id="rId6"/>
    <p:sldId id="258" r:id="rId7"/>
    <p:sldId id="259" r:id="rId8"/>
    <p:sldId id="260" r:id="rId9"/>
    <p:sldId id="263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5253" autoAdjust="0"/>
  </p:normalViewPr>
  <p:slideViewPr>
    <p:cSldViewPr snapToGrid="0">
      <p:cViewPr>
        <p:scale>
          <a:sx n="118" d="100"/>
          <a:sy n="118" d="100"/>
        </p:scale>
        <p:origin x="-708" y="-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27F67-3A50-4297-B8B6-693DA88AA5E4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8DB0D-707A-4B4F-9F6C-74B60B20F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1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5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6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7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8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2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0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6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AE28-B5DB-416C-BBE2-FF443ED9C5B5}" type="datetimeFigureOut">
              <a:rPr lang="en-US" smtClean="0"/>
              <a:t>10/18/2021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E:\&#1044;&#1042;&#1044;1\&#1052;&#1072;&#1083;&#1086;&#1084;&#1086;&#1097;&#1085;&#1099;&#1077;%20&#1074;&#1099;&#1087;&#1088;&#1103;&#1084;&#1080;&#1090;&#1077;&#1083;&#1080;%20&#1086;&#1076;&#1085;&#1086;&#1092;&#1072;&#1079;&#1085;&#1086;&#1075;&#1086;%20&#1090;&#1086;&#1082;&#1072;\&#1054;&#1054;&#1054;%20&#1058;&#1055;&#1050;%20&#1058;&#1053;&#1044;%20&#1074;&#1089;&#1077;%20&#1076;&#1083;&#1103;%20&#1089;&#1074;&#1072;&#1088;&#1086;&#1095;&#1085;&#1099;&#1093;%20&#1088;&#1072;&#1073;&#1086;&#1090;%20-%20&#1089;&#1074;&#1072;&#1088;&#1086;&#1095;&#1085;&#1099;&#1077;%20&#1074;&#1099;&#1087;&#1088;&#1103;&#1084;&#1080;&#1090;&#1077;&#1083;&#1080;,%20&#1044;&#1091;&#1075;&#1072;-318&#1052;1(220-380&#1042;),%20&#1089;&#1074;&#1072;&#1088;&#1086;&#1095;&#1085;&#1086;&#1077;%20&#1086;&#1073;&#1086;&#1088;&#1091;&#1076;&#1086;&#1074;&#1072;&#1085;&#1080;&#1077;,%20&#1089;&#1074;&#1072;&#1088;&#1086;&#1095;&#1085;&#1099;&#1077;%20&#1072;&#1087;&#1087;&#1072;&#1088;&#1072;&#1090;&#1099;.ht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10" Type="http://schemas.openxmlformats.org/officeDocument/2006/relationships/image" Target="../media/image23.png"/><Relationship Id="rId4" Type="http://schemas.openxmlformats.org/officeDocument/2006/relationships/image" Target="../media/image34.png"/><Relationship Id="rId9" Type="http://schemas.openxmlformats.org/officeDocument/2006/relationships/image" Target="../media/image3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34565" y="280656"/>
            <a:ext cx="11633703" cy="3648547"/>
          </a:xfrm>
        </p:spPr>
        <p:txBody>
          <a:bodyPr anchor="t">
            <a:normAutofit/>
          </a:bodyPr>
          <a:lstStyle/>
          <a:p>
            <a: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și Dispozitive Electronice </a:t>
            </a:r>
            <a:b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x-none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Surse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alimentare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curent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continuu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Structura.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Redresoare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Filtre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MO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Stabilizatoare.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406305" y="6047715"/>
            <a:ext cx="9144000" cy="495678"/>
          </a:xfrm>
        </p:spPr>
        <p:txBody>
          <a:bodyPr/>
          <a:lstStyle/>
          <a:p>
            <a:r>
              <a:rPr lang="en-US" dirty="0" smtClean="0"/>
              <a:t>Conf</a:t>
            </a:r>
            <a:r>
              <a:rPr lang="en-US" dirty="0" smtClean="0"/>
              <a:t>. </a:t>
            </a:r>
            <a:r>
              <a:rPr lang="en-US" dirty="0" err="1" smtClean="0"/>
              <a:t>univ.dr</a:t>
            </a:r>
            <a:r>
              <a:rPr lang="en-US" dirty="0" smtClean="0"/>
              <a:t>. </a:t>
            </a:r>
            <a:r>
              <a:rPr lang="en-US" dirty="0" err="1" smtClean="0"/>
              <a:t>Cretu</a:t>
            </a:r>
            <a:r>
              <a:rPr lang="en-US" dirty="0" smtClean="0"/>
              <a:t> V.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73658" y="2912593"/>
            <a:ext cx="10429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b="1">
                <a:latin typeface="Times New Roman" panose="02020603050405020304" pitchFamily="18" charset="0"/>
                <a:cs typeface="Times New Roman" panose="02020603050405020304" pitchFamily="18" charset="0"/>
              </a:rPr>
              <a:t>Scopul</a:t>
            </a:r>
            <a:r>
              <a:rPr lang="x-none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 face </a:t>
            </a:r>
            <a:r>
              <a:rPr lang="x-none">
                <a:latin typeface="Times New Roman" panose="02020603050405020304" pitchFamily="18" charset="0"/>
                <a:cs typeface="Times New Roman" panose="02020603050405020304" pitchFamily="18" charset="0"/>
              </a:rPr>
              <a:t>cunoștință cu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edresoare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electrice. Tipurile de redresoare: monoalternanţă/monofazate, bialternanță cu punct median şi în punte. Modelul curentului de sarcină. Principalii parametri ai redresoarelor fără filtru. Elemente de ameliorare a tensiunii redresate. Filtru de netezire de tip: C: LC: RC. Filtre active. </a:t>
            </a:r>
            <a:r>
              <a:rPr lang="ro-M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Tipuri de stabilizatoare.</a:t>
            </a: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269995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8923" y="261744"/>
            <a:ext cx="11071789" cy="2532731"/>
          </a:xfrm>
        </p:spPr>
        <p:txBody>
          <a:bodyPr>
            <a:normAutofit/>
          </a:bodyPr>
          <a:lstStyle/>
          <a:p>
            <a:pPr marL="271463" indent="0" algn="just">
              <a:lnSpc>
                <a:spcPct val="80000"/>
              </a:lnSpc>
              <a:buNone/>
              <a:defRPr/>
            </a:pPr>
            <a:r>
              <a:rPr lang="vi-VN" b="1" kern="0" dirty="0">
                <a:latin typeface="Times New Roman" pitchFamily="18" charset="0"/>
                <a:cs typeface="Times New Roman" pitchFamily="18" charset="0"/>
              </a:rPr>
              <a:t>Redresor </a:t>
            </a:r>
            <a:r>
              <a:rPr lang="vi-VN" kern="0" dirty="0">
                <a:latin typeface="Times New Roman" pitchFamily="18" charset="0"/>
                <a:cs typeface="Times New Roman" pitchFamily="18" charset="0"/>
              </a:rPr>
              <a:t>(curent electric) - convertor de energie electrică; un dispozitiv mecanic, cu vid, semiconductor sau alt dispozitiv conceput pentru </a:t>
            </a:r>
            <a:r>
              <a:rPr lang="vi-VN" u="sng" kern="0" dirty="0">
                <a:latin typeface="Times New Roman" pitchFamily="18" charset="0"/>
                <a:cs typeface="Times New Roman" pitchFamily="18" charset="0"/>
              </a:rPr>
              <a:t>a converti un curent electric de intrare alternativ într-un curent electric de ieșire constantă</a:t>
            </a:r>
            <a:r>
              <a:rPr lang="vi-VN" kern="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71463" indent="0" algn="just">
              <a:lnSpc>
                <a:spcPct val="80000"/>
              </a:lnSpc>
              <a:buNone/>
              <a:defRPr/>
            </a:pPr>
            <a:r>
              <a:rPr lang="vi-VN" kern="0" dirty="0">
                <a:latin typeface="Times New Roman" pitchFamily="18" charset="0"/>
                <a:cs typeface="Times New Roman" pitchFamily="18" charset="0"/>
              </a:rPr>
              <a:t>Acestea sunt utilizate în sursele de alimentare ale dispozitivelor electronice pentru conversia tensiunii alternative.</a:t>
            </a:r>
            <a:endParaRPr lang="ru-RU" dirty="0"/>
          </a:p>
        </p:txBody>
      </p:sp>
      <p:pic>
        <p:nvPicPr>
          <p:cNvPr id="4" name="Picture 7" descr="C:\Users\Ababii\Desktop\Безымянный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2842235"/>
            <a:ext cx="5852195" cy="341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clip_image001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2354" y="2842235"/>
            <a:ext cx="2792437" cy="3256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484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3429" y="496094"/>
            <a:ext cx="9286875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999889" y="229530"/>
            <a:ext cx="3653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alimentator</a:t>
            </a:r>
            <a:r>
              <a:rPr lang="en-US" dirty="0"/>
              <a:t> electronic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0" y="3441680"/>
            <a:ext cx="120320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importantă</a:t>
            </a:r>
            <a:r>
              <a:rPr lang="en-US" dirty="0"/>
              <a:t> parte a </a:t>
            </a:r>
            <a:r>
              <a:rPr lang="en-US" dirty="0" err="1"/>
              <a:t>aparaturii</a:t>
            </a:r>
            <a:r>
              <a:rPr lang="en-US" dirty="0"/>
              <a:t> </a:t>
            </a:r>
            <a:r>
              <a:rPr lang="en-US" dirty="0" err="1"/>
              <a:t>electronice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alimentată</a:t>
            </a:r>
            <a:r>
              <a:rPr lang="en-US" dirty="0"/>
              <a:t> cu </a:t>
            </a:r>
            <a:r>
              <a:rPr lang="en-US" dirty="0" err="1"/>
              <a:t>energie</a:t>
            </a:r>
            <a:r>
              <a:rPr lang="en-US" dirty="0"/>
              <a:t> de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continuu</a:t>
            </a:r>
            <a:r>
              <a:rPr lang="en-US" dirty="0"/>
              <a:t>.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energie</a:t>
            </a:r>
            <a:r>
              <a:rPr lang="en-US" dirty="0"/>
              <a:t> se </a:t>
            </a:r>
            <a:r>
              <a:rPr lang="en-US" dirty="0" err="1"/>
              <a:t>obţine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cazurilor</a:t>
            </a:r>
            <a:r>
              <a:rPr lang="en-US" dirty="0"/>
              <a:t> de la </a:t>
            </a:r>
            <a:r>
              <a:rPr lang="en-US" dirty="0" err="1"/>
              <a:t>reţeaua</a:t>
            </a:r>
            <a:r>
              <a:rPr lang="en-US" dirty="0"/>
              <a:t> de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alternativ</a:t>
            </a:r>
            <a:r>
              <a:rPr lang="en-US" dirty="0"/>
              <a:t>. </a:t>
            </a:r>
            <a:endParaRPr lang="x-non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Transformatorul</a:t>
            </a:r>
            <a:r>
              <a:rPr lang="en-US" dirty="0"/>
              <a:t> are </a:t>
            </a:r>
            <a:r>
              <a:rPr lang="en-US" dirty="0" err="1"/>
              <a:t>rolul</a:t>
            </a:r>
            <a:r>
              <a:rPr lang="en-US" dirty="0"/>
              <a:t> de a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</a:t>
            </a:r>
            <a:r>
              <a:rPr lang="en-US" dirty="0" err="1"/>
              <a:t>reţelei</a:t>
            </a:r>
            <a:r>
              <a:rPr lang="en-US" dirty="0"/>
              <a:t> conform </a:t>
            </a:r>
            <a:r>
              <a:rPr lang="en-US" dirty="0" err="1"/>
              <a:t>tensiunii</a:t>
            </a:r>
            <a:r>
              <a:rPr lang="en-US" dirty="0"/>
              <a:t> continue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, </a:t>
            </a:r>
            <a:r>
              <a:rPr lang="en-US" dirty="0" err="1"/>
              <a:t>separând</a:t>
            </a:r>
            <a:r>
              <a:rPr lang="en-US" dirty="0"/>
              <a:t> </a:t>
            </a:r>
            <a:r>
              <a:rPr lang="en-US" dirty="0" err="1"/>
              <a:t>totodată</a:t>
            </a:r>
            <a:r>
              <a:rPr lang="en-US" dirty="0"/>
              <a:t> </a:t>
            </a:r>
            <a:r>
              <a:rPr lang="en-US" dirty="0" err="1"/>
              <a:t>reţeaua</a:t>
            </a:r>
            <a:r>
              <a:rPr lang="en-US" dirty="0"/>
              <a:t> de </a:t>
            </a:r>
            <a:r>
              <a:rPr lang="en-US" dirty="0" err="1"/>
              <a:t>circuitul</a:t>
            </a:r>
            <a:r>
              <a:rPr lang="en-US" dirty="0"/>
              <a:t> electronic </a:t>
            </a:r>
            <a:r>
              <a:rPr lang="en-US" dirty="0" err="1"/>
              <a:t>alimentat</a:t>
            </a:r>
            <a:r>
              <a:rPr lang="en-US" dirty="0"/>
              <a:t>. </a:t>
            </a:r>
            <a:endParaRPr lang="x-non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Redresorul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circuit care </a:t>
            </a:r>
            <a:r>
              <a:rPr lang="en-US" dirty="0" err="1"/>
              <a:t>transformă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</a:t>
            </a:r>
            <a:r>
              <a:rPr lang="en-US" dirty="0" err="1"/>
              <a:t>alternativă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pulsatorie</a:t>
            </a:r>
            <a:r>
              <a:rPr lang="en-US" dirty="0"/>
              <a:t>. </a:t>
            </a:r>
            <a:r>
              <a:rPr lang="en-US" dirty="0" err="1"/>
              <a:t>Tensiunea</a:t>
            </a:r>
            <a:r>
              <a:rPr lang="en-US" dirty="0"/>
              <a:t> de la </a:t>
            </a:r>
            <a:r>
              <a:rPr lang="en-US" dirty="0" err="1"/>
              <a:t>ieşirea</a:t>
            </a:r>
            <a:r>
              <a:rPr lang="en-US" dirty="0"/>
              <a:t> </a:t>
            </a:r>
            <a:r>
              <a:rPr lang="en-US" dirty="0" err="1"/>
              <a:t>redresorului</a:t>
            </a:r>
            <a:r>
              <a:rPr lang="en-US" dirty="0"/>
              <a:t> </a:t>
            </a:r>
            <a:r>
              <a:rPr lang="en-US" dirty="0" err="1"/>
              <a:t>conţine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afara</a:t>
            </a:r>
            <a:r>
              <a:rPr lang="en-US" dirty="0"/>
              <a:t> </a:t>
            </a:r>
            <a:r>
              <a:rPr lang="en-US" dirty="0" err="1"/>
              <a:t>componentei</a:t>
            </a:r>
            <a:r>
              <a:rPr lang="en-US" dirty="0"/>
              <a:t> continue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alternative. </a:t>
            </a:r>
            <a:endParaRPr lang="x-non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Filtrul</a:t>
            </a:r>
            <a:r>
              <a:rPr lang="en-US" dirty="0"/>
              <a:t> </a:t>
            </a:r>
            <a:r>
              <a:rPr lang="en-US" dirty="0" err="1"/>
              <a:t>micşorează</a:t>
            </a:r>
            <a:r>
              <a:rPr lang="en-US" dirty="0"/>
              <a:t> </a:t>
            </a:r>
            <a:r>
              <a:rPr lang="en-US" dirty="0" err="1"/>
              <a:t>influenţa</a:t>
            </a:r>
            <a:r>
              <a:rPr lang="en-US" dirty="0"/>
              <a:t> </a:t>
            </a:r>
            <a:r>
              <a:rPr lang="en-US" dirty="0" err="1"/>
              <a:t>componentelor</a:t>
            </a:r>
            <a:r>
              <a:rPr lang="en-US" dirty="0"/>
              <a:t> alternative ale </a:t>
            </a:r>
            <a:r>
              <a:rPr lang="en-US" dirty="0" err="1"/>
              <a:t>tensiunii</a:t>
            </a:r>
            <a:r>
              <a:rPr lang="en-US" dirty="0"/>
              <a:t> de la </a:t>
            </a:r>
            <a:r>
              <a:rPr lang="en-US" dirty="0" err="1"/>
              <a:t>ieşirea</a:t>
            </a:r>
            <a:r>
              <a:rPr lang="en-US" dirty="0"/>
              <a:t> </a:t>
            </a:r>
            <a:r>
              <a:rPr lang="en-US" dirty="0" err="1"/>
              <a:t>redresorului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. </a:t>
            </a:r>
            <a:r>
              <a:rPr lang="en-US" dirty="0" err="1"/>
              <a:t>Funcţionarea</a:t>
            </a:r>
            <a:r>
              <a:rPr lang="en-US" dirty="0"/>
              <a:t> se </a:t>
            </a:r>
            <a:r>
              <a:rPr lang="en-US" dirty="0" err="1"/>
              <a:t>bazează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acumularea</a:t>
            </a:r>
            <a:r>
              <a:rPr lang="en-US" dirty="0"/>
              <a:t> de </a:t>
            </a:r>
            <a:r>
              <a:rPr lang="en-US" dirty="0" err="1"/>
              <a:t>energie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intervalul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tensiunea</a:t>
            </a:r>
            <a:r>
              <a:rPr lang="en-US" dirty="0"/>
              <a:t> </a:t>
            </a:r>
            <a:r>
              <a:rPr lang="en-US" dirty="0" err="1"/>
              <a:t>creşte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cedarea</a:t>
            </a:r>
            <a:r>
              <a:rPr lang="en-US" dirty="0"/>
              <a:t> de </a:t>
            </a:r>
            <a:r>
              <a:rPr lang="en-US" dirty="0" err="1"/>
              <a:t>energie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intervalul</a:t>
            </a:r>
            <a:r>
              <a:rPr lang="en-US" dirty="0"/>
              <a:t> de </a:t>
            </a:r>
            <a:r>
              <a:rPr lang="en-US" dirty="0" err="1"/>
              <a:t>timp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tensiunea</a:t>
            </a:r>
            <a:r>
              <a:rPr lang="en-US" dirty="0"/>
              <a:t> </a:t>
            </a:r>
            <a:r>
              <a:rPr lang="en-US" dirty="0" err="1"/>
              <a:t>scade</a:t>
            </a:r>
            <a:r>
              <a:rPr lang="en-US" dirty="0"/>
              <a:t>. </a:t>
            </a:r>
            <a:endParaRPr lang="x-non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Stabilizatorul</a:t>
            </a:r>
            <a:r>
              <a:rPr lang="en-US" dirty="0"/>
              <a:t> are </a:t>
            </a:r>
            <a:r>
              <a:rPr lang="en-US" dirty="0" err="1"/>
              <a:t>rolul</a:t>
            </a:r>
            <a:r>
              <a:rPr lang="en-US" dirty="0"/>
              <a:t> de a </a:t>
            </a:r>
            <a:r>
              <a:rPr lang="en-US" dirty="0" err="1"/>
              <a:t>furniza</a:t>
            </a:r>
            <a:r>
              <a:rPr lang="en-US" dirty="0"/>
              <a:t> </a:t>
            </a:r>
            <a:r>
              <a:rPr lang="en-US" dirty="0" err="1"/>
              <a:t>consumatorului</a:t>
            </a:r>
            <a:r>
              <a:rPr lang="en-US" dirty="0"/>
              <a:t> o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un </a:t>
            </a:r>
            <a:r>
              <a:rPr lang="en-US" dirty="0" err="1"/>
              <a:t>curent</a:t>
            </a:r>
            <a:r>
              <a:rPr lang="en-US" dirty="0"/>
              <a:t> de o </a:t>
            </a:r>
            <a:r>
              <a:rPr lang="en-US" dirty="0" err="1"/>
              <a:t>anumită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menţinută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limite</a:t>
            </a:r>
            <a:r>
              <a:rPr lang="en-US" dirty="0"/>
              <a:t>, determinate de </a:t>
            </a:r>
            <a:r>
              <a:rPr lang="en-US" dirty="0" err="1"/>
              <a:t>funcţionarea</a:t>
            </a:r>
            <a:r>
              <a:rPr lang="en-US" dirty="0"/>
              <a:t> </a:t>
            </a:r>
            <a:r>
              <a:rPr lang="en-US" dirty="0" err="1"/>
              <a:t>corectă</a:t>
            </a:r>
            <a:r>
              <a:rPr lang="en-US" dirty="0"/>
              <a:t> a </a:t>
            </a:r>
            <a:r>
              <a:rPr lang="en-US" dirty="0" err="1"/>
              <a:t>consumatorului</a:t>
            </a:r>
            <a:r>
              <a:rPr lang="en-US" dirty="0"/>
              <a:t>. </a:t>
            </a:r>
            <a:endParaRPr lang="x-non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RS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consumatorul</a:t>
            </a:r>
            <a:r>
              <a:rPr lang="en-US" dirty="0"/>
              <a:t> (</a:t>
            </a:r>
            <a:r>
              <a:rPr lang="en-US" dirty="0" err="1"/>
              <a:t>rezistenţa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65631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Transformatorul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electric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masina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electromagnetica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statica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alternativ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, care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transforma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electromagnetica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primara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anumiti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(u1,i1)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-o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electromagnetica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secundara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alti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(u2,i2),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frecventa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ramane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insa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constanta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(f1=f2=ct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.).</a:t>
            </a:r>
            <a:endParaRPr lang="x-none" sz="1600" dirty="0" smtClean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endParaRPr lang="x-none" sz="1600" dirty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Cei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care ne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dau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puterea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: u-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i-curentul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sufera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transformare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schimbari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inverse,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daca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micsoreaza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mareste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invers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functionarii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transformatorului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sta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principiul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inductiei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electromagnetice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x-none" sz="1600" dirty="0" smtClean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endParaRPr lang="en-US" sz="1600" dirty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constructiv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transformatorul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doua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parti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principale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x-none" sz="1600" dirty="0" smtClean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endParaRPr lang="en-US" sz="1600" dirty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magnetic-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reprezentat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miezul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fier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construit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tole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otel</a:t>
            </a:r>
            <a:r>
              <a:rPr lang="x-none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electrotehnic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reducerea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pierderilor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fier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x-none" sz="1600" dirty="0" smtClean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endParaRPr lang="en-US" sz="1600" dirty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2)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circuitele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electrice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reprezentate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doua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multe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înfasurari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Cu</a:t>
            </a:r>
            <a:r>
              <a:rPr lang="x-none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Al,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realizate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jurul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circuitului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magnetic,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cuplate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electromagnetic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x-none" sz="1600" dirty="0" smtClean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endParaRPr lang="en-US" sz="1600" dirty="0">
              <a:solidFill>
                <a:srgbClr val="3E454C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t"/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nf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urarea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care 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prime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energia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de la o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surs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nume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nf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urare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primar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cedeaz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energia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re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consumator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nume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nf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urare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secundar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. Dup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cum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înfasur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rii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secundare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mic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dec</a:t>
            </a:r>
            <a:r>
              <a:rPr lang="ro-MO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â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înf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ăș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ur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ă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rii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primare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transformatorul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ridicator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cobor</a:t>
            </a:r>
            <a:r>
              <a:rPr lang="ro-MO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â</a:t>
            </a:r>
            <a:r>
              <a:rPr lang="en-US" sz="1600" dirty="0" smtClean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tor 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1600" dirty="0" err="1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sz="1600" dirty="0">
                <a:solidFill>
                  <a:srgbClr val="3E454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b="0" i="0" dirty="0">
              <a:solidFill>
                <a:srgbClr val="3E454C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Transformator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5" y="3905146"/>
            <a:ext cx="3924300" cy="294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17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O" b="1" dirty="0" smtClean="0"/>
              <a:t>Clasificarea Redresoarelor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 smtClean="0"/>
              <a:t>După </a:t>
            </a:r>
            <a:r>
              <a:rPr lang="ro-RO" dirty="0"/>
              <a:t>tipul tensiunii alternative redresate:</a:t>
            </a:r>
          </a:p>
          <a:p>
            <a:pPr marL="0" indent="0">
              <a:buNone/>
            </a:pPr>
            <a:r>
              <a:rPr lang="ro-RO" dirty="0"/>
              <a:t>- redresoare monofazate</a:t>
            </a:r>
          </a:p>
          <a:p>
            <a:pPr marL="0" indent="0">
              <a:buNone/>
            </a:pPr>
            <a:r>
              <a:rPr lang="ro-RO" dirty="0"/>
              <a:t>- redresoare trifazate</a:t>
            </a:r>
          </a:p>
          <a:p>
            <a:r>
              <a:rPr lang="ro-RO" dirty="0" smtClean="0"/>
              <a:t>După numărul </a:t>
            </a:r>
            <a:r>
              <a:rPr lang="ro-RO" dirty="0"/>
              <a:t>de </a:t>
            </a:r>
            <a:r>
              <a:rPr lang="ro-RO" dirty="0" smtClean="0"/>
              <a:t>alternanțe </a:t>
            </a:r>
            <a:r>
              <a:rPr lang="ro-RO" dirty="0"/>
              <a:t>redresate:</a:t>
            </a:r>
          </a:p>
          <a:p>
            <a:pPr marL="0" indent="0">
              <a:buNone/>
            </a:pPr>
            <a:r>
              <a:rPr lang="ro-RO" dirty="0"/>
              <a:t>- redresoare </a:t>
            </a:r>
            <a:r>
              <a:rPr lang="ro-RO" dirty="0" smtClean="0"/>
              <a:t>monoalternanță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- redresoare </a:t>
            </a:r>
            <a:r>
              <a:rPr lang="ro-RO" dirty="0" smtClean="0"/>
              <a:t>bialternanță</a:t>
            </a:r>
            <a:endParaRPr lang="ro-RO" dirty="0"/>
          </a:p>
          <a:p>
            <a:r>
              <a:rPr lang="ro-RO" dirty="0" smtClean="0"/>
              <a:t>După </a:t>
            </a:r>
            <a:r>
              <a:rPr lang="ro-RO" dirty="0"/>
              <a:t>modul de </a:t>
            </a:r>
            <a:r>
              <a:rPr lang="ro-RO" dirty="0" smtClean="0"/>
              <a:t>variație </a:t>
            </a:r>
            <a:r>
              <a:rPr lang="ro-RO" dirty="0"/>
              <a:t>a tensiunii redresate:</a:t>
            </a:r>
          </a:p>
          <a:p>
            <a:pPr marL="0" indent="0">
              <a:buNone/>
            </a:pPr>
            <a:r>
              <a:rPr lang="ro-RO" dirty="0"/>
              <a:t>- redresoare necomandate – realizate cu diode, tensiunea </a:t>
            </a:r>
            <a:r>
              <a:rPr lang="ro-RO" dirty="0" smtClean="0"/>
              <a:t>redresată </a:t>
            </a:r>
            <a:r>
              <a:rPr lang="ro-RO" dirty="0"/>
              <a:t>este </a:t>
            </a:r>
            <a:r>
              <a:rPr lang="ro-RO" dirty="0" smtClean="0"/>
              <a:t>constantă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- redresoare comandate – realizate cu tiristoare , tensiunea </a:t>
            </a:r>
            <a:r>
              <a:rPr lang="ro-RO" dirty="0" smtClean="0"/>
              <a:t>redresată </a:t>
            </a:r>
            <a:r>
              <a:rPr lang="ro-RO" dirty="0"/>
              <a:t>poate fi </a:t>
            </a:r>
            <a:r>
              <a:rPr lang="ro-RO" dirty="0" smtClean="0"/>
              <a:t>variată</a:t>
            </a:r>
            <a:endParaRPr lang="ro-RO" dirty="0"/>
          </a:p>
          <a:p>
            <a:endParaRPr lang="ru-RU" dirty="0"/>
          </a:p>
        </p:txBody>
      </p:sp>
      <p:pic>
        <p:nvPicPr>
          <p:cNvPr id="1026" name="Picture 2" descr="C:\Users\Ababii\Desktop\image0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337" y="859920"/>
            <a:ext cx="4478531" cy="298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75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8569" y="0"/>
            <a:ext cx="2600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Redresor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monoalternan</a:t>
            </a:r>
            <a:r>
              <a:rPr lang="ro-RO" dirty="0">
                <a:solidFill>
                  <a:srgbClr val="FF0000"/>
                </a:solidFill>
              </a:rPr>
              <a:t>ță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40966" y="4498598"/>
            <a:ext cx="113380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x-none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Unde V</a:t>
            </a:r>
            <a:r>
              <a:rPr lang="x-none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=tensiunea la ieșirea transformatorului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Folosind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modelul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ideale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alternaţelor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pozitive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x-non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direct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A≈C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≈v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alternanţele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negative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invers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comportă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</a:t>
            </a:r>
            <a:r>
              <a:rPr lang="x-non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circuit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deschis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≈0.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432" y="4433410"/>
            <a:ext cx="1609725" cy="4381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144" y="5457825"/>
            <a:ext cx="2028825" cy="14001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69" y="434520"/>
            <a:ext cx="11865047" cy="39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1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2495" y="2449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65" y="74643"/>
            <a:ext cx="1085850" cy="7334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59121" y="97590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656" y="735946"/>
            <a:ext cx="1181100" cy="7905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05211" y="1706876"/>
            <a:ext cx="11863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Raportul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componentelor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continue) la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factor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riple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factor)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factor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apropiate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indică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similară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continue.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5009" y="2353207"/>
            <a:ext cx="4105275" cy="128587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62959" y="3639082"/>
            <a:ext cx="120290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Raportul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ntrare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denumirea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eficienţă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852" y="4084034"/>
            <a:ext cx="5057775" cy="150495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62959" y="5970389"/>
            <a:ext cx="116880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singură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ieftin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calitatea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scăzută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9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4824" y="122115"/>
            <a:ext cx="5108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 smtClean="0"/>
              <a:t>Redresorul dublu alternanță </a:t>
            </a:r>
            <a:r>
              <a:rPr lang="ro-RO" dirty="0"/>
              <a:t>cu priză mediană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34824" y="490221"/>
            <a:ext cx="114526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median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întreagă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principiul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asemănător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transformator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secundarul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median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(with a tapped secondary).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secţiuni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secundarului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identice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Priza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mediană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împământare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pot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individual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tăind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jumătate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ciclului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026" name="Picture 2" descr="Redresoare cu undă completă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5"/>
          <a:stretch/>
        </p:blipFill>
        <p:spPr bwMode="auto">
          <a:xfrm>
            <a:off x="6506558" y="2703575"/>
            <a:ext cx="5424930" cy="307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75" y="1690550"/>
            <a:ext cx="4690591" cy="339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8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9943" y="0"/>
            <a:ext cx="119445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ideale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D1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direct),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comportarea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asemănătoare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închis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D2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 ca un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deschis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848" y="556617"/>
            <a:ext cx="5438775" cy="73342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428" y="3285502"/>
            <a:ext cx="120320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alternanţelor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negative,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D2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comportare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asemănătoare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închis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asemănătoare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un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deschis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105" y="3891905"/>
            <a:ext cx="5600700" cy="8667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105" y="1290042"/>
            <a:ext cx="5032030" cy="19954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105" y="4758680"/>
            <a:ext cx="6200880" cy="197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4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8051" y="6387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799" y="0"/>
            <a:ext cx="1181100" cy="66675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78051" y="84246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799" y="808059"/>
            <a:ext cx="990600" cy="4381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78051" y="165547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799" y="2118889"/>
            <a:ext cx="4991100" cy="99060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78051" y="31094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Eficienţa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699" y="3797908"/>
            <a:ext cx="4876800" cy="1343025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0" y="5934670"/>
            <a:ext cx="120230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întreagă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filtrată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uşor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nevoie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transformator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secundare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identice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5279" y="134765"/>
            <a:ext cx="4148806" cy="3740118"/>
          </a:xfrm>
          <a:prstGeom prst="rect">
            <a:avLst/>
          </a:prstGeom>
        </p:spPr>
      </p:pic>
      <p:pic>
        <p:nvPicPr>
          <p:cNvPr id="1026" name="Picture 2" descr="bobinare transformator ridicator de tensiune - Power Sources - ELFORUM -  Forumul electronistilo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364" y="3855901"/>
            <a:ext cx="3266636" cy="207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5" y="3778765"/>
            <a:ext cx="2474614" cy="185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5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49656" y="190619"/>
            <a:ext cx="24112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Punte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813099" y="190619"/>
            <a:ext cx="71284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D2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D3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conduc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ilustrată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Aşadar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ideale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492" y="1010688"/>
            <a:ext cx="3067050" cy="150495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813099" y="264320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D2, D3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deschis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327" y="3767898"/>
            <a:ext cx="5935965" cy="270532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69" y="684997"/>
            <a:ext cx="4612829" cy="3007850"/>
          </a:xfrm>
          <a:prstGeom prst="rect">
            <a:avLst/>
          </a:prstGeom>
        </p:spPr>
      </p:pic>
      <p:pic>
        <p:nvPicPr>
          <p:cNvPr id="2052" name="Picture 4" descr="Dioda | Electronflux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68" y="3692847"/>
            <a:ext cx="3633457" cy="315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80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6569" y="143615"/>
            <a:ext cx="119988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D1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D4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conduce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aceeaşi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alternanţei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Aşadar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folosind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ideale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050" y="801987"/>
            <a:ext cx="3286125" cy="1524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6569" y="233802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D1 </a:t>
            </a:r>
            <a:r>
              <a:rPr lang="fr-F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 </a:t>
            </a:r>
            <a:r>
              <a:rPr lang="fr-FR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D4 </a:t>
            </a:r>
            <a:r>
              <a:rPr lang="fr-F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circuit deschis.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fr-FR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48" y="2906681"/>
            <a:ext cx="5060651" cy="196328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87104" y="5203541"/>
            <a:ext cx="102153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obţinută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similară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median.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9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76816" y="21777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693" y="0"/>
            <a:ext cx="1257300" cy="7715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6816" y="1081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693" y="1081889"/>
            <a:ext cx="914400" cy="4286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76816" y="18383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16" y="1637640"/>
            <a:ext cx="5048250" cy="104775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250478" y="320926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Eficienţa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918" y="2685390"/>
            <a:ext cx="4933950" cy="1343025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99588" y="4166435"/>
            <a:ext cx="120924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nevoie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transformator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secundar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mediană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Principalul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dezavantaj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acela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nevoie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diode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diode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disipă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căldură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Punţile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fabricate sub forma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integrate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Punte Redresoare KBK20K 20A 800V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852" y="5130198"/>
            <a:ext cx="1570082" cy="130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unte Redresoare Amperaj 10A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6" t="27817" r="28782" b="24873"/>
          <a:stretch/>
        </p:blipFill>
        <p:spPr bwMode="auto">
          <a:xfrm>
            <a:off x="7559644" y="5143401"/>
            <a:ext cx="2353900" cy="132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oiuri de diode și denumirea lor. Clasificarea și desemnarea diodelor  semiconductoar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870" y="5358968"/>
            <a:ext cx="2415608" cy="136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Диодный мост: устройство, принцип работы, назначение, схемы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16" y="5370022"/>
            <a:ext cx="3156413" cy="136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766" y="426317"/>
            <a:ext cx="3600450" cy="324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2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ircuitul electric simplificat al alternatorulu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048" y="225204"/>
            <a:ext cx="4778402" cy="326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urentul electric produc de înfășurările statorului alternatorul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09" y="2757140"/>
            <a:ext cx="4962525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enerarea curentului electric trifazat la un alternator auto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73" y="115478"/>
            <a:ext cx="600075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enerarea curentului electric în statorul alternatorului – exemplu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899" y="3638203"/>
            <a:ext cx="467677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urentul electric redresat al alternatorului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1" y="4875337"/>
            <a:ext cx="6764778" cy="167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272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6159" y="24494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Filtru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6158" y="614272"/>
            <a:ext cx="112474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influenţată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880" y="937437"/>
            <a:ext cx="3905575" cy="200493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-1" y="1260603"/>
            <a:ext cx="750532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alternanţei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primul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sfert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ciclu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pemite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încarce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până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momentul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începe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sub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undei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încărcat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începe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291" y="2454790"/>
            <a:ext cx="4960593" cy="162150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96158" y="3912027"/>
            <a:ext cx="120727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cealaltă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parte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ciclului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descărca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viteză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C.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descărca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greu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sfârşitul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primului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sfert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ciclului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depăşeşte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încărcare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291" y="5076576"/>
            <a:ext cx="4976205" cy="168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2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6570" y="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Calculul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riplului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factorului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riplul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aşadar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812" y="648360"/>
            <a:ext cx="1809750" cy="7810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522" y="648360"/>
            <a:ext cx="3303100" cy="200308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96042" y="1833916"/>
            <a:ext cx="7841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Evaluarea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riplului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analizând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ciclu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(t1, t3).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(t1, t2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încarcă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descărca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perioada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(t2, t3). Este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clar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(t2, t3)&gt;&gt;(t1, t2)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x-none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x-none" i="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≈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x-none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x-none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14" y="3034244"/>
            <a:ext cx="4744990" cy="382375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080204" y="3178327"/>
            <a:ext cx="71117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durata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(t2, t3)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descarcă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570" y="3768282"/>
            <a:ext cx="3352800" cy="66675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707" y="4377287"/>
            <a:ext cx="1152525" cy="6477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8492622" y="4555131"/>
            <a:ext cx="304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formula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503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12022"/>
            <a:ext cx="121919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majoritatea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aplicaţiilor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standard de 50Hz.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redresoarelor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jumătate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T=20ms,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întreagă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T=10ms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Frecvenţa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întreagă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redresor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jumătate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condensatorului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descarcă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lent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intervalelor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scurte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pulsuri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Riplul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49" y="1589350"/>
            <a:ext cx="5389452" cy="3830738"/>
          </a:xfrm>
          <a:prstGeom prst="rect">
            <a:avLst/>
          </a:prstGeom>
        </p:spPr>
      </p:pic>
      <p:pic>
        <p:nvPicPr>
          <p:cNvPr id="5122" name="Picture 2" descr="https://i.stack.imgur.com/CORc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201" y="1589350"/>
            <a:ext cx="6065823" cy="519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00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9025" y="115518"/>
            <a:ext cx="9035308" cy="55842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2550" y="115518"/>
            <a:ext cx="2940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REDRESOARE CU FILTRU IN </a:t>
            </a:r>
            <a:r>
              <a:rPr lang="el-GR" dirty="0">
                <a:solidFill>
                  <a:srgbClr val="FF0000"/>
                </a:solidFill>
              </a:rPr>
              <a:t>Π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5483" y="5699746"/>
            <a:ext cx="120365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Dezavantajul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l-G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π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pierderea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pierderea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Joule,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deoarece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effect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bun,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implică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pierderi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01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8" y="0"/>
            <a:ext cx="10432863" cy="623783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2783" y="6091742"/>
            <a:ext cx="11736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actorul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ondula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tot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înlocuim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|X</a:t>
            </a:r>
            <a:r>
              <a:rPr lang="en-US" sz="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LF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După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cum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rezultatul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filtrului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l-G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π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inductive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slab,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îmbunătă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ț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8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419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14677" y="12724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426194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diode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modifica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forma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alternativă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sinusoidă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produc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diferită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depinde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utilizat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diode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limitatoare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deoarece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negativă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alternative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adesea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protecţie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formei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undă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266" y="1656360"/>
            <a:ext cx="9169264" cy="225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12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5623" y="8197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reglare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5623" y="541968"/>
            <a:ext cx="11971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inversă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diode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Zener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face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componentă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importantă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reglarea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împotriva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provenite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la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neregulată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5623" y="1188299"/>
            <a:ext cx="108490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Principiile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reglării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neregulate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Zener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menţine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neregulată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scade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bornele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inclusiv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partea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riplu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58" y="2665627"/>
            <a:ext cx="8957186" cy="207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61488"/>
            <a:ext cx="120178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presupune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componente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electrice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active –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numit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 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 –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ajustează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internă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constantă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alte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cuvinte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face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altceva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gâtuie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curgerea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electric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el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rămână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constantă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variaţie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internă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tinde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contracareze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efectul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variaţiei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variaţiei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consumat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următoarele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moduri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îşi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internă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impiedica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mod similar,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scăderea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produce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scăderea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interne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sarcina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cere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mare de la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deschide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împiedicând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scăderea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mod similar,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scăderea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cerut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sarcina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produce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interne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Oricum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varia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răspunde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-un mod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proporţional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15%,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internă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tot cu 15%;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sarcina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10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reduce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internă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tot de 10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moment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trage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concluzia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cum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stabilizator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cărui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element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normală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mereu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parcurs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un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anumit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electric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b="0" i="0" dirty="0">
              <a:solidFill>
                <a:srgbClr val="3A3A3A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08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5" y="166399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endParaRPr lang="en-US" b="1" i="0" dirty="0">
              <a:solidFill>
                <a:srgbClr val="3A3A3A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Figura 1. Stabilizator liniar paralel cu dioda zenner - Hobbytro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707798"/>
            <a:ext cx="5319646" cy="140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52405" y="2114550"/>
            <a:ext cx="11775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Denumirea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 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vine de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faptul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585373"/>
            <a:ext cx="120349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x-none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închisă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acesteia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nu 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nici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influenţă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circuit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=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deschisă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acesteia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deschide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împiedicând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GB" dirty="0" smtClean="0">
              <a:solidFill>
                <a:srgbClr val="3A3A3A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circuit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observăm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Rolul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acesteia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acela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limita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intră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evita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distrugerea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acesteia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Totodată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prezenţa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ridică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problemă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producând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pierderi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sub forma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căldură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Puterea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pierdută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anumită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componentă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circuit electric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scrisă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sub forma:</a:t>
            </a:r>
            <a:endParaRPr lang="en-US" dirty="0">
              <a:solidFill>
                <a:srgbClr val="3A3A3A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\dpi{100} \mathbf{P[W]=I^2\cdot R 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478" y="5458516"/>
            <a:ext cx="1456974" cy="26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52404" y="5724694"/>
            <a:ext cx="118825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vrem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obţinem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pierde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putere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Prima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soluţie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ne vine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gând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reducem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o pot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distruge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88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Am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spus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rolul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acela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evita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declarat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producător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gol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nici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consumator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înghită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singură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tot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înseamnă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maximă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maxim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admis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(de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către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R).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Ţinând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diodelor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obişnuite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concluzia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finală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folosi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schema 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maxim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câteva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miliamperi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[mA].</a:t>
            </a:r>
          </a:p>
          <a:p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avem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nevoie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câteva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[mA] 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adăugăm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aşa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simuleze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solidă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înghiţi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). </a:t>
            </a:r>
            <a:endParaRPr lang="en-US" b="0" i="0" dirty="0">
              <a:solidFill>
                <a:srgbClr val="3A3A3A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930" y="2399640"/>
            <a:ext cx="6253048" cy="197318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7518" y="4372824"/>
            <a:ext cx="121044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observă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înseriată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jonctiunea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BE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tot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BE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T. Cum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capabil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înseamnă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colectorul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 </a:t>
            </a:r>
            <a:r>
              <a:rPr lang="el-GR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l-GR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factorul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T).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Luând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exemplul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diode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suporta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maxim 10 [mA],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adăugăm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l-GR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β = </a:t>
            </a:r>
            <a:r>
              <a:rPr lang="el-GR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= 10 [mA]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trece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l-GR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x I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 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= 10 [mA] x 100 =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1000 [mA]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=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1[A]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limitat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10 [mA] </a:t>
            </a:r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suportă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ci 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1000 [mA]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=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1[A]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217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1069" y="0"/>
            <a:ext cx="1201093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Adaugarea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are un mic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efect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  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referinta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acum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inseriata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jonctiunea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BE 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referinta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data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suma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deschidere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jonctiunii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BE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(circa 0,65V).</a:t>
            </a:r>
          </a:p>
          <a:p>
            <a:pPr algn="just"/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Acum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întrebarea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“cum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anume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reuşeşte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menţină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 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egală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cu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referinţă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endParaRPr lang="en-US" dirty="0">
              <a:solidFill>
                <a:srgbClr val="3A3A3A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s-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deschide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tare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scadă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sub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referinţă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s-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bloca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şi-ar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fura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singur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comandă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s-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deschide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lăsând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crească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referinţă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practic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lăsată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înghită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singură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însemna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fapt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Având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mare,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înghiţi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opune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creşterii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referinţă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oferă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modalitate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simplă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obţinere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precise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nu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necesită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nici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fel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protecţie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suprasarcină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dezavantajul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randament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toate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tipurile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Mai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fie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avem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consumatori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consumă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aceeaşi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cantitate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ameliora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ultimă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problemă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există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varianta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utilizării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b="0" i="0" dirty="0">
              <a:solidFill>
                <a:srgbClr val="3A3A3A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839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86006" y="93728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endParaRPr lang="en-US" b="1" i="0" dirty="0">
              <a:solidFill>
                <a:srgbClr val="3A3A3A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63" y="463060"/>
            <a:ext cx="5095081" cy="189084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03263" y="2353901"/>
            <a:ext cx="119193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Denumirea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 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vine de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faptul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elementul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conectat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consumatorul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observă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formează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tot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celulă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comandă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Considerentele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alegerii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aceleaşi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limiteze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 sub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maximă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declarată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producător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montat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-o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conexiune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tip 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repetor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adică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oferă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aproximativ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aceeaşi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primită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primită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pierd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circa 0,65 [V]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BE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T.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alte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cuvinte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referinţă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egală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Zenner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US" i="1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circa 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0,65 V </a:t>
            </a:r>
            <a:r>
              <a:rPr lang="en-US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referinţă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solidFill>
                <a:srgbClr val="3A3A3A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comparaţie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avantaj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pierderile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energie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proporţionale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consumat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Principalul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dezavantaj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faptul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tolera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suprasarcini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fără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distrugerea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(a </a:t>
            </a:r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există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riscul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apariţiei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scurtcircuit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măcar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suprasarcini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impune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utilizarea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circuit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protecţie</a:t>
            </a:r>
            <a:endParaRPr lang="en-US" dirty="0">
              <a:solidFill>
                <a:srgbClr val="3A3A3A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9343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17" y="118213"/>
            <a:ext cx="7049650" cy="189165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7695" y="2166383"/>
            <a:ext cx="120048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Protecţia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include un “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senzor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persoana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decat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0,65 [V],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motiv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nu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influenţa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nimic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funcţionarea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nostru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exemplu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scurtcircuit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rezistenţa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0,65 [V]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comandând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deschiderea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imediat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începe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scurtcircuiteze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mod,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anormal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T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blochează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funcţionarea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salvându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-l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la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distrugere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iminentă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Bineînţeles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protecţie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funcţiune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depinde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baseline="-25000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292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03347" y="0"/>
            <a:ext cx="4356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 de tensiune liniare integrate</a:t>
            </a:r>
            <a:endParaRPr lang="it-IT" b="1" i="0" dirty="0">
              <a:solidFill>
                <a:srgbClr val="3A3A3A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69332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alternativă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des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întalnită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componente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discrete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prezentate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sus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liniare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integrate.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reunesc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-o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singură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capsula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toate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componentele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necesare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performant 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toate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punctele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întâlnit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exemplu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integrate 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78XX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79XX.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Primele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cifre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codul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stabilizatorului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reprezintă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tipul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(78XX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destinat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pozitive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79XX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celor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negative.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Ultimele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cifre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reprezintă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exemplu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7805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pozitivă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oferă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5 [V],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7912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negativă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oferă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-12 [V].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Figura 4. Capsula stabilizatoarelor de tensiune liniare din seria 78XX si 79XX - Hobbytronic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493" y="2400657"/>
            <a:ext cx="171450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03347" y="2400657"/>
            <a:ext cx="96739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Pinii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indicaţi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figuri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corespund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pinilor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indicaţi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i="1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figura</a:t>
            </a:r>
            <a:r>
              <a:rPr lang="en-US" i="1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al</a:t>
            </a:r>
            <a:r>
              <a:rPr lang="x-none" i="1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ăturată</a:t>
            </a:r>
            <a:r>
              <a:rPr lang="en-US" dirty="0" smtClean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Datasheet-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seriile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78XX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79XX spun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includ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protecţie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suprasarcină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supraîncălzire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 descr="Figura 5. Schema de lucru a stabilizatoarelor de tensiune liniare din seria 78XX - Hobbytron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47" y="3369944"/>
            <a:ext cx="42862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gura 6. Schema de lucru a stabilizatoarelor de tensiune liniare din seria 79XX. - Hobbytronic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698" y="3369944"/>
            <a:ext cx="4286250" cy="20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20713" y="5417820"/>
            <a:ext cx="119505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liniare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permit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obţinerea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stabile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valori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precise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au un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randament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prost: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parte 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energia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consumată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oferită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 Din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motiv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liniare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fie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serie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paralel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folosite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manipula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puteri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rar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depăşesc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câţiva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W.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puteri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dificultăţile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costurile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suplimentare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implicate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răcirea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elementelor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active (a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tranzistoarelor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impun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utilizarea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unor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stabilizatoare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randament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crescut</a:t>
            </a:r>
            <a:r>
              <a:rPr lang="en-US" dirty="0">
                <a:solidFill>
                  <a:srgbClr val="3A3A3A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75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2.bp.blogspot.com/-I5jpibs5O7s/VVpFE-dMxjI/AAAAAAAAJks/3bbBjMH12t0/s1600/power8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053" y="65314"/>
            <a:ext cx="7729994" cy="262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86" y="2538481"/>
            <a:ext cx="5873451" cy="401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68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 двухполярный блока питания на lm317 и lm337 - схем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67" y="222671"/>
            <a:ext cx="11539026" cy="6411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1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7887</TotalTime>
  <Words>1860</Words>
  <Application>Microsoft Office PowerPoint</Application>
  <PresentationFormat>Произвольный</PresentationFormat>
  <Paragraphs>113</Paragraphs>
  <Slides>30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1" baseType="lpstr">
      <vt:lpstr>Office Theme</vt:lpstr>
      <vt:lpstr>Circuite și Dispozitive Electronice  Tema 3 – Surse de alimentare de curent continuu. Structura. Redresoare. Filtre. Stabilizatoare.</vt:lpstr>
      <vt:lpstr>Презентация PowerPoint</vt:lpstr>
      <vt:lpstr>Презентация PowerPoint</vt:lpstr>
      <vt:lpstr>Презентация PowerPoint</vt:lpstr>
      <vt:lpstr>Clasificarea Redresoarelor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și Dispozitive Electronice  L.1 – Introducere</dc:title>
  <dc:creator>Пользователь Windows</dc:creator>
  <cp:lastModifiedBy>Asus</cp:lastModifiedBy>
  <cp:revision>311</cp:revision>
  <dcterms:created xsi:type="dcterms:W3CDTF">2020-08-28T11:28:42Z</dcterms:created>
  <dcterms:modified xsi:type="dcterms:W3CDTF">2021-10-18T07:39:31Z</dcterms:modified>
</cp:coreProperties>
</file>